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2"/>
  </p:notesMasterIdLst>
  <p:sldIdLst>
    <p:sldId id="256" r:id="rId2"/>
    <p:sldId id="276" r:id="rId3"/>
    <p:sldId id="257" r:id="rId4"/>
    <p:sldId id="258" r:id="rId5"/>
    <p:sldId id="259" r:id="rId6"/>
    <p:sldId id="277" r:id="rId7"/>
    <p:sldId id="278" r:id="rId8"/>
    <p:sldId id="260" r:id="rId9"/>
    <p:sldId id="261" r:id="rId10"/>
    <p:sldId id="262" r:id="rId11"/>
    <p:sldId id="263" r:id="rId12"/>
    <p:sldId id="265" r:id="rId13"/>
    <p:sldId id="264" r:id="rId14"/>
    <p:sldId id="266" r:id="rId15"/>
    <p:sldId id="268" r:id="rId16"/>
    <p:sldId id="269" r:id="rId17"/>
    <p:sldId id="270" r:id="rId18"/>
    <p:sldId id="271" r:id="rId19"/>
    <p:sldId id="272" r:id="rId20"/>
    <p:sldId id="279" r:id="rId21"/>
    <p:sldId id="267" r:id="rId22"/>
    <p:sldId id="273" r:id="rId23"/>
    <p:sldId id="274" r:id="rId24"/>
    <p:sldId id="275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19FA2E-8C4F-47F5-A9BD-68923017925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7E8277-4149-4E7B-9AA3-96C742D13B2A}">
      <dgm:prSet phldrT="[Text]"/>
      <dgm:spPr/>
      <dgm:t>
        <a:bodyPr/>
        <a:lstStyle/>
        <a:p>
          <a:r>
            <a:rPr lang="bg-BG" b="1" dirty="0" err="1" smtClean="0">
              <a:solidFill>
                <a:schemeClr val="accent3">
                  <a:lumMod val="60000"/>
                  <a:lumOff val="40000"/>
                </a:schemeClr>
              </a:solidFill>
            </a:rPr>
            <a:t>Криптология</a:t>
          </a:r>
          <a:endParaRPr lang="en-US" b="1" dirty="0">
            <a:solidFill>
              <a:schemeClr val="accent3">
                <a:lumMod val="60000"/>
                <a:lumOff val="40000"/>
              </a:schemeClr>
            </a:solidFill>
          </a:endParaRPr>
        </a:p>
      </dgm:t>
    </dgm:pt>
    <dgm:pt modelId="{32FB659F-93EE-4BC0-925A-8D74977C6F01}" type="parTrans" cxnId="{FC8E8D00-E133-4077-B491-992CDA38FB87}">
      <dgm:prSet/>
      <dgm:spPr/>
      <dgm:t>
        <a:bodyPr/>
        <a:lstStyle/>
        <a:p>
          <a:endParaRPr lang="en-US"/>
        </a:p>
      </dgm:t>
    </dgm:pt>
    <dgm:pt modelId="{8C1E691B-9671-4CC0-9237-A141A0CA352A}" type="sibTrans" cxnId="{FC8E8D00-E133-4077-B491-992CDA38FB87}">
      <dgm:prSet/>
      <dgm:spPr/>
      <dgm:t>
        <a:bodyPr/>
        <a:lstStyle/>
        <a:p>
          <a:endParaRPr lang="en-US"/>
        </a:p>
      </dgm:t>
    </dgm:pt>
    <dgm:pt modelId="{9D55382D-410F-4DA2-93AD-EE5E9BFF3FFD}">
      <dgm:prSet phldrT="[Text]"/>
      <dgm:spPr/>
      <dgm:t>
        <a:bodyPr/>
        <a:lstStyle/>
        <a:p>
          <a:r>
            <a:rPr lang="bg-BG" b="1" dirty="0" smtClean="0">
              <a:solidFill>
                <a:schemeClr val="accent1"/>
              </a:solidFill>
            </a:rPr>
            <a:t>Криптография</a:t>
          </a:r>
          <a:endParaRPr lang="en-US" b="1" dirty="0">
            <a:solidFill>
              <a:schemeClr val="accent1"/>
            </a:solidFill>
          </a:endParaRPr>
        </a:p>
      </dgm:t>
    </dgm:pt>
    <dgm:pt modelId="{45E8189B-F26C-41F1-BFB4-E5246FDC6601}" type="parTrans" cxnId="{D422F5C1-F56C-4CDA-8C77-0FD401236A14}">
      <dgm:prSet/>
      <dgm:spPr/>
      <dgm:t>
        <a:bodyPr/>
        <a:lstStyle/>
        <a:p>
          <a:endParaRPr lang="en-US"/>
        </a:p>
      </dgm:t>
    </dgm:pt>
    <dgm:pt modelId="{F706ACD6-7D30-45DE-A570-7679059C9FBD}" type="sibTrans" cxnId="{D422F5C1-F56C-4CDA-8C77-0FD401236A14}">
      <dgm:prSet/>
      <dgm:spPr/>
      <dgm:t>
        <a:bodyPr/>
        <a:lstStyle/>
        <a:p>
          <a:endParaRPr lang="en-US"/>
        </a:p>
      </dgm:t>
    </dgm:pt>
    <dgm:pt modelId="{1203CB0B-8E9B-4830-8908-12368A6EF721}">
      <dgm:prSet phldrT="[Text]"/>
      <dgm:spPr/>
      <dgm:t>
        <a:bodyPr/>
        <a:lstStyle/>
        <a:p>
          <a:r>
            <a:rPr lang="bg-BG" dirty="0" smtClean="0"/>
            <a:t>Симетрична </a:t>
          </a:r>
          <a:endParaRPr lang="en-US" dirty="0"/>
        </a:p>
      </dgm:t>
    </dgm:pt>
    <dgm:pt modelId="{CD591E74-1CAB-4D57-BB1A-7106E725CA34}" type="parTrans" cxnId="{6851FC0C-6BB5-4444-A418-235FB572457D}">
      <dgm:prSet/>
      <dgm:spPr/>
      <dgm:t>
        <a:bodyPr/>
        <a:lstStyle/>
        <a:p>
          <a:endParaRPr lang="en-US"/>
        </a:p>
      </dgm:t>
    </dgm:pt>
    <dgm:pt modelId="{CA713FA6-F004-4F79-825F-117520250931}" type="sibTrans" cxnId="{6851FC0C-6BB5-4444-A418-235FB572457D}">
      <dgm:prSet/>
      <dgm:spPr/>
      <dgm:t>
        <a:bodyPr/>
        <a:lstStyle/>
        <a:p>
          <a:endParaRPr lang="en-US"/>
        </a:p>
      </dgm:t>
    </dgm:pt>
    <dgm:pt modelId="{4A900EEE-215E-4E7E-8FA0-B3B76F33371C}">
      <dgm:prSet phldrT="[Text]"/>
      <dgm:spPr/>
      <dgm:t>
        <a:bodyPr/>
        <a:lstStyle/>
        <a:p>
          <a:r>
            <a:rPr lang="bg-BG" dirty="0" smtClean="0"/>
            <a:t>Асиметрична</a:t>
          </a:r>
          <a:endParaRPr lang="en-US" dirty="0"/>
        </a:p>
      </dgm:t>
    </dgm:pt>
    <dgm:pt modelId="{ECADCBF7-B1FA-453B-847D-EFD6D5EB914C}" type="parTrans" cxnId="{38AF8C46-BCCA-4FE8-B486-5423D1804EF5}">
      <dgm:prSet/>
      <dgm:spPr/>
      <dgm:t>
        <a:bodyPr/>
        <a:lstStyle/>
        <a:p>
          <a:endParaRPr lang="en-US"/>
        </a:p>
      </dgm:t>
    </dgm:pt>
    <dgm:pt modelId="{4E914462-EB7C-41A8-BA0F-7D62BD29360F}" type="sibTrans" cxnId="{38AF8C46-BCCA-4FE8-B486-5423D1804EF5}">
      <dgm:prSet/>
      <dgm:spPr/>
      <dgm:t>
        <a:bodyPr/>
        <a:lstStyle/>
        <a:p>
          <a:endParaRPr lang="en-US"/>
        </a:p>
      </dgm:t>
    </dgm:pt>
    <dgm:pt modelId="{7254695C-EC60-4223-86E8-D2B1FA0F2EF7}">
      <dgm:prSet phldrT="[Text]"/>
      <dgm:spPr/>
      <dgm:t>
        <a:bodyPr/>
        <a:lstStyle/>
        <a:p>
          <a:r>
            <a:rPr lang="bg-BG" b="1" dirty="0" err="1" smtClean="0">
              <a:solidFill>
                <a:srgbClr val="00B0F0"/>
              </a:solidFill>
            </a:rPr>
            <a:t>Криптографски</a:t>
          </a:r>
          <a:r>
            <a:rPr lang="bg-BG" b="1" dirty="0" smtClean="0">
              <a:solidFill>
                <a:srgbClr val="00B0F0"/>
              </a:solidFill>
            </a:rPr>
            <a:t> анализ</a:t>
          </a:r>
          <a:endParaRPr lang="en-US" b="1" dirty="0">
            <a:solidFill>
              <a:srgbClr val="00B0F0"/>
            </a:solidFill>
          </a:endParaRPr>
        </a:p>
      </dgm:t>
    </dgm:pt>
    <dgm:pt modelId="{4A3F8ACE-676C-4F57-9CAA-8E791F83C3E3}" type="parTrans" cxnId="{4C9364C5-646A-404E-B84C-31D0DE0953DD}">
      <dgm:prSet/>
      <dgm:spPr/>
      <dgm:t>
        <a:bodyPr/>
        <a:lstStyle/>
        <a:p>
          <a:endParaRPr lang="en-US"/>
        </a:p>
      </dgm:t>
    </dgm:pt>
    <dgm:pt modelId="{7D1FB27B-B11C-400C-B79D-A3F6EE7BB83D}" type="sibTrans" cxnId="{4C9364C5-646A-404E-B84C-31D0DE0953DD}">
      <dgm:prSet/>
      <dgm:spPr/>
      <dgm:t>
        <a:bodyPr/>
        <a:lstStyle/>
        <a:p>
          <a:endParaRPr lang="en-US"/>
        </a:p>
      </dgm:t>
    </dgm:pt>
    <dgm:pt modelId="{7F431C64-1F5D-4072-9F7C-9C580F00F7C1}">
      <dgm:prSet phldrT="[Text]"/>
      <dgm:spPr/>
      <dgm:t>
        <a:bodyPr/>
        <a:lstStyle/>
        <a:p>
          <a:r>
            <a:rPr lang="bg-BG" dirty="0" smtClean="0"/>
            <a:t>Протоколи</a:t>
          </a:r>
          <a:endParaRPr lang="en-US" dirty="0"/>
        </a:p>
      </dgm:t>
    </dgm:pt>
    <dgm:pt modelId="{FDD380E1-C1FE-43FB-8ECF-62817A27B0B3}" type="parTrans" cxnId="{99D406F3-B6EF-4983-A9D4-7E358B43D89B}">
      <dgm:prSet/>
      <dgm:spPr/>
      <dgm:t>
        <a:bodyPr/>
        <a:lstStyle/>
        <a:p>
          <a:endParaRPr lang="en-US"/>
        </a:p>
      </dgm:t>
    </dgm:pt>
    <dgm:pt modelId="{5749E5AE-035C-4E75-99D7-C0245E6863D3}" type="sibTrans" cxnId="{99D406F3-B6EF-4983-A9D4-7E358B43D89B}">
      <dgm:prSet/>
      <dgm:spPr/>
      <dgm:t>
        <a:bodyPr/>
        <a:lstStyle/>
        <a:p>
          <a:endParaRPr lang="en-US"/>
        </a:p>
      </dgm:t>
    </dgm:pt>
    <dgm:pt modelId="{95423E08-D881-4E64-80A3-9C61394967D1}" type="pres">
      <dgm:prSet presAssocID="{3719FA2E-8C4F-47F5-A9BD-6892301792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77D2E23-51F8-4C3F-987B-D8B1AD6648A7}" type="pres">
      <dgm:prSet presAssocID="{6D7E8277-4149-4E7B-9AA3-96C742D13B2A}" presName="hierRoot1" presStyleCnt="0"/>
      <dgm:spPr/>
    </dgm:pt>
    <dgm:pt modelId="{818BDCAE-3DAE-42A6-97FD-753154EBAEEB}" type="pres">
      <dgm:prSet presAssocID="{6D7E8277-4149-4E7B-9AA3-96C742D13B2A}" presName="composite" presStyleCnt="0"/>
      <dgm:spPr/>
    </dgm:pt>
    <dgm:pt modelId="{E340C053-31A3-42A2-9A5A-B554AF8B75BB}" type="pres">
      <dgm:prSet presAssocID="{6D7E8277-4149-4E7B-9AA3-96C742D13B2A}" presName="background" presStyleLbl="node0" presStyleIdx="0" presStyleCnt="1"/>
      <dgm:spPr/>
    </dgm:pt>
    <dgm:pt modelId="{C3D17C1A-5289-4ED0-B265-80C9093863E6}" type="pres">
      <dgm:prSet presAssocID="{6D7E8277-4149-4E7B-9AA3-96C742D13B2A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DBDA981-F696-43AD-8A1C-0171E9F825F1}" type="pres">
      <dgm:prSet presAssocID="{6D7E8277-4149-4E7B-9AA3-96C742D13B2A}" presName="hierChild2" presStyleCnt="0"/>
      <dgm:spPr/>
    </dgm:pt>
    <dgm:pt modelId="{A552AEDE-24D5-4B2C-ADAC-57E0EDA9B72F}" type="pres">
      <dgm:prSet presAssocID="{45E8189B-F26C-41F1-BFB4-E5246FDC6601}" presName="Name10" presStyleLbl="parChTrans1D2" presStyleIdx="0" presStyleCnt="2"/>
      <dgm:spPr/>
      <dgm:t>
        <a:bodyPr/>
        <a:lstStyle/>
        <a:p>
          <a:endParaRPr lang="en-US"/>
        </a:p>
      </dgm:t>
    </dgm:pt>
    <dgm:pt modelId="{2A1D0F9F-6858-4112-9961-AD9C7D86E610}" type="pres">
      <dgm:prSet presAssocID="{9D55382D-410F-4DA2-93AD-EE5E9BFF3FFD}" presName="hierRoot2" presStyleCnt="0"/>
      <dgm:spPr/>
    </dgm:pt>
    <dgm:pt modelId="{00F446AD-873C-4D3B-A706-79B7DB24FA0D}" type="pres">
      <dgm:prSet presAssocID="{9D55382D-410F-4DA2-93AD-EE5E9BFF3FFD}" presName="composite2" presStyleCnt="0"/>
      <dgm:spPr/>
    </dgm:pt>
    <dgm:pt modelId="{D0EFF65A-41BC-4F4E-8B76-66F8F3ADEC51}" type="pres">
      <dgm:prSet presAssocID="{9D55382D-410F-4DA2-93AD-EE5E9BFF3FFD}" presName="background2" presStyleLbl="node2" presStyleIdx="0" presStyleCnt="2"/>
      <dgm:spPr/>
    </dgm:pt>
    <dgm:pt modelId="{946F5E30-6B24-477F-B103-88F089CB1210}" type="pres">
      <dgm:prSet presAssocID="{9D55382D-410F-4DA2-93AD-EE5E9BFF3FFD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F30075-AF6C-420A-967A-D27FE160109A}" type="pres">
      <dgm:prSet presAssocID="{9D55382D-410F-4DA2-93AD-EE5E9BFF3FFD}" presName="hierChild3" presStyleCnt="0"/>
      <dgm:spPr/>
    </dgm:pt>
    <dgm:pt modelId="{699E1B9D-BEF6-470C-9366-A2878D1BFE7D}" type="pres">
      <dgm:prSet presAssocID="{CD591E74-1CAB-4D57-BB1A-7106E725CA34}" presName="Name17" presStyleLbl="parChTrans1D3" presStyleIdx="0" presStyleCnt="3"/>
      <dgm:spPr/>
      <dgm:t>
        <a:bodyPr/>
        <a:lstStyle/>
        <a:p>
          <a:endParaRPr lang="en-US"/>
        </a:p>
      </dgm:t>
    </dgm:pt>
    <dgm:pt modelId="{08A3BA5A-EC09-47BA-AAD7-D76D18464129}" type="pres">
      <dgm:prSet presAssocID="{1203CB0B-8E9B-4830-8908-12368A6EF721}" presName="hierRoot3" presStyleCnt="0"/>
      <dgm:spPr/>
    </dgm:pt>
    <dgm:pt modelId="{D73E6DDB-634D-4FCE-8FAF-8F1F7A53027C}" type="pres">
      <dgm:prSet presAssocID="{1203CB0B-8E9B-4830-8908-12368A6EF721}" presName="composite3" presStyleCnt="0"/>
      <dgm:spPr/>
    </dgm:pt>
    <dgm:pt modelId="{CC267BA1-109B-46B3-9C84-AD96CA485737}" type="pres">
      <dgm:prSet presAssocID="{1203CB0B-8E9B-4830-8908-12368A6EF721}" presName="background3" presStyleLbl="node3" presStyleIdx="0" presStyleCnt="3"/>
      <dgm:spPr/>
    </dgm:pt>
    <dgm:pt modelId="{0033A625-C40E-4DA5-8FA2-3A943953ADF6}" type="pres">
      <dgm:prSet presAssocID="{1203CB0B-8E9B-4830-8908-12368A6EF721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7875DC-86C9-4175-8E0A-13504392196E}" type="pres">
      <dgm:prSet presAssocID="{1203CB0B-8E9B-4830-8908-12368A6EF721}" presName="hierChild4" presStyleCnt="0"/>
      <dgm:spPr/>
    </dgm:pt>
    <dgm:pt modelId="{806B426B-127B-4FC1-BDFE-2A652A675BB1}" type="pres">
      <dgm:prSet presAssocID="{ECADCBF7-B1FA-453B-847D-EFD6D5EB914C}" presName="Name17" presStyleLbl="parChTrans1D3" presStyleIdx="1" presStyleCnt="3"/>
      <dgm:spPr/>
      <dgm:t>
        <a:bodyPr/>
        <a:lstStyle/>
        <a:p>
          <a:endParaRPr lang="en-US"/>
        </a:p>
      </dgm:t>
    </dgm:pt>
    <dgm:pt modelId="{E36A0769-91E2-4650-AE49-ED617EC53E5B}" type="pres">
      <dgm:prSet presAssocID="{4A900EEE-215E-4E7E-8FA0-B3B76F33371C}" presName="hierRoot3" presStyleCnt="0"/>
      <dgm:spPr/>
    </dgm:pt>
    <dgm:pt modelId="{87B35BCA-5A47-4521-949A-C99552462524}" type="pres">
      <dgm:prSet presAssocID="{4A900EEE-215E-4E7E-8FA0-B3B76F33371C}" presName="composite3" presStyleCnt="0"/>
      <dgm:spPr/>
    </dgm:pt>
    <dgm:pt modelId="{AA33369A-0C0A-41BF-B7EA-80BDFB68038F}" type="pres">
      <dgm:prSet presAssocID="{4A900EEE-215E-4E7E-8FA0-B3B76F33371C}" presName="background3" presStyleLbl="node3" presStyleIdx="1" presStyleCnt="3"/>
      <dgm:spPr/>
    </dgm:pt>
    <dgm:pt modelId="{B387EC14-F18A-43CF-9AF0-A41118B923BB}" type="pres">
      <dgm:prSet presAssocID="{4A900EEE-215E-4E7E-8FA0-B3B76F33371C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82E8782-F7DB-4933-B6E7-86A7D5E7187C}" type="pres">
      <dgm:prSet presAssocID="{4A900EEE-215E-4E7E-8FA0-B3B76F33371C}" presName="hierChild4" presStyleCnt="0"/>
      <dgm:spPr/>
    </dgm:pt>
    <dgm:pt modelId="{139673FD-0BAD-4945-93F2-A81467F98D60}" type="pres">
      <dgm:prSet presAssocID="{FDD380E1-C1FE-43FB-8ECF-62817A27B0B3}" presName="Name17" presStyleLbl="parChTrans1D3" presStyleIdx="2" presStyleCnt="3"/>
      <dgm:spPr/>
      <dgm:t>
        <a:bodyPr/>
        <a:lstStyle/>
        <a:p>
          <a:endParaRPr lang="en-US"/>
        </a:p>
      </dgm:t>
    </dgm:pt>
    <dgm:pt modelId="{CA717F6F-D6C4-42D0-93BF-42EB635F5E93}" type="pres">
      <dgm:prSet presAssocID="{7F431C64-1F5D-4072-9F7C-9C580F00F7C1}" presName="hierRoot3" presStyleCnt="0"/>
      <dgm:spPr/>
    </dgm:pt>
    <dgm:pt modelId="{F540DCF9-F7A7-4C85-8261-672EA45DEFB1}" type="pres">
      <dgm:prSet presAssocID="{7F431C64-1F5D-4072-9F7C-9C580F00F7C1}" presName="composite3" presStyleCnt="0"/>
      <dgm:spPr/>
    </dgm:pt>
    <dgm:pt modelId="{8C335D7F-31FC-4F26-9786-583F5156D52F}" type="pres">
      <dgm:prSet presAssocID="{7F431C64-1F5D-4072-9F7C-9C580F00F7C1}" presName="background3" presStyleLbl="node3" presStyleIdx="2" presStyleCnt="3"/>
      <dgm:spPr/>
    </dgm:pt>
    <dgm:pt modelId="{8FB552E9-894B-4582-99AF-4E5AB469AF89}" type="pres">
      <dgm:prSet presAssocID="{7F431C64-1F5D-4072-9F7C-9C580F00F7C1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B1CE353-93A3-4E23-8426-06A1951DD3AD}" type="pres">
      <dgm:prSet presAssocID="{7F431C64-1F5D-4072-9F7C-9C580F00F7C1}" presName="hierChild4" presStyleCnt="0"/>
      <dgm:spPr/>
    </dgm:pt>
    <dgm:pt modelId="{B5E293CF-F743-4B36-99F5-3B015EC624A2}" type="pres">
      <dgm:prSet presAssocID="{4A3F8ACE-676C-4F57-9CAA-8E791F83C3E3}" presName="Name10" presStyleLbl="parChTrans1D2" presStyleIdx="1" presStyleCnt="2"/>
      <dgm:spPr/>
      <dgm:t>
        <a:bodyPr/>
        <a:lstStyle/>
        <a:p>
          <a:endParaRPr lang="en-US"/>
        </a:p>
      </dgm:t>
    </dgm:pt>
    <dgm:pt modelId="{285AFE3C-70F7-4C7B-8365-573D358B3425}" type="pres">
      <dgm:prSet presAssocID="{7254695C-EC60-4223-86E8-D2B1FA0F2EF7}" presName="hierRoot2" presStyleCnt="0"/>
      <dgm:spPr/>
    </dgm:pt>
    <dgm:pt modelId="{17FDC5E0-C17E-42A7-B888-C5D45AAFC2A0}" type="pres">
      <dgm:prSet presAssocID="{7254695C-EC60-4223-86E8-D2B1FA0F2EF7}" presName="composite2" presStyleCnt="0"/>
      <dgm:spPr/>
    </dgm:pt>
    <dgm:pt modelId="{94C94E36-9C8D-4563-B9B5-FA829C13520D}" type="pres">
      <dgm:prSet presAssocID="{7254695C-EC60-4223-86E8-D2B1FA0F2EF7}" presName="background2" presStyleLbl="node2" presStyleIdx="1" presStyleCnt="2"/>
      <dgm:spPr/>
    </dgm:pt>
    <dgm:pt modelId="{C3586D26-2B89-4DFD-8DC6-257724D0C4AC}" type="pres">
      <dgm:prSet presAssocID="{7254695C-EC60-4223-86E8-D2B1FA0F2EF7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19A0FC-5589-41D9-A948-48B33BF0E843}" type="pres">
      <dgm:prSet presAssocID="{7254695C-EC60-4223-86E8-D2B1FA0F2EF7}" presName="hierChild3" presStyleCnt="0"/>
      <dgm:spPr/>
    </dgm:pt>
  </dgm:ptLst>
  <dgm:cxnLst>
    <dgm:cxn modelId="{99D406F3-B6EF-4983-A9D4-7E358B43D89B}" srcId="{9D55382D-410F-4DA2-93AD-EE5E9BFF3FFD}" destId="{7F431C64-1F5D-4072-9F7C-9C580F00F7C1}" srcOrd="2" destOrd="0" parTransId="{FDD380E1-C1FE-43FB-8ECF-62817A27B0B3}" sibTransId="{5749E5AE-035C-4E75-99D7-C0245E6863D3}"/>
    <dgm:cxn modelId="{78648FE9-866F-4E24-BF32-706A1D784FEB}" type="presOf" srcId="{9D55382D-410F-4DA2-93AD-EE5E9BFF3FFD}" destId="{946F5E30-6B24-477F-B103-88F089CB1210}" srcOrd="0" destOrd="0" presId="urn:microsoft.com/office/officeart/2005/8/layout/hierarchy1"/>
    <dgm:cxn modelId="{6851FC0C-6BB5-4444-A418-235FB572457D}" srcId="{9D55382D-410F-4DA2-93AD-EE5E9BFF3FFD}" destId="{1203CB0B-8E9B-4830-8908-12368A6EF721}" srcOrd="0" destOrd="0" parTransId="{CD591E74-1CAB-4D57-BB1A-7106E725CA34}" sibTransId="{CA713FA6-F004-4F79-825F-117520250931}"/>
    <dgm:cxn modelId="{49C681DC-B005-49FB-9E08-AEA498A20DAE}" type="presOf" srcId="{4A900EEE-215E-4E7E-8FA0-B3B76F33371C}" destId="{B387EC14-F18A-43CF-9AF0-A41118B923BB}" srcOrd="0" destOrd="0" presId="urn:microsoft.com/office/officeart/2005/8/layout/hierarchy1"/>
    <dgm:cxn modelId="{FC8E8D00-E133-4077-B491-992CDA38FB87}" srcId="{3719FA2E-8C4F-47F5-A9BD-689230179257}" destId="{6D7E8277-4149-4E7B-9AA3-96C742D13B2A}" srcOrd="0" destOrd="0" parTransId="{32FB659F-93EE-4BC0-925A-8D74977C6F01}" sibTransId="{8C1E691B-9671-4CC0-9237-A141A0CA352A}"/>
    <dgm:cxn modelId="{A4CB4927-40FF-44AA-842E-A9ABF36F481C}" type="presOf" srcId="{FDD380E1-C1FE-43FB-8ECF-62817A27B0B3}" destId="{139673FD-0BAD-4945-93F2-A81467F98D60}" srcOrd="0" destOrd="0" presId="urn:microsoft.com/office/officeart/2005/8/layout/hierarchy1"/>
    <dgm:cxn modelId="{F7636365-57EA-4D21-9591-BD12F0809B7F}" type="presOf" srcId="{6D7E8277-4149-4E7B-9AA3-96C742D13B2A}" destId="{C3D17C1A-5289-4ED0-B265-80C9093863E6}" srcOrd="0" destOrd="0" presId="urn:microsoft.com/office/officeart/2005/8/layout/hierarchy1"/>
    <dgm:cxn modelId="{77788CEB-145C-4075-99E4-6DF6C0D6CEC5}" type="presOf" srcId="{7F431C64-1F5D-4072-9F7C-9C580F00F7C1}" destId="{8FB552E9-894B-4582-99AF-4E5AB469AF89}" srcOrd="0" destOrd="0" presId="urn:microsoft.com/office/officeart/2005/8/layout/hierarchy1"/>
    <dgm:cxn modelId="{6E0639C7-E55C-45FE-8280-702764935715}" type="presOf" srcId="{1203CB0B-8E9B-4830-8908-12368A6EF721}" destId="{0033A625-C40E-4DA5-8FA2-3A943953ADF6}" srcOrd="0" destOrd="0" presId="urn:microsoft.com/office/officeart/2005/8/layout/hierarchy1"/>
    <dgm:cxn modelId="{9B377DD4-EA30-4330-A91A-EFBDA100C602}" type="presOf" srcId="{ECADCBF7-B1FA-453B-847D-EFD6D5EB914C}" destId="{806B426B-127B-4FC1-BDFE-2A652A675BB1}" srcOrd="0" destOrd="0" presId="urn:microsoft.com/office/officeart/2005/8/layout/hierarchy1"/>
    <dgm:cxn modelId="{4C9364C5-646A-404E-B84C-31D0DE0953DD}" srcId="{6D7E8277-4149-4E7B-9AA3-96C742D13B2A}" destId="{7254695C-EC60-4223-86E8-D2B1FA0F2EF7}" srcOrd="1" destOrd="0" parTransId="{4A3F8ACE-676C-4F57-9CAA-8E791F83C3E3}" sibTransId="{7D1FB27B-B11C-400C-B79D-A3F6EE7BB83D}"/>
    <dgm:cxn modelId="{18CBE802-5F11-47EB-9BBF-ADB0F76F4A12}" type="presOf" srcId="{7254695C-EC60-4223-86E8-D2B1FA0F2EF7}" destId="{C3586D26-2B89-4DFD-8DC6-257724D0C4AC}" srcOrd="0" destOrd="0" presId="urn:microsoft.com/office/officeart/2005/8/layout/hierarchy1"/>
    <dgm:cxn modelId="{D422F5C1-F56C-4CDA-8C77-0FD401236A14}" srcId="{6D7E8277-4149-4E7B-9AA3-96C742D13B2A}" destId="{9D55382D-410F-4DA2-93AD-EE5E9BFF3FFD}" srcOrd="0" destOrd="0" parTransId="{45E8189B-F26C-41F1-BFB4-E5246FDC6601}" sibTransId="{F706ACD6-7D30-45DE-A570-7679059C9FBD}"/>
    <dgm:cxn modelId="{4517EC21-DD34-41D0-BB08-08D3ADFE91F8}" type="presOf" srcId="{4A3F8ACE-676C-4F57-9CAA-8E791F83C3E3}" destId="{B5E293CF-F743-4B36-99F5-3B015EC624A2}" srcOrd="0" destOrd="0" presId="urn:microsoft.com/office/officeart/2005/8/layout/hierarchy1"/>
    <dgm:cxn modelId="{FED452BC-DA31-4560-8D56-21C49DFA10A1}" type="presOf" srcId="{45E8189B-F26C-41F1-BFB4-E5246FDC6601}" destId="{A552AEDE-24D5-4B2C-ADAC-57E0EDA9B72F}" srcOrd="0" destOrd="0" presId="urn:microsoft.com/office/officeart/2005/8/layout/hierarchy1"/>
    <dgm:cxn modelId="{38AF8C46-BCCA-4FE8-B486-5423D1804EF5}" srcId="{9D55382D-410F-4DA2-93AD-EE5E9BFF3FFD}" destId="{4A900EEE-215E-4E7E-8FA0-B3B76F33371C}" srcOrd="1" destOrd="0" parTransId="{ECADCBF7-B1FA-453B-847D-EFD6D5EB914C}" sibTransId="{4E914462-EB7C-41A8-BA0F-7D62BD29360F}"/>
    <dgm:cxn modelId="{EF5E7891-C534-43F2-A26C-18D421CFB34E}" type="presOf" srcId="{3719FA2E-8C4F-47F5-A9BD-689230179257}" destId="{95423E08-D881-4E64-80A3-9C61394967D1}" srcOrd="0" destOrd="0" presId="urn:microsoft.com/office/officeart/2005/8/layout/hierarchy1"/>
    <dgm:cxn modelId="{7BCFE23B-23A3-46C0-B2FC-4A99724BC949}" type="presOf" srcId="{CD591E74-1CAB-4D57-BB1A-7106E725CA34}" destId="{699E1B9D-BEF6-470C-9366-A2878D1BFE7D}" srcOrd="0" destOrd="0" presId="urn:microsoft.com/office/officeart/2005/8/layout/hierarchy1"/>
    <dgm:cxn modelId="{F33F07CA-76B0-4612-8576-464793176C71}" type="presParOf" srcId="{95423E08-D881-4E64-80A3-9C61394967D1}" destId="{D77D2E23-51F8-4C3F-987B-D8B1AD6648A7}" srcOrd="0" destOrd="0" presId="urn:microsoft.com/office/officeart/2005/8/layout/hierarchy1"/>
    <dgm:cxn modelId="{67F96A82-83F1-426F-A669-ABEC8B68A988}" type="presParOf" srcId="{D77D2E23-51F8-4C3F-987B-D8B1AD6648A7}" destId="{818BDCAE-3DAE-42A6-97FD-753154EBAEEB}" srcOrd="0" destOrd="0" presId="urn:microsoft.com/office/officeart/2005/8/layout/hierarchy1"/>
    <dgm:cxn modelId="{856A6C98-20A0-4CC5-ADF6-32294F4E3B7E}" type="presParOf" srcId="{818BDCAE-3DAE-42A6-97FD-753154EBAEEB}" destId="{E340C053-31A3-42A2-9A5A-B554AF8B75BB}" srcOrd="0" destOrd="0" presId="urn:microsoft.com/office/officeart/2005/8/layout/hierarchy1"/>
    <dgm:cxn modelId="{6B2812DC-9275-497A-8F36-9811E87FABA7}" type="presParOf" srcId="{818BDCAE-3DAE-42A6-97FD-753154EBAEEB}" destId="{C3D17C1A-5289-4ED0-B265-80C9093863E6}" srcOrd="1" destOrd="0" presId="urn:microsoft.com/office/officeart/2005/8/layout/hierarchy1"/>
    <dgm:cxn modelId="{9627F6A5-F9D0-4F9E-8B2D-C8C8A769D619}" type="presParOf" srcId="{D77D2E23-51F8-4C3F-987B-D8B1AD6648A7}" destId="{ADBDA981-F696-43AD-8A1C-0171E9F825F1}" srcOrd="1" destOrd="0" presId="urn:microsoft.com/office/officeart/2005/8/layout/hierarchy1"/>
    <dgm:cxn modelId="{3934F4B3-67D1-498E-BDBC-7EE521BCE98F}" type="presParOf" srcId="{ADBDA981-F696-43AD-8A1C-0171E9F825F1}" destId="{A552AEDE-24D5-4B2C-ADAC-57E0EDA9B72F}" srcOrd="0" destOrd="0" presId="urn:microsoft.com/office/officeart/2005/8/layout/hierarchy1"/>
    <dgm:cxn modelId="{F3FB713A-373E-4C34-932E-4498B7621F92}" type="presParOf" srcId="{ADBDA981-F696-43AD-8A1C-0171E9F825F1}" destId="{2A1D0F9F-6858-4112-9961-AD9C7D86E610}" srcOrd="1" destOrd="0" presId="urn:microsoft.com/office/officeart/2005/8/layout/hierarchy1"/>
    <dgm:cxn modelId="{17542C10-AE81-4C7D-A1A1-CE5B8E1F77CF}" type="presParOf" srcId="{2A1D0F9F-6858-4112-9961-AD9C7D86E610}" destId="{00F446AD-873C-4D3B-A706-79B7DB24FA0D}" srcOrd="0" destOrd="0" presId="urn:microsoft.com/office/officeart/2005/8/layout/hierarchy1"/>
    <dgm:cxn modelId="{0022FD16-8D43-48A3-A4D1-91F9D54A8287}" type="presParOf" srcId="{00F446AD-873C-4D3B-A706-79B7DB24FA0D}" destId="{D0EFF65A-41BC-4F4E-8B76-66F8F3ADEC51}" srcOrd="0" destOrd="0" presId="urn:microsoft.com/office/officeart/2005/8/layout/hierarchy1"/>
    <dgm:cxn modelId="{01E397B8-8AFC-4F32-92C2-21F2A47AD991}" type="presParOf" srcId="{00F446AD-873C-4D3B-A706-79B7DB24FA0D}" destId="{946F5E30-6B24-477F-B103-88F089CB1210}" srcOrd="1" destOrd="0" presId="urn:microsoft.com/office/officeart/2005/8/layout/hierarchy1"/>
    <dgm:cxn modelId="{5FDDE9CD-EAC4-47DA-89AC-87B31201B758}" type="presParOf" srcId="{2A1D0F9F-6858-4112-9961-AD9C7D86E610}" destId="{17F30075-AF6C-420A-967A-D27FE160109A}" srcOrd="1" destOrd="0" presId="urn:microsoft.com/office/officeart/2005/8/layout/hierarchy1"/>
    <dgm:cxn modelId="{6396AB94-D8AD-4926-BD4C-4FC33684421F}" type="presParOf" srcId="{17F30075-AF6C-420A-967A-D27FE160109A}" destId="{699E1B9D-BEF6-470C-9366-A2878D1BFE7D}" srcOrd="0" destOrd="0" presId="urn:microsoft.com/office/officeart/2005/8/layout/hierarchy1"/>
    <dgm:cxn modelId="{5D6CB5B7-8477-46E4-AACB-D027C0F2F574}" type="presParOf" srcId="{17F30075-AF6C-420A-967A-D27FE160109A}" destId="{08A3BA5A-EC09-47BA-AAD7-D76D18464129}" srcOrd="1" destOrd="0" presId="urn:microsoft.com/office/officeart/2005/8/layout/hierarchy1"/>
    <dgm:cxn modelId="{865CA553-AD9A-4D3B-ABDF-F93F30B32D39}" type="presParOf" srcId="{08A3BA5A-EC09-47BA-AAD7-D76D18464129}" destId="{D73E6DDB-634D-4FCE-8FAF-8F1F7A53027C}" srcOrd="0" destOrd="0" presId="urn:microsoft.com/office/officeart/2005/8/layout/hierarchy1"/>
    <dgm:cxn modelId="{B9A9DA12-8721-4A9F-BB2C-2DBAB919CF8E}" type="presParOf" srcId="{D73E6DDB-634D-4FCE-8FAF-8F1F7A53027C}" destId="{CC267BA1-109B-46B3-9C84-AD96CA485737}" srcOrd="0" destOrd="0" presId="urn:microsoft.com/office/officeart/2005/8/layout/hierarchy1"/>
    <dgm:cxn modelId="{7919F408-B0C8-4D4D-8423-637423C51831}" type="presParOf" srcId="{D73E6DDB-634D-4FCE-8FAF-8F1F7A53027C}" destId="{0033A625-C40E-4DA5-8FA2-3A943953ADF6}" srcOrd="1" destOrd="0" presId="urn:microsoft.com/office/officeart/2005/8/layout/hierarchy1"/>
    <dgm:cxn modelId="{8B0AA548-4A3E-42B3-AF5C-7DFD18746A12}" type="presParOf" srcId="{08A3BA5A-EC09-47BA-AAD7-D76D18464129}" destId="{9C7875DC-86C9-4175-8E0A-13504392196E}" srcOrd="1" destOrd="0" presId="urn:microsoft.com/office/officeart/2005/8/layout/hierarchy1"/>
    <dgm:cxn modelId="{7A007FA4-C7E1-4B19-BA17-4BB069774C5F}" type="presParOf" srcId="{17F30075-AF6C-420A-967A-D27FE160109A}" destId="{806B426B-127B-4FC1-BDFE-2A652A675BB1}" srcOrd="2" destOrd="0" presId="urn:microsoft.com/office/officeart/2005/8/layout/hierarchy1"/>
    <dgm:cxn modelId="{6548FE73-A70A-4967-9CD8-2B0842FDBF8E}" type="presParOf" srcId="{17F30075-AF6C-420A-967A-D27FE160109A}" destId="{E36A0769-91E2-4650-AE49-ED617EC53E5B}" srcOrd="3" destOrd="0" presId="urn:microsoft.com/office/officeart/2005/8/layout/hierarchy1"/>
    <dgm:cxn modelId="{A81DBD33-433E-4737-9E60-B9241068FD78}" type="presParOf" srcId="{E36A0769-91E2-4650-AE49-ED617EC53E5B}" destId="{87B35BCA-5A47-4521-949A-C99552462524}" srcOrd="0" destOrd="0" presId="urn:microsoft.com/office/officeart/2005/8/layout/hierarchy1"/>
    <dgm:cxn modelId="{46E658CE-FA16-4C39-8E1E-3419B95FA87B}" type="presParOf" srcId="{87B35BCA-5A47-4521-949A-C99552462524}" destId="{AA33369A-0C0A-41BF-B7EA-80BDFB68038F}" srcOrd="0" destOrd="0" presId="urn:microsoft.com/office/officeart/2005/8/layout/hierarchy1"/>
    <dgm:cxn modelId="{ED297C64-A055-4EF8-9D30-50AB2B1314E0}" type="presParOf" srcId="{87B35BCA-5A47-4521-949A-C99552462524}" destId="{B387EC14-F18A-43CF-9AF0-A41118B923BB}" srcOrd="1" destOrd="0" presId="urn:microsoft.com/office/officeart/2005/8/layout/hierarchy1"/>
    <dgm:cxn modelId="{7F315E4C-CC8C-4193-94EA-A9FEDE78EA16}" type="presParOf" srcId="{E36A0769-91E2-4650-AE49-ED617EC53E5B}" destId="{582E8782-F7DB-4933-B6E7-86A7D5E7187C}" srcOrd="1" destOrd="0" presId="urn:microsoft.com/office/officeart/2005/8/layout/hierarchy1"/>
    <dgm:cxn modelId="{49329A6F-C684-4C02-9D12-BB78482F42CC}" type="presParOf" srcId="{17F30075-AF6C-420A-967A-D27FE160109A}" destId="{139673FD-0BAD-4945-93F2-A81467F98D60}" srcOrd="4" destOrd="0" presId="urn:microsoft.com/office/officeart/2005/8/layout/hierarchy1"/>
    <dgm:cxn modelId="{4FF2B50A-F050-44ED-BF59-A6296A8D5A26}" type="presParOf" srcId="{17F30075-AF6C-420A-967A-D27FE160109A}" destId="{CA717F6F-D6C4-42D0-93BF-42EB635F5E93}" srcOrd="5" destOrd="0" presId="urn:microsoft.com/office/officeart/2005/8/layout/hierarchy1"/>
    <dgm:cxn modelId="{FA5EF967-8955-4284-AF73-4086216EECA1}" type="presParOf" srcId="{CA717F6F-D6C4-42D0-93BF-42EB635F5E93}" destId="{F540DCF9-F7A7-4C85-8261-672EA45DEFB1}" srcOrd="0" destOrd="0" presId="urn:microsoft.com/office/officeart/2005/8/layout/hierarchy1"/>
    <dgm:cxn modelId="{34A8FAC2-889A-4CEB-B22A-B9AF91B224E7}" type="presParOf" srcId="{F540DCF9-F7A7-4C85-8261-672EA45DEFB1}" destId="{8C335D7F-31FC-4F26-9786-583F5156D52F}" srcOrd="0" destOrd="0" presId="urn:microsoft.com/office/officeart/2005/8/layout/hierarchy1"/>
    <dgm:cxn modelId="{81498519-ED98-49FB-8052-CA5128F912B4}" type="presParOf" srcId="{F540DCF9-F7A7-4C85-8261-672EA45DEFB1}" destId="{8FB552E9-894B-4582-99AF-4E5AB469AF89}" srcOrd="1" destOrd="0" presId="urn:microsoft.com/office/officeart/2005/8/layout/hierarchy1"/>
    <dgm:cxn modelId="{397A8A48-3A2A-4C84-A22E-AADF6F84042B}" type="presParOf" srcId="{CA717F6F-D6C4-42D0-93BF-42EB635F5E93}" destId="{2B1CE353-93A3-4E23-8426-06A1951DD3AD}" srcOrd="1" destOrd="0" presId="urn:microsoft.com/office/officeart/2005/8/layout/hierarchy1"/>
    <dgm:cxn modelId="{72124D8B-E081-43CC-8D29-70B0501E9549}" type="presParOf" srcId="{ADBDA981-F696-43AD-8A1C-0171E9F825F1}" destId="{B5E293CF-F743-4B36-99F5-3B015EC624A2}" srcOrd="2" destOrd="0" presId="urn:microsoft.com/office/officeart/2005/8/layout/hierarchy1"/>
    <dgm:cxn modelId="{4C36444F-12F7-4260-88E6-B56A3FB527B6}" type="presParOf" srcId="{ADBDA981-F696-43AD-8A1C-0171E9F825F1}" destId="{285AFE3C-70F7-4C7B-8365-573D358B3425}" srcOrd="3" destOrd="0" presId="urn:microsoft.com/office/officeart/2005/8/layout/hierarchy1"/>
    <dgm:cxn modelId="{2DEFB48B-93C0-40C6-83EC-2C2E7851B08A}" type="presParOf" srcId="{285AFE3C-70F7-4C7B-8365-573D358B3425}" destId="{17FDC5E0-C17E-42A7-B888-C5D45AAFC2A0}" srcOrd="0" destOrd="0" presId="urn:microsoft.com/office/officeart/2005/8/layout/hierarchy1"/>
    <dgm:cxn modelId="{AB33A0A6-2B16-4E36-BC6C-5634AE251D78}" type="presParOf" srcId="{17FDC5E0-C17E-42A7-B888-C5D45AAFC2A0}" destId="{94C94E36-9C8D-4563-B9B5-FA829C13520D}" srcOrd="0" destOrd="0" presId="urn:microsoft.com/office/officeart/2005/8/layout/hierarchy1"/>
    <dgm:cxn modelId="{D7D21341-6C8D-4885-9E27-84A5AF5E4976}" type="presParOf" srcId="{17FDC5E0-C17E-42A7-B888-C5D45AAFC2A0}" destId="{C3586D26-2B89-4DFD-8DC6-257724D0C4AC}" srcOrd="1" destOrd="0" presId="urn:microsoft.com/office/officeart/2005/8/layout/hierarchy1"/>
    <dgm:cxn modelId="{7D6EFCF7-409B-4421-AA0F-AEFFE8017D01}" type="presParOf" srcId="{285AFE3C-70F7-4C7B-8365-573D358B3425}" destId="{2919A0FC-5589-41D9-A948-48B33BF0E8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19FA2E-8C4F-47F5-A9BD-68923017925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7E8277-4149-4E7B-9AA3-96C742D13B2A}">
      <dgm:prSet phldrT="[Text]"/>
      <dgm:spPr/>
      <dgm:t>
        <a:bodyPr/>
        <a:lstStyle/>
        <a:p>
          <a:r>
            <a:rPr lang="bg-BG" b="1" dirty="0" err="1" smtClean="0">
              <a:solidFill>
                <a:schemeClr val="accent3">
                  <a:lumMod val="60000"/>
                  <a:lumOff val="40000"/>
                </a:schemeClr>
              </a:solidFill>
            </a:rPr>
            <a:t>Криптология</a:t>
          </a:r>
          <a:endParaRPr lang="en-US" b="1" dirty="0">
            <a:solidFill>
              <a:schemeClr val="accent3">
                <a:lumMod val="60000"/>
                <a:lumOff val="40000"/>
              </a:schemeClr>
            </a:solidFill>
          </a:endParaRPr>
        </a:p>
      </dgm:t>
    </dgm:pt>
    <dgm:pt modelId="{32FB659F-93EE-4BC0-925A-8D74977C6F01}" type="parTrans" cxnId="{FC8E8D00-E133-4077-B491-992CDA38FB87}">
      <dgm:prSet/>
      <dgm:spPr/>
      <dgm:t>
        <a:bodyPr/>
        <a:lstStyle/>
        <a:p>
          <a:endParaRPr lang="en-US"/>
        </a:p>
      </dgm:t>
    </dgm:pt>
    <dgm:pt modelId="{8C1E691B-9671-4CC0-9237-A141A0CA352A}" type="sibTrans" cxnId="{FC8E8D00-E133-4077-B491-992CDA38FB87}">
      <dgm:prSet/>
      <dgm:spPr/>
      <dgm:t>
        <a:bodyPr/>
        <a:lstStyle/>
        <a:p>
          <a:endParaRPr lang="en-US"/>
        </a:p>
      </dgm:t>
    </dgm:pt>
    <dgm:pt modelId="{9D55382D-410F-4DA2-93AD-EE5E9BFF3FFD}">
      <dgm:prSet phldrT="[Text]"/>
      <dgm:spPr/>
      <dgm:t>
        <a:bodyPr/>
        <a:lstStyle/>
        <a:p>
          <a:r>
            <a:rPr lang="bg-BG" b="1" dirty="0" smtClean="0">
              <a:solidFill>
                <a:schemeClr val="accent1"/>
              </a:solidFill>
            </a:rPr>
            <a:t>Криптография</a:t>
          </a:r>
          <a:endParaRPr lang="en-US" b="1" dirty="0">
            <a:solidFill>
              <a:schemeClr val="accent1"/>
            </a:solidFill>
          </a:endParaRPr>
        </a:p>
      </dgm:t>
    </dgm:pt>
    <dgm:pt modelId="{45E8189B-F26C-41F1-BFB4-E5246FDC6601}" type="parTrans" cxnId="{D422F5C1-F56C-4CDA-8C77-0FD401236A14}">
      <dgm:prSet/>
      <dgm:spPr/>
      <dgm:t>
        <a:bodyPr/>
        <a:lstStyle/>
        <a:p>
          <a:endParaRPr lang="en-US"/>
        </a:p>
      </dgm:t>
    </dgm:pt>
    <dgm:pt modelId="{F706ACD6-7D30-45DE-A570-7679059C9FBD}" type="sibTrans" cxnId="{D422F5C1-F56C-4CDA-8C77-0FD401236A14}">
      <dgm:prSet/>
      <dgm:spPr/>
      <dgm:t>
        <a:bodyPr/>
        <a:lstStyle/>
        <a:p>
          <a:endParaRPr lang="en-US"/>
        </a:p>
      </dgm:t>
    </dgm:pt>
    <dgm:pt modelId="{1203CB0B-8E9B-4830-8908-12368A6EF721}">
      <dgm:prSet phldrT="[Text]"/>
      <dgm:spPr/>
      <dgm:t>
        <a:bodyPr/>
        <a:lstStyle/>
        <a:p>
          <a:r>
            <a:rPr lang="bg-BG" dirty="0" smtClean="0"/>
            <a:t>Симетрична </a:t>
          </a:r>
          <a:endParaRPr lang="en-US" dirty="0"/>
        </a:p>
      </dgm:t>
    </dgm:pt>
    <dgm:pt modelId="{CD591E74-1CAB-4D57-BB1A-7106E725CA34}" type="parTrans" cxnId="{6851FC0C-6BB5-4444-A418-235FB572457D}">
      <dgm:prSet/>
      <dgm:spPr/>
      <dgm:t>
        <a:bodyPr/>
        <a:lstStyle/>
        <a:p>
          <a:endParaRPr lang="en-US"/>
        </a:p>
      </dgm:t>
    </dgm:pt>
    <dgm:pt modelId="{CA713FA6-F004-4F79-825F-117520250931}" type="sibTrans" cxnId="{6851FC0C-6BB5-4444-A418-235FB572457D}">
      <dgm:prSet/>
      <dgm:spPr/>
      <dgm:t>
        <a:bodyPr/>
        <a:lstStyle/>
        <a:p>
          <a:endParaRPr lang="en-US"/>
        </a:p>
      </dgm:t>
    </dgm:pt>
    <dgm:pt modelId="{4A900EEE-215E-4E7E-8FA0-B3B76F33371C}">
      <dgm:prSet phldrT="[Text]"/>
      <dgm:spPr/>
      <dgm:t>
        <a:bodyPr/>
        <a:lstStyle/>
        <a:p>
          <a:r>
            <a:rPr lang="bg-BG" dirty="0" smtClean="0"/>
            <a:t>Асиметрична</a:t>
          </a:r>
          <a:endParaRPr lang="en-US" dirty="0"/>
        </a:p>
      </dgm:t>
    </dgm:pt>
    <dgm:pt modelId="{ECADCBF7-B1FA-453B-847D-EFD6D5EB914C}" type="parTrans" cxnId="{38AF8C46-BCCA-4FE8-B486-5423D1804EF5}">
      <dgm:prSet/>
      <dgm:spPr/>
      <dgm:t>
        <a:bodyPr/>
        <a:lstStyle/>
        <a:p>
          <a:endParaRPr lang="en-US"/>
        </a:p>
      </dgm:t>
    </dgm:pt>
    <dgm:pt modelId="{4E914462-EB7C-41A8-BA0F-7D62BD29360F}" type="sibTrans" cxnId="{38AF8C46-BCCA-4FE8-B486-5423D1804EF5}">
      <dgm:prSet/>
      <dgm:spPr/>
      <dgm:t>
        <a:bodyPr/>
        <a:lstStyle/>
        <a:p>
          <a:endParaRPr lang="en-US"/>
        </a:p>
      </dgm:t>
    </dgm:pt>
    <dgm:pt modelId="{7254695C-EC60-4223-86E8-D2B1FA0F2EF7}">
      <dgm:prSet phldrT="[Text]"/>
      <dgm:spPr/>
      <dgm:t>
        <a:bodyPr/>
        <a:lstStyle/>
        <a:p>
          <a:r>
            <a:rPr lang="bg-BG" b="1" dirty="0" err="1" smtClean="0">
              <a:solidFill>
                <a:srgbClr val="00B0F0"/>
              </a:solidFill>
            </a:rPr>
            <a:t>Криптографски</a:t>
          </a:r>
          <a:r>
            <a:rPr lang="bg-BG" b="1" dirty="0" smtClean="0">
              <a:solidFill>
                <a:srgbClr val="00B0F0"/>
              </a:solidFill>
            </a:rPr>
            <a:t> анализ</a:t>
          </a:r>
          <a:endParaRPr lang="en-US" b="1" dirty="0">
            <a:solidFill>
              <a:srgbClr val="00B0F0"/>
            </a:solidFill>
          </a:endParaRPr>
        </a:p>
      </dgm:t>
    </dgm:pt>
    <dgm:pt modelId="{4A3F8ACE-676C-4F57-9CAA-8E791F83C3E3}" type="parTrans" cxnId="{4C9364C5-646A-404E-B84C-31D0DE0953DD}">
      <dgm:prSet/>
      <dgm:spPr/>
      <dgm:t>
        <a:bodyPr/>
        <a:lstStyle/>
        <a:p>
          <a:endParaRPr lang="en-US"/>
        </a:p>
      </dgm:t>
    </dgm:pt>
    <dgm:pt modelId="{7D1FB27B-B11C-400C-B79D-A3F6EE7BB83D}" type="sibTrans" cxnId="{4C9364C5-646A-404E-B84C-31D0DE0953DD}">
      <dgm:prSet/>
      <dgm:spPr/>
      <dgm:t>
        <a:bodyPr/>
        <a:lstStyle/>
        <a:p>
          <a:endParaRPr lang="en-US"/>
        </a:p>
      </dgm:t>
    </dgm:pt>
    <dgm:pt modelId="{7F431C64-1F5D-4072-9F7C-9C580F00F7C1}">
      <dgm:prSet phldrT="[Text]"/>
      <dgm:spPr/>
      <dgm:t>
        <a:bodyPr/>
        <a:lstStyle/>
        <a:p>
          <a:r>
            <a:rPr lang="bg-BG" dirty="0" smtClean="0"/>
            <a:t>Протоколи</a:t>
          </a:r>
          <a:endParaRPr lang="en-US" dirty="0"/>
        </a:p>
      </dgm:t>
    </dgm:pt>
    <dgm:pt modelId="{FDD380E1-C1FE-43FB-8ECF-62817A27B0B3}" type="parTrans" cxnId="{99D406F3-B6EF-4983-A9D4-7E358B43D89B}">
      <dgm:prSet/>
      <dgm:spPr/>
      <dgm:t>
        <a:bodyPr/>
        <a:lstStyle/>
        <a:p>
          <a:endParaRPr lang="en-US"/>
        </a:p>
      </dgm:t>
    </dgm:pt>
    <dgm:pt modelId="{5749E5AE-035C-4E75-99D7-C0245E6863D3}" type="sibTrans" cxnId="{99D406F3-B6EF-4983-A9D4-7E358B43D89B}">
      <dgm:prSet/>
      <dgm:spPr/>
      <dgm:t>
        <a:bodyPr/>
        <a:lstStyle/>
        <a:p>
          <a:endParaRPr lang="en-US"/>
        </a:p>
      </dgm:t>
    </dgm:pt>
    <dgm:pt modelId="{95423E08-D881-4E64-80A3-9C61394967D1}" type="pres">
      <dgm:prSet presAssocID="{3719FA2E-8C4F-47F5-A9BD-6892301792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77D2E23-51F8-4C3F-987B-D8B1AD6648A7}" type="pres">
      <dgm:prSet presAssocID="{6D7E8277-4149-4E7B-9AA3-96C742D13B2A}" presName="hierRoot1" presStyleCnt="0"/>
      <dgm:spPr/>
    </dgm:pt>
    <dgm:pt modelId="{818BDCAE-3DAE-42A6-97FD-753154EBAEEB}" type="pres">
      <dgm:prSet presAssocID="{6D7E8277-4149-4E7B-9AA3-96C742D13B2A}" presName="composite" presStyleCnt="0"/>
      <dgm:spPr/>
    </dgm:pt>
    <dgm:pt modelId="{E340C053-31A3-42A2-9A5A-B554AF8B75BB}" type="pres">
      <dgm:prSet presAssocID="{6D7E8277-4149-4E7B-9AA3-96C742D13B2A}" presName="background" presStyleLbl="node0" presStyleIdx="0" presStyleCnt="1"/>
      <dgm:spPr/>
    </dgm:pt>
    <dgm:pt modelId="{C3D17C1A-5289-4ED0-B265-80C9093863E6}" type="pres">
      <dgm:prSet presAssocID="{6D7E8277-4149-4E7B-9AA3-96C742D13B2A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DBDA981-F696-43AD-8A1C-0171E9F825F1}" type="pres">
      <dgm:prSet presAssocID="{6D7E8277-4149-4E7B-9AA3-96C742D13B2A}" presName="hierChild2" presStyleCnt="0"/>
      <dgm:spPr/>
    </dgm:pt>
    <dgm:pt modelId="{A552AEDE-24D5-4B2C-ADAC-57E0EDA9B72F}" type="pres">
      <dgm:prSet presAssocID="{45E8189B-F26C-41F1-BFB4-E5246FDC6601}" presName="Name10" presStyleLbl="parChTrans1D2" presStyleIdx="0" presStyleCnt="2"/>
      <dgm:spPr/>
      <dgm:t>
        <a:bodyPr/>
        <a:lstStyle/>
        <a:p>
          <a:endParaRPr lang="en-US"/>
        </a:p>
      </dgm:t>
    </dgm:pt>
    <dgm:pt modelId="{2A1D0F9F-6858-4112-9961-AD9C7D86E610}" type="pres">
      <dgm:prSet presAssocID="{9D55382D-410F-4DA2-93AD-EE5E9BFF3FFD}" presName="hierRoot2" presStyleCnt="0"/>
      <dgm:spPr/>
    </dgm:pt>
    <dgm:pt modelId="{00F446AD-873C-4D3B-A706-79B7DB24FA0D}" type="pres">
      <dgm:prSet presAssocID="{9D55382D-410F-4DA2-93AD-EE5E9BFF3FFD}" presName="composite2" presStyleCnt="0"/>
      <dgm:spPr/>
    </dgm:pt>
    <dgm:pt modelId="{D0EFF65A-41BC-4F4E-8B76-66F8F3ADEC51}" type="pres">
      <dgm:prSet presAssocID="{9D55382D-410F-4DA2-93AD-EE5E9BFF3FFD}" presName="background2" presStyleLbl="node2" presStyleIdx="0" presStyleCnt="2"/>
      <dgm:spPr/>
    </dgm:pt>
    <dgm:pt modelId="{946F5E30-6B24-477F-B103-88F089CB1210}" type="pres">
      <dgm:prSet presAssocID="{9D55382D-410F-4DA2-93AD-EE5E9BFF3FFD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F30075-AF6C-420A-967A-D27FE160109A}" type="pres">
      <dgm:prSet presAssocID="{9D55382D-410F-4DA2-93AD-EE5E9BFF3FFD}" presName="hierChild3" presStyleCnt="0"/>
      <dgm:spPr/>
    </dgm:pt>
    <dgm:pt modelId="{699E1B9D-BEF6-470C-9366-A2878D1BFE7D}" type="pres">
      <dgm:prSet presAssocID="{CD591E74-1CAB-4D57-BB1A-7106E725CA34}" presName="Name17" presStyleLbl="parChTrans1D3" presStyleIdx="0" presStyleCnt="3"/>
      <dgm:spPr/>
      <dgm:t>
        <a:bodyPr/>
        <a:lstStyle/>
        <a:p>
          <a:endParaRPr lang="en-US"/>
        </a:p>
      </dgm:t>
    </dgm:pt>
    <dgm:pt modelId="{08A3BA5A-EC09-47BA-AAD7-D76D18464129}" type="pres">
      <dgm:prSet presAssocID="{1203CB0B-8E9B-4830-8908-12368A6EF721}" presName="hierRoot3" presStyleCnt="0"/>
      <dgm:spPr/>
    </dgm:pt>
    <dgm:pt modelId="{D73E6DDB-634D-4FCE-8FAF-8F1F7A53027C}" type="pres">
      <dgm:prSet presAssocID="{1203CB0B-8E9B-4830-8908-12368A6EF721}" presName="composite3" presStyleCnt="0"/>
      <dgm:spPr/>
    </dgm:pt>
    <dgm:pt modelId="{CC267BA1-109B-46B3-9C84-AD96CA485737}" type="pres">
      <dgm:prSet presAssocID="{1203CB0B-8E9B-4830-8908-12368A6EF721}" presName="background3" presStyleLbl="node3" presStyleIdx="0" presStyleCnt="3"/>
      <dgm:spPr/>
    </dgm:pt>
    <dgm:pt modelId="{0033A625-C40E-4DA5-8FA2-3A943953ADF6}" type="pres">
      <dgm:prSet presAssocID="{1203CB0B-8E9B-4830-8908-12368A6EF721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7875DC-86C9-4175-8E0A-13504392196E}" type="pres">
      <dgm:prSet presAssocID="{1203CB0B-8E9B-4830-8908-12368A6EF721}" presName="hierChild4" presStyleCnt="0"/>
      <dgm:spPr/>
    </dgm:pt>
    <dgm:pt modelId="{806B426B-127B-4FC1-BDFE-2A652A675BB1}" type="pres">
      <dgm:prSet presAssocID="{ECADCBF7-B1FA-453B-847D-EFD6D5EB914C}" presName="Name17" presStyleLbl="parChTrans1D3" presStyleIdx="1" presStyleCnt="3"/>
      <dgm:spPr/>
      <dgm:t>
        <a:bodyPr/>
        <a:lstStyle/>
        <a:p>
          <a:endParaRPr lang="en-US"/>
        </a:p>
      </dgm:t>
    </dgm:pt>
    <dgm:pt modelId="{E36A0769-91E2-4650-AE49-ED617EC53E5B}" type="pres">
      <dgm:prSet presAssocID="{4A900EEE-215E-4E7E-8FA0-B3B76F33371C}" presName="hierRoot3" presStyleCnt="0"/>
      <dgm:spPr/>
    </dgm:pt>
    <dgm:pt modelId="{87B35BCA-5A47-4521-949A-C99552462524}" type="pres">
      <dgm:prSet presAssocID="{4A900EEE-215E-4E7E-8FA0-B3B76F33371C}" presName="composite3" presStyleCnt="0"/>
      <dgm:spPr/>
    </dgm:pt>
    <dgm:pt modelId="{AA33369A-0C0A-41BF-B7EA-80BDFB68038F}" type="pres">
      <dgm:prSet presAssocID="{4A900EEE-215E-4E7E-8FA0-B3B76F33371C}" presName="background3" presStyleLbl="node3" presStyleIdx="1" presStyleCnt="3"/>
      <dgm:spPr/>
    </dgm:pt>
    <dgm:pt modelId="{B387EC14-F18A-43CF-9AF0-A41118B923BB}" type="pres">
      <dgm:prSet presAssocID="{4A900EEE-215E-4E7E-8FA0-B3B76F33371C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82E8782-F7DB-4933-B6E7-86A7D5E7187C}" type="pres">
      <dgm:prSet presAssocID="{4A900EEE-215E-4E7E-8FA0-B3B76F33371C}" presName="hierChild4" presStyleCnt="0"/>
      <dgm:spPr/>
    </dgm:pt>
    <dgm:pt modelId="{139673FD-0BAD-4945-93F2-A81467F98D60}" type="pres">
      <dgm:prSet presAssocID="{FDD380E1-C1FE-43FB-8ECF-62817A27B0B3}" presName="Name17" presStyleLbl="parChTrans1D3" presStyleIdx="2" presStyleCnt="3"/>
      <dgm:spPr/>
      <dgm:t>
        <a:bodyPr/>
        <a:lstStyle/>
        <a:p>
          <a:endParaRPr lang="en-US"/>
        </a:p>
      </dgm:t>
    </dgm:pt>
    <dgm:pt modelId="{CA717F6F-D6C4-42D0-93BF-42EB635F5E93}" type="pres">
      <dgm:prSet presAssocID="{7F431C64-1F5D-4072-9F7C-9C580F00F7C1}" presName="hierRoot3" presStyleCnt="0"/>
      <dgm:spPr/>
    </dgm:pt>
    <dgm:pt modelId="{F540DCF9-F7A7-4C85-8261-672EA45DEFB1}" type="pres">
      <dgm:prSet presAssocID="{7F431C64-1F5D-4072-9F7C-9C580F00F7C1}" presName="composite3" presStyleCnt="0"/>
      <dgm:spPr/>
    </dgm:pt>
    <dgm:pt modelId="{8C335D7F-31FC-4F26-9786-583F5156D52F}" type="pres">
      <dgm:prSet presAssocID="{7F431C64-1F5D-4072-9F7C-9C580F00F7C1}" presName="background3" presStyleLbl="node3" presStyleIdx="2" presStyleCnt="3"/>
      <dgm:spPr/>
    </dgm:pt>
    <dgm:pt modelId="{8FB552E9-894B-4582-99AF-4E5AB469AF89}" type="pres">
      <dgm:prSet presAssocID="{7F431C64-1F5D-4072-9F7C-9C580F00F7C1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B1CE353-93A3-4E23-8426-06A1951DD3AD}" type="pres">
      <dgm:prSet presAssocID="{7F431C64-1F5D-4072-9F7C-9C580F00F7C1}" presName="hierChild4" presStyleCnt="0"/>
      <dgm:spPr/>
    </dgm:pt>
    <dgm:pt modelId="{B5E293CF-F743-4B36-99F5-3B015EC624A2}" type="pres">
      <dgm:prSet presAssocID="{4A3F8ACE-676C-4F57-9CAA-8E791F83C3E3}" presName="Name10" presStyleLbl="parChTrans1D2" presStyleIdx="1" presStyleCnt="2"/>
      <dgm:spPr/>
      <dgm:t>
        <a:bodyPr/>
        <a:lstStyle/>
        <a:p>
          <a:endParaRPr lang="en-US"/>
        </a:p>
      </dgm:t>
    </dgm:pt>
    <dgm:pt modelId="{285AFE3C-70F7-4C7B-8365-573D358B3425}" type="pres">
      <dgm:prSet presAssocID="{7254695C-EC60-4223-86E8-D2B1FA0F2EF7}" presName="hierRoot2" presStyleCnt="0"/>
      <dgm:spPr/>
    </dgm:pt>
    <dgm:pt modelId="{17FDC5E0-C17E-42A7-B888-C5D45AAFC2A0}" type="pres">
      <dgm:prSet presAssocID="{7254695C-EC60-4223-86E8-D2B1FA0F2EF7}" presName="composite2" presStyleCnt="0"/>
      <dgm:spPr/>
    </dgm:pt>
    <dgm:pt modelId="{94C94E36-9C8D-4563-B9B5-FA829C13520D}" type="pres">
      <dgm:prSet presAssocID="{7254695C-EC60-4223-86E8-D2B1FA0F2EF7}" presName="background2" presStyleLbl="node2" presStyleIdx="1" presStyleCnt="2"/>
      <dgm:spPr/>
    </dgm:pt>
    <dgm:pt modelId="{C3586D26-2B89-4DFD-8DC6-257724D0C4AC}" type="pres">
      <dgm:prSet presAssocID="{7254695C-EC60-4223-86E8-D2B1FA0F2EF7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19A0FC-5589-41D9-A948-48B33BF0E843}" type="pres">
      <dgm:prSet presAssocID="{7254695C-EC60-4223-86E8-D2B1FA0F2EF7}" presName="hierChild3" presStyleCnt="0"/>
      <dgm:spPr/>
    </dgm:pt>
  </dgm:ptLst>
  <dgm:cxnLst>
    <dgm:cxn modelId="{99D406F3-B6EF-4983-A9D4-7E358B43D89B}" srcId="{9D55382D-410F-4DA2-93AD-EE5E9BFF3FFD}" destId="{7F431C64-1F5D-4072-9F7C-9C580F00F7C1}" srcOrd="2" destOrd="0" parTransId="{FDD380E1-C1FE-43FB-8ECF-62817A27B0B3}" sibTransId="{5749E5AE-035C-4E75-99D7-C0245E6863D3}"/>
    <dgm:cxn modelId="{78648FE9-866F-4E24-BF32-706A1D784FEB}" type="presOf" srcId="{9D55382D-410F-4DA2-93AD-EE5E9BFF3FFD}" destId="{946F5E30-6B24-477F-B103-88F089CB1210}" srcOrd="0" destOrd="0" presId="urn:microsoft.com/office/officeart/2005/8/layout/hierarchy1"/>
    <dgm:cxn modelId="{6851FC0C-6BB5-4444-A418-235FB572457D}" srcId="{9D55382D-410F-4DA2-93AD-EE5E9BFF3FFD}" destId="{1203CB0B-8E9B-4830-8908-12368A6EF721}" srcOrd="0" destOrd="0" parTransId="{CD591E74-1CAB-4D57-BB1A-7106E725CA34}" sibTransId="{CA713FA6-F004-4F79-825F-117520250931}"/>
    <dgm:cxn modelId="{49C681DC-B005-49FB-9E08-AEA498A20DAE}" type="presOf" srcId="{4A900EEE-215E-4E7E-8FA0-B3B76F33371C}" destId="{B387EC14-F18A-43CF-9AF0-A41118B923BB}" srcOrd="0" destOrd="0" presId="urn:microsoft.com/office/officeart/2005/8/layout/hierarchy1"/>
    <dgm:cxn modelId="{FC8E8D00-E133-4077-B491-992CDA38FB87}" srcId="{3719FA2E-8C4F-47F5-A9BD-689230179257}" destId="{6D7E8277-4149-4E7B-9AA3-96C742D13B2A}" srcOrd="0" destOrd="0" parTransId="{32FB659F-93EE-4BC0-925A-8D74977C6F01}" sibTransId="{8C1E691B-9671-4CC0-9237-A141A0CA352A}"/>
    <dgm:cxn modelId="{A4CB4927-40FF-44AA-842E-A9ABF36F481C}" type="presOf" srcId="{FDD380E1-C1FE-43FB-8ECF-62817A27B0B3}" destId="{139673FD-0BAD-4945-93F2-A81467F98D60}" srcOrd="0" destOrd="0" presId="urn:microsoft.com/office/officeart/2005/8/layout/hierarchy1"/>
    <dgm:cxn modelId="{F7636365-57EA-4D21-9591-BD12F0809B7F}" type="presOf" srcId="{6D7E8277-4149-4E7B-9AA3-96C742D13B2A}" destId="{C3D17C1A-5289-4ED0-B265-80C9093863E6}" srcOrd="0" destOrd="0" presId="urn:microsoft.com/office/officeart/2005/8/layout/hierarchy1"/>
    <dgm:cxn modelId="{77788CEB-145C-4075-99E4-6DF6C0D6CEC5}" type="presOf" srcId="{7F431C64-1F5D-4072-9F7C-9C580F00F7C1}" destId="{8FB552E9-894B-4582-99AF-4E5AB469AF89}" srcOrd="0" destOrd="0" presId="urn:microsoft.com/office/officeart/2005/8/layout/hierarchy1"/>
    <dgm:cxn modelId="{6E0639C7-E55C-45FE-8280-702764935715}" type="presOf" srcId="{1203CB0B-8E9B-4830-8908-12368A6EF721}" destId="{0033A625-C40E-4DA5-8FA2-3A943953ADF6}" srcOrd="0" destOrd="0" presId="urn:microsoft.com/office/officeart/2005/8/layout/hierarchy1"/>
    <dgm:cxn modelId="{9B377DD4-EA30-4330-A91A-EFBDA100C602}" type="presOf" srcId="{ECADCBF7-B1FA-453B-847D-EFD6D5EB914C}" destId="{806B426B-127B-4FC1-BDFE-2A652A675BB1}" srcOrd="0" destOrd="0" presId="urn:microsoft.com/office/officeart/2005/8/layout/hierarchy1"/>
    <dgm:cxn modelId="{4C9364C5-646A-404E-B84C-31D0DE0953DD}" srcId="{6D7E8277-4149-4E7B-9AA3-96C742D13B2A}" destId="{7254695C-EC60-4223-86E8-D2B1FA0F2EF7}" srcOrd="1" destOrd="0" parTransId="{4A3F8ACE-676C-4F57-9CAA-8E791F83C3E3}" sibTransId="{7D1FB27B-B11C-400C-B79D-A3F6EE7BB83D}"/>
    <dgm:cxn modelId="{18CBE802-5F11-47EB-9BBF-ADB0F76F4A12}" type="presOf" srcId="{7254695C-EC60-4223-86E8-D2B1FA0F2EF7}" destId="{C3586D26-2B89-4DFD-8DC6-257724D0C4AC}" srcOrd="0" destOrd="0" presId="urn:microsoft.com/office/officeart/2005/8/layout/hierarchy1"/>
    <dgm:cxn modelId="{D422F5C1-F56C-4CDA-8C77-0FD401236A14}" srcId="{6D7E8277-4149-4E7B-9AA3-96C742D13B2A}" destId="{9D55382D-410F-4DA2-93AD-EE5E9BFF3FFD}" srcOrd="0" destOrd="0" parTransId="{45E8189B-F26C-41F1-BFB4-E5246FDC6601}" sibTransId="{F706ACD6-7D30-45DE-A570-7679059C9FBD}"/>
    <dgm:cxn modelId="{4517EC21-DD34-41D0-BB08-08D3ADFE91F8}" type="presOf" srcId="{4A3F8ACE-676C-4F57-9CAA-8E791F83C3E3}" destId="{B5E293CF-F743-4B36-99F5-3B015EC624A2}" srcOrd="0" destOrd="0" presId="urn:microsoft.com/office/officeart/2005/8/layout/hierarchy1"/>
    <dgm:cxn modelId="{FED452BC-DA31-4560-8D56-21C49DFA10A1}" type="presOf" srcId="{45E8189B-F26C-41F1-BFB4-E5246FDC6601}" destId="{A552AEDE-24D5-4B2C-ADAC-57E0EDA9B72F}" srcOrd="0" destOrd="0" presId="urn:microsoft.com/office/officeart/2005/8/layout/hierarchy1"/>
    <dgm:cxn modelId="{38AF8C46-BCCA-4FE8-B486-5423D1804EF5}" srcId="{9D55382D-410F-4DA2-93AD-EE5E9BFF3FFD}" destId="{4A900EEE-215E-4E7E-8FA0-B3B76F33371C}" srcOrd="1" destOrd="0" parTransId="{ECADCBF7-B1FA-453B-847D-EFD6D5EB914C}" sibTransId="{4E914462-EB7C-41A8-BA0F-7D62BD29360F}"/>
    <dgm:cxn modelId="{EF5E7891-C534-43F2-A26C-18D421CFB34E}" type="presOf" srcId="{3719FA2E-8C4F-47F5-A9BD-689230179257}" destId="{95423E08-D881-4E64-80A3-9C61394967D1}" srcOrd="0" destOrd="0" presId="urn:microsoft.com/office/officeart/2005/8/layout/hierarchy1"/>
    <dgm:cxn modelId="{7BCFE23B-23A3-46C0-B2FC-4A99724BC949}" type="presOf" srcId="{CD591E74-1CAB-4D57-BB1A-7106E725CA34}" destId="{699E1B9D-BEF6-470C-9366-A2878D1BFE7D}" srcOrd="0" destOrd="0" presId="urn:microsoft.com/office/officeart/2005/8/layout/hierarchy1"/>
    <dgm:cxn modelId="{F33F07CA-76B0-4612-8576-464793176C71}" type="presParOf" srcId="{95423E08-D881-4E64-80A3-9C61394967D1}" destId="{D77D2E23-51F8-4C3F-987B-D8B1AD6648A7}" srcOrd="0" destOrd="0" presId="urn:microsoft.com/office/officeart/2005/8/layout/hierarchy1"/>
    <dgm:cxn modelId="{67F96A82-83F1-426F-A669-ABEC8B68A988}" type="presParOf" srcId="{D77D2E23-51F8-4C3F-987B-D8B1AD6648A7}" destId="{818BDCAE-3DAE-42A6-97FD-753154EBAEEB}" srcOrd="0" destOrd="0" presId="urn:microsoft.com/office/officeart/2005/8/layout/hierarchy1"/>
    <dgm:cxn modelId="{856A6C98-20A0-4CC5-ADF6-32294F4E3B7E}" type="presParOf" srcId="{818BDCAE-3DAE-42A6-97FD-753154EBAEEB}" destId="{E340C053-31A3-42A2-9A5A-B554AF8B75BB}" srcOrd="0" destOrd="0" presId="urn:microsoft.com/office/officeart/2005/8/layout/hierarchy1"/>
    <dgm:cxn modelId="{6B2812DC-9275-497A-8F36-9811E87FABA7}" type="presParOf" srcId="{818BDCAE-3DAE-42A6-97FD-753154EBAEEB}" destId="{C3D17C1A-5289-4ED0-B265-80C9093863E6}" srcOrd="1" destOrd="0" presId="urn:microsoft.com/office/officeart/2005/8/layout/hierarchy1"/>
    <dgm:cxn modelId="{9627F6A5-F9D0-4F9E-8B2D-C8C8A769D619}" type="presParOf" srcId="{D77D2E23-51F8-4C3F-987B-D8B1AD6648A7}" destId="{ADBDA981-F696-43AD-8A1C-0171E9F825F1}" srcOrd="1" destOrd="0" presId="urn:microsoft.com/office/officeart/2005/8/layout/hierarchy1"/>
    <dgm:cxn modelId="{3934F4B3-67D1-498E-BDBC-7EE521BCE98F}" type="presParOf" srcId="{ADBDA981-F696-43AD-8A1C-0171E9F825F1}" destId="{A552AEDE-24D5-4B2C-ADAC-57E0EDA9B72F}" srcOrd="0" destOrd="0" presId="urn:microsoft.com/office/officeart/2005/8/layout/hierarchy1"/>
    <dgm:cxn modelId="{F3FB713A-373E-4C34-932E-4498B7621F92}" type="presParOf" srcId="{ADBDA981-F696-43AD-8A1C-0171E9F825F1}" destId="{2A1D0F9F-6858-4112-9961-AD9C7D86E610}" srcOrd="1" destOrd="0" presId="urn:microsoft.com/office/officeart/2005/8/layout/hierarchy1"/>
    <dgm:cxn modelId="{17542C10-AE81-4C7D-A1A1-CE5B8E1F77CF}" type="presParOf" srcId="{2A1D0F9F-6858-4112-9961-AD9C7D86E610}" destId="{00F446AD-873C-4D3B-A706-79B7DB24FA0D}" srcOrd="0" destOrd="0" presId="urn:microsoft.com/office/officeart/2005/8/layout/hierarchy1"/>
    <dgm:cxn modelId="{0022FD16-8D43-48A3-A4D1-91F9D54A8287}" type="presParOf" srcId="{00F446AD-873C-4D3B-A706-79B7DB24FA0D}" destId="{D0EFF65A-41BC-4F4E-8B76-66F8F3ADEC51}" srcOrd="0" destOrd="0" presId="urn:microsoft.com/office/officeart/2005/8/layout/hierarchy1"/>
    <dgm:cxn modelId="{01E397B8-8AFC-4F32-92C2-21F2A47AD991}" type="presParOf" srcId="{00F446AD-873C-4D3B-A706-79B7DB24FA0D}" destId="{946F5E30-6B24-477F-B103-88F089CB1210}" srcOrd="1" destOrd="0" presId="urn:microsoft.com/office/officeart/2005/8/layout/hierarchy1"/>
    <dgm:cxn modelId="{5FDDE9CD-EAC4-47DA-89AC-87B31201B758}" type="presParOf" srcId="{2A1D0F9F-6858-4112-9961-AD9C7D86E610}" destId="{17F30075-AF6C-420A-967A-D27FE160109A}" srcOrd="1" destOrd="0" presId="urn:microsoft.com/office/officeart/2005/8/layout/hierarchy1"/>
    <dgm:cxn modelId="{6396AB94-D8AD-4926-BD4C-4FC33684421F}" type="presParOf" srcId="{17F30075-AF6C-420A-967A-D27FE160109A}" destId="{699E1B9D-BEF6-470C-9366-A2878D1BFE7D}" srcOrd="0" destOrd="0" presId="urn:microsoft.com/office/officeart/2005/8/layout/hierarchy1"/>
    <dgm:cxn modelId="{5D6CB5B7-8477-46E4-AACB-D027C0F2F574}" type="presParOf" srcId="{17F30075-AF6C-420A-967A-D27FE160109A}" destId="{08A3BA5A-EC09-47BA-AAD7-D76D18464129}" srcOrd="1" destOrd="0" presId="urn:microsoft.com/office/officeart/2005/8/layout/hierarchy1"/>
    <dgm:cxn modelId="{865CA553-AD9A-4D3B-ABDF-F93F30B32D39}" type="presParOf" srcId="{08A3BA5A-EC09-47BA-AAD7-D76D18464129}" destId="{D73E6DDB-634D-4FCE-8FAF-8F1F7A53027C}" srcOrd="0" destOrd="0" presId="urn:microsoft.com/office/officeart/2005/8/layout/hierarchy1"/>
    <dgm:cxn modelId="{B9A9DA12-8721-4A9F-BB2C-2DBAB919CF8E}" type="presParOf" srcId="{D73E6DDB-634D-4FCE-8FAF-8F1F7A53027C}" destId="{CC267BA1-109B-46B3-9C84-AD96CA485737}" srcOrd="0" destOrd="0" presId="urn:microsoft.com/office/officeart/2005/8/layout/hierarchy1"/>
    <dgm:cxn modelId="{7919F408-B0C8-4D4D-8423-637423C51831}" type="presParOf" srcId="{D73E6DDB-634D-4FCE-8FAF-8F1F7A53027C}" destId="{0033A625-C40E-4DA5-8FA2-3A943953ADF6}" srcOrd="1" destOrd="0" presId="urn:microsoft.com/office/officeart/2005/8/layout/hierarchy1"/>
    <dgm:cxn modelId="{8B0AA548-4A3E-42B3-AF5C-7DFD18746A12}" type="presParOf" srcId="{08A3BA5A-EC09-47BA-AAD7-D76D18464129}" destId="{9C7875DC-86C9-4175-8E0A-13504392196E}" srcOrd="1" destOrd="0" presId="urn:microsoft.com/office/officeart/2005/8/layout/hierarchy1"/>
    <dgm:cxn modelId="{7A007FA4-C7E1-4B19-BA17-4BB069774C5F}" type="presParOf" srcId="{17F30075-AF6C-420A-967A-D27FE160109A}" destId="{806B426B-127B-4FC1-BDFE-2A652A675BB1}" srcOrd="2" destOrd="0" presId="urn:microsoft.com/office/officeart/2005/8/layout/hierarchy1"/>
    <dgm:cxn modelId="{6548FE73-A70A-4967-9CD8-2B0842FDBF8E}" type="presParOf" srcId="{17F30075-AF6C-420A-967A-D27FE160109A}" destId="{E36A0769-91E2-4650-AE49-ED617EC53E5B}" srcOrd="3" destOrd="0" presId="urn:microsoft.com/office/officeart/2005/8/layout/hierarchy1"/>
    <dgm:cxn modelId="{A81DBD33-433E-4737-9E60-B9241068FD78}" type="presParOf" srcId="{E36A0769-91E2-4650-AE49-ED617EC53E5B}" destId="{87B35BCA-5A47-4521-949A-C99552462524}" srcOrd="0" destOrd="0" presId="urn:microsoft.com/office/officeart/2005/8/layout/hierarchy1"/>
    <dgm:cxn modelId="{46E658CE-FA16-4C39-8E1E-3419B95FA87B}" type="presParOf" srcId="{87B35BCA-5A47-4521-949A-C99552462524}" destId="{AA33369A-0C0A-41BF-B7EA-80BDFB68038F}" srcOrd="0" destOrd="0" presId="urn:microsoft.com/office/officeart/2005/8/layout/hierarchy1"/>
    <dgm:cxn modelId="{ED297C64-A055-4EF8-9D30-50AB2B1314E0}" type="presParOf" srcId="{87B35BCA-5A47-4521-949A-C99552462524}" destId="{B387EC14-F18A-43CF-9AF0-A41118B923BB}" srcOrd="1" destOrd="0" presId="urn:microsoft.com/office/officeart/2005/8/layout/hierarchy1"/>
    <dgm:cxn modelId="{7F315E4C-CC8C-4193-94EA-A9FEDE78EA16}" type="presParOf" srcId="{E36A0769-91E2-4650-AE49-ED617EC53E5B}" destId="{582E8782-F7DB-4933-B6E7-86A7D5E7187C}" srcOrd="1" destOrd="0" presId="urn:microsoft.com/office/officeart/2005/8/layout/hierarchy1"/>
    <dgm:cxn modelId="{49329A6F-C684-4C02-9D12-BB78482F42CC}" type="presParOf" srcId="{17F30075-AF6C-420A-967A-D27FE160109A}" destId="{139673FD-0BAD-4945-93F2-A81467F98D60}" srcOrd="4" destOrd="0" presId="urn:microsoft.com/office/officeart/2005/8/layout/hierarchy1"/>
    <dgm:cxn modelId="{4FF2B50A-F050-44ED-BF59-A6296A8D5A26}" type="presParOf" srcId="{17F30075-AF6C-420A-967A-D27FE160109A}" destId="{CA717F6F-D6C4-42D0-93BF-42EB635F5E93}" srcOrd="5" destOrd="0" presId="urn:microsoft.com/office/officeart/2005/8/layout/hierarchy1"/>
    <dgm:cxn modelId="{FA5EF967-8955-4284-AF73-4086216EECA1}" type="presParOf" srcId="{CA717F6F-D6C4-42D0-93BF-42EB635F5E93}" destId="{F540DCF9-F7A7-4C85-8261-672EA45DEFB1}" srcOrd="0" destOrd="0" presId="urn:microsoft.com/office/officeart/2005/8/layout/hierarchy1"/>
    <dgm:cxn modelId="{34A8FAC2-889A-4CEB-B22A-B9AF91B224E7}" type="presParOf" srcId="{F540DCF9-F7A7-4C85-8261-672EA45DEFB1}" destId="{8C335D7F-31FC-4F26-9786-583F5156D52F}" srcOrd="0" destOrd="0" presId="urn:microsoft.com/office/officeart/2005/8/layout/hierarchy1"/>
    <dgm:cxn modelId="{81498519-ED98-49FB-8052-CA5128F912B4}" type="presParOf" srcId="{F540DCF9-F7A7-4C85-8261-672EA45DEFB1}" destId="{8FB552E9-894B-4582-99AF-4E5AB469AF89}" srcOrd="1" destOrd="0" presId="urn:microsoft.com/office/officeart/2005/8/layout/hierarchy1"/>
    <dgm:cxn modelId="{397A8A48-3A2A-4C84-A22E-AADF6F84042B}" type="presParOf" srcId="{CA717F6F-D6C4-42D0-93BF-42EB635F5E93}" destId="{2B1CE353-93A3-4E23-8426-06A1951DD3AD}" srcOrd="1" destOrd="0" presId="urn:microsoft.com/office/officeart/2005/8/layout/hierarchy1"/>
    <dgm:cxn modelId="{72124D8B-E081-43CC-8D29-70B0501E9549}" type="presParOf" srcId="{ADBDA981-F696-43AD-8A1C-0171E9F825F1}" destId="{B5E293CF-F743-4B36-99F5-3B015EC624A2}" srcOrd="2" destOrd="0" presId="urn:microsoft.com/office/officeart/2005/8/layout/hierarchy1"/>
    <dgm:cxn modelId="{4C36444F-12F7-4260-88E6-B56A3FB527B6}" type="presParOf" srcId="{ADBDA981-F696-43AD-8A1C-0171E9F825F1}" destId="{285AFE3C-70F7-4C7B-8365-573D358B3425}" srcOrd="3" destOrd="0" presId="urn:microsoft.com/office/officeart/2005/8/layout/hierarchy1"/>
    <dgm:cxn modelId="{2DEFB48B-93C0-40C6-83EC-2C2E7851B08A}" type="presParOf" srcId="{285AFE3C-70F7-4C7B-8365-573D358B3425}" destId="{17FDC5E0-C17E-42A7-B888-C5D45AAFC2A0}" srcOrd="0" destOrd="0" presId="urn:microsoft.com/office/officeart/2005/8/layout/hierarchy1"/>
    <dgm:cxn modelId="{AB33A0A6-2B16-4E36-BC6C-5634AE251D78}" type="presParOf" srcId="{17FDC5E0-C17E-42A7-B888-C5D45AAFC2A0}" destId="{94C94E36-9C8D-4563-B9B5-FA829C13520D}" srcOrd="0" destOrd="0" presId="urn:microsoft.com/office/officeart/2005/8/layout/hierarchy1"/>
    <dgm:cxn modelId="{D7D21341-6C8D-4885-9E27-84A5AF5E4976}" type="presParOf" srcId="{17FDC5E0-C17E-42A7-B888-C5D45AAFC2A0}" destId="{C3586D26-2B89-4DFD-8DC6-257724D0C4AC}" srcOrd="1" destOrd="0" presId="urn:microsoft.com/office/officeart/2005/8/layout/hierarchy1"/>
    <dgm:cxn modelId="{7D6EFCF7-409B-4421-AA0F-AEFFE8017D01}" type="presParOf" srcId="{285AFE3C-70F7-4C7B-8365-573D358B3425}" destId="{2919A0FC-5589-41D9-A948-48B33BF0E8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9DDA29-DCE3-4577-81F4-E660F87877D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9B827C5-D8CF-436B-9EAE-5C38334983AD}">
      <dgm:prSet phldrT="[Text]"/>
      <dgm:spPr/>
      <dgm:t>
        <a:bodyPr/>
        <a:lstStyle/>
        <a:p>
          <a:r>
            <a:rPr lang="bg-BG" b="1" dirty="0" smtClean="0"/>
            <a:t>Класификация на алгоритмите в криптографията</a:t>
          </a:r>
          <a:endParaRPr lang="en-US" b="1" dirty="0"/>
        </a:p>
      </dgm:t>
    </dgm:pt>
    <dgm:pt modelId="{33ACEB77-ED91-41A6-9FA0-0D71CDF18450}" type="parTrans" cxnId="{827B0B87-A71F-4F2F-A239-A1F50318A675}">
      <dgm:prSet/>
      <dgm:spPr/>
      <dgm:t>
        <a:bodyPr/>
        <a:lstStyle/>
        <a:p>
          <a:endParaRPr lang="en-US" b="1"/>
        </a:p>
      </dgm:t>
    </dgm:pt>
    <dgm:pt modelId="{DA684D2D-3E0C-479F-B010-733FDDCD2CAD}" type="sibTrans" cxnId="{827B0B87-A71F-4F2F-A239-A1F50318A675}">
      <dgm:prSet/>
      <dgm:spPr/>
      <dgm:t>
        <a:bodyPr/>
        <a:lstStyle/>
        <a:p>
          <a:endParaRPr lang="en-US" b="1"/>
        </a:p>
      </dgm:t>
    </dgm:pt>
    <dgm:pt modelId="{54B8FC0B-4E8B-4ED2-A370-2B93C707C98C}">
      <dgm:prSet phldrT="[Text]"/>
      <dgm:spPr/>
      <dgm:t>
        <a:bodyPr/>
        <a:lstStyle/>
        <a:p>
          <a:r>
            <a:rPr lang="bg-BG" b="1" dirty="0" smtClean="0"/>
            <a:t>Симетрични - алгоритми със симетричен частен ключ </a:t>
          </a:r>
          <a:endParaRPr lang="en-US" b="1" dirty="0"/>
        </a:p>
      </dgm:t>
    </dgm:pt>
    <dgm:pt modelId="{8D28B454-C5CD-488D-B1EB-05EFF146F011}" type="parTrans" cxnId="{4246961E-FF18-4BB4-83F7-881EC09E1B4A}">
      <dgm:prSet/>
      <dgm:spPr/>
      <dgm:t>
        <a:bodyPr/>
        <a:lstStyle/>
        <a:p>
          <a:endParaRPr lang="en-US" b="1"/>
        </a:p>
      </dgm:t>
    </dgm:pt>
    <dgm:pt modelId="{2C827F96-D127-47BD-855E-5618E78988F3}" type="sibTrans" cxnId="{4246961E-FF18-4BB4-83F7-881EC09E1B4A}">
      <dgm:prSet/>
      <dgm:spPr/>
      <dgm:t>
        <a:bodyPr/>
        <a:lstStyle/>
        <a:p>
          <a:endParaRPr lang="en-US" b="1"/>
        </a:p>
      </dgm:t>
    </dgm:pt>
    <dgm:pt modelId="{50932F12-AAB4-4DEF-AC39-60575172BB90}">
      <dgm:prSet phldrT="[Text]"/>
      <dgm:spPr/>
      <dgm:t>
        <a:bodyPr/>
        <a:lstStyle/>
        <a:p>
          <a:r>
            <a:rPr lang="bg-BG" b="1" dirty="0" smtClean="0"/>
            <a:t>Блокови</a:t>
          </a:r>
          <a:endParaRPr lang="en-US" b="1" dirty="0"/>
        </a:p>
      </dgm:t>
    </dgm:pt>
    <dgm:pt modelId="{72FE8145-9660-48FE-98F2-F15119F4039F}" type="parTrans" cxnId="{DCC0EAEB-645D-466A-8ECB-D94408D64413}">
      <dgm:prSet/>
      <dgm:spPr/>
      <dgm:t>
        <a:bodyPr/>
        <a:lstStyle/>
        <a:p>
          <a:endParaRPr lang="en-US" b="1"/>
        </a:p>
      </dgm:t>
    </dgm:pt>
    <dgm:pt modelId="{FFEAC6D6-1894-4D57-B421-CE39C6BD77F1}" type="sibTrans" cxnId="{DCC0EAEB-645D-466A-8ECB-D94408D64413}">
      <dgm:prSet/>
      <dgm:spPr/>
      <dgm:t>
        <a:bodyPr/>
        <a:lstStyle/>
        <a:p>
          <a:endParaRPr lang="en-US" b="1"/>
        </a:p>
      </dgm:t>
    </dgm:pt>
    <dgm:pt modelId="{E26CA359-CFB0-4BE7-905F-A55A65CBD682}">
      <dgm:prSet phldrT="[Text]"/>
      <dgm:spPr/>
      <dgm:t>
        <a:bodyPr/>
        <a:lstStyle/>
        <a:p>
          <a:r>
            <a:rPr lang="bg-BG" b="1" dirty="0" smtClean="0"/>
            <a:t>Поточни</a:t>
          </a:r>
          <a:endParaRPr lang="en-US" b="1" dirty="0"/>
        </a:p>
      </dgm:t>
    </dgm:pt>
    <dgm:pt modelId="{FC9C2EAA-B52D-4B25-A449-C1A034334B9C}" type="parTrans" cxnId="{2CB2C0BD-6360-48FA-AB2F-715E768C51C0}">
      <dgm:prSet/>
      <dgm:spPr/>
      <dgm:t>
        <a:bodyPr/>
        <a:lstStyle/>
        <a:p>
          <a:endParaRPr lang="en-US" b="1"/>
        </a:p>
      </dgm:t>
    </dgm:pt>
    <dgm:pt modelId="{13A4BED2-E6C0-4008-91E8-5E93A1F5C03B}" type="sibTrans" cxnId="{2CB2C0BD-6360-48FA-AB2F-715E768C51C0}">
      <dgm:prSet/>
      <dgm:spPr/>
      <dgm:t>
        <a:bodyPr/>
        <a:lstStyle/>
        <a:p>
          <a:endParaRPr lang="en-US" b="1"/>
        </a:p>
      </dgm:t>
    </dgm:pt>
    <dgm:pt modelId="{233A5E4E-9174-4E26-95E3-574CD912E8A5}">
      <dgm:prSet phldrT="[Text]"/>
      <dgm:spPr/>
      <dgm:t>
        <a:bodyPr/>
        <a:lstStyle/>
        <a:p>
          <a:r>
            <a:rPr lang="bg-BG" b="1" dirty="0" smtClean="0"/>
            <a:t>Асиметрични –</a:t>
          </a:r>
        </a:p>
        <a:p>
          <a:r>
            <a:rPr lang="bg-BG" b="1" dirty="0" smtClean="0"/>
            <a:t>алгоритми с двойка ключове публичен-частен </a:t>
          </a:r>
          <a:endParaRPr lang="en-US" b="1" dirty="0"/>
        </a:p>
      </dgm:t>
    </dgm:pt>
    <dgm:pt modelId="{D369F3FF-00B9-4811-B277-DFBC8DA06868}" type="parTrans" cxnId="{5CE94330-E2F0-4F97-B528-6CC042EE0280}">
      <dgm:prSet/>
      <dgm:spPr/>
      <dgm:t>
        <a:bodyPr/>
        <a:lstStyle/>
        <a:p>
          <a:endParaRPr lang="en-US" b="1"/>
        </a:p>
      </dgm:t>
    </dgm:pt>
    <dgm:pt modelId="{3D19F89F-4EEF-4EFC-97F6-1685582D46BA}" type="sibTrans" cxnId="{5CE94330-E2F0-4F97-B528-6CC042EE0280}">
      <dgm:prSet/>
      <dgm:spPr/>
      <dgm:t>
        <a:bodyPr/>
        <a:lstStyle/>
        <a:p>
          <a:endParaRPr lang="en-US" b="1"/>
        </a:p>
      </dgm:t>
    </dgm:pt>
    <dgm:pt modelId="{B94C9617-2826-486E-9B64-D55ADDA4EDAC}">
      <dgm:prSet phldrT="[Text]"/>
      <dgm:spPr/>
      <dgm:t>
        <a:bodyPr/>
        <a:lstStyle/>
        <a:p>
          <a:r>
            <a:rPr lang="bg-BG" b="1" dirty="0" smtClean="0"/>
            <a:t>За криптиране на ключа</a:t>
          </a:r>
          <a:endParaRPr lang="en-US" b="1" dirty="0"/>
        </a:p>
      </dgm:t>
    </dgm:pt>
    <dgm:pt modelId="{CC19D235-1E9E-4CDE-9723-AC4FC753ED94}" type="parTrans" cxnId="{69F96B86-251C-48EF-AA03-BD9245B740A2}">
      <dgm:prSet/>
      <dgm:spPr/>
      <dgm:t>
        <a:bodyPr/>
        <a:lstStyle/>
        <a:p>
          <a:endParaRPr lang="en-US" b="1"/>
        </a:p>
      </dgm:t>
    </dgm:pt>
    <dgm:pt modelId="{D866833F-7ED4-428D-957F-4D0A8ACF0AC9}" type="sibTrans" cxnId="{69F96B86-251C-48EF-AA03-BD9245B740A2}">
      <dgm:prSet/>
      <dgm:spPr/>
      <dgm:t>
        <a:bodyPr/>
        <a:lstStyle/>
        <a:p>
          <a:endParaRPr lang="en-US" b="1"/>
        </a:p>
      </dgm:t>
    </dgm:pt>
    <dgm:pt modelId="{81442FFC-D088-46BB-8348-86F2D16CA149}">
      <dgm:prSet phldrT="[Text]"/>
      <dgm:spPr/>
      <dgm:t>
        <a:bodyPr/>
        <a:lstStyle/>
        <a:p>
          <a:r>
            <a:rPr lang="bg-BG" b="1" dirty="0" smtClean="0"/>
            <a:t>Алгоритми без ключ</a:t>
          </a:r>
          <a:endParaRPr lang="en-US" b="1" dirty="0"/>
        </a:p>
      </dgm:t>
    </dgm:pt>
    <dgm:pt modelId="{362581AD-F995-4D6C-AFC7-58F782C718B2}" type="parTrans" cxnId="{6AAE36B5-6FAC-4CB7-ABEE-956C0E1A1055}">
      <dgm:prSet/>
      <dgm:spPr/>
      <dgm:t>
        <a:bodyPr/>
        <a:lstStyle/>
        <a:p>
          <a:endParaRPr lang="en-US" b="1"/>
        </a:p>
      </dgm:t>
    </dgm:pt>
    <dgm:pt modelId="{21D6CEED-E723-4619-836C-D1335C583FC4}" type="sibTrans" cxnId="{6AAE36B5-6FAC-4CB7-ABEE-956C0E1A1055}">
      <dgm:prSet/>
      <dgm:spPr/>
      <dgm:t>
        <a:bodyPr/>
        <a:lstStyle/>
        <a:p>
          <a:endParaRPr lang="en-US" b="1"/>
        </a:p>
      </dgm:t>
    </dgm:pt>
    <dgm:pt modelId="{4E7E6E2A-637C-46D7-A2E2-735981203F7C}">
      <dgm:prSet/>
      <dgm:spPr/>
      <dgm:t>
        <a:bodyPr/>
        <a:lstStyle/>
        <a:p>
          <a:r>
            <a:rPr lang="bg-BG" b="1" dirty="0" err="1" smtClean="0"/>
            <a:t>Хеш</a:t>
          </a:r>
          <a:r>
            <a:rPr lang="bg-BG" b="1" dirty="0" smtClean="0"/>
            <a:t> функции</a:t>
          </a:r>
          <a:endParaRPr lang="en-US" b="1" dirty="0"/>
        </a:p>
      </dgm:t>
    </dgm:pt>
    <dgm:pt modelId="{5CD067AF-3C3C-47D9-B635-B7DDF62D53AF}" type="parTrans" cxnId="{075B2345-6CE9-4F81-B79B-6D302BC8A75F}">
      <dgm:prSet/>
      <dgm:spPr/>
      <dgm:t>
        <a:bodyPr/>
        <a:lstStyle/>
        <a:p>
          <a:endParaRPr lang="en-US" b="1"/>
        </a:p>
      </dgm:t>
    </dgm:pt>
    <dgm:pt modelId="{9640F5FA-6F18-43DD-8E8C-659D23883679}" type="sibTrans" cxnId="{075B2345-6CE9-4F81-B79B-6D302BC8A75F}">
      <dgm:prSet/>
      <dgm:spPr/>
      <dgm:t>
        <a:bodyPr/>
        <a:lstStyle/>
        <a:p>
          <a:endParaRPr lang="en-US" b="1"/>
        </a:p>
      </dgm:t>
    </dgm:pt>
    <dgm:pt modelId="{9355B47D-E5EF-4F86-9030-69F252E1080C}">
      <dgm:prSet/>
      <dgm:spPr/>
      <dgm:t>
        <a:bodyPr/>
        <a:lstStyle/>
        <a:p>
          <a:r>
            <a:rPr lang="bg-BG" b="1" dirty="0" smtClean="0"/>
            <a:t>Генератори на случайни числа</a:t>
          </a:r>
          <a:endParaRPr lang="en-US" b="1" dirty="0"/>
        </a:p>
      </dgm:t>
    </dgm:pt>
    <dgm:pt modelId="{01832472-EB06-401E-9D9F-D0ED65FC2CC4}" type="parTrans" cxnId="{F49A455D-1EBE-4D4D-B6CE-D7086ED7E817}">
      <dgm:prSet/>
      <dgm:spPr/>
      <dgm:t>
        <a:bodyPr/>
        <a:lstStyle/>
        <a:p>
          <a:endParaRPr lang="en-US" b="1"/>
        </a:p>
      </dgm:t>
    </dgm:pt>
    <dgm:pt modelId="{DF7DF407-DBC1-491E-A222-221B948090CD}" type="sibTrans" cxnId="{F49A455D-1EBE-4D4D-B6CE-D7086ED7E817}">
      <dgm:prSet/>
      <dgm:spPr/>
      <dgm:t>
        <a:bodyPr/>
        <a:lstStyle/>
        <a:p>
          <a:endParaRPr lang="en-US" b="1"/>
        </a:p>
      </dgm:t>
    </dgm:pt>
    <dgm:pt modelId="{33CDC0D7-8D2E-4CFE-B186-4EF8A6665B96}">
      <dgm:prSet/>
      <dgm:spPr/>
      <dgm:t>
        <a:bodyPr/>
        <a:lstStyle/>
        <a:p>
          <a:r>
            <a:rPr lang="bg-BG" b="1" dirty="0" smtClean="0"/>
            <a:t>За криптиране на  съобщението</a:t>
          </a:r>
          <a:endParaRPr lang="en-US" b="1" dirty="0"/>
        </a:p>
      </dgm:t>
    </dgm:pt>
    <dgm:pt modelId="{DE9AA301-9B02-4DD1-B97A-4102A2AD6EC8}" type="parTrans" cxnId="{D68F6D2F-C242-4E43-A159-2835627E69A1}">
      <dgm:prSet/>
      <dgm:spPr/>
      <dgm:t>
        <a:bodyPr/>
        <a:lstStyle/>
        <a:p>
          <a:endParaRPr lang="en-US" b="1"/>
        </a:p>
      </dgm:t>
    </dgm:pt>
    <dgm:pt modelId="{7F99C8E1-FAC0-4FF9-AB7C-AC343C6A170E}" type="sibTrans" cxnId="{D68F6D2F-C242-4E43-A159-2835627E69A1}">
      <dgm:prSet/>
      <dgm:spPr/>
      <dgm:t>
        <a:bodyPr/>
        <a:lstStyle/>
        <a:p>
          <a:endParaRPr lang="en-US" b="1"/>
        </a:p>
      </dgm:t>
    </dgm:pt>
    <dgm:pt modelId="{1BE1157D-2B9C-43B1-822D-2AFAA7DD47D3}">
      <dgm:prSet/>
      <dgm:spPr/>
      <dgm:t>
        <a:bodyPr/>
        <a:lstStyle/>
        <a:p>
          <a:r>
            <a:rPr lang="bg-BG" b="1" dirty="0" smtClean="0"/>
            <a:t>За цифрово подписване</a:t>
          </a:r>
          <a:endParaRPr lang="en-US" b="1" dirty="0"/>
        </a:p>
      </dgm:t>
    </dgm:pt>
    <dgm:pt modelId="{BBB21388-5ED5-42C4-ABA0-135B7822A999}" type="parTrans" cxnId="{FF1C5C39-4F9D-4E28-AE94-E13EF28F5F5C}">
      <dgm:prSet/>
      <dgm:spPr/>
      <dgm:t>
        <a:bodyPr/>
        <a:lstStyle/>
        <a:p>
          <a:endParaRPr lang="en-US" b="1"/>
        </a:p>
      </dgm:t>
    </dgm:pt>
    <dgm:pt modelId="{1916746C-CCAE-41FD-906D-8F0E7619EB91}" type="sibTrans" cxnId="{FF1C5C39-4F9D-4E28-AE94-E13EF28F5F5C}">
      <dgm:prSet/>
      <dgm:spPr/>
      <dgm:t>
        <a:bodyPr/>
        <a:lstStyle/>
        <a:p>
          <a:endParaRPr lang="en-US" b="1"/>
        </a:p>
      </dgm:t>
    </dgm:pt>
    <dgm:pt modelId="{232F0EEB-96BC-48D4-934B-83B42F706BA2}" type="pres">
      <dgm:prSet presAssocID="{B59DDA29-DCE3-4577-81F4-E660F87877D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927679B-66CA-4FEA-8CEE-0E7927C7A98D}" type="pres">
      <dgm:prSet presAssocID="{F9B827C5-D8CF-436B-9EAE-5C38334983AD}" presName="hierRoot1" presStyleCnt="0"/>
      <dgm:spPr/>
    </dgm:pt>
    <dgm:pt modelId="{FCCEA148-A220-4C30-B5EA-32FEB871F707}" type="pres">
      <dgm:prSet presAssocID="{F9B827C5-D8CF-436B-9EAE-5C38334983AD}" presName="composite" presStyleCnt="0"/>
      <dgm:spPr/>
    </dgm:pt>
    <dgm:pt modelId="{CC0A6773-389C-4B9A-AF38-9CD1303D7EE6}" type="pres">
      <dgm:prSet presAssocID="{F9B827C5-D8CF-436B-9EAE-5C38334983AD}" presName="background" presStyleLbl="node0" presStyleIdx="0" presStyleCnt="1"/>
      <dgm:spPr/>
    </dgm:pt>
    <dgm:pt modelId="{0843C89E-7C54-4555-BC11-6B4223591F33}" type="pres">
      <dgm:prSet presAssocID="{F9B827C5-D8CF-436B-9EAE-5C38334983AD}" presName="text" presStyleLbl="fgAcc0" presStyleIdx="0" presStyleCnt="1" custLinFactNeighborX="-10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3340A67-13FC-4009-B8CF-4E24969F3C9D}" type="pres">
      <dgm:prSet presAssocID="{F9B827C5-D8CF-436B-9EAE-5C38334983AD}" presName="hierChild2" presStyleCnt="0"/>
      <dgm:spPr/>
    </dgm:pt>
    <dgm:pt modelId="{ED4D9233-002B-45BE-B456-E63AE7B376AB}" type="pres">
      <dgm:prSet presAssocID="{8D28B454-C5CD-488D-B1EB-05EFF146F011}" presName="Name10" presStyleLbl="parChTrans1D2" presStyleIdx="0" presStyleCnt="3"/>
      <dgm:spPr/>
      <dgm:t>
        <a:bodyPr/>
        <a:lstStyle/>
        <a:p>
          <a:endParaRPr lang="en-US"/>
        </a:p>
      </dgm:t>
    </dgm:pt>
    <dgm:pt modelId="{B982C052-1B85-473B-B02B-F9F88735F0F0}" type="pres">
      <dgm:prSet presAssocID="{54B8FC0B-4E8B-4ED2-A370-2B93C707C98C}" presName="hierRoot2" presStyleCnt="0"/>
      <dgm:spPr/>
    </dgm:pt>
    <dgm:pt modelId="{6AD1D98D-9425-444F-B90A-DFC96403B3FF}" type="pres">
      <dgm:prSet presAssocID="{54B8FC0B-4E8B-4ED2-A370-2B93C707C98C}" presName="composite2" presStyleCnt="0"/>
      <dgm:spPr/>
    </dgm:pt>
    <dgm:pt modelId="{F6901030-7B66-4CCD-A3AE-E3D457B3FBAE}" type="pres">
      <dgm:prSet presAssocID="{54B8FC0B-4E8B-4ED2-A370-2B93C707C98C}" presName="background2" presStyleLbl="node2" presStyleIdx="0" presStyleCnt="3"/>
      <dgm:spPr/>
    </dgm:pt>
    <dgm:pt modelId="{0B773568-C33F-4ABC-B39A-BDAFB8EC821F}" type="pres">
      <dgm:prSet presAssocID="{54B8FC0B-4E8B-4ED2-A370-2B93C707C98C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0A3B71-A80A-4564-B34D-E3BB22C19C6F}" type="pres">
      <dgm:prSet presAssocID="{54B8FC0B-4E8B-4ED2-A370-2B93C707C98C}" presName="hierChild3" presStyleCnt="0"/>
      <dgm:spPr/>
    </dgm:pt>
    <dgm:pt modelId="{7B4A86C6-445D-4EDB-99B8-AF7DCCED18EC}" type="pres">
      <dgm:prSet presAssocID="{72FE8145-9660-48FE-98F2-F15119F4039F}" presName="Name17" presStyleLbl="parChTrans1D3" presStyleIdx="0" presStyleCnt="7"/>
      <dgm:spPr/>
      <dgm:t>
        <a:bodyPr/>
        <a:lstStyle/>
        <a:p>
          <a:endParaRPr lang="en-US"/>
        </a:p>
      </dgm:t>
    </dgm:pt>
    <dgm:pt modelId="{D9A4ADB7-5006-4F18-AB71-12D76A8F3189}" type="pres">
      <dgm:prSet presAssocID="{50932F12-AAB4-4DEF-AC39-60575172BB90}" presName="hierRoot3" presStyleCnt="0"/>
      <dgm:spPr/>
    </dgm:pt>
    <dgm:pt modelId="{DCAD60C2-CD4F-4323-BD21-10B6FE079BCC}" type="pres">
      <dgm:prSet presAssocID="{50932F12-AAB4-4DEF-AC39-60575172BB90}" presName="composite3" presStyleCnt="0"/>
      <dgm:spPr/>
    </dgm:pt>
    <dgm:pt modelId="{509A9C49-82EA-4CB5-BC06-909BEA92DCAC}" type="pres">
      <dgm:prSet presAssocID="{50932F12-AAB4-4DEF-AC39-60575172BB90}" presName="background3" presStyleLbl="node3" presStyleIdx="0" presStyleCnt="7"/>
      <dgm:spPr/>
    </dgm:pt>
    <dgm:pt modelId="{54411BDC-65F7-4AC4-AE9E-07159E82B2D5}" type="pres">
      <dgm:prSet presAssocID="{50932F12-AAB4-4DEF-AC39-60575172BB90}" presName="text3" presStyleLbl="fgAcc3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A19C48-4B46-4410-92E5-9B0F80B1C1DF}" type="pres">
      <dgm:prSet presAssocID="{50932F12-AAB4-4DEF-AC39-60575172BB90}" presName="hierChild4" presStyleCnt="0"/>
      <dgm:spPr/>
    </dgm:pt>
    <dgm:pt modelId="{C9FEBC91-3DF6-412D-A4EA-AB3F1257287A}" type="pres">
      <dgm:prSet presAssocID="{FC9C2EAA-B52D-4B25-A449-C1A034334B9C}" presName="Name17" presStyleLbl="parChTrans1D3" presStyleIdx="1" presStyleCnt="7"/>
      <dgm:spPr/>
      <dgm:t>
        <a:bodyPr/>
        <a:lstStyle/>
        <a:p>
          <a:endParaRPr lang="en-US"/>
        </a:p>
      </dgm:t>
    </dgm:pt>
    <dgm:pt modelId="{D737B1E3-C596-4F8F-9CD6-8375B43C14CE}" type="pres">
      <dgm:prSet presAssocID="{E26CA359-CFB0-4BE7-905F-A55A65CBD682}" presName="hierRoot3" presStyleCnt="0"/>
      <dgm:spPr/>
    </dgm:pt>
    <dgm:pt modelId="{2D2B2678-8DCF-4CF7-A1AD-E3BCC1D0D870}" type="pres">
      <dgm:prSet presAssocID="{E26CA359-CFB0-4BE7-905F-A55A65CBD682}" presName="composite3" presStyleCnt="0"/>
      <dgm:spPr/>
    </dgm:pt>
    <dgm:pt modelId="{4C282AB2-8041-469C-AAD4-E401482A183C}" type="pres">
      <dgm:prSet presAssocID="{E26CA359-CFB0-4BE7-905F-A55A65CBD682}" presName="background3" presStyleLbl="node3" presStyleIdx="1" presStyleCnt="7"/>
      <dgm:spPr/>
    </dgm:pt>
    <dgm:pt modelId="{DD7CACFA-A83B-4AB8-87BA-29A2F10EDA39}" type="pres">
      <dgm:prSet presAssocID="{E26CA359-CFB0-4BE7-905F-A55A65CBD682}" presName="text3" presStyleLbl="fgAcc3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ABB8B0-5EFC-41AB-A469-860F26FFD6A3}" type="pres">
      <dgm:prSet presAssocID="{E26CA359-CFB0-4BE7-905F-A55A65CBD682}" presName="hierChild4" presStyleCnt="0"/>
      <dgm:spPr/>
    </dgm:pt>
    <dgm:pt modelId="{49BF00D1-E7F1-4130-A634-7B12DBD900C4}" type="pres">
      <dgm:prSet presAssocID="{D369F3FF-00B9-4811-B277-DFBC8DA06868}" presName="Name10" presStyleLbl="parChTrans1D2" presStyleIdx="1" presStyleCnt="3"/>
      <dgm:spPr/>
      <dgm:t>
        <a:bodyPr/>
        <a:lstStyle/>
        <a:p>
          <a:endParaRPr lang="en-US"/>
        </a:p>
      </dgm:t>
    </dgm:pt>
    <dgm:pt modelId="{84A7FE93-56BA-4263-932A-9975B288A8B9}" type="pres">
      <dgm:prSet presAssocID="{233A5E4E-9174-4E26-95E3-574CD912E8A5}" presName="hierRoot2" presStyleCnt="0"/>
      <dgm:spPr/>
    </dgm:pt>
    <dgm:pt modelId="{EE13A941-9BF2-4D69-8F99-42A1EAB22A08}" type="pres">
      <dgm:prSet presAssocID="{233A5E4E-9174-4E26-95E3-574CD912E8A5}" presName="composite2" presStyleCnt="0"/>
      <dgm:spPr/>
    </dgm:pt>
    <dgm:pt modelId="{E5892B5D-3943-421B-8C68-5E55FEF999E8}" type="pres">
      <dgm:prSet presAssocID="{233A5E4E-9174-4E26-95E3-574CD912E8A5}" presName="background2" presStyleLbl="node2" presStyleIdx="1" presStyleCnt="3"/>
      <dgm:spPr/>
    </dgm:pt>
    <dgm:pt modelId="{D2A5513D-32A9-461D-800C-43F927D7D3F2}" type="pres">
      <dgm:prSet presAssocID="{233A5E4E-9174-4E26-95E3-574CD912E8A5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63CA69-CDAC-42B5-9C36-69BB85BA84FB}" type="pres">
      <dgm:prSet presAssocID="{233A5E4E-9174-4E26-95E3-574CD912E8A5}" presName="hierChild3" presStyleCnt="0"/>
      <dgm:spPr/>
    </dgm:pt>
    <dgm:pt modelId="{7F2E2043-AB41-4FA8-8428-E3C916A2D7EA}" type="pres">
      <dgm:prSet presAssocID="{CC19D235-1E9E-4CDE-9723-AC4FC753ED94}" presName="Name17" presStyleLbl="parChTrans1D3" presStyleIdx="2" presStyleCnt="7"/>
      <dgm:spPr/>
      <dgm:t>
        <a:bodyPr/>
        <a:lstStyle/>
        <a:p>
          <a:endParaRPr lang="en-US"/>
        </a:p>
      </dgm:t>
    </dgm:pt>
    <dgm:pt modelId="{6C63F812-9E11-44C9-ADF7-DB3FD3B69EAF}" type="pres">
      <dgm:prSet presAssocID="{B94C9617-2826-486E-9B64-D55ADDA4EDAC}" presName="hierRoot3" presStyleCnt="0"/>
      <dgm:spPr/>
    </dgm:pt>
    <dgm:pt modelId="{561828E5-A14A-47E8-9F77-072F40E14DF9}" type="pres">
      <dgm:prSet presAssocID="{B94C9617-2826-486E-9B64-D55ADDA4EDAC}" presName="composite3" presStyleCnt="0"/>
      <dgm:spPr/>
    </dgm:pt>
    <dgm:pt modelId="{189277F3-DEC9-4A51-A90E-C345A0A02210}" type="pres">
      <dgm:prSet presAssocID="{B94C9617-2826-486E-9B64-D55ADDA4EDAC}" presName="background3" presStyleLbl="node3" presStyleIdx="2" presStyleCnt="7"/>
      <dgm:spPr/>
    </dgm:pt>
    <dgm:pt modelId="{239CD46C-3BB3-4B2C-A9C5-1C7F7BDE5890}" type="pres">
      <dgm:prSet presAssocID="{B94C9617-2826-486E-9B64-D55ADDA4EDAC}" presName="text3" presStyleLbl="fgAcc3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4BCB9D-0FCE-49D2-8F37-AFA42A0C3CB9}" type="pres">
      <dgm:prSet presAssocID="{B94C9617-2826-486E-9B64-D55ADDA4EDAC}" presName="hierChild4" presStyleCnt="0"/>
      <dgm:spPr/>
    </dgm:pt>
    <dgm:pt modelId="{4DB9E7FA-A65F-439E-81D1-D7EFD8A45F4A}" type="pres">
      <dgm:prSet presAssocID="{DE9AA301-9B02-4DD1-B97A-4102A2AD6EC8}" presName="Name17" presStyleLbl="parChTrans1D3" presStyleIdx="3" presStyleCnt="7"/>
      <dgm:spPr/>
      <dgm:t>
        <a:bodyPr/>
        <a:lstStyle/>
        <a:p>
          <a:endParaRPr lang="en-US"/>
        </a:p>
      </dgm:t>
    </dgm:pt>
    <dgm:pt modelId="{B732AB84-BB83-4737-A6E9-0041237368D5}" type="pres">
      <dgm:prSet presAssocID="{33CDC0D7-8D2E-4CFE-B186-4EF8A6665B96}" presName="hierRoot3" presStyleCnt="0"/>
      <dgm:spPr/>
    </dgm:pt>
    <dgm:pt modelId="{DA0DB3E6-3031-4DA9-B3F3-3FDA9F4AA597}" type="pres">
      <dgm:prSet presAssocID="{33CDC0D7-8D2E-4CFE-B186-4EF8A6665B96}" presName="composite3" presStyleCnt="0"/>
      <dgm:spPr/>
    </dgm:pt>
    <dgm:pt modelId="{31D3EE3E-0098-4216-AED1-268B415CF0E3}" type="pres">
      <dgm:prSet presAssocID="{33CDC0D7-8D2E-4CFE-B186-4EF8A6665B96}" presName="background3" presStyleLbl="node3" presStyleIdx="3" presStyleCnt="7"/>
      <dgm:spPr/>
    </dgm:pt>
    <dgm:pt modelId="{9E3D09B5-4282-4304-88FF-366B15A00BC3}" type="pres">
      <dgm:prSet presAssocID="{33CDC0D7-8D2E-4CFE-B186-4EF8A6665B96}" presName="text3" presStyleLbl="fgAcc3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FA1B901-BE36-48DD-87B6-856C988CF6D4}" type="pres">
      <dgm:prSet presAssocID="{33CDC0D7-8D2E-4CFE-B186-4EF8A6665B96}" presName="hierChild4" presStyleCnt="0"/>
      <dgm:spPr/>
    </dgm:pt>
    <dgm:pt modelId="{1B2169B8-E611-4CD6-9DB2-9117F13E52B5}" type="pres">
      <dgm:prSet presAssocID="{BBB21388-5ED5-42C4-ABA0-135B7822A999}" presName="Name17" presStyleLbl="parChTrans1D3" presStyleIdx="4" presStyleCnt="7"/>
      <dgm:spPr/>
      <dgm:t>
        <a:bodyPr/>
        <a:lstStyle/>
        <a:p>
          <a:endParaRPr lang="en-US"/>
        </a:p>
      </dgm:t>
    </dgm:pt>
    <dgm:pt modelId="{F99DC1FA-324E-47AF-9A51-9DF82A8D9D2C}" type="pres">
      <dgm:prSet presAssocID="{1BE1157D-2B9C-43B1-822D-2AFAA7DD47D3}" presName="hierRoot3" presStyleCnt="0"/>
      <dgm:spPr/>
    </dgm:pt>
    <dgm:pt modelId="{51C7B19E-831D-46E5-B214-E113894A84A3}" type="pres">
      <dgm:prSet presAssocID="{1BE1157D-2B9C-43B1-822D-2AFAA7DD47D3}" presName="composite3" presStyleCnt="0"/>
      <dgm:spPr/>
    </dgm:pt>
    <dgm:pt modelId="{6424BF62-E9C1-448D-B257-F72E5B014C81}" type="pres">
      <dgm:prSet presAssocID="{1BE1157D-2B9C-43B1-822D-2AFAA7DD47D3}" presName="background3" presStyleLbl="node3" presStyleIdx="4" presStyleCnt="7"/>
      <dgm:spPr/>
    </dgm:pt>
    <dgm:pt modelId="{B7C3D695-C001-43A7-89B3-B59FF73F517D}" type="pres">
      <dgm:prSet presAssocID="{1BE1157D-2B9C-43B1-822D-2AFAA7DD47D3}" presName="text3" presStyleLbl="fgAcc3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8EF093-EDD6-4DBC-B3B6-FAC7CFD44120}" type="pres">
      <dgm:prSet presAssocID="{1BE1157D-2B9C-43B1-822D-2AFAA7DD47D3}" presName="hierChild4" presStyleCnt="0"/>
      <dgm:spPr/>
    </dgm:pt>
    <dgm:pt modelId="{2FAD82A1-7637-4503-A57A-244390B8ECCD}" type="pres">
      <dgm:prSet presAssocID="{362581AD-F995-4D6C-AFC7-58F782C718B2}" presName="Name10" presStyleLbl="parChTrans1D2" presStyleIdx="2" presStyleCnt="3"/>
      <dgm:spPr/>
      <dgm:t>
        <a:bodyPr/>
        <a:lstStyle/>
        <a:p>
          <a:endParaRPr lang="en-US"/>
        </a:p>
      </dgm:t>
    </dgm:pt>
    <dgm:pt modelId="{7394DF8B-ACA1-4C58-B343-D28B371837EC}" type="pres">
      <dgm:prSet presAssocID="{81442FFC-D088-46BB-8348-86F2D16CA149}" presName="hierRoot2" presStyleCnt="0"/>
      <dgm:spPr/>
    </dgm:pt>
    <dgm:pt modelId="{8AD8A38C-C307-474C-96BB-3C92E3F14D7A}" type="pres">
      <dgm:prSet presAssocID="{81442FFC-D088-46BB-8348-86F2D16CA149}" presName="composite2" presStyleCnt="0"/>
      <dgm:spPr/>
    </dgm:pt>
    <dgm:pt modelId="{0C0B39F2-B5DB-44FD-AC19-50FC9D0ACA0A}" type="pres">
      <dgm:prSet presAssocID="{81442FFC-D088-46BB-8348-86F2D16CA149}" presName="background2" presStyleLbl="node2" presStyleIdx="2" presStyleCnt="3"/>
      <dgm:spPr/>
    </dgm:pt>
    <dgm:pt modelId="{BCD27C4F-3C36-40B4-8214-F5C58FFF4CCD}" type="pres">
      <dgm:prSet presAssocID="{81442FFC-D088-46BB-8348-86F2D16CA149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A6D90CB-6801-4797-A251-6F400B8C33DF}" type="pres">
      <dgm:prSet presAssocID="{81442FFC-D088-46BB-8348-86F2D16CA149}" presName="hierChild3" presStyleCnt="0"/>
      <dgm:spPr/>
    </dgm:pt>
    <dgm:pt modelId="{DCBF330F-DE26-49EE-89F4-FC07918AACA7}" type="pres">
      <dgm:prSet presAssocID="{5CD067AF-3C3C-47D9-B635-B7DDF62D53AF}" presName="Name17" presStyleLbl="parChTrans1D3" presStyleIdx="5" presStyleCnt="7"/>
      <dgm:spPr/>
      <dgm:t>
        <a:bodyPr/>
        <a:lstStyle/>
        <a:p>
          <a:endParaRPr lang="en-US"/>
        </a:p>
      </dgm:t>
    </dgm:pt>
    <dgm:pt modelId="{735AC12C-48A3-43B6-A90D-FC14E27785F2}" type="pres">
      <dgm:prSet presAssocID="{4E7E6E2A-637C-46D7-A2E2-735981203F7C}" presName="hierRoot3" presStyleCnt="0"/>
      <dgm:spPr/>
    </dgm:pt>
    <dgm:pt modelId="{42DBDE73-4E3F-499F-B6DF-14CDDBFC6092}" type="pres">
      <dgm:prSet presAssocID="{4E7E6E2A-637C-46D7-A2E2-735981203F7C}" presName="composite3" presStyleCnt="0"/>
      <dgm:spPr/>
    </dgm:pt>
    <dgm:pt modelId="{59D85023-AC3F-46AB-B946-DCE617D417F3}" type="pres">
      <dgm:prSet presAssocID="{4E7E6E2A-637C-46D7-A2E2-735981203F7C}" presName="background3" presStyleLbl="node3" presStyleIdx="5" presStyleCnt="7"/>
      <dgm:spPr/>
    </dgm:pt>
    <dgm:pt modelId="{325AEC83-AC06-4206-971A-FE074CBC92AB}" type="pres">
      <dgm:prSet presAssocID="{4E7E6E2A-637C-46D7-A2E2-735981203F7C}" presName="text3" presStyleLbl="fgAcc3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2E4166-F6E8-446C-B7FB-C77D1E039B30}" type="pres">
      <dgm:prSet presAssocID="{4E7E6E2A-637C-46D7-A2E2-735981203F7C}" presName="hierChild4" presStyleCnt="0"/>
      <dgm:spPr/>
    </dgm:pt>
    <dgm:pt modelId="{55A9B534-09E5-4285-AF50-710D9D003E1B}" type="pres">
      <dgm:prSet presAssocID="{01832472-EB06-401E-9D9F-D0ED65FC2CC4}" presName="Name17" presStyleLbl="parChTrans1D3" presStyleIdx="6" presStyleCnt="7"/>
      <dgm:spPr/>
      <dgm:t>
        <a:bodyPr/>
        <a:lstStyle/>
        <a:p>
          <a:endParaRPr lang="en-US"/>
        </a:p>
      </dgm:t>
    </dgm:pt>
    <dgm:pt modelId="{85AC3142-1721-4D17-AD32-715C7E00BB2E}" type="pres">
      <dgm:prSet presAssocID="{9355B47D-E5EF-4F86-9030-69F252E1080C}" presName="hierRoot3" presStyleCnt="0"/>
      <dgm:spPr/>
    </dgm:pt>
    <dgm:pt modelId="{A794CDB3-7B00-48D7-92E8-59721E8FDAB6}" type="pres">
      <dgm:prSet presAssocID="{9355B47D-E5EF-4F86-9030-69F252E1080C}" presName="composite3" presStyleCnt="0"/>
      <dgm:spPr/>
    </dgm:pt>
    <dgm:pt modelId="{C1C9AED1-338C-4EC5-BC7D-3E01C0B6D290}" type="pres">
      <dgm:prSet presAssocID="{9355B47D-E5EF-4F86-9030-69F252E1080C}" presName="background3" presStyleLbl="node3" presStyleIdx="6" presStyleCnt="7"/>
      <dgm:spPr/>
    </dgm:pt>
    <dgm:pt modelId="{08E6AE41-E2BC-481F-A85D-3CBAC937F2B2}" type="pres">
      <dgm:prSet presAssocID="{9355B47D-E5EF-4F86-9030-69F252E1080C}" presName="text3" presStyleLbl="fgAcc3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2D310A9-6627-4572-BEC6-9347E91D68B1}" type="pres">
      <dgm:prSet presAssocID="{9355B47D-E5EF-4F86-9030-69F252E1080C}" presName="hierChild4" presStyleCnt="0"/>
      <dgm:spPr/>
    </dgm:pt>
  </dgm:ptLst>
  <dgm:cxnLst>
    <dgm:cxn modelId="{D68F6D2F-C242-4E43-A159-2835627E69A1}" srcId="{233A5E4E-9174-4E26-95E3-574CD912E8A5}" destId="{33CDC0D7-8D2E-4CFE-B186-4EF8A6665B96}" srcOrd="1" destOrd="0" parTransId="{DE9AA301-9B02-4DD1-B97A-4102A2AD6EC8}" sibTransId="{7F99C8E1-FAC0-4FF9-AB7C-AC343C6A170E}"/>
    <dgm:cxn modelId="{F771C183-71A4-4EBE-A8AF-979E2D0B3858}" type="presOf" srcId="{BBB21388-5ED5-42C4-ABA0-135B7822A999}" destId="{1B2169B8-E611-4CD6-9DB2-9117F13E52B5}" srcOrd="0" destOrd="0" presId="urn:microsoft.com/office/officeart/2005/8/layout/hierarchy1"/>
    <dgm:cxn modelId="{FF1C5C39-4F9D-4E28-AE94-E13EF28F5F5C}" srcId="{233A5E4E-9174-4E26-95E3-574CD912E8A5}" destId="{1BE1157D-2B9C-43B1-822D-2AFAA7DD47D3}" srcOrd="2" destOrd="0" parTransId="{BBB21388-5ED5-42C4-ABA0-135B7822A999}" sibTransId="{1916746C-CCAE-41FD-906D-8F0E7619EB91}"/>
    <dgm:cxn modelId="{BEDDED5F-F0DE-4B01-9307-60349BA2669F}" type="presOf" srcId="{01832472-EB06-401E-9D9F-D0ED65FC2CC4}" destId="{55A9B534-09E5-4285-AF50-710D9D003E1B}" srcOrd="0" destOrd="0" presId="urn:microsoft.com/office/officeart/2005/8/layout/hierarchy1"/>
    <dgm:cxn modelId="{5199DDDB-E871-43C3-AF0F-9B8606DF6918}" type="presOf" srcId="{FC9C2EAA-B52D-4B25-A449-C1A034334B9C}" destId="{C9FEBC91-3DF6-412D-A4EA-AB3F1257287A}" srcOrd="0" destOrd="0" presId="urn:microsoft.com/office/officeart/2005/8/layout/hierarchy1"/>
    <dgm:cxn modelId="{1CA2C67B-1788-4FE4-9D68-949A8F1FFFBB}" type="presOf" srcId="{D369F3FF-00B9-4811-B277-DFBC8DA06868}" destId="{49BF00D1-E7F1-4130-A634-7B12DBD900C4}" srcOrd="0" destOrd="0" presId="urn:microsoft.com/office/officeart/2005/8/layout/hierarchy1"/>
    <dgm:cxn modelId="{6AAE36B5-6FAC-4CB7-ABEE-956C0E1A1055}" srcId="{F9B827C5-D8CF-436B-9EAE-5C38334983AD}" destId="{81442FFC-D088-46BB-8348-86F2D16CA149}" srcOrd="2" destOrd="0" parTransId="{362581AD-F995-4D6C-AFC7-58F782C718B2}" sibTransId="{21D6CEED-E723-4619-836C-D1335C583FC4}"/>
    <dgm:cxn modelId="{075B2345-6CE9-4F81-B79B-6D302BC8A75F}" srcId="{81442FFC-D088-46BB-8348-86F2D16CA149}" destId="{4E7E6E2A-637C-46D7-A2E2-735981203F7C}" srcOrd="0" destOrd="0" parTransId="{5CD067AF-3C3C-47D9-B635-B7DDF62D53AF}" sibTransId="{9640F5FA-6F18-43DD-8E8C-659D23883679}"/>
    <dgm:cxn modelId="{5CE94330-E2F0-4F97-B528-6CC042EE0280}" srcId="{F9B827C5-D8CF-436B-9EAE-5C38334983AD}" destId="{233A5E4E-9174-4E26-95E3-574CD912E8A5}" srcOrd="1" destOrd="0" parTransId="{D369F3FF-00B9-4811-B277-DFBC8DA06868}" sibTransId="{3D19F89F-4EEF-4EFC-97F6-1685582D46BA}"/>
    <dgm:cxn modelId="{69F96B86-251C-48EF-AA03-BD9245B740A2}" srcId="{233A5E4E-9174-4E26-95E3-574CD912E8A5}" destId="{B94C9617-2826-486E-9B64-D55ADDA4EDAC}" srcOrd="0" destOrd="0" parTransId="{CC19D235-1E9E-4CDE-9723-AC4FC753ED94}" sibTransId="{D866833F-7ED4-428D-957F-4D0A8ACF0AC9}"/>
    <dgm:cxn modelId="{38AAA419-E30F-43A1-9DF9-4E125216E488}" type="presOf" srcId="{72FE8145-9660-48FE-98F2-F15119F4039F}" destId="{7B4A86C6-445D-4EDB-99B8-AF7DCCED18EC}" srcOrd="0" destOrd="0" presId="urn:microsoft.com/office/officeart/2005/8/layout/hierarchy1"/>
    <dgm:cxn modelId="{CB4C3D28-4E13-495F-B212-DEA5ECD29593}" type="presOf" srcId="{33CDC0D7-8D2E-4CFE-B186-4EF8A6665B96}" destId="{9E3D09B5-4282-4304-88FF-366B15A00BC3}" srcOrd="0" destOrd="0" presId="urn:microsoft.com/office/officeart/2005/8/layout/hierarchy1"/>
    <dgm:cxn modelId="{13CA3691-3233-4F90-A6F8-9BDC1BB14331}" type="presOf" srcId="{F9B827C5-D8CF-436B-9EAE-5C38334983AD}" destId="{0843C89E-7C54-4555-BC11-6B4223591F33}" srcOrd="0" destOrd="0" presId="urn:microsoft.com/office/officeart/2005/8/layout/hierarchy1"/>
    <dgm:cxn modelId="{DC7E1F16-BF70-45E2-93AA-C0CEF9D0CA45}" type="presOf" srcId="{5CD067AF-3C3C-47D9-B635-B7DDF62D53AF}" destId="{DCBF330F-DE26-49EE-89F4-FC07918AACA7}" srcOrd="0" destOrd="0" presId="urn:microsoft.com/office/officeart/2005/8/layout/hierarchy1"/>
    <dgm:cxn modelId="{8D08FE69-A85C-47C8-ACD4-7EC925728981}" type="presOf" srcId="{B59DDA29-DCE3-4577-81F4-E660F87877DF}" destId="{232F0EEB-96BC-48D4-934B-83B42F706BA2}" srcOrd="0" destOrd="0" presId="urn:microsoft.com/office/officeart/2005/8/layout/hierarchy1"/>
    <dgm:cxn modelId="{013AD1E5-3052-4846-8CE0-245B24C731A0}" type="presOf" srcId="{50932F12-AAB4-4DEF-AC39-60575172BB90}" destId="{54411BDC-65F7-4AC4-AE9E-07159E82B2D5}" srcOrd="0" destOrd="0" presId="urn:microsoft.com/office/officeart/2005/8/layout/hierarchy1"/>
    <dgm:cxn modelId="{4E8F9806-036C-453C-B819-234573133188}" type="presOf" srcId="{4E7E6E2A-637C-46D7-A2E2-735981203F7C}" destId="{325AEC83-AC06-4206-971A-FE074CBC92AB}" srcOrd="0" destOrd="0" presId="urn:microsoft.com/office/officeart/2005/8/layout/hierarchy1"/>
    <dgm:cxn modelId="{4246961E-FF18-4BB4-83F7-881EC09E1B4A}" srcId="{F9B827C5-D8CF-436B-9EAE-5C38334983AD}" destId="{54B8FC0B-4E8B-4ED2-A370-2B93C707C98C}" srcOrd="0" destOrd="0" parTransId="{8D28B454-C5CD-488D-B1EB-05EFF146F011}" sibTransId="{2C827F96-D127-47BD-855E-5618E78988F3}"/>
    <dgm:cxn modelId="{F49A455D-1EBE-4D4D-B6CE-D7086ED7E817}" srcId="{81442FFC-D088-46BB-8348-86F2D16CA149}" destId="{9355B47D-E5EF-4F86-9030-69F252E1080C}" srcOrd="1" destOrd="0" parTransId="{01832472-EB06-401E-9D9F-D0ED65FC2CC4}" sibTransId="{DF7DF407-DBC1-491E-A222-221B948090CD}"/>
    <dgm:cxn modelId="{D14C74A1-0067-4B82-83D4-99E73CEFCFB2}" type="presOf" srcId="{E26CA359-CFB0-4BE7-905F-A55A65CBD682}" destId="{DD7CACFA-A83B-4AB8-87BA-29A2F10EDA39}" srcOrd="0" destOrd="0" presId="urn:microsoft.com/office/officeart/2005/8/layout/hierarchy1"/>
    <dgm:cxn modelId="{48385689-EAD2-45B4-A612-95DD577F83E6}" type="presOf" srcId="{1BE1157D-2B9C-43B1-822D-2AFAA7DD47D3}" destId="{B7C3D695-C001-43A7-89B3-B59FF73F517D}" srcOrd="0" destOrd="0" presId="urn:microsoft.com/office/officeart/2005/8/layout/hierarchy1"/>
    <dgm:cxn modelId="{A295FC02-D8BD-4B24-8833-ED654479D8D3}" type="presOf" srcId="{CC19D235-1E9E-4CDE-9723-AC4FC753ED94}" destId="{7F2E2043-AB41-4FA8-8428-E3C916A2D7EA}" srcOrd="0" destOrd="0" presId="urn:microsoft.com/office/officeart/2005/8/layout/hierarchy1"/>
    <dgm:cxn modelId="{E6F950A3-FB01-4EFF-8583-870AD08BCD1A}" type="presOf" srcId="{DE9AA301-9B02-4DD1-B97A-4102A2AD6EC8}" destId="{4DB9E7FA-A65F-439E-81D1-D7EFD8A45F4A}" srcOrd="0" destOrd="0" presId="urn:microsoft.com/office/officeart/2005/8/layout/hierarchy1"/>
    <dgm:cxn modelId="{2CB2C0BD-6360-48FA-AB2F-715E768C51C0}" srcId="{54B8FC0B-4E8B-4ED2-A370-2B93C707C98C}" destId="{E26CA359-CFB0-4BE7-905F-A55A65CBD682}" srcOrd="1" destOrd="0" parTransId="{FC9C2EAA-B52D-4B25-A449-C1A034334B9C}" sibTransId="{13A4BED2-E6C0-4008-91E8-5E93A1F5C03B}"/>
    <dgm:cxn modelId="{3D21A9C5-6D13-44F3-BCFE-68F3F8D8461F}" type="presOf" srcId="{362581AD-F995-4D6C-AFC7-58F782C718B2}" destId="{2FAD82A1-7637-4503-A57A-244390B8ECCD}" srcOrd="0" destOrd="0" presId="urn:microsoft.com/office/officeart/2005/8/layout/hierarchy1"/>
    <dgm:cxn modelId="{827B0B87-A71F-4F2F-A239-A1F50318A675}" srcId="{B59DDA29-DCE3-4577-81F4-E660F87877DF}" destId="{F9B827C5-D8CF-436B-9EAE-5C38334983AD}" srcOrd="0" destOrd="0" parTransId="{33ACEB77-ED91-41A6-9FA0-0D71CDF18450}" sibTransId="{DA684D2D-3E0C-479F-B010-733FDDCD2CAD}"/>
    <dgm:cxn modelId="{285A3D16-B1DD-430F-9AC7-C7B6EED7CB33}" type="presOf" srcId="{233A5E4E-9174-4E26-95E3-574CD912E8A5}" destId="{D2A5513D-32A9-461D-800C-43F927D7D3F2}" srcOrd="0" destOrd="0" presId="urn:microsoft.com/office/officeart/2005/8/layout/hierarchy1"/>
    <dgm:cxn modelId="{05AEF18B-A633-447C-BEA0-767152AA9508}" type="presOf" srcId="{8D28B454-C5CD-488D-B1EB-05EFF146F011}" destId="{ED4D9233-002B-45BE-B456-E63AE7B376AB}" srcOrd="0" destOrd="0" presId="urn:microsoft.com/office/officeart/2005/8/layout/hierarchy1"/>
    <dgm:cxn modelId="{DCC0EAEB-645D-466A-8ECB-D94408D64413}" srcId="{54B8FC0B-4E8B-4ED2-A370-2B93C707C98C}" destId="{50932F12-AAB4-4DEF-AC39-60575172BB90}" srcOrd="0" destOrd="0" parTransId="{72FE8145-9660-48FE-98F2-F15119F4039F}" sibTransId="{FFEAC6D6-1894-4D57-B421-CE39C6BD77F1}"/>
    <dgm:cxn modelId="{0B31F6D5-5C10-46ED-A0A6-9F923ED020CB}" type="presOf" srcId="{54B8FC0B-4E8B-4ED2-A370-2B93C707C98C}" destId="{0B773568-C33F-4ABC-B39A-BDAFB8EC821F}" srcOrd="0" destOrd="0" presId="urn:microsoft.com/office/officeart/2005/8/layout/hierarchy1"/>
    <dgm:cxn modelId="{AD59D9E8-7A80-40F6-8306-26816235B45C}" type="presOf" srcId="{B94C9617-2826-486E-9B64-D55ADDA4EDAC}" destId="{239CD46C-3BB3-4B2C-A9C5-1C7F7BDE5890}" srcOrd="0" destOrd="0" presId="urn:microsoft.com/office/officeart/2005/8/layout/hierarchy1"/>
    <dgm:cxn modelId="{C0545CFF-AD7F-436E-9EF6-CD8D8F335586}" type="presOf" srcId="{9355B47D-E5EF-4F86-9030-69F252E1080C}" destId="{08E6AE41-E2BC-481F-A85D-3CBAC937F2B2}" srcOrd="0" destOrd="0" presId="urn:microsoft.com/office/officeart/2005/8/layout/hierarchy1"/>
    <dgm:cxn modelId="{D955C1EC-CC64-4231-B51E-9B7A663DB3B2}" type="presOf" srcId="{81442FFC-D088-46BB-8348-86F2D16CA149}" destId="{BCD27C4F-3C36-40B4-8214-F5C58FFF4CCD}" srcOrd="0" destOrd="0" presId="urn:microsoft.com/office/officeart/2005/8/layout/hierarchy1"/>
    <dgm:cxn modelId="{5585B749-F7C2-4B7B-B264-F0D23145D573}" type="presParOf" srcId="{232F0EEB-96BC-48D4-934B-83B42F706BA2}" destId="{F927679B-66CA-4FEA-8CEE-0E7927C7A98D}" srcOrd="0" destOrd="0" presId="urn:microsoft.com/office/officeart/2005/8/layout/hierarchy1"/>
    <dgm:cxn modelId="{464EC0F5-49D3-417B-A483-3A7EA49FFAD6}" type="presParOf" srcId="{F927679B-66CA-4FEA-8CEE-0E7927C7A98D}" destId="{FCCEA148-A220-4C30-B5EA-32FEB871F707}" srcOrd="0" destOrd="0" presId="urn:microsoft.com/office/officeart/2005/8/layout/hierarchy1"/>
    <dgm:cxn modelId="{57C8C12C-0151-41BA-B920-DCB2ECE5F6A7}" type="presParOf" srcId="{FCCEA148-A220-4C30-B5EA-32FEB871F707}" destId="{CC0A6773-389C-4B9A-AF38-9CD1303D7EE6}" srcOrd="0" destOrd="0" presId="urn:microsoft.com/office/officeart/2005/8/layout/hierarchy1"/>
    <dgm:cxn modelId="{4727DCE9-FB17-4B3A-B935-1FFE530A44CA}" type="presParOf" srcId="{FCCEA148-A220-4C30-B5EA-32FEB871F707}" destId="{0843C89E-7C54-4555-BC11-6B4223591F33}" srcOrd="1" destOrd="0" presId="urn:microsoft.com/office/officeart/2005/8/layout/hierarchy1"/>
    <dgm:cxn modelId="{6235F243-3434-490F-97D4-4E1CCE6DCA36}" type="presParOf" srcId="{F927679B-66CA-4FEA-8CEE-0E7927C7A98D}" destId="{03340A67-13FC-4009-B8CF-4E24969F3C9D}" srcOrd="1" destOrd="0" presId="urn:microsoft.com/office/officeart/2005/8/layout/hierarchy1"/>
    <dgm:cxn modelId="{FA6C0897-9448-4FEC-BB3E-E2D0EEEACCB5}" type="presParOf" srcId="{03340A67-13FC-4009-B8CF-4E24969F3C9D}" destId="{ED4D9233-002B-45BE-B456-E63AE7B376AB}" srcOrd="0" destOrd="0" presId="urn:microsoft.com/office/officeart/2005/8/layout/hierarchy1"/>
    <dgm:cxn modelId="{600E53E2-747C-41B7-BEA0-15EFEE57F815}" type="presParOf" srcId="{03340A67-13FC-4009-B8CF-4E24969F3C9D}" destId="{B982C052-1B85-473B-B02B-F9F88735F0F0}" srcOrd="1" destOrd="0" presId="urn:microsoft.com/office/officeart/2005/8/layout/hierarchy1"/>
    <dgm:cxn modelId="{B8D7B655-CEE9-4FCE-B712-9F9041A0F1EB}" type="presParOf" srcId="{B982C052-1B85-473B-B02B-F9F88735F0F0}" destId="{6AD1D98D-9425-444F-B90A-DFC96403B3FF}" srcOrd="0" destOrd="0" presId="urn:microsoft.com/office/officeart/2005/8/layout/hierarchy1"/>
    <dgm:cxn modelId="{1B9F4C54-12C6-4587-A525-436DA13748BD}" type="presParOf" srcId="{6AD1D98D-9425-444F-B90A-DFC96403B3FF}" destId="{F6901030-7B66-4CCD-A3AE-E3D457B3FBAE}" srcOrd="0" destOrd="0" presId="urn:microsoft.com/office/officeart/2005/8/layout/hierarchy1"/>
    <dgm:cxn modelId="{00D1D23E-834F-43E9-A479-24DCFF5AB4A4}" type="presParOf" srcId="{6AD1D98D-9425-444F-B90A-DFC96403B3FF}" destId="{0B773568-C33F-4ABC-B39A-BDAFB8EC821F}" srcOrd="1" destOrd="0" presId="urn:microsoft.com/office/officeart/2005/8/layout/hierarchy1"/>
    <dgm:cxn modelId="{5C4166CB-7290-4CC5-A015-2A310C7B4AE4}" type="presParOf" srcId="{B982C052-1B85-473B-B02B-F9F88735F0F0}" destId="{0F0A3B71-A80A-4564-B34D-E3BB22C19C6F}" srcOrd="1" destOrd="0" presId="urn:microsoft.com/office/officeart/2005/8/layout/hierarchy1"/>
    <dgm:cxn modelId="{2E0A5848-7FFA-4186-9BC9-18BDE5A2C889}" type="presParOf" srcId="{0F0A3B71-A80A-4564-B34D-E3BB22C19C6F}" destId="{7B4A86C6-445D-4EDB-99B8-AF7DCCED18EC}" srcOrd="0" destOrd="0" presId="urn:microsoft.com/office/officeart/2005/8/layout/hierarchy1"/>
    <dgm:cxn modelId="{34A01F3F-1417-47CD-A048-46216301FBC4}" type="presParOf" srcId="{0F0A3B71-A80A-4564-B34D-E3BB22C19C6F}" destId="{D9A4ADB7-5006-4F18-AB71-12D76A8F3189}" srcOrd="1" destOrd="0" presId="urn:microsoft.com/office/officeart/2005/8/layout/hierarchy1"/>
    <dgm:cxn modelId="{8F5A9764-5577-4C77-8009-C6A056266EB3}" type="presParOf" srcId="{D9A4ADB7-5006-4F18-AB71-12D76A8F3189}" destId="{DCAD60C2-CD4F-4323-BD21-10B6FE079BCC}" srcOrd="0" destOrd="0" presId="urn:microsoft.com/office/officeart/2005/8/layout/hierarchy1"/>
    <dgm:cxn modelId="{52D9B42E-0959-4727-8D56-4B20931580F0}" type="presParOf" srcId="{DCAD60C2-CD4F-4323-BD21-10B6FE079BCC}" destId="{509A9C49-82EA-4CB5-BC06-909BEA92DCAC}" srcOrd="0" destOrd="0" presId="urn:microsoft.com/office/officeart/2005/8/layout/hierarchy1"/>
    <dgm:cxn modelId="{D71C3142-2875-47C1-A228-81C8AAD4EF1A}" type="presParOf" srcId="{DCAD60C2-CD4F-4323-BD21-10B6FE079BCC}" destId="{54411BDC-65F7-4AC4-AE9E-07159E82B2D5}" srcOrd="1" destOrd="0" presId="urn:microsoft.com/office/officeart/2005/8/layout/hierarchy1"/>
    <dgm:cxn modelId="{883159D1-B670-4A7B-BB2E-EDDFD898BCD8}" type="presParOf" srcId="{D9A4ADB7-5006-4F18-AB71-12D76A8F3189}" destId="{01A19C48-4B46-4410-92E5-9B0F80B1C1DF}" srcOrd="1" destOrd="0" presId="urn:microsoft.com/office/officeart/2005/8/layout/hierarchy1"/>
    <dgm:cxn modelId="{0ED240FE-5035-4C6F-A564-00575CB8EAAB}" type="presParOf" srcId="{0F0A3B71-A80A-4564-B34D-E3BB22C19C6F}" destId="{C9FEBC91-3DF6-412D-A4EA-AB3F1257287A}" srcOrd="2" destOrd="0" presId="urn:microsoft.com/office/officeart/2005/8/layout/hierarchy1"/>
    <dgm:cxn modelId="{3EF4CFF7-F93D-4429-B847-74ABF76E857A}" type="presParOf" srcId="{0F0A3B71-A80A-4564-B34D-E3BB22C19C6F}" destId="{D737B1E3-C596-4F8F-9CD6-8375B43C14CE}" srcOrd="3" destOrd="0" presId="urn:microsoft.com/office/officeart/2005/8/layout/hierarchy1"/>
    <dgm:cxn modelId="{4732B318-7F3E-4064-93FC-5F5EF7B2EA0D}" type="presParOf" srcId="{D737B1E3-C596-4F8F-9CD6-8375B43C14CE}" destId="{2D2B2678-8DCF-4CF7-A1AD-E3BCC1D0D870}" srcOrd="0" destOrd="0" presId="urn:microsoft.com/office/officeart/2005/8/layout/hierarchy1"/>
    <dgm:cxn modelId="{5437C939-D735-4922-9D78-9D214822C33D}" type="presParOf" srcId="{2D2B2678-8DCF-4CF7-A1AD-E3BCC1D0D870}" destId="{4C282AB2-8041-469C-AAD4-E401482A183C}" srcOrd="0" destOrd="0" presId="urn:microsoft.com/office/officeart/2005/8/layout/hierarchy1"/>
    <dgm:cxn modelId="{A378A7A8-DEEB-4A17-9943-8FE4BB3BC6D1}" type="presParOf" srcId="{2D2B2678-8DCF-4CF7-A1AD-E3BCC1D0D870}" destId="{DD7CACFA-A83B-4AB8-87BA-29A2F10EDA39}" srcOrd="1" destOrd="0" presId="urn:microsoft.com/office/officeart/2005/8/layout/hierarchy1"/>
    <dgm:cxn modelId="{C1515D41-18F9-416E-AA89-AD34071077EB}" type="presParOf" srcId="{D737B1E3-C596-4F8F-9CD6-8375B43C14CE}" destId="{0CABB8B0-5EFC-41AB-A469-860F26FFD6A3}" srcOrd="1" destOrd="0" presId="urn:microsoft.com/office/officeart/2005/8/layout/hierarchy1"/>
    <dgm:cxn modelId="{79CE67B2-6171-4605-9DD4-960E2EC97C45}" type="presParOf" srcId="{03340A67-13FC-4009-B8CF-4E24969F3C9D}" destId="{49BF00D1-E7F1-4130-A634-7B12DBD900C4}" srcOrd="2" destOrd="0" presId="urn:microsoft.com/office/officeart/2005/8/layout/hierarchy1"/>
    <dgm:cxn modelId="{E64F69F1-EB4A-4B8A-886A-DBDC996D68A4}" type="presParOf" srcId="{03340A67-13FC-4009-B8CF-4E24969F3C9D}" destId="{84A7FE93-56BA-4263-932A-9975B288A8B9}" srcOrd="3" destOrd="0" presId="urn:microsoft.com/office/officeart/2005/8/layout/hierarchy1"/>
    <dgm:cxn modelId="{E3716A6C-4E48-4805-A91B-9B1FF784C089}" type="presParOf" srcId="{84A7FE93-56BA-4263-932A-9975B288A8B9}" destId="{EE13A941-9BF2-4D69-8F99-42A1EAB22A08}" srcOrd="0" destOrd="0" presId="urn:microsoft.com/office/officeart/2005/8/layout/hierarchy1"/>
    <dgm:cxn modelId="{893BA45D-A8BD-4A53-802D-65BD714186F7}" type="presParOf" srcId="{EE13A941-9BF2-4D69-8F99-42A1EAB22A08}" destId="{E5892B5D-3943-421B-8C68-5E55FEF999E8}" srcOrd="0" destOrd="0" presId="urn:microsoft.com/office/officeart/2005/8/layout/hierarchy1"/>
    <dgm:cxn modelId="{2618E23C-157C-483D-9A37-173357F65649}" type="presParOf" srcId="{EE13A941-9BF2-4D69-8F99-42A1EAB22A08}" destId="{D2A5513D-32A9-461D-800C-43F927D7D3F2}" srcOrd="1" destOrd="0" presId="urn:microsoft.com/office/officeart/2005/8/layout/hierarchy1"/>
    <dgm:cxn modelId="{E8F3C87C-4231-439D-9080-D19EDFA6388A}" type="presParOf" srcId="{84A7FE93-56BA-4263-932A-9975B288A8B9}" destId="{D963CA69-CDAC-42B5-9C36-69BB85BA84FB}" srcOrd="1" destOrd="0" presId="urn:microsoft.com/office/officeart/2005/8/layout/hierarchy1"/>
    <dgm:cxn modelId="{3E7EC477-C0EB-4D6C-9800-30A2DA5256E5}" type="presParOf" srcId="{D963CA69-CDAC-42B5-9C36-69BB85BA84FB}" destId="{7F2E2043-AB41-4FA8-8428-E3C916A2D7EA}" srcOrd="0" destOrd="0" presId="urn:microsoft.com/office/officeart/2005/8/layout/hierarchy1"/>
    <dgm:cxn modelId="{57E8A40E-E239-4E34-A5AE-5EAC0BBD8322}" type="presParOf" srcId="{D963CA69-CDAC-42B5-9C36-69BB85BA84FB}" destId="{6C63F812-9E11-44C9-ADF7-DB3FD3B69EAF}" srcOrd="1" destOrd="0" presId="urn:microsoft.com/office/officeart/2005/8/layout/hierarchy1"/>
    <dgm:cxn modelId="{9BB90D9B-1CB7-480E-93B0-13EE3D6A0936}" type="presParOf" srcId="{6C63F812-9E11-44C9-ADF7-DB3FD3B69EAF}" destId="{561828E5-A14A-47E8-9F77-072F40E14DF9}" srcOrd="0" destOrd="0" presId="urn:microsoft.com/office/officeart/2005/8/layout/hierarchy1"/>
    <dgm:cxn modelId="{7C4275A0-9433-4FCC-8A27-5EFBECBAFACC}" type="presParOf" srcId="{561828E5-A14A-47E8-9F77-072F40E14DF9}" destId="{189277F3-DEC9-4A51-A90E-C345A0A02210}" srcOrd="0" destOrd="0" presId="urn:microsoft.com/office/officeart/2005/8/layout/hierarchy1"/>
    <dgm:cxn modelId="{42047951-1456-48C3-BB0D-CAC9F3896DB1}" type="presParOf" srcId="{561828E5-A14A-47E8-9F77-072F40E14DF9}" destId="{239CD46C-3BB3-4B2C-A9C5-1C7F7BDE5890}" srcOrd="1" destOrd="0" presId="urn:microsoft.com/office/officeart/2005/8/layout/hierarchy1"/>
    <dgm:cxn modelId="{87DE9137-BE0D-48CB-9E63-D486C60F85CC}" type="presParOf" srcId="{6C63F812-9E11-44C9-ADF7-DB3FD3B69EAF}" destId="{E44BCB9D-0FCE-49D2-8F37-AFA42A0C3CB9}" srcOrd="1" destOrd="0" presId="urn:microsoft.com/office/officeart/2005/8/layout/hierarchy1"/>
    <dgm:cxn modelId="{E47537A5-1707-42AB-9007-BDF441066423}" type="presParOf" srcId="{D963CA69-CDAC-42B5-9C36-69BB85BA84FB}" destId="{4DB9E7FA-A65F-439E-81D1-D7EFD8A45F4A}" srcOrd="2" destOrd="0" presId="urn:microsoft.com/office/officeart/2005/8/layout/hierarchy1"/>
    <dgm:cxn modelId="{FC416162-A3A4-4B1E-85BC-AC924974D97A}" type="presParOf" srcId="{D963CA69-CDAC-42B5-9C36-69BB85BA84FB}" destId="{B732AB84-BB83-4737-A6E9-0041237368D5}" srcOrd="3" destOrd="0" presId="urn:microsoft.com/office/officeart/2005/8/layout/hierarchy1"/>
    <dgm:cxn modelId="{C675F7C3-D57C-4F1A-B79B-B7925D911EC8}" type="presParOf" srcId="{B732AB84-BB83-4737-A6E9-0041237368D5}" destId="{DA0DB3E6-3031-4DA9-B3F3-3FDA9F4AA597}" srcOrd="0" destOrd="0" presId="urn:microsoft.com/office/officeart/2005/8/layout/hierarchy1"/>
    <dgm:cxn modelId="{485CA0D7-5B43-47E6-8CD9-1E3EB8FEC7CB}" type="presParOf" srcId="{DA0DB3E6-3031-4DA9-B3F3-3FDA9F4AA597}" destId="{31D3EE3E-0098-4216-AED1-268B415CF0E3}" srcOrd="0" destOrd="0" presId="urn:microsoft.com/office/officeart/2005/8/layout/hierarchy1"/>
    <dgm:cxn modelId="{3C4DD158-6A27-4667-BCFC-6CC94AC306CA}" type="presParOf" srcId="{DA0DB3E6-3031-4DA9-B3F3-3FDA9F4AA597}" destId="{9E3D09B5-4282-4304-88FF-366B15A00BC3}" srcOrd="1" destOrd="0" presId="urn:microsoft.com/office/officeart/2005/8/layout/hierarchy1"/>
    <dgm:cxn modelId="{62CEBA91-02AA-42F7-B8B6-5381FA54008E}" type="presParOf" srcId="{B732AB84-BB83-4737-A6E9-0041237368D5}" destId="{AFA1B901-BE36-48DD-87B6-856C988CF6D4}" srcOrd="1" destOrd="0" presId="urn:microsoft.com/office/officeart/2005/8/layout/hierarchy1"/>
    <dgm:cxn modelId="{DC0079EA-6CF2-4EEB-A75C-E564244B9B88}" type="presParOf" srcId="{D963CA69-CDAC-42B5-9C36-69BB85BA84FB}" destId="{1B2169B8-E611-4CD6-9DB2-9117F13E52B5}" srcOrd="4" destOrd="0" presId="urn:microsoft.com/office/officeart/2005/8/layout/hierarchy1"/>
    <dgm:cxn modelId="{BDE8031A-2768-43B2-9167-E67BE08163C6}" type="presParOf" srcId="{D963CA69-CDAC-42B5-9C36-69BB85BA84FB}" destId="{F99DC1FA-324E-47AF-9A51-9DF82A8D9D2C}" srcOrd="5" destOrd="0" presId="urn:microsoft.com/office/officeart/2005/8/layout/hierarchy1"/>
    <dgm:cxn modelId="{D4A8CBD6-8C70-4745-98AA-D140C4A496C5}" type="presParOf" srcId="{F99DC1FA-324E-47AF-9A51-9DF82A8D9D2C}" destId="{51C7B19E-831D-46E5-B214-E113894A84A3}" srcOrd="0" destOrd="0" presId="urn:microsoft.com/office/officeart/2005/8/layout/hierarchy1"/>
    <dgm:cxn modelId="{2BBB1463-0052-400C-A640-C50BA6F5023F}" type="presParOf" srcId="{51C7B19E-831D-46E5-B214-E113894A84A3}" destId="{6424BF62-E9C1-448D-B257-F72E5B014C81}" srcOrd="0" destOrd="0" presId="urn:microsoft.com/office/officeart/2005/8/layout/hierarchy1"/>
    <dgm:cxn modelId="{BB392EEE-E7D3-4C4E-97CF-966E22C6580A}" type="presParOf" srcId="{51C7B19E-831D-46E5-B214-E113894A84A3}" destId="{B7C3D695-C001-43A7-89B3-B59FF73F517D}" srcOrd="1" destOrd="0" presId="urn:microsoft.com/office/officeart/2005/8/layout/hierarchy1"/>
    <dgm:cxn modelId="{9D5D1524-FD22-476D-A81A-8CF33E6F9995}" type="presParOf" srcId="{F99DC1FA-324E-47AF-9A51-9DF82A8D9D2C}" destId="{D68EF093-EDD6-4DBC-B3B6-FAC7CFD44120}" srcOrd="1" destOrd="0" presId="urn:microsoft.com/office/officeart/2005/8/layout/hierarchy1"/>
    <dgm:cxn modelId="{6A0BDF75-E4B8-400A-B96B-56D5CC011EB6}" type="presParOf" srcId="{03340A67-13FC-4009-B8CF-4E24969F3C9D}" destId="{2FAD82A1-7637-4503-A57A-244390B8ECCD}" srcOrd="4" destOrd="0" presId="urn:microsoft.com/office/officeart/2005/8/layout/hierarchy1"/>
    <dgm:cxn modelId="{7BEBB753-DADC-4AD2-8610-9821F1271DB0}" type="presParOf" srcId="{03340A67-13FC-4009-B8CF-4E24969F3C9D}" destId="{7394DF8B-ACA1-4C58-B343-D28B371837EC}" srcOrd="5" destOrd="0" presId="urn:microsoft.com/office/officeart/2005/8/layout/hierarchy1"/>
    <dgm:cxn modelId="{0DE0BDCF-86E6-47CA-90E2-15DFEFDBB561}" type="presParOf" srcId="{7394DF8B-ACA1-4C58-B343-D28B371837EC}" destId="{8AD8A38C-C307-474C-96BB-3C92E3F14D7A}" srcOrd="0" destOrd="0" presId="urn:microsoft.com/office/officeart/2005/8/layout/hierarchy1"/>
    <dgm:cxn modelId="{6252B8EC-3A6A-45AC-A893-FC5E9F4C054B}" type="presParOf" srcId="{8AD8A38C-C307-474C-96BB-3C92E3F14D7A}" destId="{0C0B39F2-B5DB-44FD-AC19-50FC9D0ACA0A}" srcOrd="0" destOrd="0" presId="urn:microsoft.com/office/officeart/2005/8/layout/hierarchy1"/>
    <dgm:cxn modelId="{568828EF-C003-41B1-B0F8-45C15A968B79}" type="presParOf" srcId="{8AD8A38C-C307-474C-96BB-3C92E3F14D7A}" destId="{BCD27C4F-3C36-40B4-8214-F5C58FFF4CCD}" srcOrd="1" destOrd="0" presId="urn:microsoft.com/office/officeart/2005/8/layout/hierarchy1"/>
    <dgm:cxn modelId="{1710F688-7307-4A1C-AE61-DE5C4288130A}" type="presParOf" srcId="{7394DF8B-ACA1-4C58-B343-D28B371837EC}" destId="{CA6D90CB-6801-4797-A251-6F400B8C33DF}" srcOrd="1" destOrd="0" presId="urn:microsoft.com/office/officeart/2005/8/layout/hierarchy1"/>
    <dgm:cxn modelId="{309487D0-960B-40B1-9BF4-074F54C15902}" type="presParOf" srcId="{CA6D90CB-6801-4797-A251-6F400B8C33DF}" destId="{DCBF330F-DE26-49EE-89F4-FC07918AACA7}" srcOrd="0" destOrd="0" presId="urn:microsoft.com/office/officeart/2005/8/layout/hierarchy1"/>
    <dgm:cxn modelId="{F25D3B7E-C44A-4390-9D3C-B22CD1BC606A}" type="presParOf" srcId="{CA6D90CB-6801-4797-A251-6F400B8C33DF}" destId="{735AC12C-48A3-43B6-A90D-FC14E27785F2}" srcOrd="1" destOrd="0" presId="urn:microsoft.com/office/officeart/2005/8/layout/hierarchy1"/>
    <dgm:cxn modelId="{8D94773F-132F-4A8A-8F0E-7BF440F93F99}" type="presParOf" srcId="{735AC12C-48A3-43B6-A90D-FC14E27785F2}" destId="{42DBDE73-4E3F-499F-B6DF-14CDDBFC6092}" srcOrd="0" destOrd="0" presId="urn:microsoft.com/office/officeart/2005/8/layout/hierarchy1"/>
    <dgm:cxn modelId="{6B770F65-C9ED-4BF3-AA2F-65EA61CF5575}" type="presParOf" srcId="{42DBDE73-4E3F-499F-B6DF-14CDDBFC6092}" destId="{59D85023-AC3F-46AB-B946-DCE617D417F3}" srcOrd="0" destOrd="0" presId="urn:microsoft.com/office/officeart/2005/8/layout/hierarchy1"/>
    <dgm:cxn modelId="{5EBA09F2-8462-4805-8AE2-16AD8BD5D8E3}" type="presParOf" srcId="{42DBDE73-4E3F-499F-B6DF-14CDDBFC6092}" destId="{325AEC83-AC06-4206-971A-FE074CBC92AB}" srcOrd="1" destOrd="0" presId="urn:microsoft.com/office/officeart/2005/8/layout/hierarchy1"/>
    <dgm:cxn modelId="{F67B254A-AB2C-432A-98C3-36857A751688}" type="presParOf" srcId="{735AC12C-48A3-43B6-A90D-FC14E27785F2}" destId="{4C2E4166-F6E8-446C-B7FB-C77D1E039B30}" srcOrd="1" destOrd="0" presId="urn:microsoft.com/office/officeart/2005/8/layout/hierarchy1"/>
    <dgm:cxn modelId="{7FD09BC3-1B03-44B8-B461-A37ADB688068}" type="presParOf" srcId="{CA6D90CB-6801-4797-A251-6F400B8C33DF}" destId="{55A9B534-09E5-4285-AF50-710D9D003E1B}" srcOrd="2" destOrd="0" presId="urn:microsoft.com/office/officeart/2005/8/layout/hierarchy1"/>
    <dgm:cxn modelId="{D75E8285-EF5E-46C3-B0DF-EFEF24E57956}" type="presParOf" srcId="{CA6D90CB-6801-4797-A251-6F400B8C33DF}" destId="{85AC3142-1721-4D17-AD32-715C7E00BB2E}" srcOrd="3" destOrd="0" presId="urn:microsoft.com/office/officeart/2005/8/layout/hierarchy1"/>
    <dgm:cxn modelId="{75BADE8B-F026-4693-9111-0EB0998F3E35}" type="presParOf" srcId="{85AC3142-1721-4D17-AD32-715C7E00BB2E}" destId="{A794CDB3-7B00-48D7-92E8-59721E8FDAB6}" srcOrd="0" destOrd="0" presId="urn:microsoft.com/office/officeart/2005/8/layout/hierarchy1"/>
    <dgm:cxn modelId="{5FD4DE4B-C48A-42A6-8655-D91D832D2BF1}" type="presParOf" srcId="{A794CDB3-7B00-48D7-92E8-59721E8FDAB6}" destId="{C1C9AED1-338C-4EC5-BC7D-3E01C0B6D290}" srcOrd="0" destOrd="0" presId="urn:microsoft.com/office/officeart/2005/8/layout/hierarchy1"/>
    <dgm:cxn modelId="{569A4309-0462-4A20-949D-5FAB2A6C913F}" type="presParOf" srcId="{A794CDB3-7B00-48D7-92E8-59721E8FDAB6}" destId="{08E6AE41-E2BC-481F-A85D-3CBAC937F2B2}" srcOrd="1" destOrd="0" presId="urn:microsoft.com/office/officeart/2005/8/layout/hierarchy1"/>
    <dgm:cxn modelId="{C705C49E-5D4A-4CDC-97F3-1A2A12DEFC6B}" type="presParOf" srcId="{85AC3142-1721-4D17-AD32-715C7E00BB2E}" destId="{B2D310A9-6627-4572-BEC6-9347E91D68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293CF-F743-4B36-99F5-3B015EC624A2}">
      <dsp:nvSpPr>
        <dsp:cNvPr id="0" name=""/>
        <dsp:cNvSpPr/>
      </dsp:nvSpPr>
      <dsp:spPr>
        <a:xfrm>
          <a:off x="3406486" y="1101849"/>
          <a:ext cx="892174" cy="424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348"/>
              </a:lnTo>
              <a:lnTo>
                <a:pt x="892174" y="289348"/>
              </a:lnTo>
              <a:lnTo>
                <a:pt x="892174" y="4245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673FD-0BAD-4945-93F2-A81467F98D60}">
      <dsp:nvSpPr>
        <dsp:cNvPr id="0" name=""/>
        <dsp:cNvSpPr/>
      </dsp:nvSpPr>
      <dsp:spPr>
        <a:xfrm>
          <a:off x="2514311" y="2453494"/>
          <a:ext cx="1784349" cy="424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348"/>
              </a:lnTo>
              <a:lnTo>
                <a:pt x="1784349" y="289348"/>
              </a:lnTo>
              <a:lnTo>
                <a:pt x="1784349" y="4245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6B426B-127B-4FC1-BDFE-2A652A675BB1}">
      <dsp:nvSpPr>
        <dsp:cNvPr id="0" name=""/>
        <dsp:cNvSpPr/>
      </dsp:nvSpPr>
      <dsp:spPr>
        <a:xfrm>
          <a:off x="2468591" y="2453494"/>
          <a:ext cx="91440" cy="4245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45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9E1B9D-BEF6-470C-9366-A2878D1BFE7D}">
      <dsp:nvSpPr>
        <dsp:cNvPr id="0" name=""/>
        <dsp:cNvSpPr/>
      </dsp:nvSpPr>
      <dsp:spPr>
        <a:xfrm>
          <a:off x="729961" y="2453494"/>
          <a:ext cx="1784349" cy="424594"/>
        </a:xfrm>
        <a:custGeom>
          <a:avLst/>
          <a:gdLst/>
          <a:ahLst/>
          <a:cxnLst/>
          <a:rect l="0" t="0" r="0" b="0"/>
          <a:pathLst>
            <a:path>
              <a:moveTo>
                <a:pt x="1784349" y="0"/>
              </a:moveTo>
              <a:lnTo>
                <a:pt x="1784349" y="289348"/>
              </a:lnTo>
              <a:lnTo>
                <a:pt x="0" y="289348"/>
              </a:lnTo>
              <a:lnTo>
                <a:pt x="0" y="4245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52AEDE-24D5-4B2C-ADAC-57E0EDA9B72F}">
      <dsp:nvSpPr>
        <dsp:cNvPr id="0" name=""/>
        <dsp:cNvSpPr/>
      </dsp:nvSpPr>
      <dsp:spPr>
        <a:xfrm>
          <a:off x="2514311" y="1101849"/>
          <a:ext cx="892174" cy="424594"/>
        </a:xfrm>
        <a:custGeom>
          <a:avLst/>
          <a:gdLst/>
          <a:ahLst/>
          <a:cxnLst/>
          <a:rect l="0" t="0" r="0" b="0"/>
          <a:pathLst>
            <a:path>
              <a:moveTo>
                <a:pt x="892174" y="0"/>
              </a:moveTo>
              <a:lnTo>
                <a:pt x="892174" y="289348"/>
              </a:lnTo>
              <a:lnTo>
                <a:pt x="0" y="289348"/>
              </a:lnTo>
              <a:lnTo>
                <a:pt x="0" y="4245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0C053-31A3-42A2-9A5A-B554AF8B75BB}">
      <dsp:nvSpPr>
        <dsp:cNvPr id="0" name=""/>
        <dsp:cNvSpPr/>
      </dsp:nvSpPr>
      <dsp:spPr>
        <a:xfrm>
          <a:off x="2676524" y="17479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17C1A-5289-4ED0-B265-80C9093863E6}">
      <dsp:nvSpPr>
        <dsp:cNvPr id="0" name=""/>
        <dsp:cNvSpPr/>
      </dsp:nvSpPr>
      <dsp:spPr>
        <a:xfrm>
          <a:off x="2838738" y="32890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b="1" kern="1200" dirty="0" err="1" smtClean="0">
              <a:solidFill>
                <a:schemeClr val="accent3">
                  <a:lumMod val="60000"/>
                  <a:lumOff val="40000"/>
                </a:schemeClr>
              </a:solidFill>
            </a:rPr>
            <a:t>Криптология</a:t>
          </a:r>
          <a:endParaRPr lang="en-US" sz="1200" b="1" kern="1200" dirty="0">
            <a:solidFill>
              <a:schemeClr val="accent3">
                <a:lumMod val="60000"/>
                <a:lumOff val="40000"/>
              </a:schemeClr>
            </a:solidFill>
          </a:endParaRPr>
        </a:p>
      </dsp:txBody>
      <dsp:txXfrm>
        <a:off x="2865890" y="356054"/>
        <a:ext cx="1405618" cy="872746"/>
      </dsp:txXfrm>
    </dsp:sp>
    <dsp:sp modelId="{D0EFF65A-41BC-4F4E-8B76-66F8F3ADEC51}">
      <dsp:nvSpPr>
        <dsp:cNvPr id="0" name=""/>
        <dsp:cNvSpPr/>
      </dsp:nvSpPr>
      <dsp:spPr>
        <a:xfrm>
          <a:off x="1784349" y="1526444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F5E30-6B24-477F-B103-88F089CB1210}">
      <dsp:nvSpPr>
        <dsp:cNvPr id="0" name=""/>
        <dsp:cNvSpPr/>
      </dsp:nvSpPr>
      <dsp:spPr>
        <a:xfrm>
          <a:off x="1946563" y="1680547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b="1" kern="1200" dirty="0" smtClean="0">
              <a:solidFill>
                <a:schemeClr val="accent1"/>
              </a:solidFill>
            </a:rPr>
            <a:t>Криптография</a:t>
          </a:r>
          <a:endParaRPr lang="en-US" sz="1200" b="1" kern="1200" dirty="0">
            <a:solidFill>
              <a:schemeClr val="accent1"/>
            </a:solidFill>
          </a:endParaRPr>
        </a:p>
      </dsp:txBody>
      <dsp:txXfrm>
        <a:off x="1973715" y="1707699"/>
        <a:ext cx="1405618" cy="872746"/>
      </dsp:txXfrm>
    </dsp:sp>
    <dsp:sp modelId="{CC267BA1-109B-46B3-9C84-AD96CA485737}">
      <dsp:nvSpPr>
        <dsp:cNvPr id="0" name=""/>
        <dsp:cNvSpPr/>
      </dsp:nvSpPr>
      <dsp:spPr>
        <a:xfrm>
          <a:off x="0" y="287808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3A625-C40E-4DA5-8FA2-3A943953ADF6}">
      <dsp:nvSpPr>
        <dsp:cNvPr id="0" name=""/>
        <dsp:cNvSpPr/>
      </dsp:nvSpPr>
      <dsp:spPr>
        <a:xfrm>
          <a:off x="162213" y="303219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Симетрична </a:t>
          </a:r>
          <a:endParaRPr lang="en-US" sz="1200" kern="1200" dirty="0"/>
        </a:p>
      </dsp:txBody>
      <dsp:txXfrm>
        <a:off x="189365" y="3059344"/>
        <a:ext cx="1405618" cy="872746"/>
      </dsp:txXfrm>
    </dsp:sp>
    <dsp:sp modelId="{AA33369A-0C0A-41BF-B7EA-80BDFB68038F}">
      <dsp:nvSpPr>
        <dsp:cNvPr id="0" name=""/>
        <dsp:cNvSpPr/>
      </dsp:nvSpPr>
      <dsp:spPr>
        <a:xfrm>
          <a:off x="1784349" y="287808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7EC14-F18A-43CF-9AF0-A41118B923BB}">
      <dsp:nvSpPr>
        <dsp:cNvPr id="0" name=""/>
        <dsp:cNvSpPr/>
      </dsp:nvSpPr>
      <dsp:spPr>
        <a:xfrm>
          <a:off x="1946563" y="303219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Асиметрична</a:t>
          </a:r>
          <a:endParaRPr lang="en-US" sz="1200" kern="1200" dirty="0"/>
        </a:p>
      </dsp:txBody>
      <dsp:txXfrm>
        <a:off x="1973715" y="3059344"/>
        <a:ext cx="1405618" cy="872746"/>
      </dsp:txXfrm>
    </dsp:sp>
    <dsp:sp modelId="{8C335D7F-31FC-4F26-9786-583F5156D52F}">
      <dsp:nvSpPr>
        <dsp:cNvPr id="0" name=""/>
        <dsp:cNvSpPr/>
      </dsp:nvSpPr>
      <dsp:spPr>
        <a:xfrm>
          <a:off x="3568699" y="287808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552E9-894B-4582-99AF-4E5AB469AF89}">
      <dsp:nvSpPr>
        <dsp:cNvPr id="0" name=""/>
        <dsp:cNvSpPr/>
      </dsp:nvSpPr>
      <dsp:spPr>
        <a:xfrm>
          <a:off x="3730913" y="303219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Протоколи</a:t>
          </a:r>
          <a:endParaRPr lang="en-US" sz="1200" kern="1200" dirty="0"/>
        </a:p>
      </dsp:txBody>
      <dsp:txXfrm>
        <a:off x="3758065" y="3059344"/>
        <a:ext cx="1405618" cy="872746"/>
      </dsp:txXfrm>
    </dsp:sp>
    <dsp:sp modelId="{94C94E36-9C8D-4563-B9B5-FA829C13520D}">
      <dsp:nvSpPr>
        <dsp:cNvPr id="0" name=""/>
        <dsp:cNvSpPr/>
      </dsp:nvSpPr>
      <dsp:spPr>
        <a:xfrm>
          <a:off x="3568699" y="1526444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86D26-2B89-4DFD-8DC6-257724D0C4AC}">
      <dsp:nvSpPr>
        <dsp:cNvPr id="0" name=""/>
        <dsp:cNvSpPr/>
      </dsp:nvSpPr>
      <dsp:spPr>
        <a:xfrm>
          <a:off x="3730913" y="1680547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b="1" kern="1200" dirty="0" err="1" smtClean="0">
              <a:solidFill>
                <a:srgbClr val="00B0F0"/>
              </a:solidFill>
            </a:rPr>
            <a:t>Криптографски</a:t>
          </a:r>
          <a:r>
            <a:rPr lang="bg-BG" sz="1200" b="1" kern="1200" dirty="0" smtClean="0">
              <a:solidFill>
                <a:srgbClr val="00B0F0"/>
              </a:solidFill>
            </a:rPr>
            <a:t> анализ</a:t>
          </a:r>
          <a:endParaRPr lang="en-US" sz="1200" b="1" kern="1200" dirty="0">
            <a:solidFill>
              <a:srgbClr val="00B0F0"/>
            </a:solidFill>
          </a:endParaRPr>
        </a:p>
      </dsp:txBody>
      <dsp:txXfrm>
        <a:off x="3758065" y="1707699"/>
        <a:ext cx="1405618" cy="8727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293CF-F743-4B36-99F5-3B015EC624A2}">
      <dsp:nvSpPr>
        <dsp:cNvPr id="0" name=""/>
        <dsp:cNvSpPr/>
      </dsp:nvSpPr>
      <dsp:spPr>
        <a:xfrm>
          <a:off x="3406486" y="1101849"/>
          <a:ext cx="892174" cy="424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348"/>
              </a:lnTo>
              <a:lnTo>
                <a:pt x="892174" y="289348"/>
              </a:lnTo>
              <a:lnTo>
                <a:pt x="892174" y="4245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673FD-0BAD-4945-93F2-A81467F98D60}">
      <dsp:nvSpPr>
        <dsp:cNvPr id="0" name=""/>
        <dsp:cNvSpPr/>
      </dsp:nvSpPr>
      <dsp:spPr>
        <a:xfrm>
          <a:off x="2514311" y="2453494"/>
          <a:ext cx="1784349" cy="424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348"/>
              </a:lnTo>
              <a:lnTo>
                <a:pt x="1784349" y="289348"/>
              </a:lnTo>
              <a:lnTo>
                <a:pt x="1784349" y="4245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6B426B-127B-4FC1-BDFE-2A652A675BB1}">
      <dsp:nvSpPr>
        <dsp:cNvPr id="0" name=""/>
        <dsp:cNvSpPr/>
      </dsp:nvSpPr>
      <dsp:spPr>
        <a:xfrm>
          <a:off x="2468591" y="2453494"/>
          <a:ext cx="91440" cy="4245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245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9E1B9D-BEF6-470C-9366-A2878D1BFE7D}">
      <dsp:nvSpPr>
        <dsp:cNvPr id="0" name=""/>
        <dsp:cNvSpPr/>
      </dsp:nvSpPr>
      <dsp:spPr>
        <a:xfrm>
          <a:off x="729961" y="2453494"/>
          <a:ext cx="1784349" cy="424594"/>
        </a:xfrm>
        <a:custGeom>
          <a:avLst/>
          <a:gdLst/>
          <a:ahLst/>
          <a:cxnLst/>
          <a:rect l="0" t="0" r="0" b="0"/>
          <a:pathLst>
            <a:path>
              <a:moveTo>
                <a:pt x="1784349" y="0"/>
              </a:moveTo>
              <a:lnTo>
                <a:pt x="1784349" y="289348"/>
              </a:lnTo>
              <a:lnTo>
                <a:pt x="0" y="289348"/>
              </a:lnTo>
              <a:lnTo>
                <a:pt x="0" y="4245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52AEDE-24D5-4B2C-ADAC-57E0EDA9B72F}">
      <dsp:nvSpPr>
        <dsp:cNvPr id="0" name=""/>
        <dsp:cNvSpPr/>
      </dsp:nvSpPr>
      <dsp:spPr>
        <a:xfrm>
          <a:off x="2514311" y="1101849"/>
          <a:ext cx="892174" cy="424594"/>
        </a:xfrm>
        <a:custGeom>
          <a:avLst/>
          <a:gdLst/>
          <a:ahLst/>
          <a:cxnLst/>
          <a:rect l="0" t="0" r="0" b="0"/>
          <a:pathLst>
            <a:path>
              <a:moveTo>
                <a:pt x="892174" y="0"/>
              </a:moveTo>
              <a:lnTo>
                <a:pt x="892174" y="289348"/>
              </a:lnTo>
              <a:lnTo>
                <a:pt x="0" y="289348"/>
              </a:lnTo>
              <a:lnTo>
                <a:pt x="0" y="4245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0C053-31A3-42A2-9A5A-B554AF8B75BB}">
      <dsp:nvSpPr>
        <dsp:cNvPr id="0" name=""/>
        <dsp:cNvSpPr/>
      </dsp:nvSpPr>
      <dsp:spPr>
        <a:xfrm>
          <a:off x="2676524" y="17479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17C1A-5289-4ED0-B265-80C9093863E6}">
      <dsp:nvSpPr>
        <dsp:cNvPr id="0" name=""/>
        <dsp:cNvSpPr/>
      </dsp:nvSpPr>
      <dsp:spPr>
        <a:xfrm>
          <a:off x="2838738" y="32890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b="1" kern="1200" dirty="0" err="1" smtClean="0">
              <a:solidFill>
                <a:schemeClr val="accent3">
                  <a:lumMod val="60000"/>
                  <a:lumOff val="40000"/>
                </a:schemeClr>
              </a:solidFill>
            </a:rPr>
            <a:t>Криптология</a:t>
          </a:r>
          <a:endParaRPr lang="en-US" sz="1200" b="1" kern="1200" dirty="0">
            <a:solidFill>
              <a:schemeClr val="accent3">
                <a:lumMod val="60000"/>
                <a:lumOff val="40000"/>
              </a:schemeClr>
            </a:solidFill>
          </a:endParaRPr>
        </a:p>
      </dsp:txBody>
      <dsp:txXfrm>
        <a:off x="2865890" y="356054"/>
        <a:ext cx="1405618" cy="872746"/>
      </dsp:txXfrm>
    </dsp:sp>
    <dsp:sp modelId="{D0EFF65A-41BC-4F4E-8B76-66F8F3ADEC51}">
      <dsp:nvSpPr>
        <dsp:cNvPr id="0" name=""/>
        <dsp:cNvSpPr/>
      </dsp:nvSpPr>
      <dsp:spPr>
        <a:xfrm>
          <a:off x="1784349" y="1526444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F5E30-6B24-477F-B103-88F089CB1210}">
      <dsp:nvSpPr>
        <dsp:cNvPr id="0" name=""/>
        <dsp:cNvSpPr/>
      </dsp:nvSpPr>
      <dsp:spPr>
        <a:xfrm>
          <a:off x="1946563" y="1680547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b="1" kern="1200" dirty="0" smtClean="0">
              <a:solidFill>
                <a:schemeClr val="accent1"/>
              </a:solidFill>
            </a:rPr>
            <a:t>Криптография</a:t>
          </a:r>
          <a:endParaRPr lang="en-US" sz="1200" b="1" kern="1200" dirty="0">
            <a:solidFill>
              <a:schemeClr val="accent1"/>
            </a:solidFill>
          </a:endParaRPr>
        </a:p>
      </dsp:txBody>
      <dsp:txXfrm>
        <a:off x="1973715" y="1707699"/>
        <a:ext cx="1405618" cy="872746"/>
      </dsp:txXfrm>
    </dsp:sp>
    <dsp:sp modelId="{CC267BA1-109B-46B3-9C84-AD96CA485737}">
      <dsp:nvSpPr>
        <dsp:cNvPr id="0" name=""/>
        <dsp:cNvSpPr/>
      </dsp:nvSpPr>
      <dsp:spPr>
        <a:xfrm>
          <a:off x="0" y="287808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3A625-C40E-4DA5-8FA2-3A943953ADF6}">
      <dsp:nvSpPr>
        <dsp:cNvPr id="0" name=""/>
        <dsp:cNvSpPr/>
      </dsp:nvSpPr>
      <dsp:spPr>
        <a:xfrm>
          <a:off x="162213" y="303219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Симетрична </a:t>
          </a:r>
          <a:endParaRPr lang="en-US" sz="1200" kern="1200" dirty="0"/>
        </a:p>
      </dsp:txBody>
      <dsp:txXfrm>
        <a:off x="189365" y="3059344"/>
        <a:ext cx="1405618" cy="872746"/>
      </dsp:txXfrm>
    </dsp:sp>
    <dsp:sp modelId="{AA33369A-0C0A-41BF-B7EA-80BDFB68038F}">
      <dsp:nvSpPr>
        <dsp:cNvPr id="0" name=""/>
        <dsp:cNvSpPr/>
      </dsp:nvSpPr>
      <dsp:spPr>
        <a:xfrm>
          <a:off x="1784349" y="287808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7EC14-F18A-43CF-9AF0-A41118B923BB}">
      <dsp:nvSpPr>
        <dsp:cNvPr id="0" name=""/>
        <dsp:cNvSpPr/>
      </dsp:nvSpPr>
      <dsp:spPr>
        <a:xfrm>
          <a:off x="1946563" y="303219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Асиметрична</a:t>
          </a:r>
          <a:endParaRPr lang="en-US" sz="1200" kern="1200" dirty="0"/>
        </a:p>
      </dsp:txBody>
      <dsp:txXfrm>
        <a:off x="1973715" y="3059344"/>
        <a:ext cx="1405618" cy="872746"/>
      </dsp:txXfrm>
    </dsp:sp>
    <dsp:sp modelId="{8C335D7F-31FC-4F26-9786-583F5156D52F}">
      <dsp:nvSpPr>
        <dsp:cNvPr id="0" name=""/>
        <dsp:cNvSpPr/>
      </dsp:nvSpPr>
      <dsp:spPr>
        <a:xfrm>
          <a:off x="3568699" y="2878089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552E9-894B-4582-99AF-4E5AB469AF89}">
      <dsp:nvSpPr>
        <dsp:cNvPr id="0" name=""/>
        <dsp:cNvSpPr/>
      </dsp:nvSpPr>
      <dsp:spPr>
        <a:xfrm>
          <a:off x="3730913" y="3032192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/>
            <a:t>Протоколи</a:t>
          </a:r>
          <a:endParaRPr lang="en-US" sz="1200" kern="1200" dirty="0"/>
        </a:p>
      </dsp:txBody>
      <dsp:txXfrm>
        <a:off x="3758065" y="3059344"/>
        <a:ext cx="1405618" cy="872746"/>
      </dsp:txXfrm>
    </dsp:sp>
    <dsp:sp modelId="{94C94E36-9C8D-4563-B9B5-FA829C13520D}">
      <dsp:nvSpPr>
        <dsp:cNvPr id="0" name=""/>
        <dsp:cNvSpPr/>
      </dsp:nvSpPr>
      <dsp:spPr>
        <a:xfrm>
          <a:off x="3568699" y="1526444"/>
          <a:ext cx="1459922" cy="927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86D26-2B89-4DFD-8DC6-257724D0C4AC}">
      <dsp:nvSpPr>
        <dsp:cNvPr id="0" name=""/>
        <dsp:cNvSpPr/>
      </dsp:nvSpPr>
      <dsp:spPr>
        <a:xfrm>
          <a:off x="3730913" y="1680547"/>
          <a:ext cx="1459922" cy="927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b="1" kern="1200" dirty="0" err="1" smtClean="0">
              <a:solidFill>
                <a:srgbClr val="00B0F0"/>
              </a:solidFill>
            </a:rPr>
            <a:t>Криптографски</a:t>
          </a:r>
          <a:r>
            <a:rPr lang="bg-BG" sz="1200" b="1" kern="1200" dirty="0" smtClean="0">
              <a:solidFill>
                <a:srgbClr val="00B0F0"/>
              </a:solidFill>
            </a:rPr>
            <a:t> анализ</a:t>
          </a:r>
          <a:endParaRPr lang="en-US" sz="1200" b="1" kern="1200" dirty="0">
            <a:solidFill>
              <a:srgbClr val="00B0F0"/>
            </a:solidFill>
          </a:endParaRPr>
        </a:p>
      </dsp:txBody>
      <dsp:txXfrm>
        <a:off x="3758065" y="1707699"/>
        <a:ext cx="1405618" cy="8727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A9B534-09E5-4285-AF50-710D9D003E1B}">
      <dsp:nvSpPr>
        <dsp:cNvPr id="0" name=""/>
        <dsp:cNvSpPr/>
      </dsp:nvSpPr>
      <dsp:spPr>
        <a:xfrm>
          <a:off x="10253038" y="2983360"/>
          <a:ext cx="866672" cy="412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077"/>
              </a:lnTo>
              <a:lnTo>
                <a:pt x="866672" y="281077"/>
              </a:lnTo>
              <a:lnTo>
                <a:pt x="866672" y="412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BF330F-DE26-49EE-89F4-FC07918AACA7}">
      <dsp:nvSpPr>
        <dsp:cNvPr id="0" name=""/>
        <dsp:cNvSpPr/>
      </dsp:nvSpPr>
      <dsp:spPr>
        <a:xfrm>
          <a:off x="9386366" y="2983360"/>
          <a:ext cx="866672" cy="412457"/>
        </a:xfrm>
        <a:custGeom>
          <a:avLst/>
          <a:gdLst/>
          <a:ahLst/>
          <a:cxnLst/>
          <a:rect l="0" t="0" r="0" b="0"/>
          <a:pathLst>
            <a:path>
              <a:moveTo>
                <a:pt x="866672" y="0"/>
              </a:moveTo>
              <a:lnTo>
                <a:pt x="866672" y="281077"/>
              </a:lnTo>
              <a:lnTo>
                <a:pt x="0" y="281077"/>
              </a:lnTo>
              <a:lnTo>
                <a:pt x="0" y="412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AD82A1-7637-4503-A57A-244390B8ECCD}">
      <dsp:nvSpPr>
        <dsp:cNvPr id="0" name=""/>
        <dsp:cNvSpPr/>
      </dsp:nvSpPr>
      <dsp:spPr>
        <a:xfrm>
          <a:off x="5905436" y="1670351"/>
          <a:ext cx="4347601" cy="412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077"/>
              </a:lnTo>
              <a:lnTo>
                <a:pt x="4347601" y="281077"/>
              </a:lnTo>
              <a:lnTo>
                <a:pt x="4347601" y="41245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169B8-E611-4CD6-9DB2-9117F13E52B5}">
      <dsp:nvSpPr>
        <dsp:cNvPr id="0" name=""/>
        <dsp:cNvSpPr/>
      </dsp:nvSpPr>
      <dsp:spPr>
        <a:xfrm>
          <a:off x="5919675" y="2983360"/>
          <a:ext cx="1733345" cy="412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077"/>
              </a:lnTo>
              <a:lnTo>
                <a:pt x="1733345" y="281077"/>
              </a:lnTo>
              <a:lnTo>
                <a:pt x="1733345" y="412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B9E7FA-A65F-439E-81D1-D7EFD8A45F4A}">
      <dsp:nvSpPr>
        <dsp:cNvPr id="0" name=""/>
        <dsp:cNvSpPr/>
      </dsp:nvSpPr>
      <dsp:spPr>
        <a:xfrm>
          <a:off x="5873955" y="2983360"/>
          <a:ext cx="91440" cy="4124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2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2E2043-AB41-4FA8-8428-E3C916A2D7EA}">
      <dsp:nvSpPr>
        <dsp:cNvPr id="0" name=""/>
        <dsp:cNvSpPr/>
      </dsp:nvSpPr>
      <dsp:spPr>
        <a:xfrm>
          <a:off x="4186330" y="2983360"/>
          <a:ext cx="1733345" cy="412457"/>
        </a:xfrm>
        <a:custGeom>
          <a:avLst/>
          <a:gdLst/>
          <a:ahLst/>
          <a:cxnLst/>
          <a:rect l="0" t="0" r="0" b="0"/>
          <a:pathLst>
            <a:path>
              <a:moveTo>
                <a:pt x="1733345" y="0"/>
              </a:moveTo>
              <a:lnTo>
                <a:pt x="1733345" y="281077"/>
              </a:lnTo>
              <a:lnTo>
                <a:pt x="0" y="281077"/>
              </a:lnTo>
              <a:lnTo>
                <a:pt x="0" y="412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F00D1-E7F1-4130-A634-7B12DBD900C4}">
      <dsp:nvSpPr>
        <dsp:cNvPr id="0" name=""/>
        <dsp:cNvSpPr/>
      </dsp:nvSpPr>
      <dsp:spPr>
        <a:xfrm>
          <a:off x="5859716" y="1670351"/>
          <a:ext cx="91440" cy="4124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1077"/>
              </a:lnTo>
              <a:lnTo>
                <a:pt x="59958" y="281077"/>
              </a:lnTo>
              <a:lnTo>
                <a:pt x="59958" y="41245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FEBC91-3DF6-412D-A4EA-AB3F1257287A}">
      <dsp:nvSpPr>
        <dsp:cNvPr id="0" name=""/>
        <dsp:cNvSpPr/>
      </dsp:nvSpPr>
      <dsp:spPr>
        <a:xfrm>
          <a:off x="1586312" y="2983360"/>
          <a:ext cx="866672" cy="412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077"/>
              </a:lnTo>
              <a:lnTo>
                <a:pt x="866672" y="281077"/>
              </a:lnTo>
              <a:lnTo>
                <a:pt x="866672" y="412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A86C6-445D-4EDB-99B8-AF7DCCED18EC}">
      <dsp:nvSpPr>
        <dsp:cNvPr id="0" name=""/>
        <dsp:cNvSpPr/>
      </dsp:nvSpPr>
      <dsp:spPr>
        <a:xfrm>
          <a:off x="719639" y="2983360"/>
          <a:ext cx="866672" cy="412457"/>
        </a:xfrm>
        <a:custGeom>
          <a:avLst/>
          <a:gdLst/>
          <a:ahLst/>
          <a:cxnLst/>
          <a:rect l="0" t="0" r="0" b="0"/>
          <a:pathLst>
            <a:path>
              <a:moveTo>
                <a:pt x="866672" y="0"/>
              </a:moveTo>
              <a:lnTo>
                <a:pt x="866672" y="281077"/>
              </a:lnTo>
              <a:lnTo>
                <a:pt x="0" y="281077"/>
              </a:lnTo>
              <a:lnTo>
                <a:pt x="0" y="41245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4D9233-002B-45BE-B456-E63AE7B376AB}">
      <dsp:nvSpPr>
        <dsp:cNvPr id="0" name=""/>
        <dsp:cNvSpPr/>
      </dsp:nvSpPr>
      <dsp:spPr>
        <a:xfrm>
          <a:off x="1586312" y="1670351"/>
          <a:ext cx="4319124" cy="412457"/>
        </a:xfrm>
        <a:custGeom>
          <a:avLst/>
          <a:gdLst/>
          <a:ahLst/>
          <a:cxnLst/>
          <a:rect l="0" t="0" r="0" b="0"/>
          <a:pathLst>
            <a:path>
              <a:moveTo>
                <a:pt x="4319124" y="0"/>
              </a:moveTo>
              <a:lnTo>
                <a:pt x="4319124" y="281077"/>
              </a:lnTo>
              <a:lnTo>
                <a:pt x="0" y="281077"/>
              </a:lnTo>
              <a:lnTo>
                <a:pt x="0" y="41245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A6773-389C-4B9A-AF38-9CD1303D7EE6}">
      <dsp:nvSpPr>
        <dsp:cNvPr id="0" name=""/>
        <dsp:cNvSpPr/>
      </dsp:nvSpPr>
      <dsp:spPr>
        <a:xfrm>
          <a:off x="5196341" y="769799"/>
          <a:ext cx="1418191" cy="9005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3C89E-7C54-4555-BC11-6B4223591F33}">
      <dsp:nvSpPr>
        <dsp:cNvPr id="0" name=""/>
        <dsp:cNvSpPr/>
      </dsp:nvSpPr>
      <dsp:spPr>
        <a:xfrm>
          <a:off x="5353918" y="919497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Класификация на алгоритмите в криптографията</a:t>
          </a:r>
          <a:endParaRPr lang="en-US" sz="1100" b="1" kern="1200" dirty="0"/>
        </a:p>
      </dsp:txBody>
      <dsp:txXfrm>
        <a:off x="5380294" y="945873"/>
        <a:ext cx="1365439" cy="847799"/>
      </dsp:txXfrm>
    </dsp:sp>
    <dsp:sp modelId="{F6901030-7B66-4CCD-A3AE-E3D457B3FBAE}">
      <dsp:nvSpPr>
        <dsp:cNvPr id="0" name=""/>
        <dsp:cNvSpPr/>
      </dsp:nvSpPr>
      <dsp:spPr>
        <a:xfrm>
          <a:off x="877216" y="2082808"/>
          <a:ext cx="1418191" cy="9005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73568-C33F-4ABC-B39A-BDAFB8EC821F}">
      <dsp:nvSpPr>
        <dsp:cNvPr id="0" name=""/>
        <dsp:cNvSpPr/>
      </dsp:nvSpPr>
      <dsp:spPr>
        <a:xfrm>
          <a:off x="1034793" y="2232506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Симетрични - алгоритми със симетричен частен ключ </a:t>
          </a:r>
          <a:endParaRPr lang="en-US" sz="1100" b="1" kern="1200" dirty="0"/>
        </a:p>
      </dsp:txBody>
      <dsp:txXfrm>
        <a:off x="1061169" y="2258882"/>
        <a:ext cx="1365439" cy="847799"/>
      </dsp:txXfrm>
    </dsp:sp>
    <dsp:sp modelId="{509A9C49-82EA-4CB5-BC06-909BEA92DCAC}">
      <dsp:nvSpPr>
        <dsp:cNvPr id="0" name=""/>
        <dsp:cNvSpPr/>
      </dsp:nvSpPr>
      <dsp:spPr>
        <a:xfrm>
          <a:off x="10544" y="3395817"/>
          <a:ext cx="1418191" cy="9005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11BDC-65F7-4AC4-AE9E-07159E82B2D5}">
      <dsp:nvSpPr>
        <dsp:cNvPr id="0" name=""/>
        <dsp:cNvSpPr/>
      </dsp:nvSpPr>
      <dsp:spPr>
        <a:xfrm>
          <a:off x="168121" y="3545515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Блокови</a:t>
          </a:r>
          <a:endParaRPr lang="en-US" sz="1100" b="1" kern="1200" dirty="0"/>
        </a:p>
      </dsp:txBody>
      <dsp:txXfrm>
        <a:off x="194497" y="3571891"/>
        <a:ext cx="1365439" cy="847799"/>
      </dsp:txXfrm>
    </dsp:sp>
    <dsp:sp modelId="{4C282AB2-8041-469C-AAD4-E401482A183C}">
      <dsp:nvSpPr>
        <dsp:cNvPr id="0" name=""/>
        <dsp:cNvSpPr/>
      </dsp:nvSpPr>
      <dsp:spPr>
        <a:xfrm>
          <a:off x="1743889" y="3395817"/>
          <a:ext cx="1418191" cy="9005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CACFA-A83B-4AB8-87BA-29A2F10EDA39}">
      <dsp:nvSpPr>
        <dsp:cNvPr id="0" name=""/>
        <dsp:cNvSpPr/>
      </dsp:nvSpPr>
      <dsp:spPr>
        <a:xfrm>
          <a:off x="1901466" y="3545515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Поточни</a:t>
          </a:r>
          <a:endParaRPr lang="en-US" sz="1100" b="1" kern="1200" dirty="0"/>
        </a:p>
      </dsp:txBody>
      <dsp:txXfrm>
        <a:off x="1927842" y="3571891"/>
        <a:ext cx="1365439" cy="847799"/>
      </dsp:txXfrm>
    </dsp:sp>
    <dsp:sp modelId="{E5892B5D-3943-421B-8C68-5E55FEF999E8}">
      <dsp:nvSpPr>
        <dsp:cNvPr id="0" name=""/>
        <dsp:cNvSpPr/>
      </dsp:nvSpPr>
      <dsp:spPr>
        <a:xfrm>
          <a:off x="5210579" y="2082808"/>
          <a:ext cx="1418191" cy="9005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5513D-32A9-461D-800C-43F927D7D3F2}">
      <dsp:nvSpPr>
        <dsp:cNvPr id="0" name=""/>
        <dsp:cNvSpPr/>
      </dsp:nvSpPr>
      <dsp:spPr>
        <a:xfrm>
          <a:off x="5368156" y="2232506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Асиметрични –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алгоритми с двойка ключове публичен-частен </a:t>
          </a:r>
          <a:endParaRPr lang="en-US" sz="1100" b="1" kern="1200" dirty="0"/>
        </a:p>
      </dsp:txBody>
      <dsp:txXfrm>
        <a:off x="5394532" y="2258882"/>
        <a:ext cx="1365439" cy="847799"/>
      </dsp:txXfrm>
    </dsp:sp>
    <dsp:sp modelId="{189277F3-DEC9-4A51-A90E-C345A0A02210}">
      <dsp:nvSpPr>
        <dsp:cNvPr id="0" name=""/>
        <dsp:cNvSpPr/>
      </dsp:nvSpPr>
      <dsp:spPr>
        <a:xfrm>
          <a:off x="3477234" y="3395817"/>
          <a:ext cx="1418191" cy="9005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CD46C-3BB3-4B2C-A9C5-1C7F7BDE5890}">
      <dsp:nvSpPr>
        <dsp:cNvPr id="0" name=""/>
        <dsp:cNvSpPr/>
      </dsp:nvSpPr>
      <dsp:spPr>
        <a:xfrm>
          <a:off x="3634811" y="3545515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За криптиране на ключа</a:t>
          </a:r>
          <a:endParaRPr lang="en-US" sz="1100" b="1" kern="1200" dirty="0"/>
        </a:p>
      </dsp:txBody>
      <dsp:txXfrm>
        <a:off x="3661187" y="3571891"/>
        <a:ext cx="1365439" cy="847799"/>
      </dsp:txXfrm>
    </dsp:sp>
    <dsp:sp modelId="{31D3EE3E-0098-4216-AED1-268B415CF0E3}">
      <dsp:nvSpPr>
        <dsp:cNvPr id="0" name=""/>
        <dsp:cNvSpPr/>
      </dsp:nvSpPr>
      <dsp:spPr>
        <a:xfrm>
          <a:off x="5210579" y="3395817"/>
          <a:ext cx="1418191" cy="9005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D09B5-4282-4304-88FF-366B15A00BC3}">
      <dsp:nvSpPr>
        <dsp:cNvPr id="0" name=""/>
        <dsp:cNvSpPr/>
      </dsp:nvSpPr>
      <dsp:spPr>
        <a:xfrm>
          <a:off x="5368156" y="3545515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За криптиране на  съобщението</a:t>
          </a:r>
          <a:endParaRPr lang="en-US" sz="1100" b="1" kern="1200" dirty="0"/>
        </a:p>
      </dsp:txBody>
      <dsp:txXfrm>
        <a:off x="5394532" y="3571891"/>
        <a:ext cx="1365439" cy="847799"/>
      </dsp:txXfrm>
    </dsp:sp>
    <dsp:sp modelId="{6424BF62-E9C1-448D-B257-F72E5B014C81}">
      <dsp:nvSpPr>
        <dsp:cNvPr id="0" name=""/>
        <dsp:cNvSpPr/>
      </dsp:nvSpPr>
      <dsp:spPr>
        <a:xfrm>
          <a:off x="6943925" y="3395817"/>
          <a:ext cx="1418191" cy="9005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3D695-C001-43A7-89B3-B59FF73F517D}">
      <dsp:nvSpPr>
        <dsp:cNvPr id="0" name=""/>
        <dsp:cNvSpPr/>
      </dsp:nvSpPr>
      <dsp:spPr>
        <a:xfrm>
          <a:off x="7101501" y="3545515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За цифрово подписване</a:t>
          </a:r>
          <a:endParaRPr lang="en-US" sz="1100" b="1" kern="1200" dirty="0"/>
        </a:p>
      </dsp:txBody>
      <dsp:txXfrm>
        <a:off x="7127877" y="3571891"/>
        <a:ext cx="1365439" cy="847799"/>
      </dsp:txXfrm>
    </dsp:sp>
    <dsp:sp modelId="{0C0B39F2-B5DB-44FD-AC19-50FC9D0ACA0A}">
      <dsp:nvSpPr>
        <dsp:cNvPr id="0" name=""/>
        <dsp:cNvSpPr/>
      </dsp:nvSpPr>
      <dsp:spPr>
        <a:xfrm>
          <a:off x="9543942" y="2082808"/>
          <a:ext cx="1418191" cy="9005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27C4F-3C36-40B4-8214-F5C58FFF4CCD}">
      <dsp:nvSpPr>
        <dsp:cNvPr id="0" name=""/>
        <dsp:cNvSpPr/>
      </dsp:nvSpPr>
      <dsp:spPr>
        <a:xfrm>
          <a:off x="9701519" y="2232506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Алгоритми без ключ</a:t>
          </a:r>
          <a:endParaRPr lang="en-US" sz="1100" b="1" kern="1200" dirty="0"/>
        </a:p>
      </dsp:txBody>
      <dsp:txXfrm>
        <a:off x="9727895" y="2258882"/>
        <a:ext cx="1365439" cy="847799"/>
      </dsp:txXfrm>
    </dsp:sp>
    <dsp:sp modelId="{59D85023-AC3F-46AB-B946-DCE617D417F3}">
      <dsp:nvSpPr>
        <dsp:cNvPr id="0" name=""/>
        <dsp:cNvSpPr/>
      </dsp:nvSpPr>
      <dsp:spPr>
        <a:xfrm>
          <a:off x="8677270" y="3395817"/>
          <a:ext cx="1418191" cy="9005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AEC83-AC06-4206-971A-FE074CBC92AB}">
      <dsp:nvSpPr>
        <dsp:cNvPr id="0" name=""/>
        <dsp:cNvSpPr/>
      </dsp:nvSpPr>
      <dsp:spPr>
        <a:xfrm>
          <a:off x="8834847" y="3545515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err="1" smtClean="0"/>
            <a:t>Хеш</a:t>
          </a:r>
          <a:r>
            <a:rPr lang="bg-BG" sz="1100" b="1" kern="1200" dirty="0" smtClean="0"/>
            <a:t> функции</a:t>
          </a:r>
          <a:endParaRPr lang="en-US" sz="1100" b="1" kern="1200" dirty="0"/>
        </a:p>
      </dsp:txBody>
      <dsp:txXfrm>
        <a:off x="8861223" y="3571891"/>
        <a:ext cx="1365439" cy="847799"/>
      </dsp:txXfrm>
    </dsp:sp>
    <dsp:sp modelId="{C1C9AED1-338C-4EC5-BC7D-3E01C0B6D290}">
      <dsp:nvSpPr>
        <dsp:cNvPr id="0" name=""/>
        <dsp:cNvSpPr/>
      </dsp:nvSpPr>
      <dsp:spPr>
        <a:xfrm>
          <a:off x="10410615" y="3395817"/>
          <a:ext cx="1418191" cy="9005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6AE41-E2BC-481F-A85D-3CBAC937F2B2}">
      <dsp:nvSpPr>
        <dsp:cNvPr id="0" name=""/>
        <dsp:cNvSpPr/>
      </dsp:nvSpPr>
      <dsp:spPr>
        <a:xfrm>
          <a:off x="10568192" y="3545515"/>
          <a:ext cx="1418191" cy="900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b="1" kern="1200" dirty="0" smtClean="0"/>
            <a:t>Генератори на случайни числа</a:t>
          </a:r>
          <a:endParaRPr lang="en-US" sz="1100" b="1" kern="1200" dirty="0"/>
        </a:p>
      </dsp:txBody>
      <dsp:txXfrm>
        <a:off x="10594568" y="3571891"/>
        <a:ext cx="1365439" cy="847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7D68F-0E77-4B72-86FC-2E050D93422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AAF38-D7E5-4112-9208-2260DD505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2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91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2488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1074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7108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34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906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235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76821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78883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5379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47361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91483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3389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73685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00757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45996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9643881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0314"/>
      </p:ext>
    </p:extLst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58206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02306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5367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51396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A3BAC-C9C3-4373-BB02-09DD2C2C590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3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randomBar dir="vert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4764" y="471055"/>
            <a:ext cx="6765636" cy="3157446"/>
          </a:xfrm>
        </p:spPr>
        <p:txBody>
          <a:bodyPr>
            <a:normAutofit fontScale="90000"/>
          </a:bodyPr>
          <a:lstStyle/>
          <a:p>
            <a:r>
              <a:rPr lang="bg-BG" dirty="0" smtClean="0"/>
              <a:t>Въведение в класическата и съвременната криптография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6944" y="3632201"/>
            <a:ext cx="5703455" cy="685800"/>
          </a:xfrm>
        </p:spPr>
        <p:txBody>
          <a:bodyPr/>
          <a:lstStyle/>
          <a:p>
            <a:r>
              <a:rPr lang="bg-BG" dirty="0" smtClean="0"/>
              <a:t>Доц. Малинка Иванова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858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Литературни източници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1" y="1884939"/>
            <a:ext cx="2925585" cy="45620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440" y="1884939"/>
            <a:ext cx="6026248" cy="1532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545" y="3552537"/>
            <a:ext cx="2930851" cy="255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947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Дефиниция в Краткия английски речник на Оксфорд:</a:t>
            </a:r>
          </a:p>
          <a:p>
            <a:r>
              <a:rPr lang="bg-BG" dirty="0" smtClean="0">
                <a:solidFill>
                  <a:srgbClr val="FF0000"/>
                </a:solidFill>
              </a:rPr>
              <a:t>Криптографията</a:t>
            </a:r>
            <a:r>
              <a:rPr lang="bg-BG" dirty="0" smtClean="0"/>
              <a:t> е “</a:t>
            </a:r>
            <a:r>
              <a:rPr lang="bg-BG" b="1" dirty="0" smtClean="0"/>
              <a:t>изкуство</a:t>
            </a:r>
            <a:r>
              <a:rPr lang="bg-BG" dirty="0" smtClean="0"/>
              <a:t> за писане и откриване на кодове“ </a:t>
            </a:r>
          </a:p>
          <a:p>
            <a:pPr lvl="1"/>
            <a:r>
              <a:rPr lang="bg-BG" dirty="0" smtClean="0"/>
              <a:t>В исторически план дефиницията е много точна, но не отразява нейните съвременни </a:t>
            </a:r>
            <a:r>
              <a:rPr lang="bg-BG" b="1" u="sng" dirty="0" smtClean="0"/>
              <a:t>научни</a:t>
            </a:r>
            <a:r>
              <a:rPr lang="bg-BG" dirty="0" smtClean="0"/>
              <a:t> основи</a:t>
            </a:r>
          </a:p>
          <a:p>
            <a:r>
              <a:rPr lang="bg-BG" dirty="0" smtClean="0">
                <a:solidFill>
                  <a:srgbClr val="FF0000"/>
                </a:solidFill>
              </a:rPr>
              <a:t>Съвременната криптография </a:t>
            </a:r>
            <a:r>
              <a:rPr lang="bg-BG" dirty="0" smtClean="0"/>
              <a:t>използва механизми за осигуряване на цялост на информацията, техники за обмен на секретни ключове, протоколи за </a:t>
            </a:r>
            <a:r>
              <a:rPr lang="bg-BG" dirty="0" err="1" smtClean="0"/>
              <a:t>автентикация</a:t>
            </a:r>
            <a:r>
              <a:rPr lang="bg-BG" dirty="0" smtClean="0"/>
              <a:t> на потребителите, цифрово подписване на електронни документи и др. </a:t>
            </a:r>
          </a:p>
          <a:p>
            <a:r>
              <a:rPr lang="bg-BG" dirty="0" smtClean="0">
                <a:solidFill>
                  <a:srgbClr val="FF0000"/>
                </a:solidFill>
              </a:rPr>
              <a:t>Съвременната криптография </a:t>
            </a:r>
            <a:r>
              <a:rPr lang="bg-BG" dirty="0" smtClean="0"/>
              <a:t>– включва математически техники за защита на цифрова информация, системи и разпределени компютърни среди срещу атаки на противник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6869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41154"/>
          </a:xfrm>
        </p:spPr>
        <p:txBody>
          <a:bodyPr/>
          <a:lstStyle/>
          <a:p>
            <a:r>
              <a:rPr lang="bg-BG" dirty="0" smtClean="0"/>
              <a:t>Въведение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05527"/>
            <a:ext cx="10820400" cy="480291"/>
          </a:xfrm>
        </p:spPr>
        <p:txBody>
          <a:bodyPr/>
          <a:lstStyle/>
          <a:p>
            <a:r>
              <a:rPr lang="bg-BG" dirty="0" smtClean="0"/>
              <a:t>Разлики между класическата и съвременната криптография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295347"/>
              </p:ext>
            </p:extLst>
          </p:nvPr>
        </p:nvGraphicFramePr>
        <p:xfrm>
          <a:off x="600362" y="2564116"/>
          <a:ext cx="1122911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555">
                  <a:extLst>
                    <a:ext uri="{9D8B030D-6E8A-4147-A177-3AD203B41FA5}">
                      <a16:colId xmlns:a16="http://schemas.microsoft.com/office/drawing/2014/main" val="2157299892"/>
                    </a:ext>
                  </a:extLst>
                </a:gridCol>
                <a:gridCol w="5614555">
                  <a:extLst>
                    <a:ext uri="{9D8B030D-6E8A-4147-A177-3AD203B41FA5}">
                      <a16:colId xmlns:a16="http://schemas.microsoft.com/office/drawing/2014/main" val="11538090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Класическа – преди 70-80-те години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Съвременна – след</a:t>
                      </a:r>
                      <a:r>
                        <a:rPr lang="bg-BG" baseline="0" dirty="0" smtClean="0"/>
                        <a:t> 80 години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66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Разглежда</a:t>
                      </a:r>
                      <a:r>
                        <a:rPr lang="bg-BG" baseline="0" dirty="0" smtClean="0"/>
                        <a:t> се като </a:t>
                      </a:r>
                      <a:r>
                        <a:rPr lang="bg-BG" b="1" baseline="0" dirty="0" smtClean="0"/>
                        <a:t>изкуство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Разглежда се като </a:t>
                      </a:r>
                      <a:r>
                        <a:rPr lang="bg-BG" b="1" dirty="0" smtClean="0"/>
                        <a:t>наука</a:t>
                      </a:r>
                      <a:r>
                        <a:rPr lang="bg-BG" dirty="0" smtClean="0"/>
                        <a:t> с основи в математиката, физиката</a:t>
                      </a:r>
                      <a:r>
                        <a:rPr lang="bg-BG" baseline="0" dirty="0" smtClean="0"/>
                        <a:t> и компютърната сигурност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63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Основни потребители – военни организации и правителства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Понастоящем, криптографията се използва </a:t>
                      </a:r>
                      <a:r>
                        <a:rPr lang="bg-BG" b="1" dirty="0" smtClean="0"/>
                        <a:t>навсякъде </a:t>
                      </a:r>
                      <a:r>
                        <a:rPr lang="bg-BG" dirty="0" smtClean="0"/>
                        <a:t>– при електронно пазаруване и разплащане, онлайн комуникация, онлайн здравеопазване; програмистите трябва да защитят създаваните софтуерни приложения чрез </a:t>
                      </a:r>
                      <a:r>
                        <a:rPr lang="bg-BG" dirty="0" err="1" smtClean="0"/>
                        <a:t>криптографски</a:t>
                      </a:r>
                      <a:r>
                        <a:rPr lang="bg-BG" dirty="0" smtClean="0"/>
                        <a:t> механизми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020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b="1" dirty="0" smtClean="0"/>
                        <a:t>Евристичен</a:t>
                      </a:r>
                      <a:r>
                        <a:rPr lang="bg-BG" dirty="0" smtClean="0"/>
                        <a:t> набор с инструменти за осигуряване на защитена</a:t>
                      </a:r>
                      <a:r>
                        <a:rPr lang="bg-BG" baseline="0" dirty="0" smtClean="0"/>
                        <a:t> комуникация за военни цели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1" dirty="0" smtClean="0"/>
                        <a:t>Наука</a:t>
                      </a:r>
                      <a:r>
                        <a:rPr lang="bg-BG" dirty="0" smtClean="0"/>
                        <a:t>, подпомагаща реализиране на сигурни системи за комуникация между</a:t>
                      </a:r>
                      <a:r>
                        <a:rPr lang="bg-BG" baseline="0" dirty="0" smtClean="0"/>
                        <a:t> хората в тяхното ежедневие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54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5028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Произход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352" y="1410887"/>
            <a:ext cx="4685145" cy="4960020"/>
          </a:xfrm>
        </p:spPr>
        <p:txBody>
          <a:bodyPr>
            <a:normAutofit fontScale="85000" lnSpcReduction="20000"/>
          </a:bodyPr>
          <a:lstStyle/>
          <a:p>
            <a:r>
              <a:rPr lang="ru-RU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Криптология</a:t>
            </a:r>
            <a:r>
              <a:rPr lang="ru-RU" sz="2400" dirty="0"/>
              <a:t> – наука за кодиране на информацията</a:t>
            </a:r>
            <a:endParaRPr lang="ru-RU" dirty="0"/>
          </a:p>
          <a:p>
            <a:r>
              <a:rPr lang="ru-RU" sz="2400" dirty="0"/>
              <a:t>Криптологията </a:t>
            </a:r>
            <a:r>
              <a:rPr lang="ru-RU" sz="2400" dirty="0" smtClean="0"/>
              <a:t>включва науките </a:t>
            </a:r>
            <a:r>
              <a:rPr lang="ru-RU" sz="2400" b="1" dirty="0">
                <a:solidFill>
                  <a:schemeClr val="accent1"/>
                </a:solidFill>
              </a:rPr>
              <a:t>криптография</a:t>
            </a:r>
            <a:r>
              <a:rPr lang="ru-RU" sz="2400" dirty="0"/>
              <a:t> и </a:t>
            </a:r>
            <a:r>
              <a:rPr lang="ru-RU" sz="2400" b="1" dirty="0">
                <a:solidFill>
                  <a:srgbClr val="538CD5"/>
                </a:solidFill>
              </a:rPr>
              <a:t>криптоанализ</a:t>
            </a:r>
            <a:endParaRPr lang="ru-RU" b="1" dirty="0"/>
          </a:p>
          <a:p>
            <a:r>
              <a:rPr lang="bg-BG" dirty="0" smtClean="0"/>
              <a:t>Произход на термина </a:t>
            </a:r>
            <a:r>
              <a:rPr lang="bg-BG" b="1" dirty="0" smtClean="0">
                <a:solidFill>
                  <a:schemeClr val="accent1"/>
                </a:solidFill>
              </a:rPr>
              <a:t>криптография</a:t>
            </a:r>
            <a:r>
              <a:rPr lang="bg-BG" dirty="0" smtClean="0"/>
              <a:t> – от гръцките думи </a:t>
            </a:r>
            <a:r>
              <a:rPr lang="bg-BG" dirty="0" err="1" smtClean="0">
                <a:solidFill>
                  <a:srgbClr val="FF0000"/>
                </a:solidFill>
              </a:rPr>
              <a:t>криптос</a:t>
            </a:r>
            <a:r>
              <a:rPr lang="bg-BG" dirty="0" smtClean="0"/>
              <a:t> – скрит, таен и </a:t>
            </a:r>
            <a:r>
              <a:rPr lang="bg-BG" dirty="0" err="1" smtClean="0">
                <a:solidFill>
                  <a:srgbClr val="FF0000"/>
                </a:solidFill>
              </a:rPr>
              <a:t>графо</a:t>
            </a:r>
            <a:r>
              <a:rPr lang="bg-BG" dirty="0" smtClean="0"/>
              <a:t> – пиша (тайнопис)</a:t>
            </a:r>
          </a:p>
          <a:p>
            <a:r>
              <a:rPr lang="bg-BG" dirty="0" smtClean="0"/>
              <a:t>Терминът </a:t>
            </a:r>
            <a:r>
              <a:rPr lang="bg-BG" b="1" dirty="0" smtClean="0">
                <a:solidFill>
                  <a:srgbClr val="FF0000"/>
                </a:solidFill>
              </a:rPr>
              <a:t>криптография</a:t>
            </a:r>
            <a:r>
              <a:rPr lang="bg-BG" dirty="0" smtClean="0"/>
              <a:t> – използва се за проектиране и анализ на механизми, основани на математически (физични) техники, които осигуряват услуги в областта на компютърната сигурност</a:t>
            </a:r>
          </a:p>
          <a:p>
            <a:r>
              <a:rPr lang="bg-BG" b="1" dirty="0" smtClean="0">
                <a:solidFill>
                  <a:srgbClr val="FF0000"/>
                </a:solidFill>
              </a:rPr>
              <a:t>Криптография</a:t>
            </a:r>
            <a:r>
              <a:rPr lang="bg-BG" dirty="0" smtClean="0"/>
              <a:t> – наука за създаване на </a:t>
            </a:r>
            <a:r>
              <a:rPr lang="bg-BG" dirty="0" err="1" smtClean="0"/>
              <a:t>криптографски</a:t>
            </a:r>
            <a:r>
              <a:rPr lang="bg-BG" dirty="0" smtClean="0"/>
              <a:t> системи и средства за реализирането им</a:t>
            </a:r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198725158"/>
              </p:ext>
            </p:extLst>
          </p:nvPr>
        </p:nvGraphicFramePr>
        <p:xfrm>
          <a:off x="6539346" y="1816389"/>
          <a:ext cx="5190836" cy="4134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61207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ПРОИЗХОД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83664"/>
            <a:ext cx="5888736" cy="4335021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544"/>
              </a:spcBef>
              <a:buClr>
                <a:schemeClr val="dk1"/>
              </a:buClr>
              <a:buSzPts val="2720"/>
            </a:pPr>
            <a:r>
              <a:rPr lang="ru-RU" b="1" dirty="0" smtClean="0">
                <a:solidFill>
                  <a:schemeClr val="accent1"/>
                </a:solidFill>
              </a:rPr>
              <a:t>Криптографията</a:t>
            </a:r>
            <a:r>
              <a:rPr lang="ru-RU" dirty="0" smtClean="0"/>
              <a:t> </a:t>
            </a:r>
            <a:r>
              <a:rPr lang="ru-RU" dirty="0"/>
              <a:t>е процес, в който съобщението (plain </a:t>
            </a:r>
            <a:r>
              <a:rPr lang="ru-RU" dirty="0" smtClean="0"/>
              <a:t>text - </a:t>
            </a:r>
            <a:r>
              <a:rPr lang="ru-RU" b="1" dirty="0" smtClean="0">
                <a:solidFill>
                  <a:schemeClr val="accent1"/>
                </a:solidFill>
              </a:rPr>
              <a:t>Р</a:t>
            </a:r>
            <a:r>
              <a:rPr lang="ru-RU" dirty="0" smtClean="0"/>
              <a:t>) </a:t>
            </a:r>
            <a:r>
              <a:rPr lang="ru-RU" dirty="0"/>
              <a:t>се </a:t>
            </a:r>
            <a:r>
              <a:rPr lang="ru-RU" dirty="0" smtClean="0"/>
              <a:t>криптира (кодира/шифрова) </a:t>
            </a:r>
            <a:r>
              <a:rPr lang="ru-RU" dirty="0"/>
              <a:t>до получаване на </a:t>
            </a:r>
            <a:r>
              <a:rPr lang="ru-RU" b="1" dirty="0">
                <a:solidFill>
                  <a:srgbClr val="00B050"/>
                </a:solidFill>
              </a:rPr>
              <a:t>криптограма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 smtClean="0"/>
              <a:t>cypher text - </a:t>
            </a:r>
            <a:r>
              <a:rPr lang="en-US" b="1" dirty="0" smtClean="0">
                <a:solidFill>
                  <a:srgbClr val="00B050"/>
                </a:solidFill>
              </a:rPr>
              <a:t>C</a:t>
            </a:r>
            <a:r>
              <a:rPr lang="ru-RU" dirty="0" smtClean="0"/>
              <a:t>) с </a:t>
            </a:r>
            <a:r>
              <a:rPr lang="ru-RU" dirty="0"/>
              <a:t>цел защита на информацията при пренасянето й</a:t>
            </a:r>
          </a:p>
          <a:p>
            <a:pPr marL="342900" indent="-342900">
              <a:spcBef>
                <a:spcPts val="544"/>
              </a:spcBef>
              <a:buClr>
                <a:schemeClr val="dk1"/>
              </a:buClr>
              <a:buSzPts val="2720"/>
            </a:pPr>
            <a:r>
              <a:rPr lang="bg-BG" b="1" dirty="0" err="1" smtClean="0">
                <a:solidFill>
                  <a:srgbClr val="00B0F0"/>
                </a:solidFill>
              </a:rPr>
              <a:t>Криптографски</a:t>
            </a:r>
            <a:r>
              <a:rPr lang="bg-BG" b="1" dirty="0" smtClean="0">
                <a:solidFill>
                  <a:srgbClr val="00B0F0"/>
                </a:solidFill>
              </a:rPr>
              <a:t> </a:t>
            </a:r>
            <a:r>
              <a:rPr lang="bg-BG" b="1" dirty="0">
                <a:solidFill>
                  <a:srgbClr val="00B0F0"/>
                </a:solidFill>
              </a:rPr>
              <a:t>анализ </a:t>
            </a:r>
            <a:r>
              <a:rPr lang="bg-BG" dirty="0"/>
              <a:t>– наука за разработване на методи и средства  за разкриване на секретните параметри на </a:t>
            </a:r>
            <a:r>
              <a:rPr lang="bg-BG" dirty="0" err="1"/>
              <a:t>криптографска</a:t>
            </a:r>
            <a:r>
              <a:rPr lang="bg-BG" dirty="0"/>
              <a:t> система (и секретния </a:t>
            </a:r>
            <a:r>
              <a:rPr lang="bg-BG" dirty="0" err="1"/>
              <a:t>криптографски</a:t>
            </a:r>
            <a:r>
              <a:rPr lang="bg-BG" dirty="0"/>
              <a:t> ключ) и разчитане на криптограмата от </a:t>
            </a:r>
            <a:r>
              <a:rPr lang="bg-BG" dirty="0" err="1" smtClean="0"/>
              <a:t>крипто</a:t>
            </a:r>
            <a:r>
              <a:rPr lang="bg-BG" dirty="0" smtClean="0"/>
              <a:t> аналитик</a:t>
            </a:r>
            <a:endParaRPr lang="bg-BG" dirty="0"/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04301792"/>
              </p:ext>
            </p:extLst>
          </p:nvPr>
        </p:nvGraphicFramePr>
        <p:xfrm>
          <a:off x="6539346" y="1816389"/>
          <a:ext cx="5190836" cy="4134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38204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Понятия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buClr>
                <a:schemeClr val="dk1"/>
              </a:buClr>
              <a:buSzPts val="2960"/>
            </a:pPr>
            <a:r>
              <a:rPr lang="ru-RU" sz="2400" b="1" dirty="0" smtClean="0"/>
              <a:t>Криптиране (шифроване)</a:t>
            </a:r>
            <a:r>
              <a:rPr lang="ru-RU" sz="2400" dirty="0" smtClean="0"/>
              <a:t> - </a:t>
            </a:r>
            <a:r>
              <a:rPr lang="ru-RU" sz="2400" dirty="0"/>
              <a:t>процес на преобразуване на оригинално съобщение </a:t>
            </a:r>
            <a:r>
              <a:rPr lang="ru-RU" sz="2400" b="1" dirty="0" smtClean="0">
                <a:solidFill>
                  <a:schemeClr val="accent1"/>
                </a:solidFill>
              </a:rPr>
              <a:t>Р</a:t>
            </a:r>
            <a:r>
              <a:rPr lang="ru-RU" sz="2400" dirty="0" smtClean="0"/>
              <a:t> в </a:t>
            </a:r>
            <a:r>
              <a:rPr lang="ru-RU" sz="2400" dirty="0"/>
              <a:t>нечетим/неразбираем вид за неоторизирани лица, </a:t>
            </a:r>
            <a:r>
              <a:rPr lang="ru-RU" sz="2400" dirty="0" smtClean="0"/>
              <a:t>наречено </a:t>
            </a:r>
            <a:r>
              <a:rPr lang="ru-RU" sz="2400" b="1" dirty="0" smtClean="0"/>
              <a:t>криптограма </a:t>
            </a:r>
            <a:r>
              <a:rPr lang="ru-RU" sz="2400" b="1" dirty="0" smtClean="0">
                <a:solidFill>
                  <a:srgbClr val="00B050"/>
                </a:solidFill>
              </a:rPr>
              <a:t>С</a:t>
            </a:r>
            <a:endParaRPr lang="ru-RU" b="1" dirty="0">
              <a:solidFill>
                <a:srgbClr val="00B050"/>
              </a:solidFill>
            </a:endParaRPr>
          </a:p>
          <a:p>
            <a:pPr marL="342900" indent="-342900">
              <a:spcBef>
                <a:spcPts val="592"/>
              </a:spcBef>
              <a:buClr>
                <a:schemeClr val="dk1"/>
              </a:buClr>
              <a:buSzPts val="2960"/>
            </a:pPr>
            <a:r>
              <a:rPr lang="ru-RU" sz="2400" b="1" dirty="0" smtClean="0"/>
              <a:t>Декриптиране (дешифриране)</a:t>
            </a:r>
            <a:r>
              <a:rPr lang="ru-RU" sz="2400" dirty="0" smtClean="0"/>
              <a:t> - </a:t>
            </a:r>
            <a:r>
              <a:rPr lang="ru-RU" sz="2400" dirty="0"/>
              <a:t>процес на преобразуване на </a:t>
            </a:r>
            <a:r>
              <a:rPr lang="ru-RU" sz="2400" dirty="0" smtClean="0"/>
              <a:t>криптограмата в оригинално </a:t>
            </a:r>
            <a:r>
              <a:rPr lang="ru-RU" sz="2400" dirty="0"/>
              <a:t>съобщение (plain text)</a:t>
            </a:r>
          </a:p>
          <a:p>
            <a:pPr marL="342900" indent="-342900">
              <a:spcBef>
                <a:spcPts val="592"/>
              </a:spcBef>
              <a:buClr>
                <a:schemeClr val="dk1"/>
              </a:buClr>
              <a:buSzPts val="2960"/>
            </a:pPr>
            <a:r>
              <a:rPr lang="ru-RU" sz="2400" b="1" dirty="0"/>
              <a:t>Криптосистема</a:t>
            </a:r>
            <a:r>
              <a:rPr lang="ru-RU" sz="2400" dirty="0"/>
              <a:t> – трябва да притежава инструменти както за </a:t>
            </a:r>
            <a:r>
              <a:rPr lang="ru-RU" sz="2400" dirty="0" smtClean="0"/>
              <a:t>криптиране, </a:t>
            </a:r>
            <a:r>
              <a:rPr lang="ru-RU" sz="2400" dirty="0"/>
              <a:t>така и за </a:t>
            </a:r>
            <a:r>
              <a:rPr lang="ru-RU" sz="2400" dirty="0" smtClean="0"/>
              <a:t>декриптиране</a:t>
            </a:r>
            <a:endParaRPr lang="ru-RU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394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922923"/>
          </a:xfrm>
        </p:spPr>
        <p:txBody>
          <a:bodyPr/>
          <a:lstStyle/>
          <a:p>
            <a:r>
              <a:rPr lang="bg-BG" dirty="0" err="1" smtClean="0"/>
              <a:t>Криптосистема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39462"/>
          </a:xfrm>
        </p:spPr>
        <p:txBody>
          <a:bodyPr/>
          <a:lstStyle/>
          <a:p>
            <a:r>
              <a:rPr lang="bg-BG" b="1" dirty="0" err="1" smtClean="0"/>
              <a:t>Криптографска</a:t>
            </a:r>
            <a:r>
              <a:rPr lang="bg-BG" b="1" dirty="0" smtClean="0"/>
              <a:t> система</a:t>
            </a:r>
            <a:r>
              <a:rPr lang="en-US" b="1" dirty="0" smtClean="0"/>
              <a:t> </a:t>
            </a:r>
            <a:r>
              <a:rPr lang="en-US" dirty="0" smtClean="0"/>
              <a:t>(</a:t>
            </a:r>
            <a:r>
              <a:rPr lang="bg-BG" dirty="0" err="1" smtClean="0"/>
              <a:t>криптосистема</a:t>
            </a:r>
            <a:r>
              <a:rPr lang="en-US" dirty="0" smtClean="0"/>
              <a:t>)</a:t>
            </a:r>
            <a:r>
              <a:rPr lang="bg-BG" dirty="0" smtClean="0"/>
              <a:t> – включва методи и средства за разработване на алгоритми за криптиране и декриптиране, както и генериране и управление на ключове и др.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91127" y="3067012"/>
            <a:ext cx="2189018" cy="10355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Изпращащ</a:t>
            </a:r>
          </a:p>
          <a:p>
            <a:pPr algn="ctr"/>
            <a:r>
              <a:rPr lang="bg-BG" dirty="0" smtClean="0"/>
              <a:t>(източник)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7610764" y="3389853"/>
            <a:ext cx="1999672" cy="7296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Получател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955636" y="4544291"/>
            <a:ext cx="1662546" cy="1025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Алгоритъм за криптиране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92617" y="4585855"/>
            <a:ext cx="1861129" cy="983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Алгоритъм за декриптиране</a:t>
            </a: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2198255" y="5052291"/>
            <a:ext cx="646545" cy="240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4798291" y="5052291"/>
            <a:ext cx="646545" cy="240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7546109" y="5027755"/>
            <a:ext cx="646545" cy="240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24873" y="4858327"/>
            <a:ext cx="1870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chemeClr val="accent1"/>
                </a:solidFill>
              </a:rPr>
              <a:t>Явно съобщение</a:t>
            </a:r>
          </a:p>
          <a:p>
            <a:r>
              <a:rPr lang="en-US" dirty="0" smtClean="0"/>
              <a:t>(Plain text - P)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352637" y="3939524"/>
            <a:ext cx="186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rgbClr val="00B050"/>
                </a:solidFill>
              </a:rPr>
              <a:t>Криптограма</a:t>
            </a:r>
          </a:p>
          <a:p>
            <a:r>
              <a:rPr lang="en-US" dirty="0" smtClean="0"/>
              <a:t>Cipher text - </a:t>
            </a:r>
            <a:r>
              <a:rPr lang="en-US" b="1" dirty="0" smtClean="0">
                <a:solidFill>
                  <a:srgbClr val="00B050"/>
                </a:solidFill>
              </a:rPr>
              <a:t>C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80400" y="4741427"/>
            <a:ext cx="1888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chemeClr val="accent1"/>
                </a:solidFill>
              </a:rPr>
              <a:t>Явно съобщение</a:t>
            </a:r>
          </a:p>
          <a:p>
            <a:r>
              <a:rPr lang="en-US" dirty="0" smtClean="0"/>
              <a:t>(Plain text - P)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15245" y="5966475"/>
            <a:ext cx="1974272" cy="7296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Атакуващ</a:t>
            </a:r>
            <a:endParaRPr lang="en-US" dirty="0"/>
          </a:p>
        </p:txBody>
      </p:sp>
      <p:sp>
        <p:nvSpPr>
          <p:cNvPr id="17" name="Down Arrow 16"/>
          <p:cNvSpPr/>
          <p:nvPr/>
        </p:nvSpPr>
        <p:spPr>
          <a:xfrm>
            <a:off x="1500909" y="4240337"/>
            <a:ext cx="184727" cy="48018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Up Arrow 17"/>
          <p:cNvSpPr/>
          <p:nvPr/>
        </p:nvSpPr>
        <p:spPr>
          <a:xfrm>
            <a:off x="5121563" y="5394036"/>
            <a:ext cx="161637" cy="4618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8525163" y="4233119"/>
            <a:ext cx="161637" cy="4618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101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Криптографски</a:t>
            </a:r>
            <a:r>
              <a:rPr lang="bg-BG" dirty="0" smtClean="0"/>
              <a:t> алгоритъм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err="1" smtClean="0"/>
              <a:t>Криптографски</a:t>
            </a:r>
            <a:r>
              <a:rPr lang="bg-BG" b="1" dirty="0" smtClean="0"/>
              <a:t> алгоритъм </a:t>
            </a:r>
            <a:r>
              <a:rPr lang="bg-BG" dirty="0" smtClean="0"/>
              <a:t>– набор от стъпки с възможност за реализация на </a:t>
            </a:r>
            <a:r>
              <a:rPr lang="bg-BG" dirty="0" err="1" smtClean="0"/>
              <a:t>криптографска</a:t>
            </a:r>
            <a:r>
              <a:rPr lang="bg-BG" dirty="0" smtClean="0"/>
              <a:t> система от програмист; основава се на математически зависимости, зависимости от физиката (квантова криптография)</a:t>
            </a:r>
          </a:p>
          <a:p>
            <a:r>
              <a:rPr lang="bg-BG" b="1" dirty="0" smtClean="0"/>
              <a:t>Явно съобщение </a:t>
            </a:r>
            <a:r>
              <a:rPr lang="bg-BG" dirty="0" smtClean="0"/>
              <a:t>(</a:t>
            </a:r>
            <a:r>
              <a:rPr lang="en-US" dirty="0" smtClean="0"/>
              <a:t>Plain Text - P</a:t>
            </a:r>
            <a:r>
              <a:rPr lang="bg-BG" dirty="0" smtClean="0"/>
              <a:t>)</a:t>
            </a:r>
            <a:r>
              <a:rPr lang="en-US" dirty="0" smtClean="0"/>
              <a:t> </a:t>
            </a:r>
            <a:r>
              <a:rPr lang="bg-BG" dirty="0" smtClean="0"/>
              <a:t>– необработено съобщението, което ще се предава при комуникация между потребители и което трябва да бъде защитено срещу атаки</a:t>
            </a:r>
          </a:p>
          <a:p>
            <a:r>
              <a:rPr lang="bg-BG" b="1" dirty="0" smtClean="0"/>
              <a:t>Криптограма</a:t>
            </a:r>
            <a:r>
              <a:rPr lang="bg-BG" dirty="0" smtClean="0"/>
              <a:t> </a:t>
            </a:r>
            <a:r>
              <a:rPr lang="en-US" dirty="0" smtClean="0"/>
              <a:t>(Cipher text - C) – </a:t>
            </a:r>
            <a:r>
              <a:rPr lang="bg-BG" dirty="0" smtClean="0"/>
              <a:t>съобщението, върху което е приложен </a:t>
            </a:r>
            <a:r>
              <a:rPr lang="bg-BG" dirty="0" err="1" smtClean="0"/>
              <a:t>криптографски</a:t>
            </a:r>
            <a:r>
              <a:rPr lang="bg-BG" dirty="0" smtClean="0"/>
              <a:t> алгоритъм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464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856" y="462621"/>
            <a:ext cx="8610600" cy="1293028"/>
          </a:xfrm>
        </p:spPr>
        <p:txBody>
          <a:bodyPr>
            <a:normAutofit/>
          </a:bodyPr>
          <a:lstStyle/>
          <a:p>
            <a:r>
              <a:rPr lang="bg-BG" dirty="0" smtClean="0"/>
              <a:t>Симетрична криптография - Криптиране с частен ключ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521732"/>
          </a:xfrm>
        </p:spPr>
        <p:txBody>
          <a:bodyPr>
            <a:normAutofit fontScale="77500" lnSpcReduction="20000"/>
          </a:bodyPr>
          <a:lstStyle/>
          <a:p>
            <a:r>
              <a:rPr lang="bg-BG" b="1" dirty="0" smtClean="0"/>
              <a:t>Класическата криптография </a:t>
            </a:r>
            <a:r>
              <a:rPr lang="bg-BG" dirty="0" smtClean="0"/>
              <a:t>се интересува от създаване и използване на кодове (още се наричат шифри), които дават възможност на две страни да комуникират тайно при наличието на подслушвач (ЕВА), който наблюдава цялата комуникация между тях </a:t>
            </a:r>
          </a:p>
          <a:p>
            <a:r>
              <a:rPr lang="bg-BG" dirty="0" smtClean="0"/>
              <a:t>В съвремието се говори не за кодове</a:t>
            </a:r>
            <a:r>
              <a:rPr lang="en-US" dirty="0" smtClean="0"/>
              <a:t>, </a:t>
            </a:r>
            <a:r>
              <a:rPr lang="bg-BG" dirty="0" smtClean="0"/>
              <a:t>а за </a:t>
            </a:r>
            <a:r>
              <a:rPr lang="bg-BG" b="1" dirty="0" err="1" smtClean="0"/>
              <a:t>криптографски</a:t>
            </a:r>
            <a:r>
              <a:rPr lang="bg-BG" b="1" dirty="0" smtClean="0"/>
              <a:t> системи</a:t>
            </a:r>
          </a:p>
          <a:p>
            <a:r>
              <a:rPr lang="bg-BG" b="1" dirty="0" smtClean="0"/>
              <a:t>Сигурността </a:t>
            </a:r>
            <a:r>
              <a:rPr lang="bg-BG" dirty="0" smtClean="0"/>
              <a:t>на </a:t>
            </a:r>
            <a:r>
              <a:rPr lang="bg-BG" dirty="0" err="1" smtClean="0"/>
              <a:t>криптографските</a:t>
            </a:r>
            <a:r>
              <a:rPr lang="bg-BG" dirty="0" smtClean="0"/>
              <a:t> системи се основава на </a:t>
            </a:r>
            <a:r>
              <a:rPr lang="bg-BG" b="1" dirty="0" smtClean="0"/>
              <a:t>споделена тайна </a:t>
            </a:r>
            <a:r>
              <a:rPr lang="bg-BG" dirty="0" smtClean="0"/>
              <a:t>(</a:t>
            </a:r>
            <a:r>
              <a:rPr lang="bg-BG" b="1" dirty="0" err="1" smtClean="0"/>
              <a:t>криптографски</a:t>
            </a:r>
            <a:r>
              <a:rPr lang="bg-BG" b="1" dirty="0" smtClean="0"/>
              <a:t> ключ</a:t>
            </a:r>
            <a:r>
              <a:rPr lang="bg-BG" dirty="0" smtClean="0"/>
              <a:t>) между комуникиращите страни, която не се знае от подслушвача</a:t>
            </a:r>
            <a:endParaRPr lang="bg-BG" dirty="0"/>
          </a:p>
          <a:p>
            <a:r>
              <a:rPr lang="bg-BG" b="1" dirty="0" smtClean="0"/>
              <a:t>Симетрична криптография </a:t>
            </a:r>
            <a:r>
              <a:rPr lang="bg-BG" dirty="0" smtClean="0"/>
              <a:t>– източникът на съобщението и получателят на криптограмата използват </a:t>
            </a:r>
            <a:r>
              <a:rPr lang="bg-BG" b="1" dirty="0" smtClean="0">
                <a:solidFill>
                  <a:srgbClr val="FF0000"/>
                </a:solidFill>
              </a:rPr>
              <a:t>един и същ частен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bg-BG" b="1" dirty="0" smtClean="0">
                <a:solidFill>
                  <a:srgbClr val="FF0000"/>
                </a:solidFill>
              </a:rPr>
              <a:t>(</a:t>
            </a:r>
            <a:r>
              <a:rPr lang="bg-BG" b="1" dirty="0">
                <a:solidFill>
                  <a:srgbClr val="FF0000"/>
                </a:solidFill>
              </a:rPr>
              <a:t>секретен</a:t>
            </a:r>
            <a:r>
              <a:rPr lang="bg-BG" b="1" dirty="0" smtClean="0">
                <a:solidFill>
                  <a:srgbClr val="FF0000"/>
                </a:solidFill>
              </a:rPr>
              <a:t>) ключ</a:t>
            </a:r>
            <a:r>
              <a:rPr lang="bg-BG" dirty="0" smtClean="0"/>
              <a:t>, който се предава от източника към получателя по </a:t>
            </a:r>
            <a:r>
              <a:rPr lang="bg-BG" dirty="0" smtClean="0">
                <a:solidFill>
                  <a:schemeClr val="accent5">
                    <a:lumMod val="75000"/>
                  </a:schemeClr>
                </a:solidFill>
              </a:rPr>
              <a:t>защитен комуникационен канал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bg-BG" dirty="0" smtClean="0"/>
              <a:t>(от тук произлиза и терминът </a:t>
            </a:r>
            <a:r>
              <a:rPr lang="bg-BG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симетрична криптография</a:t>
            </a:r>
            <a:r>
              <a:rPr lang="bg-BG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722" y="4467885"/>
            <a:ext cx="1082242" cy="13290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974" y="4590473"/>
            <a:ext cx="989516" cy="12653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675" y="5671582"/>
            <a:ext cx="999981" cy="118641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820482" y="4590473"/>
            <a:ext cx="1671690" cy="9328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Криптиране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813769" y="4618183"/>
            <a:ext cx="2007908" cy="9328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Декриптиране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2235200" y="5056909"/>
            <a:ext cx="497176" cy="1662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561285" y="5010727"/>
            <a:ext cx="1183372" cy="2048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844686" y="5049292"/>
            <a:ext cx="497176" cy="1662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299855" y="4590473"/>
            <a:ext cx="432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Р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943897" y="4623045"/>
            <a:ext cx="432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Р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102208" y="4572062"/>
            <a:ext cx="432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С</a:t>
            </a:r>
            <a:endParaRPr lang="en-US" dirty="0"/>
          </a:p>
        </p:txBody>
      </p:sp>
      <p:sp>
        <p:nvSpPr>
          <p:cNvPr id="18" name="Up Arrow 17"/>
          <p:cNvSpPr/>
          <p:nvPr/>
        </p:nvSpPr>
        <p:spPr>
          <a:xfrm>
            <a:off x="5180718" y="5223163"/>
            <a:ext cx="180850" cy="32789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349" y="5223163"/>
            <a:ext cx="714375" cy="2571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781" y="5252946"/>
            <a:ext cx="71437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089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298018"/>
          </a:xfrm>
        </p:spPr>
        <p:txBody>
          <a:bodyPr>
            <a:normAutofit fontScale="92500" lnSpcReduction="20000"/>
          </a:bodyPr>
          <a:lstStyle/>
          <a:p>
            <a:r>
              <a:rPr lang="bg-BG" b="1" dirty="0" smtClean="0"/>
              <a:t>Асиметрична криптография </a:t>
            </a:r>
            <a:r>
              <a:rPr lang="bg-BG" dirty="0" smtClean="0"/>
              <a:t>(публична криптография) – използват се </a:t>
            </a:r>
            <a:r>
              <a:rPr lang="bg-BG" dirty="0" smtClean="0">
                <a:solidFill>
                  <a:srgbClr val="FF0000"/>
                </a:solidFill>
              </a:rPr>
              <a:t>два различни ключа</a:t>
            </a:r>
            <a:r>
              <a:rPr lang="bg-BG" dirty="0" smtClean="0"/>
              <a:t>: </a:t>
            </a:r>
            <a:r>
              <a:rPr lang="bg-BG" b="1" dirty="0" smtClean="0">
                <a:solidFill>
                  <a:schemeClr val="accent3"/>
                </a:solidFill>
              </a:rPr>
              <a:t>публичен и </a:t>
            </a:r>
            <a:r>
              <a:rPr lang="bg-BG" b="1" dirty="0">
                <a:solidFill>
                  <a:schemeClr val="accent3"/>
                </a:solidFill>
              </a:rPr>
              <a:t>частен</a:t>
            </a:r>
            <a:r>
              <a:rPr lang="bg-BG" b="1" dirty="0" smtClean="0">
                <a:solidFill>
                  <a:schemeClr val="accent3"/>
                </a:solidFill>
              </a:rPr>
              <a:t> </a:t>
            </a:r>
            <a:r>
              <a:rPr lang="bg-BG" dirty="0" smtClean="0"/>
              <a:t>(</a:t>
            </a:r>
            <a:r>
              <a:rPr lang="bg-BG" b="1" dirty="0">
                <a:solidFill>
                  <a:schemeClr val="accent3"/>
                </a:solidFill>
              </a:rPr>
              <a:t>секретен</a:t>
            </a:r>
            <a:r>
              <a:rPr lang="bg-BG" dirty="0" smtClean="0"/>
              <a:t>)</a:t>
            </a:r>
          </a:p>
          <a:p>
            <a:pPr lvl="1"/>
            <a:r>
              <a:rPr lang="bg-BG" dirty="0" smtClean="0">
                <a:solidFill>
                  <a:schemeClr val="accent5">
                    <a:lumMod val="75000"/>
                  </a:schemeClr>
                </a:solidFill>
              </a:rPr>
              <a:t>Получателят</a:t>
            </a:r>
            <a:r>
              <a:rPr lang="bg-BG" dirty="0" smtClean="0"/>
              <a:t> на съобщението (Боб) </a:t>
            </a:r>
            <a:r>
              <a:rPr lang="bg-BG" dirty="0" smtClean="0">
                <a:solidFill>
                  <a:schemeClr val="accent5">
                    <a:lumMod val="75000"/>
                  </a:schemeClr>
                </a:solidFill>
              </a:rPr>
              <a:t>генерира двойката ключове публичен-частен</a:t>
            </a:r>
            <a:r>
              <a:rPr lang="bg-BG" dirty="0" smtClean="0"/>
              <a:t>, като </a:t>
            </a:r>
            <a:r>
              <a:rPr lang="bg-BG" dirty="0" smtClean="0">
                <a:solidFill>
                  <a:schemeClr val="accent1"/>
                </a:solidFill>
              </a:rPr>
              <a:t>публикува публичния </a:t>
            </a:r>
            <a:r>
              <a:rPr lang="bg-BG" dirty="0" smtClean="0"/>
              <a:t>на сървър, до който има достъп източникът на съобщението (Алис)</a:t>
            </a:r>
          </a:p>
          <a:p>
            <a:pPr lvl="1"/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Източникът (изпращащият) използва публичния ключ (Алис)</a:t>
            </a:r>
            <a:r>
              <a:rPr lang="bg-BG" dirty="0" smtClean="0"/>
              <a:t>, за да </a:t>
            </a:r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криптира</a:t>
            </a:r>
            <a:r>
              <a:rPr lang="bg-BG" dirty="0" smtClean="0"/>
              <a:t> явното съобщение и получената криптограма изпраща на получателя</a:t>
            </a:r>
          </a:p>
          <a:p>
            <a:pPr lvl="1"/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Получателят използва частния ключ (Боб)</a:t>
            </a:r>
            <a:r>
              <a:rPr lang="bg-BG" dirty="0" smtClean="0"/>
              <a:t>, за да </a:t>
            </a:r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декриптира</a:t>
            </a:r>
            <a:r>
              <a:rPr lang="bg-BG" dirty="0" smtClean="0"/>
              <a:t> криптограмата и да получи вида на явното съобщение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722" y="4467885"/>
            <a:ext cx="1082242" cy="13290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974" y="4590473"/>
            <a:ext cx="989516" cy="12653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66932" y="4590474"/>
            <a:ext cx="1740802" cy="9328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Криптиране</a:t>
            </a:r>
            <a:endParaRPr lang="en-US" dirty="0" smtClean="0"/>
          </a:p>
          <a:p>
            <a:pPr algn="ctr"/>
            <a:r>
              <a:rPr lang="bg-BG" dirty="0" smtClean="0"/>
              <a:t>Публичен ключ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824882" y="4623045"/>
            <a:ext cx="2002526" cy="9328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smtClean="0"/>
              <a:t>Декриптиране</a:t>
            </a:r>
          </a:p>
          <a:p>
            <a:pPr algn="ctr"/>
            <a:r>
              <a:rPr lang="bg-BG" dirty="0" smtClean="0"/>
              <a:t>Частен ключ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2261836" y="5056909"/>
            <a:ext cx="497176" cy="1662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4507428" y="5010727"/>
            <a:ext cx="1340751" cy="212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7844686" y="5049292"/>
            <a:ext cx="497176" cy="1662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299855" y="4590473"/>
            <a:ext cx="432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Р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943897" y="4623045"/>
            <a:ext cx="432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Р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102208" y="4572062"/>
            <a:ext cx="432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С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151" y="5570104"/>
            <a:ext cx="1343025" cy="5715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282" y="5570104"/>
            <a:ext cx="134302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099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класификация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79039024"/>
              </p:ext>
            </p:extLst>
          </p:nvPr>
        </p:nvGraphicFramePr>
        <p:xfrm>
          <a:off x="100585" y="1563624"/>
          <a:ext cx="11996928" cy="5215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24564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727" y="764373"/>
            <a:ext cx="10813473" cy="1293028"/>
          </a:xfrm>
        </p:spPr>
        <p:txBody>
          <a:bodyPr/>
          <a:lstStyle/>
          <a:p>
            <a:r>
              <a:rPr lang="bg-BG" dirty="0" smtClean="0"/>
              <a:t>Използвана нотация при криптиране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30593"/>
          </a:xfrm>
        </p:spPr>
        <p:txBody>
          <a:bodyPr>
            <a:normAutofit fontScale="70000" lnSpcReduction="20000"/>
          </a:bodyPr>
          <a:lstStyle/>
          <a:p>
            <a:r>
              <a:rPr lang="bg-BG" dirty="0" smtClean="0"/>
              <a:t>Една </a:t>
            </a:r>
            <a:r>
              <a:rPr lang="bg-BG" b="1" dirty="0" err="1" smtClean="0"/>
              <a:t>криптографска</a:t>
            </a:r>
            <a:r>
              <a:rPr lang="bg-BG" b="1" dirty="0" smtClean="0"/>
              <a:t> система </a:t>
            </a:r>
            <a:r>
              <a:rPr lang="bg-BG" dirty="0" smtClean="0"/>
              <a:t>се дефинира чрез определяне на пространството на съобщенията </a:t>
            </a:r>
            <a:r>
              <a:rPr lang="en-US" dirty="0" smtClean="0"/>
              <a:t>M </a:t>
            </a:r>
            <a:r>
              <a:rPr lang="bg-BG" dirty="0" smtClean="0"/>
              <a:t>(</a:t>
            </a:r>
            <a:r>
              <a:rPr lang="en-US" dirty="0" smtClean="0"/>
              <a:t>message</a:t>
            </a:r>
            <a:r>
              <a:rPr lang="bg-BG" dirty="0" smtClean="0"/>
              <a:t>) чрез три алгоритъма</a:t>
            </a:r>
            <a:r>
              <a:rPr lang="en-US" dirty="0" smtClean="0"/>
              <a:t>: </a:t>
            </a:r>
            <a:endParaRPr lang="bg-BG" dirty="0" smtClean="0"/>
          </a:p>
          <a:p>
            <a:pPr lvl="1"/>
            <a:r>
              <a:rPr lang="bg-BG" dirty="0" smtClean="0"/>
              <a:t>Процедура за генериране на ключове </a:t>
            </a:r>
            <a:r>
              <a:rPr lang="en-US" dirty="0" smtClean="0"/>
              <a:t>(</a:t>
            </a:r>
            <a:r>
              <a:rPr lang="en-US" b="1" dirty="0" smtClean="0"/>
              <a:t>Gen</a:t>
            </a:r>
            <a:r>
              <a:rPr lang="en-US" dirty="0" smtClean="0"/>
              <a:t>), </a:t>
            </a:r>
            <a:endParaRPr lang="bg-BG" dirty="0" smtClean="0"/>
          </a:p>
          <a:p>
            <a:pPr lvl="1"/>
            <a:r>
              <a:rPr lang="bg-BG" dirty="0" smtClean="0"/>
              <a:t>Процедура за криптиране </a:t>
            </a:r>
            <a:r>
              <a:rPr lang="en-US" dirty="0" smtClean="0"/>
              <a:t>(</a:t>
            </a:r>
            <a:r>
              <a:rPr lang="en-US" b="1" dirty="0" err="1" smtClean="0"/>
              <a:t>Enc</a:t>
            </a:r>
            <a:r>
              <a:rPr lang="en-US" dirty="0" smtClean="0"/>
              <a:t>), </a:t>
            </a:r>
            <a:endParaRPr lang="bg-BG" dirty="0" smtClean="0"/>
          </a:p>
          <a:p>
            <a:pPr lvl="1"/>
            <a:r>
              <a:rPr lang="bg-BG" dirty="0" smtClean="0"/>
              <a:t>И процедура за декриптиране </a:t>
            </a:r>
            <a:r>
              <a:rPr lang="en-US" dirty="0" smtClean="0"/>
              <a:t>(</a:t>
            </a:r>
            <a:r>
              <a:rPr lang="en-US" b="1" dirty="0" smtClean="0"/>
              <a:t>Dec</a:t>
            </a:r>
            <a:r>
              <a:rPr lang="en-US" dirty="0" smtClean="0"/>
              <a:t>)</a:t>
            </a:r>
            <a:endParaRPr lang="bg-BG" dirty="0" smtClean="0"/>
          </a:p>
          <a:p>
            <a:r>
              <a:rPr lang="bg-BG" dirty="0" smtClean="0"/>
              <a:t>Пространството на съобщенията </a:t>
            </a:r>
            <a:r>
              <a:rPr lang="en-US" dirty="0" smtClean="0"/>
              <a:t> M </a:t>
            </a:r>
            <a:r>
              <a:rPr lang="bg-BG" dirty="0" smtClean="0"/>
              <a:t>се дефинира като набор от разрешени съобщения, които се поддържат от </a:t>
            </a:r>
            <a:r>
              <a:rPr lang="bg-BG" dirty="0" err="1" smtClean="0"/>
              <a:t>криптосистемата</a:t>
            </a:r>
            <a:endParaRPr lang="bg-BG" dirty="0"/>
          </a:p>
          <a:p>
            <a:r>
              <a:rPr lang="bg-BG" dirty="0" smtClean="0"/>
              <a:t>Алгоритмите се характеризират със следната функционалност</a:t>
            </a:r>
            <a:r>
              <a:rPr lang="en-US" dirty="0" smtClean="0"/>
              <a:t>: </a:t>
            </a:r>
            <a:endParaRPr lang="bg-BG" dirty="0" smtClean="0"/>
          </a:p>
          <a:p>
            <a:pPr marL="457200" indent="-457200">
              <a:buFont typeface="+mj-lt"/>
              <a:buAutoNum type="arabicPeriod"/>
            </a:pPr>
            <a:r>
              <a:rPr lang="bg-BG" b="1" dirty="0" smtClean="0"/>
              <a:t>Алгоритъмът за генериране на ключ </a:t>
            </a:r>
            <a:r>
              <a:rPr lang="en-US" b="1" dirty="0" smtClean="0"/>
              <a:t>Gen </a:t>
            </a:r>
            <a:r>
              <a:rPr lang="bg-BG" dirty="0" smtClean="0"/>
              <a:t>е вероятностен алгоритъм, който генерира ключ </a:t>
            </a:r>
            <a:r>
              <a:rPr lang="en-US" b="1" dirty="0" smtClean="0"/>
              <a:t>k</a:t>
            </a:r>
            <a:r>
              <a:rPr lang="bg-BG" dirty="0"/>
              <a:t> </a:t>
            </a:r>
            <a:r>
              <a:rPr lang="bg-BG" dirty="0" smtClean="0"/>
              <a:t>съобразно определено вероятностно разпределение</a:t>
            </a:r>
            <a:r>
              <a:rPr lang="en-US" dirty="0" smtClean="0"/>
              <a:t> </a:t>
            </a:r>
            <a:endParaRPr lang="bg-BG" dirty="0" smtClean="0"/>
          </a:p>
          <a:p>
            <a:pPr marL="457200" indent="-457200">
              <a:buFont typeface="+mj-lt"/>
              <a:buAutoNum type="arabicPeriod"/>
            </a:pPr>
            <a:r>
              <a:rPr lang="bg-BG" b="1" dirty="0" smtClean="0"/>
              <a:t>Алгоритъмът за криптиране </a:t>
            </a:r>
            <a:r>
              <a:rPr lang="en-US" b="1" dirty="0" err="1" smtClean="0"/>
              <a:t>Enc</a:t>
            </a:r>
            <a:r>
              <a:rPr lang="en-US" b="1" dirty="0" smtClean="0"/>
              <a:t> </a:t>
            </a:r>
            <a:r>
              <a:rPr lang="bg-BG" dirty="0" smtClean="0"/>
              <a:t>използва ключа </a:t>
            </a:r>
            <a:r>
              <a:rPr lang="en-US" b="1" dirty="0" smtClean="0"/>
              <a:t>k</a:t>
            </a:r>
            <a:r>
              <a:rPr lang="bg-BG" b="1" dirty="0" smtClean="0"/>
              <a:t> </a:t>
            </a:r>
            <a:r>
              <a:rPr lang="bg-BG" dirty="0" smtClean="0"/>
              <a:t>и съобщението </a:t>
            </a:r>
            <a:r>
              <a:rPr lang="bg-BG" b="1" dirty="0" smtClean="0"/>
              <a:t>р</a:t>
            </a:r>
            <a:r>
              <a:rPr lang="bg-BG" dirty="0" smtClean="0"/>
              <a:t> като вход и получава изход криптограма </a:t>
            </a:r>
            <a:r>
              <a:rPr lang="en-US" b="1" dirty="0" smtClean="0"/>
              <a:t>c</a:t>
            </a:r>
            <a:r>
              <a:rPr lang="en-US" dirty="0" smtClean="0"/>
              <a:t> </a:t>
            </a:r>
            <a:endParaRPr lang="bg-BG" dirty="0"/>
          </a:p>
          <a:p>
            <a:pPr marL="457200" lvl="1" indent="0">
              <a:buNone/>
            </a:pPr>
            <a:r>
              <a:rPr lang="en-US" b="1" dirty="0" err="1" smtClean="0"/>
              <a:t>Enc</a:t>
            </a:r>
            <a:r>
              <a:rPr lang="en-US" b="1" baseline="-25000" dirty="0" err="1" smtClean="0"/>
              <a:t>k</a:t>
            </a:r>
            <a:r>
              <a:rPr lang="en-US" b="1" dirty="0" smtClean="0"/>
              <a:t>(</a:t>
            </a:r>
            <a:r>
              <a:rPr lang="en-US" b="1" dirty="0"/>
              <a:t>p</a:t>
            </a:r>
            <a:r>
              <a:rPr lang="en-US" b="1" dirty="0" smtClean="0"/>
              <a:t>)</a:t>
            </a:r>
            <a:r>
              <a:rPr lang="en-US" dirty="0" smtClean="0"/>
              <a:t> </a:t>
            </a:r>
            <a:r>
              <a:rPr lang="bg-BG" dirty="0" smtClean="0"/>
              <a:t>– криптиране на явното съобщение </a:t>
            </a:r>
            <a:r>
              <a:rPr lang="bg-BG" b="1" dirty="0"/>
              <a:t>р</a:t>
            </a:r>
            <a:r>
              <a:rPr lang="en-US" dirty="0" smtClean="0"/>
              <a:t> </a:t>
            </a:r>
            <a:r>
              <a:rPr lang="bg-BG" dirty="0" smtClean="0"/>
              <a:t>чрез ключа </a:t>
            </a:r>
            <a:r>
              <a:rPr lang="en-US" b="1" dirty="0" smtClean="0"/>
              <a:t>k</a:t>
            </a:r>
            <a:r>
              <a:rPr lang="en-US" dirty="0" smtClean="0"/>
              <a:t> </a:t>
            </a:r>
            <a:endParaRPr lang="bg-BG" dirty="0" smtClean="0"/>
          </a:p>
          <a:p>
            <a:pPr marL="457200" indent="-457200">
              <a:buFont typeface="+mj-lt"/>
              <a:buAutoNum type="arabicPeriod"/>
            </a:pPr>
            <a:r>
              <a:rPr lang="bg-BG" b="1" dirty="0" smtClean="0"/>
              <a:t>Алгоритъмът за декриптиране </a:t>
            </a:r>
            <a:r>
              <a:rPr lang="en-US" b="1" dirty="0" smtClean="0"/>
              <a:t>Dec </a:t>
            </a:r>
            <a:r>
              <a:rPr lang="bg-BG" dirty="0" smtClean="0"/>
              <a:t>използва като вход ключа </a:t>
            </a:r>
            <a:r>
              <a:rPr lang="en-US" b="1" dirty="0" smtClean="0"/>
              <a:t>k</a:t>
            </a:r>
            <a:r>
              <a:rPr lang="en-US" dirty="0" smtClean="0"/>
              <a:t> </a:t>
            </a:r>
            <a:r>
              <a:rPr lang="bg-BG" dirty="0" smtClean="0"/>
              <a:t>и криптограмата </a:t>
            </a:r>
            <a:r>
              <a:rPr lang="en-US" b="1" dirty="0" smtClean="0"/>
              <a:t>c</a:t>
            </a:r>
            <a:r>
              <a:rPr lang="en-US" dirty="0" smtClean="0"/>
              <a:t> </a:t>
            </a:r>
            <a:r>
              <a:rPr lang="bg-BG" dirty="0" smtClean="0"/>
              <a:t>и като изход се получава явното съобщение </a:t>
            </a:r>
            <a:r>
              <a:rPr lang="bg-BG" b="1" dirty="0" smtClean="0"/>
              <a:t>р</a:t>
            </a:r>
            <a:endParaRPr lang="bg-BG" b="1" dirty="0"/>
          </a:p>
          <a:p>
            <a:pPr marL="457200" lvl="1" indent="0">
              <a:buNone/>
            </a:pPr>
            <a:r>
              <a:rPr lang="en-US" b="1" dirty="0" smtClean="0"/>
              <a:t>Dec</a:t>
            </a:r>
            <a:r>
              <a:rPr lang="en-US" b="1" baseline="-25000" dirty="0" smtClean="0"/>
              <a:t>k</a:t>
            </a:r>
            <a:r>
              <a:rPr lang="en-US" b="1" dirty="0" smtClean="0"/>
              <a:t>(c)</a:t>
            </a:r>
            <a:r>
              <a:rPr lang="bg-BG" dirty="0" smtClean="0"/>
              <a:t> – декриптиране на криптограмата </a:t>
            </a:r>
            <a:r>
              <a:rPr lang="en-US" b="1" dirty="0" smtClean="0"/>
              <a:t>c</a:t>
            </a:r>
            <a:r>
              <a:rPr lang="en-US" dirty="0" smtClean="0"/>
              <a:t> </a:t>
            </a:r>
            <a:r>
              <a:rPr lang="bg-BG" dirty="0" smtClean="0"/>
              <a:t>чрез ключ </a:t>
            </a:r>
            <a:r>
              <a:rPr lang="en-US" b="1" dirty="0" smtClean="0"/>
              <a:t>k</a:t>
            </a:r>
            <a:r>
              <a:rPr lang="bg-BG" dirty="0" smtClean="0"/>
              <a:t> </a:t>
            </a:r>
            <a:endParaRPr lang="bg-BG" dirty="0"/>
          </a:p>
          <a:p>
            <a:r>
              <a:rPr lang="en-US" dirty="0" smtClean="0"/>
              <a:t> </a:t>
            </a:r>
            <a:r>
              <a:rPr lang="bg-BG" dirty="0" smtClean="0"/>
              <a:t>За една </a:t>
            </a:r>
            <a:r>
              <a:rPr lang="bg-BG" dirty="0" err="1" smtClean="0"/>
              <a:t>криптографска</a:t>
            </a:r>
            <a:r>
              <a:rPr lang="bg-BG" dirty="0" smtClean="0"/>
              <a:t> система трябва да бъде изпълнено </a:t>
            </a:r>
            <a:r>
              <a:rPr lang="bg-BG" b="1" dirty="0" smtClean="0"/>
              <a:t>изискването за коректност </a:t>
            </a:r>
            <a:r>
              <a:rPr lang="bg-BG" dirty="0" smtClean="0"/>
              <a:t>: за всеки ключ </a:t>
            </a:r>
            <a:r>
              <a:rPr lang="en-US" b="1" dirty="0" smtClean="0"/>
              <a:t>k</a:t>
            </a:r>
            <a:r>
              <a:rPr lang="bg-BG" dirty="0" smtClean="0"/>
              <a:t>, генериран чрез </a:t>
            </a:r>
            <a:r>
              <a:rPr lang="en-US" dirty="0" smtClean="0"/>
              <a:t> </a:t>
            </a:r>
            <a:r>
              <a:rPr lang="en-US" b="1" dirty="0" smtClean="0"/>
              <a:t>Gen</a:t>
            </a:r>
            <a:r>
              <a:rPr lang="en-US" dirty="0" smtClean="0"/>
              <a:t> </a:t>
            </a:r>
            <a:r>
              <a:rPr lang="bg-BG" dirty="0" smtClean="0"/>
              <a:t>и за всяко съобщение </a:t>
            </a:r>
            <a:r>
              <a:rPr lang="bg-BG" b="1" dirty="0" smtClean="0"/>
              <a:t>р</a:t>
            </a:r>
            <a:r>
              <a:rPr lang="en-US" b="1" dirty="0" smtClean="0"/>
              <a:t> ∈ M</a:t>
            </a:r>
            <a:r>
              <a:rPr lang="bg-BG" dirty="0" smtClean="0"/>
              <a:t>: </a:t>
            </a:r>
            <a:r>
              <a:rPr lang="en-US" b="1" dirty="0" smtClean="0">
                <a:solidFill>
                  <a:schemeClr val="accent1"/>
                </a:solidFill>
              </a:rPr>
              <a:t>Dec</a:t>
            </a:r>
            <a:r>
              <a:rPr lang="en-US" b="1" baseline="-25000" dirty="0" smtClean="0">
                <a:solidFill>
                  <a:schemeClr val="accent1"/>
                </a:solidFill>
              </a:rPr>
              <a:t>k</a:t>
            </a:r>
            <a:r>
              <a:rPr lang="en-US" b="1" dirty="0" smtClean="0">
                <a:solidFill>
                  <a:schemeClr val="accent1"/>
                </a:solidFill>
              </a:rPr>
              <a:t>(</a:t>
            </a:r>
            <a:r>
              <a:rPr lang="en-US" b="1" dirty="0" err="1" smtClean="0">
                <a:solidFill>
                  <a:schemeClr val="accent1"/>
                </a:solidFill>
              </a:rPr>
              <a:t>Enc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k</a:t>
            </a:r>
            <a:r>
              <a:rPr lang="en-US" b="1" dirty="0" smtClean="0">
                <a:solidFill>
                  <a:schemeClr val="accent1"/>
                </a:solidFill>
              </a:rPr>
              <a:t>(</a:t>
            </a:r>
            <a:r>
              <a:rPr lang="bg-BG" b="1" dirty="0" smtClean="0">
                <a:solidFill>
                  <a:schemeClr val="accent1"/>
                </a:solidFill>
              </a:rPr>
              <a:t>р</a:t>
            </a:r>
            <a:r>
              <a:rPr lang="en-US" b="1" dirty="0" smtClean="0">
                <a:solidFill>
                  <a:schemeClr val="accent1"/>
                </a:solidFill>
              </a:rPr>
              <a:t>)) = </a:t>
            </a:r>
            <a:r>
              <a:rPr lang="bg-BG" b="1" dirty="0" smtClean="0">
                <a:solidFill>
                  <a:schemeClr val="accent1"/>
                </a:solidFill>
              </a:rPr>
              <a:t>р</a:t>
            </a:r>
            <a:r>
              <a:rPr lang="bg-BG" dirty="0" smtClean="0"/>
              <a:t>, т.е</a:t>
            </a:r>
            <a:r>
              <a:rPr lang="bg-BG" b="1" dirty="0" smtClean="0"/>
              <a:t>. след криптиране и декриптиране трябва да се получи оригиналното съобщение</a:t>
            </a:r>
          </a:p>
          <a:p>
            <a:r>
              <a:rPr lang="bg-BG" dirty="0" smtClean="0"/>
              <a:t>Наборът от всички възможни ключове, получени чрез алгоритъма за генериране на ключове се нарича </a:t>
            </a:r>
            <a:r>
              <a:rPr lang="bg-BG" b="1" dirty="0" smtClean="0"/>
              <a:t>пространство на ключовете </a:t>
            </a:r>
            <a:r>
              <a:rPr lang="bg-BG" dirty="0" smtClean="0"/>
              <a:t>и се означава с </a:t>
            </a:r>
            <a:r>
              <a:rPr lang="en-US" b="1" dirty="0" smtClean="0"/>
              <a:t>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48417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0182" y="764373"/>
            <a:ext cx="9936018" cy="1293028"/>
          </a:xfrm>
        </p:spPr>
        <p:txBody>
          <a:bodyPr/>
          <a:lstStyle/>
          <a:p>
            <a:r>
              <a:rPr lang="bg-BG" dirty="0" smtClean="0"/>
              <a:t>Ключове и принцип на </a:t>
            </a:r>
            <a:r>
              <a:rPr lang="bg-BG" dirty="0" err="1" smtClean="0"/>
              <a:t>Къркхофс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dirty="0" smtClean="0"/>
              <a:t>Ако атакуващият (Ева) знае алгоритъма </a:t>
            </a:r>
            <a:r>
              <a:rPr lang="en-US" b="1" dirty="0" smtClean="0"/>
              <a:t>Dec</a:t>
            </a:r>
            <a:r>
              <a:rPr lang="en-US" dirty="0" smtClean="0"/>
              <a:t> </a:t>
            </a:r>
            <a:r>
              <a:rPr lang="bg-BG" dirty="0" smtClean="0"/>
              <a:t>и ключа </a:t>
            </a:r>
            <a:r>
              <a:rPr lang="en-US" b="1" dirty="0" smtClean="0">
                <a:solidFill>
                  <a:schemeClr val="accent1"/>
                </a:solidFill>
              </a:rPr>
              <a:t>k</a:t>
            </a:r>
            <a:r>
              <a:rPr lang="bg-BG" dirty="0" smtClean="0"/>
              <a:t>, споделен между две комуникиращи страни, тогава </a:t>
            </a:r>
            <a:r>
              <a:rPr lang="en-US" dirty="0" smtClean="0"/>
              <a:t> </a:t>
            </a:r>
            <a:r>
              <a:rPr lang="bg-BG" dirty="0" smtClean="0"/>
              <a:t>атакуващият ще може да декриптира криптограмата</a:t>
            </a:r>
            <a:endParaRPr lang="bg-BG" dirty="0"/>
          </a:p>
          <a:p>
            <a:r>
              <a:rPr lang="bg-BG" dirty="0" smtClean="0"/>
              <a:t>Затова, комуникиращите страни трябва да </a:t>
            </a:r>
            <a:r>
              <a:rPr lang="bg-BG" b="1" dirty="0" smtClean="0"/>
              <a:t>пазят в тайна ключа </a:t>
            </a:r>
            <a:r>
              <a:rPr lang="en-US" b="1" dirty="0" smtClean="0">
                <a:solidFill>
                  <a:schemeClr val="accent1"/>
                </a:solidFill>
              </a:rPr>
              <a:t>k</a:t>
            </a:r>
            <a:r>
              <a:rPr lang="bg-BG" dirty="0" smtClean="0"/>
              <a:t>, а може би и алгоритъма за декриптиране </a:t>
            </a:r>
            <a:r>
              <a:rPr lang="en-US" b="1" dirty="0" smtClean="0"/>
              <a:t>Dec</a:t>
            </a:r>
            <a:r>
              <a:rPr lang="bg-BG" dirty="0" smtClean="0"/>
              <a:t>?</a:t>
            </a:r>
            <a:r>
              <a:rPr lang="en-US" dirty="0" smtClean="0"/>
              <a:t> </a:t>
            </a:r>
            <a:endParaRPr lang="bg-BG" dirty="0" smtClean="0"/>
          </a:p>
          <a:p>
            <a:r>
              <a:rPr lang="bg-BG" dirty="0" smtClean="0"/>
              <a:t>През 19 век </a:t>
            </a:r>
            <a:r>
              <a:rPr lang="bg-BG" b="1" dirty="0" smtClean="0"/>
              <a:t>Огюст </a:t>
            </a:r>
            <a:r>
              <a:rPr lang="bg-BG" b="1" dirty="0" err="1" smtClean="0"/>
              <a:t>Къркхофс</a:t>
            </a:r>
            <a:r>
              <a:rPr lang="en-US" b="1" dirty="0" smtClean="0"/>
              <a:t> (</a:t>
            </a:r>
            <a:r>
              <a:rPr lang="en-US" b="1" dirty="0" err="1"/>
              <a:t>Auguste</a:t>
            </a:r>
            <a:r>
              <a:rPr lang="en-US" b="1" dirty="0"/>
              <a:t> </a:t>
            </a:r>
            <a:r>
              <a:rPr lang="en-US" b="1" dirty="0" err="1"/>
              <a:t>Kerckhoffs</a:t>
            </a:r>
            <a:r>
              <a:rPr lang="en-US" b="1" dirty="0" smtClean="0"/>
              <a:t>)</a:t>
            </a:r>
            <a:r>
              <a:rPr lang="bg-BG" b="1" dirty="0" smtClean="0"/>
              <a:t> </a:t>
            </a:r>
            <a:r>
              <a:rPr lang="bg-BG" dirty="0" smtClean="0"/>
              <a:t>казва точно обратното: </a:t>
            </a:r>
            <a:r>
              <a:rPr lang="bg-BG" i="1" dirty="0" smtClean="0">
                <a:solidFill>
                  <a:srgbClr val="00B0F0"/>
                </a:solidFill>
              </a:rPr>
              <a:t>Алгоритмите за криптиране и декриптиране не трябва да бъдат секретни и те могат да попадат в ръцете на атакуващите и това не е притеснително</a:t>
            </a:r>
          </a:p>
          <a:p>
            <a:r>
              <a:rPr lang="bg-BG" b="1" dirty="0" smtClean="0"/>
              <a:t>Принцип на </a:t>
            </a:r>
            <a:r>
              <a:rPr lang="bg-BG" b="1" dirty="0" err="1" smtClean="0"/>
              <a:t>Къркхофс</a:t>
            </a:r>
            <a:r>
              <a:rPr lang="bg-BG" b="1" dirty="0" smtClean="0"/>
              <a:t>: </a:t>
            </a:r>
            <a:r>
              <a:rPr lang="bg-BG" dirty="0" smtClean="0"/>
              <a:t>Една </a:t>
            </a:r>
            <a:r>
              <a:rPr lang="bg-BG" dirty="0" err="1" smtClean="0"/>
              <a:t>криптосистема</a:t>
            </a:r>
            <a:r>
              <a:rPr lang="bg-BG" dirty="0" smtClean="0"/>
              <a:t> трябва да бъде проектирана така, че да бъде сигурна дори ако атакуващият знае детайли за </a:t>
            </a:r>
            <a:r>
              <a:rPr lang="bg-BG" dirty="0" err="1" smtClean="0"/>
              <a:t>криптосистемата</a:t>
            </a:r>
            <a:r>
              <a:rPr lang="bg-BG" dirty="0" smtClean="0"/>
              <a:t>, </a:t>
            </a:r>
            <a:r>
              <a:rPr lang="bg-BG" dirty="0" smtClean="0">
                <a:solidFill>
                  <a:srgbClr val="FF0000"/>
                </a:solidFill>
              </a:rPr>
              <a:t>без обаче да знае използвания </a:t>
            </a:r>
            <a:r>
              <a:rPr lang="bg-BG" dirty="0" err="1" smtClean="0">
                <a:solidFill>
                  <a:srgbClr val="FF0000"/>
                </a:solidFill>
              </a:rPr>
              <a:t>криптографски</a:t>
            </a:r>
            <a:r>
              <a:rPr lang="bg-BG" dirty="0" smtClean="0">
                <a:solidFill>
                  <a:srgbClr val="FF0000"/>
                </a:solidFill>
              </a:rPr>
              <a:t> ключ</a:t>
            </a:r>
          </a:p>
          <a:p>
            <a:r>
              <a:rPr lang="bg-BG" dirty="0" smtClean="0"/>
              <a:t>Това означава, че </a:t>
            </a:r>
            <a:r>
              <a:rPr lang="bg-BG" b="1" dirty="0" smtClean="0"/>
              <a:t>сигурността на </a:t>
            </a:r>
            <a:r>
              <a:rPr lang="bg-BG" b="1" dirty="0" err="1" smtClean="0"/>
              <a:t>криптосистемата</a:t>
            </a:r>
            <a:r>
              <a:rPr lang="bg-BG" b="1" dirty="0" smtClean="0"/>
              <a:t> </a:t>
            </a:r>
            <a:r>
              <a:rPr lang="bg-BG" dirty="0" smtClean="0"/>
              <a:t>не се свързва с това тя бъде секретна (тайна), а се основава на </a:t>
            </a:r>
            <a:r>
              <a:rPr lang="bg-BG" b="1" dirty="0" smtClean="0"/>
              <a:t>запазване на ключа в тайна (и на секретните параметри, характеризиращи </a:t>
            </a:r>
            <a:r>
              <a:rPr lang="bg-BG" b="1" dirty="0" err="1" smtClean="0"/>
              <a:t>криптосистемата</a:t>
            </a:r>
            <a:r>
              <a:rPr lang="bg-BG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536945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08037" y="720436"/>
            <a:ext cx="8229600" cy="7433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bg-BG" dirty="0"/>
              <a:t>Криптография - история</a:t>
            </a:r>
            <a:endParaRPr dirty="0"/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457200" y="1600201"/>
            <a:ext cx="8678227" cy="4525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480"/>
            </a:pPr>
            <a:r>
              <a:rPr lang="bg-BG" sz="2480" b="1" dirty="0" smtClean="0"/>
              <a:t>1900 г. </a:t>
            </a:r>
            <a:r>
              <a:rPr lang="bg-BG" sz="2480" b="1" dirty="0" err="1"/>
              <a:t>пр.н.е</a:t>
            </a:r>
            <a:r>
              <a:rPr lang="bg-BG" sz="2480" b="1" dirty="0"/>
              <a:t>. </a:t>
            </a:r>
            <a:r>
              <a:rPr lang="bg-BG" sz="2480" dirty="0"/>
              <a:t>– египтяните използвали </a:t>
            </a:r>
            <a:r>
              <a:rPr lang="bg-BG" sz="2480" b="1" dirty="0"/>
              <a:t>нестандартни йероглифи </a:t>
            </a:r>
            <a:r>
              <a:rPr lang="bg-BG" sz="2480" dirty="0"/>
              <a:t>при надписване на глинени табели – това е първото документирано използване на криптографията</a:t>
            </a:r>
            <a:endParaRPr dirty="0"/>
          </a:p>
          <a:p>
            <a:pPr marL="342900" indent="-34290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</a:pPr>
            <a:r>
              <a:rPr lang="bg-BG" sz="2480" b="1" dirty="0"/>
              <a:t>487 </a:t>
            </a:r>
            <a:r>
              <a:rPr lang="bg-BG" sz="2480" b="1" dirty="0" smtClean="0"/>
              <a:t>г. </a:t>
            </a:r>
            <a:r>
              <a:rPr lang="bg-BG" sz="2480" b="1" dirty="0" err="1" smtClean="0"/>
              <a:t>пр.н.е</a:t>
            </a:r>
            <a:r>
              <a:rPr lang="bg-BG" sz="2480" b="1" dirty="0"/>
              <a:t>. </a:t>
            </a:r>
            <a:r>
              <a:rPr lang="bg-BG" sz="2480" dirty="0"/>
              <a:t>– Спартанци от Гърция разработват системата </a:t>
            </a:r>
            <a:r>
              <a:rPr lang="bg-BG" sz="2480" b="1" dirty="0" err="1"/>
              <a:t>skytale</a:t>
            </a:r>
            <a:r>
              <a:rPr lang="bg-BG" sz="2480" dirty="0"/>
              <a:t>, състояща се от две пръчки с еднакъв диаметър – изпращащият написва съобщението върху папирус и я навива върху пръчката, получаващият трябва да има същата пръчка, за да намотае лентата папирус и да разчете съобщението</a:t>
            </a:r>
            <a:endParaRPr dirty="0"/>
          </a:p>
          <a:p>
            <a:pPr marL="342900" indent="-34290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</a:pPr>
            <a:r>
              <a:rPr lang="bg-BG" sz="2480" b="1" dirty="0"/>
              <a:t>50 </a:t>
            </a:r>
            <a:r>
              <a:rPr lang="bg-BG" sz="2480" b="1" dirty="0" smtClean="0"/>
              <a:t>г. </a:t>
            </a:r>
            <a:r>
              <a:rPr lang="bg-BG" sz="2480" b="1" dirty="0" err="1" smtClean="0"/>
              <a:t>пр.н.е</a:t>
            </a:r>
            <a:r>
              <a:rPr lang="bg-BG" sz="2480" b="1" dirty="0"/>
              <a:t>. </a:t>
            </a:r>
            <a:r>
              <a:rPr lang="bg-BG" sz="2480" dirty="0"/>
              <a:t>– Юлий Цезар използва </a:t>
            </a:r>
            <a:r>
              <a:rPr lang="bg-BG" sz="2480" b="1" dirty="0"/>
              <a:t>шифър на </a:t>
            </a:r>
            <a:r>
              <a:rPr lang="bg-BG" sz="2480" b="1" dirty="0" smtClean="0"/>
              <a:t>заместване</a:t>
            </a:r>
            <a:r>
              <a:rPr lang="en-US" sz="2480" b="1" dirty="0" smtClean="0"/>
              <a:t> (</a:t>
            </a:r>
            <a:r>
              <a:rPr lang="bg-BG" sz="2480" b="1" dirty="0" smtClean="0"/>
              <a:t>шифър на Цезар</a:t>
            </a:r>
            <a:r>
              <a:rPr lang="en-US" sz="2480" b="1" dirty="0" smtClean="0"/>
              <a:t>)</a:t>
            </a:r>
            <a:r>
              <a:rPr lang="bg-BG" sz="2480" dirty="0" smtClean="0"/>
              <a:t>, </a:t>
            </a:r>
            <a:r>
              <a:rPr lang="bg-BG" sz="2480" dirty="0"/>
              <a:t>за да защити военната </a:t>
            </a:r>
            <a:r>
              <a:rPr lang="bg-BG" sz="2480" dirty="0" smtClean="0"/>
              <a:t>комуникация в Рим – </a:t>
            </a:r>
            <a:r>
              <a:rPr lang="bg-BG" sz="2480" dirty="0"/>
              <a:t>Цезар замества една буква от азбуката с буква, намираща се през три места в азбуката</a:t>
            </a:r>
            <a:endParaRPr dirty="0"/>
          </a:p>
          <a:p>
            <a:pPr marL="342900" indent="-18542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  <a:buNone/>
            </a:pPr>
            <a:endParaRPr sz="248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427" y="2995422"/>
            <a:ext cx="2790825" cy="156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62872" y="4882896"/>
            <a:ext cx="240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err="1" smtClean="0"/>
              <a:t>Криптосистема</a:t>
            </a:r>
            <a:r>
              <a:rPr lang="bg-BG" dirty="0" smtClean="0"/>
              <a:t> </a:t>
            </a:r>
            <a:r>
              <a:rPr lang="en-US" dirty="0" err="1" smtClean="0"/>
              <a:t>skytale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56935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709416" y="444441"/>
            <a:ext cx="8229600" cy="8614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bg-BG" dirty="0"/>
              <a:t>Криптография - история</a:t>
            </a:r>
            <a:endParaRPr dirty="0"/>
          </a:p>
        </p:txBody>
      </p:sp>
      <p:sp>
        <p:nvSpPr>
          <p:cNvPr id="115" name="Google Shape;115;p18"/>
          <p:cNvSpPr txBox="1">
            <a:spLocks noGrp="1"/>
          </p:cNvSpPr>
          <p:nvPr>
            <p:ph idx="1"/>
          </p:nvPr>
        </p:nvSpPr>
        <p:spPr>
          <a:xfrm>
            <a:off x="201169" y="1305877"/>
            <a:ext cx="8321040" cy="50509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240"/>
            </a:pPr>
            <a:r>
              <a:rPr lang="bg-BG" sz="2240" b="1" dirty="0"/>
              <a:t>725 г.</a:t>
            </a:r>
            <a:r>
              <a:rPr lang="bg-BG" sz="2240" dirty="0"/>
              <a:t> - </a:t>
            </a:r>
            <a:r>
              <a:rPr lang="bg-BG" sz="2240" dirty="0" err="1"/>
              <a:t>Abu</a:t>
            </a:r>
            <a:r>
              <a:rPr lang="bg-BG" sz="2240" dirty="0"/>
              <a:t> ‘</a:t>
            </a:r>
            <a:r>
              <a:rPr lang="bg-BG" sz="2240" dirty="0" err="1"/>
              <a:t>Abd</a:t>
            </a:r>
            <a:r>
              <a:rPr lang="bg-BG" sz="2240" dirty="0"/>
              <a:t> </a:t>
            </a:r>
            <a:r>
              <a:rPr lang="bg-BG" sz="2240" dirty="0" err="1"/>
              <a:t>al-Rahman</a:t>
            </a:r>
            <a:r>
              <a:rPr lang="bg-BG" sz="2240" dirty="0"/>
              <a:t> </a:t>
            </a:r>
            <a:r>
              <a:rPr lang="bg-BG" sz="2240" dirty="0" err="1"/>
              <a:t>al-Khalil</a:t>
            </a:r>
            <a:r>
              <a:rPr lang="bg-BG" sz="2240" dirty="0"/>
              <a:t> </a:t>
            </a:r>
            <a:r>
              <a:rPr lang="bg-BG" sz="2240" dirty="0" err="1"/>
              <a:t>ibn</a:t>
            </a:r>
            <a:r>
              <a:rPr lang="bg-BG" sz="2240" dirty="0"/>
              <a:t> </a:t>
            </a:r>
            <a:r>
              <a:rPr lang="bg-BG" sz="2240" dirty="0" err="1"/>
              <a:t>Ahman</a:t>
            </a:r>
            <a:r>
              <a:rPr lang="bg-BG" sz="2240" dirty="0"/>
              <a:t> </a:t>
            </a:r>
            <a:r>
              <a:rPr lang="bg-BG" sz="2240" dirty="0" err="1"/>
              <a:t>ibn</a:t>
            </a:r>
            <a:r>
              <a:rPr lang="bg-BG" sz="2240" dirty="0"/>
              <a:t> ‘</a:t>
            </a:r>
            <a:r>
              <a:rPr lang="bg-BG" sz="2240" dirty="0" err="1"/>
              <a:t>Amr</a:t>
            </a:r>
            <a:r>
              <a:rPr lang="bg-BG" sz="2240" dirty="0"/>
              <a:t> </a:t>
            </a:r>
            <a:r>
              <a:rPr lang="bg-BG" sz="2240" dirty="0" err="1"/>
              <a:t>ibn</a:t>
            </a:r>
            <a:r>
              <a:rPr lang="bg-BG" sz="2240" dirty="0"/>
              <a:t> </a:t>
            </a:r>
            <a:r>
              <a:rPr lang="bg-BG" sz="2240" dirty="0" err="1"/>
              <a:t>Tammam</a:t>
            </a:r>
            <a:r>
              <a:rPr lang="bg-BG" sz="2240" dirty="0"/>
              <a:t> </a:t>
            </a:r>
            <a:r>
              <a:rPr lang="bg-BG" sz="2240" dirty="0" err="1"/>
              <a:t>al</a:t>
            </a:r>
            <a:r>
              <a:rPr lang="bg-BG" sz="2240" dirty="0"/>
              <a:t> </a:t>
            </a:r>
            <a:r>
              <a:rPr lang="bg-BG" sz="2240" dirty="0" err="1"/>
              <a:t>Farahidi</a:t>
            </a:r>
            <a:r>
              <a:rPr lang="bg-BG" sz="2240" dirty="0"/>
              <a:t> </a:t>
            </a:r>
            <a:r>
              <a:rPr lang="bg-BG" sz="2240" dirty="0" err="1"/>
              <a:t>al-Zadi</a:t>
            </a:r>
            <a:r>
              <a:rPr lang="bg-BG" sz="2240" dirty="0"/>
              <a:t> </a:t>
            </a:r>
            <a:r>
              <a:rPr lang="bg-BG" sz="2240" dirty="0" err="1"/>
              <a:t>al</a:t>
            </a:r>
            <a:r>
              <a:rPr lang="bg-BG" sz="2240" dirty="0"/>
              <a:t> </a:t>
            </a:r>
            <a:r>
              <a:rPr lang="bg-BG" sz="2240" dirty="0" err="1"/>
              <a:t>Yahmadi</a:t>
            </a:r>
            <a:r>
              <a:rPr lang="bg-BG" sz="2240" dirty="0"/>
              <a:t> </a:t>
            </a:r>
            <a:r>
              <a:rPr lang="bg-BG" sz="2240" dirty="0" smtClean="0"/>
              <a:t>(арабски филолог) написва </a:t>
            </a:r>
            <a:r>
              <a:rPr lang="bg-BG" sz="2240" b="1" dirty="0"/>
              <a:t>първата книга, посветена на криптографията</a:t>
            </a:r>
            <a:endParaRPr b="1" dirty="0"/>
          </a:p>
          <a:p>
            <a:pPr marL="342900" indent="-342900">
              <a:lnSpc>
                <a:spcPct val="80000"/>
              </a:lnSpc>
              <a:spcBef>
                <a:spcPts val="448"/>
              </a:spcBef>
              <a:buClr>
                <a:schemeClr val="dk1"/>
              </a:buClr>
              <a:buSzPts val="2240"/>
            </a:pPr>
            <a:r>
              <a:rPr lang="bg-BG" sz="2240" b="1" dirty="0"/>
              <a:t>1250 г.</a:t>
            </a:r>
            <a:r>
              <a:rPr lang="bg-BG" sz="2240" dirty="0"/>
              <a:t> – Английският монах </a:t>
            </a:r>
            <a:r>
              <a:rPr lang="bg-BG" sz="2240" b="1" dirty="0" err="1"/>
              <a:t>Roger</a:t>
            </a:r>
            <a:r>
              <a:rPr lang="bg-BG" sz="2240" b="1" dirty="0"/>
              <a:t> </a:t>
            </a:r>
            <a:r>
              <a:rPr lang="bg-BG" sz="2240" b="1" dirty="0" err="1"/>
              <a:t>Bacon</a:t>
            </a:r>
            <a:r>
              <a:rPr lang="bg-BG" sz="2240" b="1" dirty="0"/>
              <a:t> </a:t>
            </a:r>
            <a:r>
              <a:rPr lang="bg-BG" sz="2240" dirty="0"/>
              <a:t>написва </a:t>
            </a:r>
            <a:r>
              <a:rPr lang="bg-BG" sz="2240" b="1" dirty="0"/>
              <a:t>книга</a:t>
            </a:r>
            <a:r>
              <a:rPr lang="bg-BG" sz="2240" dirty="0"/>
              <a:t>, в която описва няколко прости </a:t>
            </a:r>
            <a:r>
              <a:rPr lang="bg-BG" sz="2240" dirty="0" err="1"/>
              <a:t>криптографски</a:t>
            </a:r>
            <a:r>
              <a:rPr lang="bg-BG" sz="2240" dirty="0"/>
              <a:t> алгоритъма</a:t>
            </a:r>
            <a:endParaRPr dirty="0"/>
          </a:p>
          <a:p>
            <a:pPr marL="342900" indent="-342900">
              <a:lnSpc>
                <a:spcPct val="80000"/>
              </a:lnSpc>
              <a:spcBef>
                <a:spcPts val="448"/>
              </a:spcBef>
              <a:buClr>
                <a:schemeClr val="dk1"/>
              </a:buClr>
              <a:buSzPts val="2240"/>
            </a:pPr>
            <a:r>
              <a:rPr lang="bg-BG" sz="2240" dirty="0"/>
              <a:t> </a:t>
            </a:r>
            <a:r>
              <a:rPr lang="bg-BG" sz="2240" b="1" dirty="0"/>
              <a:t>1412 г.</a:t>
            </a:r>
            <a:r>
              <a:rPr lang="bg-BG" sz="2240" dirty="0"/>
              <a:t> – </a:t>
            </a:r>
            <a:r>
              <a:rPr lang="bg-BG" sz="2240" i="1" dirty="0" err="1"/>
              <a:t>Subhalasha</a:t>
            </a:r>
            <a:r>
              <a:rPr lang="bg-BG" sz="2240" i="1" dirty="0"/>
              <a:t> </a:t>
            </a:r>
            <a:r>
              <a:rPr lang="bg-BG" sz="2240" dirty="0"/>
              <a:t>е 14 </a:t>
            </a:r>
            <a:r>
              <a:rPr lang="bg-BG" sz="2240" dirty="0" err="1"/>
              <a:t>томна</a:t>
            </a:r>
            <a:r>
              <a:rPr lang="bg-BG" sz="2240" dirty="0"/>
              <a:t> арабска енциклопедия, в която има </a:t>
            </a:r>
            <a:r>
              <a:rPr lang="bg-BG" sz="2240" dirty="0" smtClean="0"/>
              <a:t>част, </a:t>
            </a:r>
            <a:r>
              <a:rPr lang="bg-BG" sz="2240" dirty="0"/>
              <a:t>посветена на криптографията – алгоритми на заместване и алгоритми на разместване</a:t>
            </a:r>
            <a:endParaRPr dirty="0"/>
          </a:p>
          <a:p>
            <a:pPr marL="342900" indent="-342900">
              <a:lnSpc>
                <a:spcPct val="80000"/>
              </a:lnSpc>
              <a:spcBef>
                <a:spcPts val="448"/>
              </a:spcBef>
              <a:buClr>
                <a:schemeClr val="dk1"/>
              </a:buClr>
              <a:buSzPts val="2240"/>
            </a:pPr>
            <a:r>
              <a:rPr lang="bg-BG" sz="2240" b="1" dirty="0"/>
              <a:t>1518 г.</a:t>
            </a:r>
            <a:r>
              <a:rPr lang="bg-BG" sz="2240" dirty="0"/>
              <a:t> – </a:t>
            </a:r>
            <a:r>
              <a:rPr lang="bg-BG" sz="2240" b="1" dirty="0"/>
              <a:t>абат </a:t>
            </a:r>
            <a:r>
              <a:rPr lang="bg-BG" sz="2240" b="1" dirty="0" err="1"/>
              <a:t>Johannes</a:t>
            </a:r>
            <a:r>
              <a:rPr lang="bg-BG" sz="2240" b="1" dirty="0"/>
              <a:t> </a:t>
            </a:r>
            <a:r>
              <a:rPr lang="bg-BG" sz="2240" b="1" dirty="0" err="1"/>
              <a:t>Trithemius</a:t>
            </a:r>
            <a:r>
              <a:rPr lang="bg-BG" sz="2240" b="1" dirty="0"/>
              <a:t> </a:t>
            </a:r>
            <a:r>
              <a:rPr lang="bg-BG" sz="2240" dirty="0"/>
              <a:t>– написва </a:t>
            </a:r>
            <a:r>
              <a:rPr lang="bg-BG" sz="2240" b="1" dirty="0"/>
              <a:t>първата печатна книга</a:t>
            </a:r>
            <a:r>
              <a:rPr lang="bg-BG" sz="2240" dirty="0"/>
              <a:t> за криптографията, както и измисля </a:t>
            </a:r>
            <a:r>
              <a:rPr lang="bg-BG" sz="2240" dirty="0" err="1"/>
              <a:t>стеганографичен</a:t>
            </a:r>
            <a:r>
              <a:rPr lang="bg-BG" sz="2240" dirty="0"/>
              <a:t> алгоритъм (скриване на съобщение в друго съобщение, </a:t>
            </a:r>
            <a:r>
              <a:rPr lang="bg-BG" sz="2240" dirty="0" smtClean="0"/>
              <a:t>картина), </a:t>
            </a:r>
            <a:r>
              <a:rPr lang="bg-BG" sz="2240" dirty="0"/>
              <a:t>описва метод на </a:t>
            </a:r>
            <a:r>
              <a:rPr lang="bg-BG" sz="2240" b="1" dirty="0" err="1" smtClean="0"/>
              <a:t>многоазбучен</a:t>
            </a:r>
            <a:r>
              <a:rPr lang="bg-BG" sz="2240" b="1" dirty="0" smtClean="0"/>
              <a:t> </a:t>
            </a:r>
            <a:r>
              <a:rPr lang="bg-BG" sz="2240" b="1" dirty="0"/>
              <a:t>алгоритъм </a:t>
            </a:r>
            <a:r>
              <a:rPr lang="bg-BG" sz="2240" dirty="0"/>
              <a:t>за шифроване на информацията</a:t>
            </a:r>
            <a:endParaRPr dirty="0"/>
          </a:p>
          <a:p>
            <a:pPr marL="342900" indent="-342900">
              <a:lnSpc>
                <a:spcPct val="80000"/>
              </a:lnSpc>
              <a:spcBef>
                <a:spcPts val="448"/>
              </a:spcBef>
              <a:buClr>
                <a:schemeClr val="dk1"/>
              </a:buClr>
              <a:buSzPts val="2240"/>
            </a:pPr>
            <a:r>
              <a:rPr lang="bg-BG" sz="2240" b="1" dirty="0"/>
              <a:t>1553 г. </a:t>
            </a:r>
            <a:r>
              <a:rPr lang="bg-BG" sz="2240" dirty="0"/>
              <a:t>– </a:t>
            </a:r>
            <a:r>
              <a:rPr lang="bg-BG" sz="2240" b="1" dirty="0"/>
              <a:t>шифър на </a:t>
            </a:r>
            <a:r>
              <a:rPr lang="bg-BG" sz="2240" b="1" dirty="0" err="1"/>
              <a:t>Виженер</a:t>
            </a:r>
            <a:r>
              <a:rPr lang="bg-BG" sz="2240" b="1" dirty="0"/>
              <a:t> </a:t>
            </a:r>
            <a:r>
              <a:rPr lang="bg-BG" sz="2240" dirty="0"/>
              <a:t>– използване на </a:t>
            </a:r>
            <a:r>
              <a:rPr lang="bg-BG" sz="2240" b="1" dirty="0"/>
              <a:t>ключова дума</a:t>
            </a:r>
            <a:r>
              <a:rPr lang="bg-BG" sz="2240" dirty="0"/>
              <a:t> за криптиране чрез </a:t>
            </a:r>
            <a:r>
              <a:rPr lang="bg-BG" sz="2240" b="1" dirty="0" err="1" smtClean="0"/>
              <a:t>многоазбучен</a:t>
            </a:r>
            <a:r>
              <a:rPr lang="bg-BG" sz="2240" b="1" dirty="0" smtClean="0"/>
              <a:t> </a:t>
            </a:r>
            <a:r>
              <a:rPr lang="bg-BG" sz="2240" b="1" dirty="0"/>
              <a:t>алгоритъм</a:t>
            </a:r>
            <a:endParaRPr sz="224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894" y="2412111"/>
            <a:ext cx="3596426" cy="24982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79992" y="5138928"/>
            <a:ext cx="240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Книга на абат </a:t>
            </a:r>
            <a:r>
              <a:rPr lang="bg-BG" dirty="0" err="1" smtClean="0"/>
              <a:t>Тритемиус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295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1981200" y="895926"/>
            <a:ext cx="8229600" cy="5217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bg-BG" dirty="0"/>
              <a:t>Криптография - история</a:t>
            </a:r>
            <a:endParaRPr dirty="0"/>
          </a:p>
        </p:txBody>
      </p:sp>
      <p:sp>
        <p:nvSpPr>
          <p:cNvPr id="121" name="Google Shape;121;p19"/>
          <p:cNvSpPr txBox="1">
            <a:spLocks noGrp="1"/>
          </p:cNvSpPr>
          <p:nvPr>
            <p:ph idx="1"/>
          </p:nvPr>
        </p:nvSpPr>
        <p:spPr>
          <a:xfrm>
            <a:off x="474587" y="1499077"/>
            <a:ext cx="8267077" cy="42861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960"/>
            </a:pPr>
            <a:r>
              <a:rPr lang="bg-BG" sz="2960" b="1" dirty="0"/>
              <a:t>1563</a:t>
            </a:r>
            <a:r>
              <a:rPr lang="bg-BG" sz="2960" dirty="0"/>
              <a:t> - </a:t>
            </a:r>
            <a:r>
              <a:rPr lang="bg-BG" sz="2960" b="1" dirty="0" err="1"/>
              <a:t>Giovanni</a:t>
            </a:r>
            <a:r>
              <a:rPr lang="bg-BG" sz="2960" b="1" dirty="0"/>
              <a:t> </a:t>
            </a:r>
            <a:r>
              <a:rPr lang="bg-BG" sz="2960" b="1" dirty="0" err="1"/>
              <a:t>Battista</a:t>
            </a:r>
            <a:r>
              <a:rPr lang="bg-BG" sz="2960" b="1" dirty="0"/>
              <a:t> </a:t>
            </a:r>
            <a:r>
              <a:rPr lang="bg-BG" sz="2960" b="1" dirty="0" err="1"/>
              <a:t>Porta</a:t>
            </a:r>
            <a:r>
              <a:rPr lang="bg-BG" sz="2960" dirty="0"/>
              <a:t> прави </a:t>
            </a:r>
            <a:r>
              <a:rPr lang="bg-BG" sz="2960" b="1" dirty="0"/>
              <a:t>класификация на методите за шифроване </a:t>
            </a:r>
            <a:r>
              <a:rPr lang="bg-BG" sz="2960" dirty="0"/>
              <a:t>на алгоритми за разместване, заместване</a:t>
            </a:r>
            <a:endParaRPr sz="2960" dirty="0"/>
          </a:p>
          <a:p>
            <a:pPr marL="342900" indent="-342900">
              <a:lnSpc>
                <a:spcPct val="80000"/>
              </a:lnSpc>
              <a:spcBef>
                <a:spcPts val="592"/>
              </a:spcBef>
              <a:buClr>
                <a:schemeClr val="dk1"/>
              </a:buClr>
              <a:buSzPts val="2960"/>
            </a:pPr>
            <a:r>
              <a:rPr lang="bg-BG" sz="2960" b="1" dirty="0"/>
              <a:t>1790</a:t>
            </a:r>
            <a:r>
              <a:rPr lang="bg-BG" sz="2960" dirty="0"/>
              <a:t> - </a:t>
            </a:r>
            <a:r>
              <a:rPr lang="bg-BG" sz="2960" b="1" dirty="0" err="1"/>
              <a:t>Thomas</a:t>
            </a:r>
            <a:r>
              <a:rPr lang="bg-BG" sz="2960" b="1" dirty="0"/>
              <a:t> </a:t>
            </a:r>
            <a:r>
              <a:rPr lang="bg-BG" sz="2960" b="1" dirty="0" err="1"/>
              <a:t>Jefferson</a:t>
            </a:r>
            <a:r>
              <a:rPr lang="bg-BG" sz="2960" b="1" dirty="0"/>
              <a:t> </a:t>
            </a:r>
            <a:r>
              <a:rPr lang="bg-BG" sz="2960" dirty="0"/>
              <a:t>създава 26-буквен </a:t>
            </a:r>
            <a:r>
              <a:rPr lang="bg-BG" sz="2960" b="1" dirty="0"/>
              <a:t>метод на колелата </a:t>
            </a:r>
            <a:r>
              <a:rPr lang="bg-BG" sz="2960" dirty="0"/>
              <a:t>за </a:t>
            </a:r>
            <a:r>
              <a:rPr lang="bg-BG" sz="2960" dirty="0" smtClean="0"/>
              <a:t>шифроване</a:t>
            </a:r>
            <a:r>
              <a:rPr lang="en-US" sz="2960" dirty="0" smtClean="0"/>
              <a:t> (</a:t>
            </a:r>
            <a:r>
              <a:rPr lang="bg-BG" sz="2960" dirty="0" err="1" smtClean="0"/>
              <a:t>изп</a:t>
            </a:r>
            <a:r>
              <a:rPr lang="bg-BG" sz="2960" dirty="0" smtClean="0"/>
              <a:t>. на </a:t>
            </a:r>
            <a:r>
              <a:rPr lang="bg-BG" sz="2960" b="1" dirty="0" smtClean="0"/>
              <a:t>устройство</a:t>
            </a:r>
            <a:r>
              <a:rPr lang="en-US" sz="2960" dirty="0" smtClean="0"/>
              <a:t>)</a:t>
            </a:r>
            <a:endParaRPr dirty="0"/>
          </a:p>
          <a:p>
            <a:pPr marL="342900" indent="-342900">
              <a:lnSpc>
                <a:spcPct val="80000"/>
              </a:lnSpc>
              <a:spcBef>
                <a:spcPts val="592"/>
              </a:spcBef>
              <a:buClr>
                <a:schemeClr val="dk1"/>
              </a:buClr>
              <a:buSzPts val="2960"/>
            </a:pPr>
            <a:r>
              <a:rPr lang="bg-BG" sz="2960" b="1" dirty="0"/>
              <a:t>1914-17</a:t>
            </a:r>
            <a:r>
              <a:rPr lang="bg-BG" sz="2960" dirty="0"/>
              <a:t> – По време на първата световна война германци, англичани и французи използват </a:t>
            </a:r>
            <a:r>
              <a:rPr lang="bg-BG" sz="2960" dirty="0" err="1"/>
              <a:t>транспозиционни</a:t>
            </a:r>
            <a:r>
              <a:rPr lang="bg-BG" sz="2960" dirty="0"/>
              <a:t> и </a:t>
            </a:r>
            <a:r>
              <a:rPr lang="bg-BG" sz="2960" dirty="0" err="1" smtClean="0"/>
              <a:t>субстиционни</a:t>
            </a:r>
            <a:r>
              <a:rPr lang="bg-BG" sz="2960" dirty="0" smtClean="0"/>
              <a:t> методи в </a:t>
            </a:r>
            <a:r>
              <a:rPr lang="bg-BG" sz="2960" dirty="0" err="1"/>
              <a:t>радиокомуникацията</a:t>
            </a:r>
            <a:r>
              <a:rPr lang="bg-BG" sz="2960" dirty="0"/>
              <a:t>, всички те се опитват взаимно да се подслушват и така възниква науката </a:t>
            </a:r>
            <a:r>
              <a:rPr lang="bg-BG" sz="2960" b="1" dirty="0" err="1"/>
              <a:t>криптоанализ</a:t>
            </a:r>
            <a:endParaRPr sz="2960" b="1" dirty="0"/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6258" y="1783080"/>
            <a:ext cx="3209083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9235440" y="4087368"/>
            <a:ext cx="2075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Метод на колелата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0930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800573" y="567959"/>
            <a:ext cx="8229600" cy="5309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bg-BG" dirty="0"/>
              <a:t>Криптография - история</a:t>
            </a:r>
            <a:endParaRPr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idx="1"/>
          </p:nvPr>
        </p:nvSpPr>
        <p:spPr>
          <a:xfrm>
            <a:off x="150829" y="1197204"/>
            <a:ext cx="8487203" cy="55618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bg-BG" sz="2400" b="1" dirty="0"/>
              <a:t>1917</a:t>
            </a:r>
            <a:r>
              <a:rPr lang="bg-BG" sz="2400" dirty="0"/>
              <a:t> - </a:t>
            </a:r>
            <a:r>
              <a:rPr lang="bg-BG" sz="2400" dirty="0" err="1"/>
              <a:t>Gilbert</a:t>
            </a:r>
            <a:r>
              <a:rPr lang="bg-BG" sz="2400" dirty="0"/>
              <a:t> S. </a:t>
            </a:r>
            <a:r>
              <a:rPr lang="bg-BG" sz="2400" b="1" dirty="0" err="1"/>
              <a:t>Vernam</a:t>
            </a:r>
            <a:r>
              <a:rPr lang="bg-BG" sz="2400" dirty="0"/>
              <a:t>, работещ в AT&amp;T създава </a:t>
            </a:r>
            <a:r>
              <a:rPr lang="bg-BG" sz="2400" b="1" dirty="0"/>
              <a:t>машина за </a:t>
            </a:r>
            <a:r>
              <a:rPr lang="bg-BG" sz="2400" b="1" dirty="0" err="1"/>
              <a:t>многоазбучно</a:t>
            </a:r>
            <a:r>
              <a:rPr lang="bg-BG" sz="2400" b="1" dirty="0"/>
              <a:t> заместване</a:t>
            </a:r>
            <a:r>
              <a:rPr lang="bg-BG" sz="2400" dirty="0"/>
              <a:t> и използване на </a:t>
            </a:r>
            <a:r>
              <a:rPr lang="bg-BG" sz="2400" dirty="0" err="1"/>
              <a:t>неповтарящ</a:t>
            </a:r>
            <a:r>
              <a:rPr lang="bg-BG" sz="2400" dirty="0"/>
              <a:t> се случаен ключ </a:t>
            </a:r>
            <a:endParaRPr sz="2400" dirty="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ts val="2000"/>
            </a:pPr>
            <a:r>
              <a:rPr lang="bg-BG" sz="2400" b="1" dirty="0"/>
              <a:t>1919</a:t>
            </a:r>
            <a:r>
              <a:rPr lang="bg-BG" sz="2400" dirty="0"/>
              <a:t> - </a:t>
            </a:r>
            <a:r>
              <a:rPr lang="bg-BG" sz="2400" b="1" dirty="0" err="1"/>
              <a:t>Hugo</a:t>
            </a:r>
            <a:r>
              <a:rPr lang="bg-BG" sz="2400" b="1" dirty="0"/>
              <a:t> </a:t>
            </a:r>
            <a:r>
              <a:rPr lang="bg-BG" sz="2400" b="1" dirty="0" err="1"/>
              <a:t>Alexander</a:t>
            </a:r>
            <a:r>
              <a:rPr lang="bg-BG" sz="2400" b="1" dirty="0"/>
              <a:t> Koch </a:t>
            </a:r>
            <a:r>
              <a:rPr lang="bg-BG" sz="2400" dirty="0"/>
              <a:t>патентова </a:t>
            </a:r>
            <a:r>
              <a:rPr lang="bg-BG" sz="2400" b="1" dirty="0" err="1"/>
              <a:t>роторно</a:t>
            </a:r>
            <a:r>
              <a:rPr lang="bg-BG" sz="2400" b="1" dirty="0"/>
              <a:t>-базирана машина</a:t>
            </a:r>
            <a:r>
              <a:rPr lang="bg-BG" sz="2400" dirty="0"/>
              <a:t> за </a:t>
            </a:r>
            <a:r>
              <a:rPr lang="bg-BG" sz="2400" dirty="0" smtClean="0"/>
              <a:t>криптиране, </a:t>
            </a:r>
            <a:r>
              <a:rPr lang="bg-BG" sz="2400" dirty="0"/>
              <a:t>като през </a:t>
            </a:r>
            <a:r>
              <a:rPr lang="bg-BG" sz="2400" b="1" dirty="0"/>
              <a:t>1927</a:t>
            </a:r>
            <a:r>
              <a:rPr lang="bg-BG" sz="2400" dirty="0"/>
              <a:t> г. </a:t>
            </a:r>
            <a:r>
              <a:rPr lang="bg-BG" sz="2400" dirty="0" smtClean="0"/>
              <a:t>предоставя </a:t>
            </a:r>
            <a:r>
              <a:rPr lang="bg-BG" sz="2400" dirty="0"/>
              <a:t>патентните права на </a:t>
            </a:r>
            <a:r>
              <a:rPr lang="bg-BG" sz="2400" b="1" dirty="0" err="1"/>
              <a:t>Arthur</a:t>
            </a:r>
            <a:r>
              <a:rPr lang="bg-BG" sz="2400" b="1" dirty="0"/>
              <a:t> </a:t>
            </a:r>
            <a:r>
              <a:rPr lang="bg-BG" sz="2400" b="1" dirty="0" err="1"/>
              <a:t>Scherbius</a:t>
            </a:r>
            <a:r>
              <a:rPr lang="bg-BG" sz="2400" dirty="0"/>
              <a:t>, който е създателят на машината </a:t>
            </a:r>
            <a:r>
              <a:rPr lang="bg-BG" sz="2400" b="1" dirty="0"/>
              <a:t>Енигма</a:t>
            </a:r>
            <a:r>
              <a:rPr lang="bg-BG" sz="2400" dirty="0"/>
              <a:t> (механичен метод на заместване) </a:t>
            </a:r>
            <a:endParaRPr sz="2400" dirty="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ts val="2000"/>
            </a:pPr>
            <a:r>
              <a:rPr lang="bg-BG" sz="2400" b="1" dirty="0" smtClean="0"/>
              <a:t>1937</a:t>
            </a:r>
            <a:r>
              <a:rPr lang="bg-BG" sz="2400" dirty="0" smtClean="0"/>
              <a:t> </a:t>
            </a:r>
            <a:r>
              <a:rPr lang="bg-BG" sz="2400" dirty="0"/>
              <a:t>– японци разработват </a:t>
            </a:r>
            <a:r>
              <a:rPr lang="bg-BG" sz="2400" b="1" dirty="0"/>
              <a:t>машината </a:t>
            </a:r>
            <a:r>
              <a:rPr lang="bg-BG" sz="2400" b="1" dirty="0" err="1"/>
              <a:t>Purple</a:t>
            </a:r>
            <a:r>
              <a:rPr lang="bg-BG" sz="2400" dirty="0"/>
              <a:t>, която е на подобен принцип на Енигма – за </a:t>
            </a:r>
            <a:r>
              <a:rPr lang="bg-BG" sz="2400" dirty="0" smtClean="0"/>
              <a:t>кодиране </a:t>
            </a:r>
            <a:r>
              <a:rPr lang="bg-BG" sz="2400" dirty="0"/>
              <a:t>на дипломатически съобщения – през </a:t>
            </a:r>
            <a:r>
              <a:rPr lang="bg-BG" sz="2400" b="1" dirty="0"/>
              <a:t>1940</a:t>
            </a:r>
            <a:r>
              <a:rPr lang="bg-BG" sz="2400" dirty="0"/>
              <a:t> е създадена </a:t>
            </a:r>
            <a:r>
              <a:rPr lang="bg-BG" sz="2400" b="1" dirty="0"/>
              <a:t>декодираща машина </a:t>
            </a:r>
            <a:r>
              <a:rPr lang="bg-BG" sz="2400" dirty="0"/>
              <a:t>от екип, начело с </a:t>
            </a:r>
            <a:r>
              <a:rPr lang="bg-BG" sz="2400" dirty="0" err="1"/>
              <a:t>William</a:t>
            </a:r>
            <a:r>
              <a:rPr lang="bg-BG" sz="2400" dirty="0"/>
              <a:t> </a:t>
            </a:r>
            <a:r>
              <a:rPr lang="bg-BG" sz="2400" dirty="0" err="1"/>
              <a:t>Friedman</a:t>
            </a:r>
            <a:endParaRPr sz="2400" dirty="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ts val="2000"/>
            </a:pPr>
            <a:r>
              <a:rPr lang="bg-BG" sz="2400" b="1" dirty="0"/>
              <a:t>1948</a:t>
            </a:r>
            <a:r>
              <a:rPr lang="bg-BG" sz="2400" dirty="0"/>
              <a:t> – </a:t>
            </a:r>
            <a:r>
              <a:rPr lang="bg-BG" sz="2400" b="1" dirty="0"/>
              <a:t>Клод </a:t>
            </a:r>
            <a:r>
              <a:rPr lang="bg-BG" sz="2400" b="1" dirty="0" err="1" smtClean="0"/>
              <a:t>Шенън</a:t>
            </a:r>
            <a:r>
              <a:rPr lang="bg-BG" sz="2400" b="1" dirty="0" smtClean="0"/>
              <a:t> </a:t>
            </a:r>
            <a:r>
              <a:rPr lang="bg-BG" sz="2400" dirty="0"/>
              <a:t>дефинира </a:t>
            </a:r>
            <a:r>
              <a:rPr lang="bg-BG" sz="2400" b="1" dirty="0"/>
              <a:t>основните принципи за </a:t>
            </a:r>
            <a:r>
              <a:rPr lang="bg-BG" sz="2400" b="1" dirty="0" smtClean="0"/>
              <a:t>надеждност (сигурност) </a:t>
            </a:r>
            <a:r>
              <a:rPr lang="bg-BG" sz="2400" b="1" dirty="0"/>
              <a:t>на </a:t>
            </a:r>
            <a:r>
              <a:rPr lang="bg-BG" sz="2400" b="1" dirty="0" err="1" smtClean="0"/>
              <a:t>криптографски</a:t>
            </a:r>
            <a:r>
              <a:rPr lang="bg-BG" sz="2400" b="1" dirty="0" smtClean="0"/>
              <a:t> алгоритъм</a:t>
            </a:r>
            <a:r>
              <a:rPr lang="en-US" sz="2400" b="1" dirty="0" smtClean="0"/>
              <a:t> (</a:t>
            </a:r>
            <a:r>
              <a:rPr lang="bg-BG" sz="2400" b="1" dirty="0" err="1" smtClean="0"/>
              <a:t>криптосистема</a:t>
            </a:r>
            <a:r>
              <a:rPr lang="en-US" sz="2400" b="1" dirty="0" smtClean="0"/>
              <a:t>)</a:t>
            </a:r>
            <a:r>
              <a:rPr lang="bg-BG" sz="2400" dirty="0" smtClean="0"/>
              <a:t>, </a:t>
            </a:r>
            <a:r>
              <a:rPr lang="bg-BG" sz="2400" dirty="0"/>
              <a:t>използва честотата на символите и статистически анализ в </a:t>
            </a:r>
            <a:r>
              <a:rPr lang="bg-BG" sz="2400" dirty="0" err="1"/>
              <a:t>субституционни</a:t>
            </a:r>
            <a:r>
              <a:rPr lang="bg-BG" sz="2400" dirty="0"/>
              <a:t> алгоритми</a:t>
            </a:r>
            <a:endParaRPr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673" y="1961388"/>
            <a:ext cx="3133725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25712" y="5586984"/>
            <a:ext cx="2395728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Enigma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4456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962400" y="1150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bg-BG" dirty="0"/>
              <a:t>Криптография - история</a:t>
            </a:r>
            <a:endParaRPr dirty="0"/>
          </a:p>
        </p:txBody>
      </p:sp>
      <p:sp>
        <p:nvSpPr>
          <p:cNvPr id="134" name="Google Shape;134;p21"/>
          <p:cNvSpPr txBox="1">
            <a:spLocks noGrp="1"/>
          </p:cNvSpPr>
          <p:nvPr>
            <p:ph idx="1"/>
          </p:nvPr>
        </p:nvSpPr>
        <p:spPr>
          <a:xfrm>
            <a:off x="224591" y="1322863"/>
            <a:ext cx="9240982" cy="538270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bg-BG" sz="2400" b="1" dirty="0"/>
              <a:t>1970</a:t>
            </a:r>
            <a:r>
              <a:rPr lang="bg-BG" sz="2400" dirty="0"/>
              <a:t> - Dr. </a:t>
            </a:r>
            <a:r>
              <a:rPr lang="bg-BG" sz="2400" dirty="0" err="1"/>
              <a:t>Horst</a:t>
            </a:r>
            <a:r>
              <a:rPr lang="bg-BG" sz="2400" dirty="0"/>
              <a:t> </a:t>
            </a:r>
            <a:r>
              <a:rPr lang="bg-BG" sz="2400" b="1" dirty="0" err="1"/>
              <a:t>Feistel</a:t>
            </a:r>
            <a:r>
              <a:rPr lang="bg-BG" sz="2400" dirty="0"/>
              <a:t>, ръководещ изследователски екип в IBM разработва </a:t>
            </a:r>
            <a:r>
              <a:rPr lang="bg-BG" sz="2400" b="1" dirty="0"/>
              <a:t>Data </a:t>
            </a:r>
            <a:r>
              <a:rPr lang="bg-BG" sz="2400" b="1" dirty="0" err="1"/>
              <a:t>Encryption</a:t>
            </a:r>
            <a:r>
              <a:rPr lang="bg-BG" sz="2400" b="1" dirty="0"/>
              <a:t> Standard (DES) </a:t>
            </a:r>
            <a:r>
              <a:rPr lang="bg-BG" sz="2400" dirty="0"/>
              <a:t>и блокови алгоритми </a:t>
            </a:r>
            <a:r>
              <a:rPr lang="bg-BG" sz="2400" b="1" dirty="0" err="1"/>
              <a:t>Lucifer</a:t>
            </a:r>
            <a:endParaRPr sz="2400" b="1" dirty="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ts val="2000"/>
            </a:pPr>
            <a:r>
              <a:rPr lang="bg-BG" sz="2400" b="1" dirty="0">
                <a:solidFill>
                  <a:srgbClr val="00B050"/>
                </a:solidFill>
              </a:rPr>
              <a:t>1976</a:t>
            </a:r>
            <a:r>
              <a:rPr lang="bg-BG" sz="2400" b="1" dirty="0"/>
              <a:t> </a:t>
            </a:r>
            <a:r>
              <a:rPr lang="bg-BG" sz="2400" dirty="0"/>
              <a:t>- </a:t>
            </a:r>
            <a:r>
              <a:rPr lang="bg-BG" sz="2400" dirty="0" err="1"/>
              <a:t>Whitefield</a:t>
            </a:r>
            <a:r>
              <a:rPr lang="bg-BG" sz="2400" dirty="0"/>
              <a:t> </a:t>
            </a:r>
            <a:r>
              <a:rPr lang="bg-BG" sz="2400" b="1" dirty="0" err="1"/>
              <a:t>Diffie</a:t>
            </a:r>
            <a:r>
              <a:rPr lang="bg-BG" sz="2400" dirty="0"/>
              <a:t> </a:t>
            </a:r>
            <a:r>
              <a:rPr lang="bg-BG" sz="2400" dirty="0" err="1"/>
              <a:t>and</a:t>
            </a:r>
            <a:r>
              <a:rPr lang="bg-BG" sz="2400" dirty="0"/>
              <a:t> </a:t>
            </a:r>
            <a:r>
              <a:rPr lang="bg-BG" sz="2400" dirty="0" err="1"/>
              <a:t>Martin</a:t>
            </a:r>
            <a:r>
              <a:rPr lang="bg-BG" sz="2400" dirty="0"/>
              <a:t> </a:t>
            </a:r>
            <a:r>
              <a:rPr lang="bg-BG" sz="2400" b="1" dirty="0" err="1"/>
              <a:t>Hellman</a:t>
            </a:r>
            <a:r>
              <a:rPr lang="bg-BG" sz="2400" dirty="0"/>
              <a:t> – </a:t>
            </a:r>
            <a:r>
              <a:rPr lang="bg-BG" sz="2400" b="1" dirty="0">
                <a:solidFill>
                  <a:srgbClr val="00B050"/>
                </a:solidFill>
              </a:rPr>
              <a:t>публикуват идеята си за </a:t>
            </a:r>
            <a:r>
              <a:rPr lang="bg-BG" sz="2400" b="1" dirty="0" err="1">
                <a:solidFill>
                  <a:srgbClr val="00B050"/>
                </a:solidFill>
              </a:rPr>
              <a:t>криптографски</a:t>
            </a:r>
            <a:r>
              <a:rPr lang="bg-BG" sz="2400" b="1" dirty="0">
                <a:solidFill>
                  <a:srgbClr val="00B050"/>
                </a:solidFill>
              </a:rPr>
              <a:t> алгоритми с публичен ключ</a:t>
            </a:r>
            <a:endParaRPr sz="2400" b="1" dirty="0">
              <a:solidFill>
                <a:srgbClr val="00B050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ts val="2000"/>
            </a:pPr>
            <a:r>
              <a:rPr lang="bg-BG" sz="2400" b="1" dirty="0"/>
              <a:t>1977</a:t>
            </a:r>
            <a:r>
              <a:rPr lang="bg-BG" sz="2400" dirty="0"/>
              <a:t> - </a:t>
            </a:r>
            <a:r>
              <a:rPr lang="bg-BG" sz="2400" dirty="0" err="1"/>
              <a:t>Ronald</a:t>
            </a:r>
            <a:r>
              <a:rPr lang="bg-BG" sz="2400" dirty="0"/>
              <a:t> </a:t>
            </a:r>
            <a:r>
              <a:rPr lang="bg-BG" sz="2400" b="1" dirty="0" err="1"/>
              <a:t>Rivest</a:t>
            </a:r>
            <a:r>
              <a:rPr lang="bg-BG" sz="2400" dirty="0"/>
              <a:t>, </a:t>
            </a:r>
            <a:r>
              <a:rPr lang="bg-BG" sz="2400" dirty="0" err="1"/>
              <a:t>Adi</a:t>
            </a:r>
            <a:r>
              <a:rPr lang="bg-BG" sz="2400" dirty="0"/>
              <a:t> </a:t>
            </a:r>
            <a:r>
              <a:rPr lang="bg-BG" sz="2400" b="1" dirty="0" err="1"/>
              <a:t>Shamir</a:t>
            </a:r>
            <a:r>
              <a:rPr lang="bg-BG" sz="2400" dirty="0"/>
              <a:t>, </a:t>
            </a:r>
            <a:r>
              <a:rPr lang="bg-BG" sz="2400" dirty="0" err="1"/>
              <a:t>and</a:t>
            </a:r>
            <a:r>
              <a:rPr lang="bg-BG" sz="2400" dirty="0"/>
              <a:t> </a:t>
            </a:r>
            <a:r>
              <a:rPr lang="bg-BG" sz="2400" dirty="0" err="1"/>
              <a:t>Leonard</a:t>
            </a:r>
            <a:r>
              <a:rPr lang="bg-BG" sz="2400" dirty="0"/>
              <a:t> </a:t>
            </a:r>
            <a:r>
              <a:rPr lang="bg-BG" sz="2400" b="1" dirty="0" err="1"/>
              <a:t>Adleman</a:t>
            </a:r>
            <a:r>
              <a:rPr lang="bg-BG" sz="2400" dirty="0"/>
              <a:t> разработват алгоритъм с публичен ключ за </a:t>
            </a:r>
            <a:r>
              <a:rPr lang="bg-BG" sz="2400" dirty="0" smtClean="0"/>
              <a:t>криптиране </a:t>
            </a:r>
            <a:r>
              <a:rPr lang="bg-BG" sz="2400" dirty="0"/>
              <a:t>на съобщението и за </a:t>
            </a:r>
            <a:r>
              <a:rPr lang="bg-BG" sz="2400" dirty="0" smtClean="0"/>
              <a:t>криптиране </a:t>
            </a:r>
            <a:r>
              <a:rPr lang="bg-BG" sz="2400" dirty="0"/>
              <a:t>на електронния подпис – </a:t>
            </a:r>
            <a:r>
              <a:rPr lang="bg-BG" sz="2400" b="1" dirty="0"/>
              <a:t>RSA алгоритъм</a:t>
            </a:r>
            <a:endParaRPr sz="2400" b="1" dirty="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ts val="2000"/>
            </a:pPr>
            <a:r>
              <a:rPr lang="bg-BG" sz="2400" b="1" dirty="0"/>
              <a:t>1991</a:t>
            </a:r>
            <a:r>
              <a:rPr lang="bg-BG" sz="2400" dirty="0"/>
              <a:t> - </a:t>
            </a:r>
            <a:r>
              <a:rPr lang="bg-BG" sz="2400" dirty="0" err="1"/>
              <a:t>Phil</a:t>
            </a:r>
            <a:r>
              <a:rPr lang="bg-BG" sz="2400" dirty="0"/>
              <a:t> </a:t>
            </a:r>
            <a:r>
              <a:rPr lang="bg-BG" sz="2400" b="1" dirty="0"/>
              <a:t>Zimmermann</a:t>
            </a:r>
            <a:r>
              <a:rPr lang="bg-BG" sz="2400" dirty="0"/>
              <a:t> създава първата версия на </a:t>
            </a:r>
            <a:r>
              <a:rPr lang="bg-BG" sz="2400" b="1" dirty="0"/>
              <a:t>PGP</a:t>
            </a:r>
            <a:r>
              <a:rPr lang="bg-BG" sz="2400" dirty="0"/>
              <a:t> (</a:t>
            </a:r>
            <a:r>
              <a:rPr lang="bg-BG" sz="2400" b="1" dirty="0" err="1"/>
              <a:t>Pretty</a:t>
            </a:r>
            <a:r>
              <a:rPr lang="bg-BG" sz="2400" b="1" dirty="0"/>
              <a:t> </a:t>
            </a:r>
            <a:r>
              <a:rPr lang="bg-BG" sz="2400" b="1" dirty="0" err="1"/>
              <a:t>Good</a:t>
            </a:r>
            <a:r>
              <a:rPr lang="bg-BG" sz="2400" b="1" dirty="0"/>
              <a:t> </a:t>
            </a:r>
            <a:r>
              <a:rPr lang="bg-BG" sz="2400" b="1" dirty="0" err="1"/>
              <a:t>Privacy</a:t>
            </a:r>
            <a:r>
              <a:rPr lang="bg-BG" sz="2400" dirty="0"/>
              <a:t> - Достатъчно добра поверителност) е </a:t>
            </a:r>
            <a:r>
              <a:rPr lang="bg-BG" sz="2400" b="1" dirty="0"/>
              <a:t>програма за </a:t>
            </a:r>
            <a:r>
              <a:rPr lang="bg-BG" sz="2400" b="1" dirty="0" smtClean="0"/>
              <a:t>криптиране</a:t>
            </a:r>
            <a:r>
              <a:rPr lang="bg-BG" sz="2400" dirty="0" smtClean="0"/>
              <a:t> </a:t>
            </a:r>
            <a:r>
              <a:rPr lang="bg-BG" sz="2400" dirty="0"/>
              <a:t>– използва се при електронно подписване, </a:t>
            </a:r>
            <a:r>
              <a:rPr lang="bg-BG" sz="2400" dirty="0" smtClean="0"/>
              <a:t>криптиране и декриптиране на </a:t>
            </a:r>
            <a:r>
              <a:rPr lang="bg-BG" sz="2400" dirty="0"/>
              <a:t>съобщения, електронна поща, файлове</a:t>
            </a:r>
            <a:endParaRPr sz="2400" dirty="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ts val="2000"/>
            </a:pPr>
            <a:r>
              <a:rPr lang="bg-BG" sz="2400" b="1" dirty="0"/>
              <a:t>2000</a:t>
            </a:r>
            <a:r>
              <a:rPr lang="bg-BG" sz="2400" dirty="0"/>
              <a:t> – </a:t>
            </a:r>
            <a:r>
              <a:rPr lang="bg-BG" sz="2400" b="1" dirty="0"/>
              <a:t>AES</a:t>
            </a:r>
            <a:r>
              <a:rPr lang="bg-BG" sz="2400" dirty="0"/>
              <a:t> (</a:t>
            </a:r>
            <a:r>
              <a:rPr lang="bg-BG" sz="2400" b="1" dirty="0" err="1"/>
              <a:t>Advanced</a:t>
            </a:r>
            <a:r>
              <a:rPr lang="bg-BG" sz="2400" b="1" dirty="0"/>
              <a:t> </a:t>
            </a:r>
            <a:r>
              <a:rPr lang="bg-BG" sz="2400" b="1" dirty="0" err="1"/>
              <a:t>Encryption</a:t>
            </a:r>
            <a:r>
              <a:rPr lang="bg-BG" sz="2400" b="1" dirty="0"/>
              <a:t> Standard</a:t>
            </a:r>
            <a:r>
              <a:rPr lang="bg-BG" sz="2400" dirty="0"/>
              <a:t>) – използва алгоритъма на </a:t>
            </a:r>
            <a:r>
              <a:rPr lang="bg-BG" sz="2400" b="1" dirty="0" err="1"/>
              <a:t>Rijndael</a:t>
            </a:r>
            <a:endParaRPr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418" y="2577084"/>
            <a:ext cx="2567135" cy="14371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6064" y="4215220"/>
            <a:ext cx="2267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Diffie</a:t>
            </a:r>
            <a:r>
              <a:rPr lang="en-US" dirty="0" smtClean="0"/>
              <a:t> </a:t>
            </a:r>
            <a:r>
              <a:rPr lang="bg-BG" dirty="0" smtClean="0"/>
              <a:t>и</a:t>
            </a:r>
            <a:r>
              <a:rPr lang="en-US" dirty="0" smtClean="0"/>
              <a:t> Hellman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560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7104" y="764373"/>
            <a:ext cx="4959096" cy="1293028"/>
          </a:xfrm>
        </p:spPr>
        <p:txBody>
          <a:bodyPr/>
          <a:lstStyle/>
          <a:p>
            <a:r>
              <a:rPr lang="bg-BG" b="1" dirty="0"/>
              <a:t>PGP</a:t>
            </a:r>
            <a:r>
              <a:rPr lang="bg-BG" dirty="0"/>
              <a:t> (</a:t>
            </a:r>
            <a:r>
              <a:rPr lang="bg-BG" b="1" dirty="0" err="1"/>
              <a:t>Pretty</a:t>
            </a:r>
            <a:r>
              <a:rPr lang="bg-BG" b="1" dirty="0"/>
              <a:t> </a:t>
            </a:r>
            <a:r>
              <a:rPr lang="bg-BG" b="1" dirty="0" err="1"/>
              <a:t>Good</a:t>
            </a:r>
            <a:r>
              <a:rPr lang="bg-BG" b="1" dirty="0"/>
              <a:t> </a:t>
            </a:r>
            <a:r>
              <a:rPr lang="bg-BG" b="1" dirty="0" err="1"/>
              <a:t>Privacy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22" y="433959"/>
            <a:ext cx="5767076" cy="57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213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Исторически </a:t>
            </a:r>
            <a:r>
              <a:rPr lang="bg-BG" dirty="0" err="1" smtClean="0"/>
              <a:t>криптосистеми</a:t>
            </a:r>
            <a:r>
              <a:rPr lang="bg-BG" dirty="0" smtClean="0"/>
              <a:t> и </a:t>
            </a:r>
            <a:r>
              <a:rPr lang="bg-BG" dirty="0" err="1" smtClean="0"/>
              <a:t>криптоанализ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319030"/>
          </a:xfrm>
        </p:spPr>
        <p:txBody>
          <a:bodyPr>
            <a:normAutofit lnSpcReduction="10000"/>
          </a:bodyPr>
          <a:lstStyle/>
          <a:p>
            <a:r>
              <a:rPr lang="bg-BG" b="1" dirty="0" smtClean="0"/>
              <a:t>Шифър на Цезар </a:t>
            </a:r>
            <a:r>
              <a:rPr lang="bg-BG" dirty="0" smtClean="0"/>
              <a:t>– </a:t>
            </a:r>
            <a:r>
              <a:rPr lang="en-US" dirty="0" smtClean="0"/>
              <a:t>I </a:t>
            </a:r>
            <a:r>
              <a:rPr lang="bg-BG" dirty="0" smtClean="0"/>
              <a:t>в. пр. </a:t>
            </a:r>
            <a:r>
              <a:rPr lang="bg-BG" dirty="0" err="1" smtClean="0"/>
              <a:t>н.е</a:t>
            </a:r>
            <a:endParaRPr lang="bg-BG" dirty="0" smtClean="0"/>
          </a:p>
          <a:p>
            <a:r>
              <a:rPr lang="bg-BG" dirty="0" smtClean="0"/>
              <a:t>Юлий Цезар е предложил криптирането да се извърши чрез изместване на буквите през 3 позиции: А</a:t>
            </a:r>
            <a:r>
              <a:rPr lang="en-US" dirty="0" smtClean="0"/>
              <a:t> </a:t>
            </a:r>
            <a:r>
              <a:rPr lang="bg-BG" dirty="0" smtClean="0"/>
              <a:t>да се замени с </a:t>
            </a:r>
            <a:r>
              <a:rPr lang="en-US" dirty="0" smtClean="0"/>
              <a:t>D, </a:t>
            </a:r>
            <a:r>
              <a:rPr lang="en-US" dirty="0"/>
              <a:t>B</a:t>
            </a:r>
            <a:r>
              <a:rPr lang="en-US" dirty="0" smtClean="0"/>
              <a:t> </a:t>
            </a:r>
            <a:r>
              <a:rPr lang="bg-BG" dirty="0"/>
              <a:t>с</a:t>
            </a:r>
            <a:r>
              <a:rPr lang="en-US" dirty="0" smtClean="0"/>
              <a:t> E, </a:t>
            </a:r>
            <a:r>
              <a:rPr lang="bg-BG" dirty="0" smtClean="0"/>
              <a:t>и </a:t>
            </a:r>
            <a:r>
              <a:rPr lang="bg-BG" dirty="0" err="1" smtClean="0"/>
              <a:t>т.н</a:t>
            </a:r>
            <a:r>
              <a:rPr lang="en-US" dirty="0" smtClean="0"/>
              <a:t>. </a:t>
            </a:r>
            <a:endParaRPr lang="bg-BG" dirty="0" smtClean="0"/>
          </a:p>
          <a:p>
            <a:r>
              <a:rPr lang="bg-BG" dirty="0" smtClean="0"/>
              <a:t>Ако буквата е в края на азбуката, то заместването се извършва с буква от началото: </a:t>
            </a:r>
            <a:r>
              <a:rPr lang="en-US" dirty="0" smtClean="0"/>
              <a:t>Z </a:t>
            </a:r>
            <a:r>
              <a:rPr lang="bg-BG" dirty="0" smtClean="0"/>
              <a:t>се замества със </a:t>
            </a:r>
            <a:r>
              <a:rPr lang="en-US" dirty="0" smtClean="0"/>
              <a:t>C, Y </a:t>
            </a:r>
            <a:r>
              <a:rPr lang="bg-BG" dirty="0" smtClean="0"/>
              <a:t>с</a:t>
            </a:r>
            <a:r>
              <a:rPr lang="en-US" dirty="0" smtClean="0"/>
              <a:t> B, X </a:t>
            </a:r>
            <a:r>
              <a:rPr lang="bg-BG" dirty="0" smtClean="0"/>
              <a:t>с</a:t>
            </a:r>
            <a:r>
              <a:rPr lang="en-US" dirty="0" smtClean="0"/>
              <a:t> A</a:t>
            </a:r>
            <a:endParaRPr lang="bg-BG" dirty="0" smtClean="0"/>
          </a:p>
          <a:p>
            <a:r>
              <a:rPr lang="en-US" dirty="0" smtClean="0"/>
              <a:t> </a:t>
            </a:r>
            <a:r>
              <a:rPr lang="bg-BG" dirty="0" smtClean="0"/>
              <a:t>Пример: </a:t>
            </a:r>
            <a:r>
              <a:rPr lang="bg-BG" dirty="0" smtClean="0">
                <a:solidFill>
                  <a:schemeClr val="accent2"/>
                </a:solidFill>
              </a:rPr>
              <a:t>Р= </a:t>
            </a:r>
            <a:r>
              <a:rPr lang="en-US" dirty="0" smtClean="0">
                <a:solidFill>
                  <a:schemeClr val="accent2"/>
                </a:solidFill>
              </a:rPr>
              <a:t>BEGIN THE ATTACK NOW</a:t>
            </a:r>
            <a:r>
              <a:rPr lang="en-US" dirty="0" smtClean="0"/>
              <a:t>,</a:t>
            </a:r>
            <a:r>
              <a:rPr lang="bg-BG" dirty="0" smtClean="0"/>
              <a:t> </a:t>
            </a:r>
            <a:r>
              <a:rPr lang="bg-BG" dirty="0" smtClean="0">
                <a:solidFill>
                  <a:schemeClr val="accent4">
                    <a:lumMod val="75000"/>
                  </a:schemeClr>
                </a:solidFill>
              </a:rPr>
              <a:t>С=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EHJLQWKHDWWDFNQRZ</a:t>
            </a:r>
            <a:endParaRPr lang="bg-BG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bg-BG" b="1" dirty="0" smtClean="0"/>
              <a:t>Недостатъци</a:t>
            </a:r>
            <a:r>
              <a:rPr lang="bg-BG" dirty="0" smtClean="0"/>
              <a:t> – методът е фиксиран и не се използва ключ</a:t>
            </a:r>
          </a:p>
          <a:p>
            <a:r>
              <a:rPr lang="bg-BG" dirty="0" smtClean="0"/>
              <a:t>Вариант на шифъра на Цезар е </a:t>
            </a:r>
            <a:r>
              <a:rPr lang="en-US" dirty="0" smtClean="0"/>
              <a:t>ROT-13</a:t>
            </a:r>
            <a:r>
              <a:rPr lang="bg-BG" dirty="0" smtClean="0"/>
              <a:t> (изместване през 13, който се използва и днес във форумите)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267847"/>
              </p:ext>
            </p:extLst>
          </p:nvPr>
        </p:nvGraphicFramePr>
        <p:xfrm>
          <a:off x="152400" y="5430982"/>
          <a:ext cx="11887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42577689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1221221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5780994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817505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0918959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624166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27863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4143495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73373681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223789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5510432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8326832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6604051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782836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106494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7839981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23811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49961636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4942328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271118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1598512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776745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0954327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629269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6771667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24572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499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58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6417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3164" y="901532"/>
            <a:ext cx="9806708" cy="1293028"/>
          </a:xfrm>
        </p:spPr>
        <p:txBody>
          <a:bodyPr/>
          <a:lstStyle/>
          <a:p>
            <a:r>
              <a:rPr lang="bg-BG" dirty="0" smtClean="0"/>
              <a:t>Исторически </a:t>
            </a:r>
            <a:r>
              <a:rPr lang="bg-BG" dirty="0" err="1" smtClean="0"/>
              <a:t>криптосистеми</a:t>
            </a:r>
            <a:r>
              <a:rPr lang="bg-BG" dirty="0" smtClean="0"/>
              <a:t> и </a:t>
            </a:r>
            <a:r>
              <a:rPr lang="bg-BG" dirty="0" err="1" smtClean="0"/>
              <a:t>криптоанализ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Алгоритъм на заместване през к символа </a:t>
            </a:r>
            <a:r>
              <a:rPr lang="bg-BG" dirty="0" smtClean="0"/>
              <a:t>(основан на шифъра на Цезар)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bg-BG" b="1" dirty="0" smtClean="0"/>
              <a:t>използване на ключ</a:t>
            </a:r>
          </a:p>
          <a:p>
            <a:r>
              <a:rPr lang="bg-BG" dirty="0" smtClean="0"/>
              <a:t>Криптиране: </a:t>
            </a:r>
            <a:r>
              <a:rPr lang="en-US" dirty="0" err="1" smtClean="0"/>
              <a:t>Enc</a:t>
            </a:r>
            <a:r>
              <a:rPr lang="en-US" b="1" baseline="-25000" dirty="0" err="1" smtClean="0"/>
              <a:t>k</a:t>
            </a:r>
            <a:r>
              <a:rPr lang="en-US" dirty="0" smtClean="0"/>
              <a:t>(p</a:t>
            </a:r>
            <a:r>
              <a:rPr lang="en-US" baseline="-25000" dirty="0" smtClean="0"/>
              <a:t>1</a:t>
            </a:r>
            <a:r>
              <a:rPr lang="en-US" dirty="0" smtClean="0"/>
              <a:t> · · ·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l</a:t>
            </a:r>
            <a:r>
              <a:rPr lang="en-US" dirty="0" smtClean="0"/>
              <a:t>) = c</a:t>
            </a:r>
            <a:r>
              <a:rPr lang="en-US" baseline="-25000" dirty="0" smtClean="0"/>
              <a:t>1</a:t>
            </a:r>
            <a:r>
              <a:rPr lang="en-US" dirty="0" smtClean="0"/>
              <a:t> · · · c</a:t>
            </a:r>
            <a:r>
              <a:rPr lang="en-US" baseline="-25000" dirty="0" smtClean="0"/>
              <a:t>l</a:t>
            </a:r>
            <a:r>
              <a:rPr lang="en-US" dirty="0" smtClean="0"/>
              <a:t>, </a:t>
            </a:r>
            <a:r>
              <a:rPr lang="bg-BG" dirty="0" smtClean="0"/>
              <a:t>където</a:t>
            </a:r>
            <a:r>
              <a:rPr lang="en-US" dirty="0" smtClean="0"/>
              <a:t> c</a:t>
            </a:r>
            <a:r>
              <a:rPr lang="en-US" baseline="-25000" dirty="0" smtClean="0"/>
              <a:t>i</a:t>
            </a:r>
            <a:r>
              <a:rPr lang="en-US" dirty="0" smtClean="0"/>
              <a:t> = [(p</a:t>
            </a:r>
            <a:r>
              <a:rPr lang="en-US" baseline="-25000" dirty="0" smtClean="0"/>
              <a:t>i</a:t>
            </a:r>
            <a:r>
              <a:rPr lang="en-US" dirty="0" smtClean="0"/>
              <a:t> + k) mod 26]</a:t>
            </a:r>
            <a:endParaRPr lang="bg-BG" dirty="0" smtClean="0"/>
          </a:p>
          <a:p>
            <a:r>
              <a:rPr lang="bg-BG" dirty="0" smtClean="0"/>
              <a:t>Декриптиране: </a:t>
            </a:r>
            <a:r>
              <a:rPr lang="it-IT" dirty="0" smtClean="0"/>
              <a:t>Dec</a:t>
            </a:r>
            <a:r>
              <a:rPr lang="it-IT" b="1" baseline="-25000" dirty="0" smtClean="0"/>
              <a:t>k</a:t>
            </a:r>
            <a:r>
              <a:rPr lang="it-IT" dirty="0" smtClean="0"/>
              <a:t>(c</a:t>
            </a:r>
            <a:r>
              <a:rPr lang="it-IT" baseline="-25000" dirty="0" smtClean="0"/>
              <a:t>1</a:t>
            </a:r>
            <a:r>
              <a:rPr lang="it-IT" dirty="0" smtClean="0"/>
              <a:t> · · · c</a:t>
            </a:r>
            <a:r>
              <a:rPr lang="en-US" baseline="-25000" dirty="0" smtClean="0"/>
              <a:t>l</a:t>
            </a:r>
            <a:r>
              <a:rPr lang="it-IT" dirty="0" smtClean="0"/>
              <a:t>) = </a:t>
            </a:r>
            <a:r>
              <a:rPr lang="en-US" dirty="0"/>
              <a:t>p</a:t>
            </a:r>
            <a:r>
              <a:rPr lang="it-IT" baseline="-25000" dirty="0" smtClean="0"/>
              <a:t>1</a:t>
            </a:r>
            <a:r>
              <a:rPr lang="it-IT" dirty="0" smtClean="0"/>
              <a:t> · · · p</a:t>
            </a:r>
            <a:r>
              <a:rPr lang="it-IT" baseline="-25000" dirty="0" smtClean="0"/>
              <a:t>l</a:t>
            </a:r>
            <a:r>
              <a:rPr lang="it-IT" dirty="0" smtClean="0"/>
              <a:t>, </a:t>
            </a:r>
            <a:r>
              <a:rPr lang="bg-BG" dirty="0" smtClean="0"/>
              <a:t>където</a:t>
            </a:r>
            <a:r>
              <a:rPr lang="it-IT" dirty="0" smtClean="0"/>
              <a:t> p</a:t>
            </a:r>
            <a:r>
              <a:rPr lang="it-IT" baseline="-25000" dirty="0" smtClean="0"/>
              <a:t>i</a:t>
            </a:r>
            <a:r>
              <a:rPr lang="it-IT" dirty="0" smtClean="0"/>
              <a:t> = [(c</a:t>
            </a:r>
            <a:r>
              <a:rPr lang="it-IT" baseline="-25000" dirty="0" smtClean="0"/>
              <a:t>i</a:t>
            </a:r>
            <a:r>
              <a:rPr lang="it-IT" dirty="0" smtClean="0"/>
              <a:t> − k) mod 26]</a:t>
            </a:r>
            <a:endParaRPr lang="bg-BG" dirty="0" smtClean="0"/>
          </a:p>
          <a:p>
            <a:r>
              <a:rPr lang="bg-BG" dirty="0" smtClean="0"/>
              <a:t>Недостатък - Много лесно съобщението може да бъде разчетено, тъй като има само 26 възможни ключа (при разрешено символно множество английската азбука) – прилага се </a:t>
            </a:r>
            <a:r>
              <a:rPr lang="bg-BG" b="1" dirty="0" smtClean="0"/>
              <a:t>атаката груба сила </a:t>
            </a:r>
            <a:r>
              <a:rPr lang="bg-BG" dirty="0" smtClean="0"/>
              <a:t>(</a:t>
            </a:r>
            <a:r>
              <a:rPr lang="en-US" dirty="0" smtClean="0"/>
              <a:t>brute force) </a:t>
            </a:r>
            <a:r>
              <a:rPr lang="bg-BG" dirty="0" smtClean="0"/>
              <a:t>или </a:t>
            </a:r>
            <a:r>
              <a:rPr lang="bg-BG" b="1" dirty="0" smtClean="0"/>
              <a:t>атаката търсене на ключ до изчерпване на всички възможности</a:t>
            </a:r>
            <a:r>
              <a:rPr lang="bg-BG" dirty="0" smtClean="0"/>
              <a:t> (</a:t>
            </a:r>
            <a:r>
              <a:rPr lang="en-US" dirty="0" smtClean="0"/>
              <a:t>exhaustive key search</a:t>
            </a:r>
            <a:r>
              <a:rPr lang="bg-BG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23265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търсене на ключ до изчерпване на всички възможности (</a:t>
            </a:r>
            <a:r>
              <a:rPr lang="en-US" dirty="0" smtClean="0"/>
              <a:t>exhaustive key search</a:t>
            </a:r>
            <a:r>
              <a:rPr lang="bg-BG" dirty="0" smtClean="0"/>
              <a:t>)</a:t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Тази атака протича по следния начин:</a:t>
            </a:r>
          </a:p>
          <a:p>
            <a:pPr lvl="1"/>
            <a:r>
              <a:rPr lang="bg-BG" dirty="0" smtClean="0"/>
              <a:t>Атакуващият избира ключ за декриптиране от пространството на ключовете на </a:t>
            </a:r>
            <a:r>
              <a:rPr lang="bg-BG" dirty="0" err="1" smtClean="0"/>
              <a:t>криптосистемата</a:t>
            </a:r>
            <a:r>
              <a:rPr lang="en-US" dirty="0"/>
              <a:t>;</a:t>
            </a:r>
            <a:endParaRPr lang="bg-BG" dirty="0" smtClean="0"/>
          </a:p>
          <a:p>
            <a:pPr lvl="1"/>
            <a:r>
              <a:rPr lang="bg-BG" dirty="0" smtClean="0"/>
              <a:t>Декриптира криптограмата</a:t>
            </a:r>
            <a:r>
              <a:rPr lang="en-US" dirty="0" smtClean="0"/>
              <a:t>;</a:t>
            </a:r>
            <a:endParaRPr lang="bg-BG" dirty="0" smtClean="0"/>
          </a:p>
          <a:p>
            <a:pPr lvl="1"/>
            <a:r>
              <a:rPr lang="bg-BG" dirty="0" smtClean="0"/>
              <a:t>Проверява дали получения текст има смисъл</a:t>
            </a:r>
            <a:r>
              <a:rPr lang="en-US" dirty="0" smtClean="0"/>
              <a:t>;</a:t>
            </a:r>
            <a:endParaRPr lang="bg-BG" dirty="0" smtClean="0"/>
          </a:p>
          <a:p>
            <a:pPr lvl="1"/>
            <a:r>
              <a:rPr lang="bg-BG" dirty="0" smtClean="0"/>
              <a:t>Ако явният текст има смисъл, атакуващият маркира този ключ като потенциален кандидат за декриптиране</a:t>
            </a:r>
            <a:r>
              <a:rPr lang="en-US" dirty="0" smtClean="0"/>
              <a:t>;</a:t>
            </a:r>
            <a:endParaRPr lang="bg-BG" dirty="0" smtClean="0"/>
          </a:p>
          <a:p>
            <a:pPr lvl="1"/>
            <a:r>
              <a:rPr lang="bg-BG" dirty="0" smtClean="0"/>
              <a:t>Ако атакуващият може да се увери, че този е правилният ключ за декриптиране, спира търсенето; в противен случай избира нов ключ и повтаря процеса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8489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принцип на задоволително пространство на ключовете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Очевидно, за да бъде една </a:t>
            </a:r>
            <a:r>
              <a:rPr lang="bg-BG" dirty="0" err="1" smtClean="0"/>
              <a:t>криптосистема</a:t>
            </a:r>
            <a:r>
              <a:rPr lang="bg-BG" dirty="0" smtClean="0"/>
              <a:t> </a:t>
            </a:r>
            <a:r>
              <a:rPr lang="bg-BG" b="1" dirty="0" smtClean="0"/>
              <a:t>сигурна</a:t>
            </a:r>
            <a:r>
              <a:rPr lang="bg-BG" dirty="0" smtClean="0"/>
              <a:t> (защитена), тя </a:t>
            </a:r>
            <a:r>
              <a:rPr lang="bg-BG" u="sng" dirty="0" smtClean="0"/>
              <a:t>не трябва да бъде уязвима </a:t>
            </a:r>
            <a:r>
              <a:rPr lang="bg-BG" dirty="0" smtClean="0"/>
              <a:t>на атаката </a:t>
            </a:r>
            <a:r>
              <a:rPr lang="bg-BG" i="1" dirty="0" smtClean="0">
                <a:solidFill>
                  <a:srgbClr val="0070C0"/>
                </a:solidFill>
              </a:rPr>
              <a:t>търсене на ключ до изчерпване на всички възможности</a:t>
            </a:r>
            <a:r>
              <a:rPr lang="bg-BG" i="1" dirty="0" smtClean="0"/>
              <a:t> (</a:t>
            </a:r>
            <a:r>
              <a:rPr lang="en-US" i="1" dirty="0" smtClean="0"/>
              <a:t>exhaustive key search</a:t>
            </a:r>
            <a:r>
              <a:rPr lang="bg-BG" i="1" dirty="0" smtClean="0"/>
              <a:t>)</a:t>
            </a:r>
            <a:endParaRPr lang="bg-BG" i="1" dirty="0"/>
          </a:p>
          <a:p>
            <a:r>
              <a:rPr lang="bg-BG" dirty="0" smtClean="0"/>
              <a:t>Това наблюдение е познато като </a:t>
            </a:r>
            <a:r>
              <a:rPr lang="bg-BG" b="1" dirty="0" smtClean="0"/>
              <a:t>принцип на задоволително пространство на ключовете</a:t>
            </a:r>
            <a:r>
              <a:rPr lang="bg-BG" dirty="0" smtClean="0"/>
              <a:t>:</a:t>
            </a:r>
          </a:p>
          <a:p>
            <a:r>
              <a:rPr lang="bg-BG" dirty="0" smtClean="0"/>
              <a:t> </a:t>
            </a:r>
            <a:r>
              <a:rPr lang="bg-BG" dirty="0" smtClean="0">
                <a:solidFill>
                  <a:schemeClr val="accent1"/>
                </a:solidFill>
              </a:rPr>
              <a:t>Всяка сигурна </a:t>
            </a:r>
            <a:r>
              <a:rPr lang="bg-BG" dirty="0" err="1" smtClean="0">
                <a:solidFill>
                  <a:schemeClr val="accent1"/>
                </a:solidFill>
              </a:rPr>
              <a:t>криптосистема</a:t>
            </a:r>
            <a:r>
              <a:rPr lang="bg-BG" dirty="0" smtClean="0">
                <a:solidFill>
                  <a:schemeClr val="accent1"/>
                </a:solidFill>
              </a:rPr>
              <a:t> трябва да има </a:t>
            </a:r>
            <a:r>
              <a:rPr lang="bg-BG" b="1" dirty="0" smtClean="0">
                <a:solidFill>
                  <a:schemeClr val="accent1"/>
                </a:solidFill>
              </a:rPr>
              <a:t>достатъчно голямо пространство с ключове</a:t>
            </a:r>
            <a:r>
              <a:rPr lang="bg-BG" dirty="0" smtClean="0">
                <a:solidFill>
                  <a:schemeClr val="accent1"/>
                </a:solidFill>
              </a:rPr>
              <a:t>, за да бъде </a:t>
            </a:r>
            <a:r>
              <a:rPr lang="bg-BG" b="1" dirty="0" smtClean="0">
                <a:solidFill>
                  <a:schemeClr val="accent1"/>
                </a:solidFill>
              </a:rPr>
              <a:t>неуспешна атаката търсене на ключ до изчерпване на всички възможности </a:t>
            </a:r>
            <a:r>
              <a:rPr lang="bg-BG" dirty="0" smtClean="0">
                <a:solidFill>
                  <a:schemeClr val="accent1"/>
                </a:solidFill>
              </a:rPr>
              <a:t>(</a:t>
            </a:r>
            <a:r>
              <a:rPr lang="en-US" dirty="0" smtClean="0">
                <a:solidFill>
                  <a:schemeClr val="accent1"/>
                </a:solidFill>
              </a:rPr>
              <a:t>exhaustive key search</a:t>
            </a:r>
            <a:r>
              <a:rPr lang="bg-BG" dirty="0" smtClean="0">
                <a:solidFill>
                  <a:schemeClr val="accent1"/>
                </a:solidFill>
              </a:rPr>
              <a:t>)</a:t>
            </a:r>
            <a:endParaRPr lang="bg-B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3586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Принципи на съвременната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Принцип 1</a:t>
            </a:r>
            <a:r>
              <a:rPr lang="bg-BG" dirty="0" smtClean="0"/>
              <a:t>: </a:t>
            </a:r>
            <a:r>
              <a:rPr lang="bg-BG" b="1" dirty="0" smtClean="0">
                <a:solidFill>
                  <a:schemeClr val="accent1"/>
                </a:solidFill>
              </a:rPr>
              <a:t>Формалните дефиниции </a:t>
            </a:r>
            <a:r>
              <a:rPr lang="bg-BG" dirty="0" smtClean="0">
                <a:solidFill>
                  <a:schemeClr val="accent1"/>
                </a:solidFill>
              </a:rPr>
              <a:t>за </a:t>
            </a:r>
            <a:r>
              <a:rPr lang="bg-BG" b="1" dirty="0" smtClean="0">
                <a:solidFill>
                  <a:schemeClr val="accent1"/>
                </a:solidFill>
              </a:rPr>
              <a:t>сигурност</a:t>
            </a:r>
            <a:r>
              <a:rPr lang="bg-BG" dirty="0" smtClean="0">
                <a:solidFill>
                  <a:schemeClr val="accent1"/>
                </a:solidFill>
              </a:rPr>
              <a:t> са много важни за подходящото проектиране, изучаване, оценяване и използване на </a:t>
            </a:r>
            <a:r>
              <a:rPr lang="bg-BG" dirty="0" err="1" smtClean="0">
                <a:solidFill>
                  <a:schemeClr val="accent1"/>
                </a:solidFill>
              </a:rPr>
              <a:t>криптосистеми</a:t>
            </a:r>
            <a:endParaRPr lang="bg-BG" dirty="0" smtClean="0">
              <a:solidFill>
                <a:schemeClr val="accent1"/>
              </a:solidFill>
            </a:endParaRPr>
          </a:p>
          <a:p>
            <a:pPr lvl="1"/>
            <a:r>
              <a:rPr lang="bg-BG" dirty="0" smtClean="0"/>
              <a:t>Те дават ясно и разбираемо описание на </a:t>
            </a:r>
            <a:r>
              <a:rPr lang="bg-BG" b="1" dirty="0" smtClean="0"/>
              <a:t>видовете заплахи</a:t>
            </a:r>
            <a:r>
              <a:rPr lang="en-US" b="1" dirty="0" smtClean="0"/>
              <a:t>/</a:t>
            </a:r>
            <a:r>
              <a:rPr lang="bg-BG" b="1" dirty="0" smtClean="0"/>
              <a:t>атаки </a:t>
            </a:r>
            <a:r>
              <a:rPr lang="bg-BG" dirty="0" smtClean="0"/>
              <a:t>и могат да напътстват </a:t>
            </a:r>
            <a:r>
              <a:rPr lang="bg-BG" b="1" dirty="0" smtClean="0"/>
              <a:t>проектирането на сигурни </a:t>
            </a:r>
            <a:r>
              <a:rPr lang="bg-BG" b="1" dirty="0" err="1" smtClean="0"/>
              <a:t>криптосистеми</a:t>
            </a:r>
            <a:endParaRPr lang="bg-BG" b="1" dirty="0" smtClean="0"/>
          </a:p>
          <a:p>
            <a:pPr lvl="1"/>
            <a:r>
              <a:rPr lang="bg-BG" dirty="0" smtClean="0"/>
              <a:t>Те дават възможност да се </a:t>
            </a:r>
            <a:r>
              <a:rPr lang="bg-BG" b="1" dirty="0" smtClean="0"/>
              <a:t>изучи </a:t>
            </a:r>
            <a:r>
              <a:rPr lang="bg-BG" b="1" dirty="0" err="1" smtClean="0"/>
              <a:t>криптосистемата</a:t>
            </a:r>
            <a:r>
              <a:rPr lang="bg-BG" b="1" dirty="0" smtClean="0"/>
              <a:t> </a:t>
            </a:r>
            <a:r>
              <a:rPr lang="bg-BG" dirty="0" smtClean="0"/>
              <a:t>и да се види дали тя </a:t>
            </a:r>
            <a:r>
              <a:rPr lang="bg-BG" b="1" dirty="0" smtClean="0"/>
              <a:t>гарантира желаната сигурност</a:t>
            </a:r>
          </a:p>
          <a:p>
            <a:pPr lvl="1"/>
            <a:r>
              <a:rPr lang="bg-BG" dirty="0" smtClean="0"/>
              <a:t>Трябва да се разбере какъв вид сигурност е необходима на дадено приложение и да се избере най-подходящата </a:t>
            </a:r>
            <a:r>
              <a:rPr lang="bg-BG" dirty="0" err="1" smtClean="0"/>
              <a:t>криптосистема</a:t>
            </a:r>
            <a:r>
              <a:rPr lang="bg-BG" dirty="0" smtClean="0"/>
              <a:t>; сигурността се свързва с понятието </a:t>
            </a:r>
            <a:r>
              <a:rPr lang="bg-BG" b="1" i="1" dirty="0" smtClean="0"/>
              <a:t>модулност</a:t>
            </a:r>
            <a:r>
              <a:rPr lang="bg-BG" dirty="0" smtClean="0"/>
              <a:t> – </a:t>
            </a:r>
            <a:r>
              <a:rPr lang="bg-BG" dirty="0" smtClean="0">
                <a:solidFill>
                  <a:schemeClr val="accent1"/>
                </a:solidFill>
              </a:rPr>
              <a:t>една </a:t>
            </a:r>
            <a:r>
              <a:rPr lang="bg-BG" dirty="0" err="1" smtClean="0">
                <a:solidFill>
                  <a:schemeClr val="accent1"/>
                </a:solidFill>
              </a:rPr>
              <a:t>криптосистема</a:t>
            </a:r>
            <a:r>
              <a:rPr lang="bg-BG" dirty="0" smtClean="0">
                <a:solidFill>
                  <a:schemeClr val="accent1"/>
                </a:solidFill>
              </a:rPr>
              <a:t> трябва да може да се заменя с друга</a:t>
            </a:r>
            <a:r>
              <a:rPr lang="bg-BG" dirty="0" smtClean="0"/>
              <a:t> (когато е необходимо) без това да повлиява върху сигурността на приложението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80572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Принципи на съвременната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338215"/>
          </a:xfrm>
        </p:spPr>
        <p:txBody>
          <a:bodyPr>
            <a:normAutofit fontScale="85000" lnSpcReduction="20000"/>
          </a:bodyPr>
          <a:lstStyle/>
          <a:p>
            <a:r>
              <a:rPr lang="bg-BG" dirty="0" smtClean="0"/>
              <a:t>Едно </a:t>
            </a:r>
            <a:r>
              <a:rPr lang="bg-BG" b="1" dirty="0" smtClean="0"/>
              <a:t>определение</a:t>
            </a:r>
            <a:r>
              <a:rPr lang="bg-BG" dirty="0" smtClean="0"/>
              <a:t> за сигурност се състои от два компонента: </a:t>
            </a:r>
          </a:p>
          <a:p>
            <a:pPr lvl="1"/>
            <a:r>
              <a:rPr lang="bg-BG" b="1" dirty="0" smtClean="0"/>
              <a:t>Гаранция за сигурност </a:t>
            </a:r>
            <a:r>
              <a:rPr lang="bg-BG" dirty="0" smtClean="0"/>
              <a:t>(какво представлява успешна атака от гледна точка на атакуващия) – каква </a:t>
            </a:r>
            <a:r>
              <a:rPr lang="bg-BG" dirty="0" err="1" smtClean="0"/>
              <a:t>криптосистема</a:t>
            </a:r>
            <a:r>
              <a:rPr lang="bg-BG" dirty="0" smtClean="0"/>
              <a:t> може да </a:t>
            </a:r>
            <a:r>
              <a:rPr lang="bg-BG" b="1" dirty="0" smtClean="0">
                <a:solidFill>
                  <a:srgbClr val="C00000"/>
                </a:solidFill>
              </a:rPr>
              <a:t>предотврати извършването на атака</a:t>
            </a:r>
          </a:p>
          <a:p>
            <a:pPr lvl="1"/>
            <a:r>
              <a:rPr lang="bg-BG" b="1" dirty="0" smtClean="0"/>
              <a:t>Модел на атаката </a:t>
            </a:r>
            <a:r>
              <a:rPr lang="bg-BG" dirty="0" smtClean="0"/>
              <a:t>– описва какви </a:t>
            </a:r>
            <a:r>
              <a:rPr lang="bg-BG" b="1" dirty="0" smtClean="0">
                <a:solidFill>
                  <a:srgbClr val="C00000"/>
                </a:solidFill>
              </a:rPr>
              <a:t>действия </a:t>
            </a:r>
            <a:r>
              <a:rPr lang="bg-BG" dirty="0" smtClean="0"/>
              <a:t>може да предприеме атакуващ, за да извърши атаката</a:t>
            </a:r>
          </a:p>
          <a:p>
            <a:r>
              <a:rPr lang="bg-BG" b="1" dirty="0" smtClean="0"/>
              <a:t>Гаранция за сигурност </a:t>
            </a:r>
            <a:r>
              <a:rPr lang="bg-BG" dirty="0" smtClean="0"/>
              <a:t>- Независимо от допълнителната информация, с която разполага атакуващият, от криптограмата не бива да се достига до текста на явното съобщение</a:t>
            </a:r>
          </a:p>
          <a:p>
            <a:r>
              <a:rPr lang="bg-BG" b="1" dirty="0" smtClean="0"/>
              <a:t>Модел на атаката </a:t>
            </a:r>
            <a:r>
              <a:rPr lang="bg-BG" dirty="0" smtClean="0"/>
              <a:t>– какви възможности има атакуващият и как смята да ги използва; не може да се предвиди каква стратегия ще приложи атакуващият, за да нанесе атаката; няколко опции за увеличаване силата на атакуващия:</a:t>
            </a:r>
          </a:p>
          <a:p>
            <a:pPr lvl="1"/>
            <a:r>
              <a:rPr lang="bg-BG" b="1" dirty="0" smtClean="0"/>
              <a:t>Атака срещу криптограмата </a:t>
            </a:r>
            <a:r>
              <a:rPr lang="bg-BG" dirty="0" smtClean="0"/>
              <a:t>– наблюдава и прихваща една/няколко криптограми</a:t>
            </a:r>
          </a:p>
          <a:p>
            <a:pPr lvl="1"/>
            <a:r>
              <a:rPr lang="bg-BG" b="1" dirty="0" smtClean="0"/>
              <a:t>Атака при известно явно съобщение </a:t>
            </a:r>
            <a:r>
              <a:rPr lang="bg-BG" dirty="0" smtClean="0"/>
              <a:t>– Атакуващият е изучил двойката </a:t>
            </a:r>
            <a:r>
              <a:rPr lang="en-US" dirty="0" smtClean="0"/>
              <a:t>P/C</a:t>
            </a:r>
            <a:r>
              <a:rPr lang="bg-BG" dirty="0" smtClean="0"/>
              <a:t> при определен </a:t>
            </a:r>
            <a:r>
              <a:rPr lang="en-US" dirty="0" smtClean="0"/>
              <a:t>K </a:t>
            </a:r>
            <a:r>
              <a:rPr lang="bg-BG" dirty="0" smtClean="0"/>
              <a:t>и отгатва </a:t>
            </a:r>
            <a:r>
              <a:rPr lang="en-US" dirty="0" smtClean="0"/>
              <a:t>P</a:t>
            </a:r>
            <a:r>
              <a:rPr lang="bg-BG" dirty="0" smtClean="0"/>
              <a:t> от нова </a:t>
            </a:r>
            <a:r>
              <a:rPr lang="en-US" dirty="0" smtClean="0"/>
              <a:t>C </a:t>
            </a:r>
            <a:r>
              <a:rPr lang="bg-BG" dirty="0" smtClean="0"/>
              <a:t>и същия </a:t>
            </a:r>
            <a:r>
              <a:rPr lang="en-US" dirty="0" smtClean="0"/>
              <a:t>K</a:t>
            </a:r>
          </a:p>
          <a:p>
            <a:pPr lvl="1"/>
            <a:r>
              <a:rPr lang="bg-BG" b="1" dirty="0" smtClean="0"/>
              <a:t>Атака при избрано </a:t>
            </a:r>
            <a:r>
              <a:rPr lang="en-US" b="1" dirty="0" smtClean="0"/>
              <a:t>P </a:t>
            </a:r>
            <a:r>
              <a:rPr lang="en-US" dirty="0" smtClean="0"/>
              <a:t>– </a:t>
            </a:r>
            <a:r>
              <a:rPr lang="bg-BG" dirty="0" smtClean="0"/>
              <a:t>Атакуващият получава двойката </a:t>
            </a:r>
            <a:r>
              <a:rPr lang="en-US" dirty="0" smtClean="0"/>
              <a:t>P/C </a:t>
            </a:r>
            <a:r>
              <a:rPr lang="bg-BG" dirty="0" smtClean="0"/>
              <a:t>за Р по негов избор</a:t>
            </a:r>
          </a:p>
          <a:p>
            <a:pPr lvl="1"/>
            <a:r>
              <a:rPr lang="bg-BG" b="1" dirty="0" smtClean="0"/>
              <a:t>Атака при избрана </a:t>
            </a:r>
            <a:r>
              <a:rPr lang="en-US" b="1" dirty="0" smtClean="0"/>
              <a:t>C </a:t>
            </a:r>
            <a:r>
              <a:rPr lang="en-US" dirty="0" smtClean="0"/>
              <a:t>– </a:t>
            </a:r>
            <a:r>
              <a:rPr lang="bg-BG" dirty="0" smtClean="0"/>
              <a:t>Атакуващият има допълнителна информация за декриптиращ алгоритъм по негов избор – дали този декриптиращ алгоритъм ще доведе до получаване на Р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4488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Принципи на съвременната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bg-BG" b="1" dirty="0" smtClean="0"/>
              <a:t>Принцип 2</a:t>
            </a:r>
            <a:r>
              <a:rPr lang="bg-BG" dirty="0" smtClean="0"/>
              <a:t>: </a:t>
            </a:r>
            <a:r>
              <a:rPr lang="bg-BG" b="1" dirty="0" smtClean="0">
                <a:solidFill>
                  <a:schemeClr val="accent1"/>
                </a:solidFill>
              </a:rPr>
              <a:t>Точни предположения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dirty="0" smtClean="0"/>
              <a:t>- </a:t>
            </a:r>
            <a:r>
              <a:rPr lang="ru-RU" dirty="0"/>
              <a:t>Повечето съвременни криптографски конструкции </a:t>
            </a:r>
            <a:r>
              <a:rPr lang="ru-RU" b="1" dirty="0"/>
              <a:t>не могат </a:t>
            </a:r>
            <a:r>
              <a:rPr lang="ru-RU" dirty="0"/>
              <a:t>да бъдат </a:t>
            </a:r>
            <a:r>
              <a:rPr lang="ru-RU" b="1" dirty="0"/>
              <a:t>доказано сигурни безусловно</a:t>
            </a:r>
            <a:r>
              <a:rPr lang="ru-RU" dirty="0"/>
              <a:t>; такива доказателства биха изисквали разрешаване на въпроси в теорията на изчислителната </a:t>
            </a:r>
            <a:r>
              <a:rPr lang="ru-RU" dirty="0" smtClean="0"/>
              <a:t>сложност </a:t>
            </a:r>
            <a:endParaRPr lang="en-US" dirty="0" smtClean="0"/>
          </a:p>
          <a:p>
            <a:r>
              <a:rPr lang="en-US" dirty="0" smtClean="0"/>
              <a:t>T</a:t>
            </a:r>
            <a:r>
              <a:rPr lang="ru-RU" dirty="0" smtClean="0"/>
              <a:t>ова е така, тъй като </a:t>
            </a:r>
            <a:r>
              <a:rPr lang="ru-RU" b="1" dirty="0" smtClean="0"/>
              <a:t>доказателствата </a:t>
            </a:r>
            <a:r>
              <a:rPr lang="ru-RU" b="1" dirty="0"/>
              <a:t>за сигурност </a:t>
            </a:r>
            <a:r>
              <a:rPr lang="ru-RU" dirty="0"/>
              <a:t>обикновено разчитат на </a:t>
            </a:r>
            <a:r>
              <a:rPr lang="ru-RU" b="1" dirty="0" smtClean="0"/>
              <a:t>предположения</a:t>
            </a:r>
          </a:p>
          <a:p>
            <a:r>
              <a:rPr lang="ru-RU" dirty="0" smtClean="0"/>
              <a:t> </a:t>
            </a:r>
            <a:r>
              <a:rPr lang="ru-RU" b="1" dirty="0"/>
              <a:t>Съвременната криптография </a:t>
            </a:r>
            <a:r>
              <a:rPr lang="ru-RU" dirty="0"/>
              <a:t>изисква да се правят подобни </a:t>
            </a:r>
            <a:r>
              <a:rPr lang="ru-RU" b="1" dirty="0" smtClean="0"/>
              <a:t>предположения</a:t>
            </a:r>
            <a:r>
              <a:rPr lang="ru-RU" dirty="0" smtClean="0"/>
              <a:t> изрично </a:t>
            </a:r>
            <a:r>
              <a:rPr lang="ru-RU" dirty="0"/>
              <a:t>и </a:t>
            </a:r>
            <a:r>
              <a:rPr lang="ru-RU" b="1" dirty="0"/>
              <a:t>математически</a:t>
            </a:r>
            <a:r>
              <a:rPr lang="ru-RU" dirty="0"/>
              <a:t> </a:t>
            </a:r>
            <a:r>
              <a:rPr lang="ru-RU" dirty="0" smtClean="0"/>
              <a:t>точно; Затова, се извършва:</a:t>
            </a:r>
          </a:p>
          <a:p>
            <a:pPr lvl="1"/>
            <a:r>
              <a:rPr lang="ru-RU" b="1" dirty="0" smtClean="0"/>
              <a:t>Валидиране на предположенията </a:t>
            </a:r>
            <a:r>
              <a:rPr lang="ru-RU" dirty="0" smtClean="0"/>
              <a:t>– колкото повече предположенията се изследват и тестват, толкова повече се убеждаваме в тяхната истинност</a:t>
            </a:r>
          </a:p>
          <a:p>
            <a:pPr lvl="1"/>
            <a:r>
              <a:rPr lang="ru-RU" b="1" dirty="0" smtClean="0"/>
              <a:t>Сравнение на криптосистеми</a:t>
            </a:r>
            <a:r>
              <a:rPr lang="ru-RU" dirty="0"/>
              <a:t> </a:t>
            </a:r>
            <a:r>
              <a:rPr lang="ru-RU" dirty="0" smtClean="0"/>
              <a:t>- Ако </a:t>
            </a:r>
            <a:r>
              <a:rPr lang="ru-RU" dirty="0"/>
              <a:t>предположенията, използвани </a:t>
            </a:r>
            <a:r>
              <a:rPr lang="ru-RU" dirty="0" smtClean="0"/>
              <a:t>от две криптосистеми </a:t>
            </a:r>
            <a:r>
              <a:rPr lang="ru-RU" dirty="0"/>
              <a:t>не са сравними, тогава общото правило е да се </a:t>
            </a:r>
            <a:r>
              <a:rPr lang="ru-RU" dirty="0" smtClean="0"/>
              <a:t>предпочита тази, </a:t>
            </a:r>
            <a:r>
              <a:rPr lang="ru-RU" dirty="0"/>
              <a:t>която се основава на по-добре проученото предположение, в което </a:t>
            </a:r>
            <a:r>
              <a:rPr lang="ru-RU" dirty="0" smtClean="0"/>
              <a:t>има по-голяма увереност</a:t>
            </a:r>
          </a:p>
          <a:p>
            <a:pPr lvl="1"/>
            <a:r>
              <a:rPr lang="ru-RU" b="1" dirty="0" smtClean="0"/>
              <a:t>Разбиране на необходимите предположения</a:t>
            </a:r>
            <a:r>
              <a:rPr lang="ru-RU" dirty="0" smtClean="0"/>
              <a:t> </a:t>
            </a:r>
            <a:r>
              <a:rPr lang="ru-RU" dirty="0"/>
              <a:t>- Ако основните предположения относно</a:t>
            </a:r>
          </a:p>
          <a:p>
            <a:pPr marL="457200" lvl="1" indent="0">
              <a:buNone/>
            </a:pPr>
            <a:r>
              <a:rPr lang="ru-RU" dirty="0"/>
              <a:t>градивните елементи са изяснени като част от доказването на сигурността на схемата,</a:t>
            </a:r>
          </a:p>
          <a:p>
            <a:pPr marL="457200" lvl="1" indent="0">
              <a:buNone/>
            </a:pPr>
            <a:r>
              <a:rPr lang="ru-RU" dirty="0"/>
              <a:t>тогава трябва само да проверим дали изискваните предположения са </a:t>
            </a:r>
            <a:r>
              <a:rPr lang="ru-RU" dirty="0" smtClean="0"/>
              <a:t>засегнати от </a:t>
            </a:r>
            <a:r>
              <a:rPr lang="ru-RU" dirty="0"/>
              <a:t>откритите нови </a:t>
            </a:r>
            <a:r>
              <a:rPr lang="ru-RU" dirty="0" smtClean="0"/>
              <a:t>слабости;</a:t>
            </a:r>
          </a:p>
          <a:p>
            <a:pPr marL="457200" lvl="1" indent="0">
              <a:buNone/>
            </a:pPr>
            <a:r>
              <a:rPr lang="ru-RU" dirty="0" smtClean="0"/>
              <a:t>(Ако основният </a:t>
            </a:r>
            <a:r>
              <a:rPr lang="ru-RU" dirty="0"/>
              <a:t>градивен елемент </a:t>
            </a:r>
            <a:r>
              <a:rPr lang="ru-RU" dirty="0" smtClean="0"/>
              <a:t>не </a:t>
            </a:r>
            <a:r>
              <a:rPr lang="ru-RU" dirty="0"/>
              <a:t>отговаря на </a:t>
            </a:r>
            <a:r>
              <a:rPr lang="ru-RU" dirty="0" smtClean="0"/>
              <a:t>предположението, криптосистемата все </a:t>
            </a:r>
            <a:r>
              <a:rPr lang="ru-RU" dirty="0"/>
              <a:t>още може да бъде създадена </a:t>
            </a:r>
            <a:r>
              <a:rPr lang="ru-RU" dirty="0" smtClean="0"/>
              <a:t>сигурно с </a:t>
            </a:r>
            <a:r>
              <a:rPr lang="ru-RU" dirty="0"/>
              <a:t>помощта на различен компонент, </a:t>
            </a:r>
            <a:r>
              <a:rPr lang="ru-RU" dirty="0" smtClean="0"/>
              <a:t>който се </a:t>
            </a:r>
            <a:r>
              <a:rPr lang="ru-RU" dirty="0"/>
              <a:t>смята, че отговаря на необходимите </a:t>
            </a:r>
            <a:r>
              <a:rPr lang="ru-RU" dirty="0" smtClean="0"/>
              <a:t>изисквания (</a:t>
            </a:r>
            <a:r>
              <a:rPr lang="ru-RU" i="1" dirty="0" smtClean="0"/>
              <a:t>модулност</a:t>
            </a:r>
            <a:r>
              <a:rPr lang="ru-RU" dirty="0" smtClean="0"/>
              <a:t>))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2857"/>
      </p:ext>
    </p:extLst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Принципи на съвременната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Принцип 3:</a:t>
            </a:r>
            <a:r>
              <a:rPr lang="ru-RU" dirty="0" smtClean="0"/>
              <a:t> </a:t>
            </a:r>
            <a:r>
              <a:rPr lang="ru-RU" b="1" dirty="0" smtClean="0">
                <a:solidFill>
                  <a:schemeClr val="accent1"/>
                </a:solidFill>
              </a:rPr>
              <a:t>Доказателства </a:t>
            </a:r>
            <a:r>
              <a:rPr lang="ru-RU" b="1" dirty="0">
                <a:solidFill>
                  <a:schemeClr val="accent1"/>
                </a:solidFill>
              </a:rPr>
              <a:t>за </a:t>
            </a:r>
            <a:r>
              <a:rPr lang="ru-RU" b="1" dirty="0" smtClean="0">
                <a:solidFill>
                  <a:schemeClr val="accent1"/>
                </a:solidFill>
              </a:rPr>
              <a:t>сигурност </a:t>
            </a:r>
            <a:r>
              <a:rPr lang="ru-RU" dirty="0" smtClean="0"/>
              <a:t>- Двата </a:t>
            </a:r>
            <a:r>
              <a:rPr lang="ru-RU" dirty="0"/>
              <a:t>принципа, описани </a:t>
            </a:r>
            <a:r>
              <a:rPr lang="ru-RU" dirty="0" smtClean="0"/>
              <a:t>по-горе дават възможност да се предостави стриктно </a:t>
            </a:r>
            <a:r>
              <a:rPr lang="ru-RU" dirty="0"/>
              <a:t>доказателство, че дадена </a:t>
            </a:r>
            <a:r>
              <a:rPr lang="ru-RU" dirty="0" smtClean="0"/>
              <a:t>криптографска система </a:t>
            </a:r>
            <a:r>
              <a:rPr lang="ru-RU" b="1" dirty="0"/>
              <a:t>удовлетворява </a:t>
            </a:r>
            <a:r>
              <a:rPr lang="ru-RU" b="1" dirty="0" smtClean="0"/>
              <a:t>дадена дефиниция </a:t>
            </a:r>
            <a:r>
              <a:rPr lang="ru-RU" b="1" dirty="0"/>
              <a:t>при определени </a:t>
            </a:r>
            <a:r>
              <a:rPr lang="ru-RU" b="1" dirty="0" smtClean="0"/>
              <a:t>предположения</a:t>
            </a:r>
          </a:p>
          <a:p>
            <a:r>
              <a:rPr lang="ru-RU" dirty="0" smtClean="0"/>
              <a:t>Такива </a:t>
            </a:r>
            <a:r>
              <a:rPr lang="ru-RU" b="1" dirty="0"/>
              <a:t>доказателства </a:t>
            </a:r>
            <a:r>
              <a:rPr lang="ru-RU" dirty="0"/>
              <a:t>са особено важни в </a:t>
            </a:r>
            <a:r>
              <a:rPr lang="ru-RU" dirty="0" smtClean="0"/>
              <a:t>контекста на </a:t>
            </a:r>
            <a:r>
              <a:rPr lang="ru-RU" dirty="0"/>
              <a:t>криптографията, където има </a:t>
            </a:r>
            <a:r>
              <a:rPr lang="ru-RU" dirty="0" smtClean="0"/>
              <a:t>атакуващ, </a:t>
            </a:r>
            <a:r>
              <a:rPr lang="ru-RU" dirty="0"/>
              <a:t>който активно се опитва да „разбие</a:t>
            </a:r>
            <a:r>
              <a:rPr lang="ru-RU" dirty="0" smtClean="0"/>
              <a:t>“ някаква криптосистема</a:t>
            </a:r>
          </a:p>
          <a:p>
            <a:r>
              <a:rPr lang="ru-RU" b="1" dirty="0" smtClean="0"/>
              <a:t>Доказателствата </a:t>
            </a:r>
            <a:r>
              <a:rPr lang="ru-RU" b="1" dirty="0"/>
              <a:t>за сигурност </a:t>
            </a:r>
            <a:r>
              <a:rPr lang="ru-RU" dirty="0"/>
              <a:t>дават желязна гаранция </a:t>
            </a:r>
            <a:r>
              <a:rPr lang="ru-RU" dirty="0" smtClean="0"/>
              <a:t>в </a:t>
            </a:r>
            <a:r>
              <a:rPr lang="ru-RU" dirty="0"/>
              <a:t>сравнение </a:t>
            </a:r>
            <a:r>
              <a:rPr lang="ru-RU" dirty="0" smtClean="0"/>
              <a:t>с дефиницията </a:t>
            </a:r>
            <a:r>
              <a:rPr lang="ru-RU" dirty="0"/>
              <a:t>и </a:t>
            </a:r>
            <a:r>
              <a:rPr lang="ru-RU" dirty="0" smtClean="0"/>
              <a:t>предположенията, </a:t>
            </a:r>
            <a:r>
              <a:rPr lang="ru-RU" dirty="0"/>
              <a:t>че никой </a:t>
            </a:r>
            <a:r>
              <a:rPr lang="ru-RU" dirty="0" smtClean="0"/>
              <a:t>атакуващ </a:t>
            </a:r>
            <a:r>
              <a:rPr lang="ru-RU" dirty="0"/>
              <a:t>няма да </a:t>
            </a:r>
            <a:r>
              <a:rPr lang="ru-RU" dirty="0" smtClean="0"/>
              <a:t>успее </a:t>
            </a:r>
          </a:p>
          <a:p>
            <a:r>
              <a:rPr lang="ru-RU" dirty="0" smtClean="0"/>
              <a:t>Без доказателство</a:t>
            </a:r>
            <a:r>
              <a:rPr lang="ru-RU" dirty="0"/>
              <a:t>, че нито един противник с посочените ресурси не може да разбие дадена </a:t>
            </a:r>
            <a:r>
              <a:rPr lang="ru-RU" dirty="0" smtClean="0"/>
              <a:t>криптосистема, оставаме </a:t>
            </a:r>
            <a:r>
              <a:rPr lang="ru-RU" dirty="0"/>
              <a:t>само с интуицията си, че това е </a:t>
            </a:r>
            <a:r>
              <a:rPr lang="ru-RU" dirty="0" smtClean="0"/>
              <a:t>така; Опитът показа, че </a:t>
            </a:r>
            <a:r>
              <a:rPr lang="ru-RU" dirty="0"/>
              <a:t>интуицията в криптографията и компютърната сигурност е </a:t>
            </a:r>
            <a:r>
              <a:rPr lang="ru-RU" dirty="0" smtClean="0"/>
              <a:t>пагубна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322640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Теорема на </a:t>
            </a:r>
            <a:r>
              <a:rPr lang="bg-BG" dirty="0" err="1" smtClean="0"/>
              <a:t>шанън</a:t>
            </a:r>
            <a:r>
              <a:rPr lang="bg-BG" dirty="0" smtClean="0"/>
              <a:t> за перфектната секретност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7726680" cy="402412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работата си върху </a:t>
            </a:r>
            <a:r>
              <a:rPr lang="ru-RU" b="1" dirty="0" smtClean="0"/>
              <a:t>перфектната</a:t>
            </a:r>
            <a:r>
              <a:rPr lang="ru-RU" dirty="0" smtClean="0"/>
              <a:t> </a:t>
            </a:r>
            <a:r>
              <a:rPr lang="ru-RU" b="1" dirty="0"/>
              <a:t>секретност</a:t>
            </a:r>
            <a:r>
              <a:rPr lang="ru-RU" dirty="0"/>
              <a:t> Шанън </a:t>
            </a:r>
            <a:r>
              <a:rPr lang="ru-RU" dirty="0" smtClean="0"/>
              <a:t>дава </a:t>
            </a:r>
            <a:r>
              <a:rPr lang="ru-RU" dirty="0"/>
              <a:t>характеристика </a:t>
            </a:r>
            <a:r>
              <a:rPr lang="ru-RU" dirty="0" smtClean="0"/>
              <a:t>на</a:t>
            </a:r>
            <a:r>
              <a:rPr lang="en-US" dirty="0" smtClean="0"/>
              <a:t> </a:t>
            </a:r>
            <a:r>
              <a:rPr lang="ru-RU" b="1" dirty="0" smtClean="0">
                <a:solidFill>
                  <a:srgbClr val="FF0000"/>
                </a:solidFill>
              </a:rPr>
              <a:t>перфектните </a:t>
            </a:r>
            <a:r>
              <a:rPr lang="ru-RU" b="1" dirty="0">
                <a:solidFill>
                  <a:srgbClr val="FF0000"/>
                </a:solidFill>
              </a:rPr>
              <a:t>секретни </a:t>
            </a:r>
            <a:r>
              <a:rPr lang="ru-RU" b="1" dirty="0" smtClean="0">
                <a:solidFill>
                  <a:srgbClr val="FF0000"/>
                </a:solidFill>
              </a:rPr>
              <a:t>криптосистеми</a:t>
            </a:r>
          </a:p>
          <a:p>
            <a:r>
              <a:rPr lang="ru-RU" dirty="0" smtClean="0"/>
              <a:t>Тази </a:t>
            </a:r>
            <a:r>
              <a:rPr lang="ru-RU" dirty="0"/>
              <a:t>характеристика казва, че </a:t>
            </a:r>
            <a:r>
              <a:rPr lang="ru-RU" dirty="0" smtClean="0"/>
              <a:t>при определени </a:t>
            </a:r>
            <a:r>
              <a:rPr lang="ru-RU" dirty="0"/>
              <a:t>условия, алгоритъмът за генериране на ключ Gen трябва да избере </a:t>
            </a:r>
            <a:r>
              <a:rPr lang="ru-RU" dirty="0" smtClean="0"/>
              <a:t>ключа равномерно </a:t>
            </a:r>
            <a:r>
              <a:rPr lang="ru-RU" dirty="0"/>
              <a:t>от набора от всички възможни ключове </a:t>
            </a:r>
            <a:endParaRPr lang="ru-RU" dirty="0" smtClean="0"/>
          </a:p>
          <a:p>
            <a:r>
              <a:rPr lang="ru-RU" dirty="0" smtClean="0"/>
              <a:t>Освен </a:t>
            </a:r>
            <a:r>
              <a:rPr lang="ru-RU" dirty="0"/>
              <a:t>това</a:t>
            </a:r>
            <a:r>
              <a:rPr lang="ru-RU" dirty="0" smtClean="0"/>
              <a:t>, за </a:t>
            </a:r>
            <a:r>
              <a:rPr lang="ru-RU" dirty="0"/>
              <a:t>всяко съобщение </a:t>
            </a:r>
            <a:r>
              <a:rPr lang="en-US" b="1" dirty="0" smtClean="0"/>
              <a:t>p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smtClean="0"/>
              <a:t>криптограма </a:t>
            </a:r>
            <a:r>
              <a:rPr lang="ru-RU" b="1" dirty="0" smtClean="0"/>
              <a:t>c</a:t>
            </a:r>
            <a:r>
              <a:rPr lang="ru-RU" dirty="0" smtClean="0"/>
              <a:t> </a:t>
            </a:r>
            <a:r>
              <a:rPr lang="ru-RU" dirty="0"/>
              <a:t>има </a:t>
            </a:r>
            <a:r>
              <a:rPr lang="ru-RU" dirty="0" smtClean="0"/>
              <a:t>ключ с уникално </a:t>
            </a:r>
            <a:r>
              <a:rPr lang="ru-RU" dirty="0"/>
              <a:t>съпоставяне на </a:t>
            </a:r>
            <a:r>
              <a:rPr lang="ru-RU" b="1" dirty="0" smtClean="0"/>
              <a:t>р</a:t>
            </a:r>
            <a:r>
              <a:rPr lang="ru-RU" dirty="0" smtClean="0"/>
              <a:t> </a:t>
            </a:r>
            <a:r>
              <a:rPr lang="ru-RU" dirty="0"/>
              <a:t>към </a:t>
            </a:r>
            <a:r>
              <a:rPr lang="ru-RU" b="1" dirty="0" smtClean="0"/>
              <a:t>c</a:t>
            </a:r>
          </a:p>
          <a:p>
            <a:r>
              <a:rPr lang="ru-RU" dirty="0" smtClean="0"/>
              <a:t>В Теоремата на Шанън се приема, че </a:t>
            </a:r>
            <a:r>
              <a:rPr lang="ru-RU" dirty="0"/>
              <a:t>| M| = |K| = |C|, което означава, че </a:t>
            </a:r>
            <a:r>
              <a:rPr lang="ru-RU" dirty="0" smtClean="0"/>
              <a:t>множествата на явните съобщения, </a:t>
            </a:r>
            <a:r>
              <a:rPr lang="ru-RU" dirty="0"/>
              <a:t>ключове и </a:t>
            </a:r>
            <a:r>
              <a:rPr lang="ru-RU" dirty="0" smtClean="0"/>
              <a:t>криптограми имат </a:t>
            </a:r>
            <a:r>
              <a:rPr lang="ru-RU" dirty="0"/>
              <a:t>еднакъв </a:t>
            </a:r>
            <a:r>
              <a:rPr lang="ru-RU" dirty="0" smtClean="0"/>
              <a:t>размер</a:t>
            </a:r>
          </a:p>
          <a:p>
            <a:r>
              <a:rPr lang="ru-RU" dirty="0" smtClean="0"/>
              <a:t>За </a:t>
            </a:r>
            <a:r>
              <a:rPr lang="ru-RU" dirty="0"/>
              <a:t>перфектна секретност </a:t>
            </a:r>
            <a:r>
              <a:rPr lang="ru-RU" dirty="0" smtClean="0"/>
              <a:t>е необходимо|K</a:t>
            </a:r>
            <a:r>
              <a:rPr lang="ru-RU" dirty="0"/>
              <a:t>| ≥ |</a:t>
            </a:r>
            <a:r>
              <a:rPr lang="ru-RU" dirty="0" smtClean="0"/>
              <a:t>M| </a:t>
            </a:r>
          </a:p>
          <a:p>
            <a:r>
              <a:rPr lang="ru-RU" dirty="0" smtClean="0"/>
              <a:t>За правилното </a:t>
            </a:r>
            <a:r>
              <a:rPr lang="ru-RU" dirty="0"/>
              <a:t>декриптиране </a:t>
            </a:r>
            <a:r>
              <a:rPr lang="ru-RU" dirty="0" smtClean="0"/>
              <a:t>се изисква </a:t>
            </a:r>
            <a:r>
              <a:rPr lang="ru-RU" dirty="0"/>
              <a:t>|C| ≥ |</a:t>
            </a:r>
            <a:r>
              <a:rPr lang="ru-RU" dirty="0" smtClean="0"/>
              <a:t>M|</a:t>
            </a:r>
          </a:p>
          <a:p>
            <a:r>
              <a:rPr lang="ru-RU" dirty="0" smtClean="0"/>
              <a:t>Следователно</a:t>
            </a:r>
            <a:r>
              <a:rPr lang="ru-RU" dirty="0"/>
              <a:t>, в известен смисъл, </a:t>
            </a:r>
            <a:r>
              <a:rPr lang="ru-RU" dirty="0" smtClean="0"/>
              <a:t>криптосистеми с </a:t>
            </a:r>
            <a:r>
              <a:rPr lang="ru-RU" dirty="0"/>
              <a:t>|M| = |K| = |C| са „оптимални</a:t>
            </a:r>
            <a:r>
              <a:rPr lang="ru-RU" dirty="0" smtClean="0"/>
              <a:t>“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903" y="2194560"/>
            <a:ext cx="2515148" cy="337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47543"/>
      </p:ext>
    </p:extLst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Теорема на </a:t>
            </a:r>
            <a:r>
              <a:rPr lang="bg-BG" dirty="0" err="1" smtClean="0"/>
              <a:t>шанън</a:t>
            </a:r>
            <a:r>
              <a:rPr lang="bg-BG" dirty="0" smtClean="0"/>
              <a:t> </a:t>
            </a:r>
            <a:r>
              <a:rPr lang="bg-BG" dirty="0"/>
              <a:t>за перфектната секретност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Теорема на </a:t>
            </a:r>
            <a:r>
              <a:rPr lang="bg-BG" b="1" dirty="0" err="1" smtClean="0"/>
              <a:t>Шанън</a:t>
            </a:r>
            <a:r>
              <a:rPr lang="bg-BG" dirty="0" smtClean="0"/>
              <a:t>: </a:t>
            </a:r>
          </a:p>
          <a:p>
            <a:r>
              <a:rPr lang="bg-BG" dirty="0" smtClean="0"/>
              <a:t>Нека </a:t>
            </a:r>
            <a:r>
              <a:rPr lang="en-US" dirty="0" smtClean="0"/>
              <a:t>(Gen</a:t>
            </a:r>
            <a:r>
              <a:rPr lang="en-US" dirty="0"/>
              <a:t>, </a:t>
            </a:r>
            <a:r>
              <a:rPr lang="en-US" dirty="0" err="1"/>
              <a:t>Enc</a:t>
            </a:r>
            <a:r>
              <a:rPr lang="en-US" dirty="0"/>
              <a:t>, Dec) </a:t>
            </a:r>
            <a:r>
              <a:rPr lang="bg-BG" dirty="0" smtClean="0"/>
              <a:t>е една </a:t>
            </a:r>
            <a:r>
              <a:rPr lang="bg-BG" dirty="0" err="1" smtClean="0"/>
              <a:t>криптографска</a:t>
            </a:r>
            <a:r>
              <a:rPr lang="bg-BG" dirty="0" smtClean="0"/>
              <a:t> система с пространство на съобщенията </a:t>
            </a:r>
            <a:r>
              <a:rPr lang="en-US" dirty="0" smtClean="0"/>
              <a:t>M</a:t>
            </a:r>
            <a:r>
              <a:rPr lang="en-US" dirty="0"/>
              <a:t>, </a:t>
            </a:r>
            <a:r>
              <a:rPr lang="bg-BG" dirty="0" smtClean="0"/>
              <a:t>за което</a:t>
            </a:r>
            <a:r>
              <a:rPr lang="en-US" dirty="0" smtClean="0"/>
              <a:t>|M</a:t>
            </a:r>
            <a:r>
              <a:rPr lang="en-US" dirty="0"/>
              <a:t>| = |K| = |C</a:t>
            </a:r>
            <a:r>
              <a:rPr lang="en-US" dirty="0" smtClean="0"/>
              <a:t>|</a:t>
            </a:r>
            <a:r>
              <a:rPr lang="bg-BG" dirty="0" smtClean="0"/>
              <a:t>(размерностите на съобщението, ключа и криптограмата са равни).</a:t>
            </a:r>
            <a:r>
              <a:rPr lang="en-US" dirty="0" smtClean="0"/>
              <a:t> </a:t>
            </a:r>
            <a:r>
              <a:rPr lang="bg-BG" dirty="0" smtClean="0"/>
              <a:t>Тази </a:t>
            </a:r>
            <a:r>
              <a:rPr lang="bg-BG" b="1" dirty="0" err="1" smtClean="0">
                <a:solidFill>
                  <a:srgbClr val="0070C0"/>
                </a:solidFill>
              </a:rPr>
              <a:t>криптосистема</a:t>
            </a:r>
            <a:r>
              <a:rPr lang="bg-BG" b="1" dirty="0" smtClean="0">
                <a:solidFill>
                  <a:srgbClr val="0070C0"/>
                </a:solidFill>
              </a:rPr>
              <a:t> е перфектно секретна</a:t>
            </a:r>
            <a:r>
              <a:rPr lang="bg-BG" dirty="0" smtClean="0"/>
              <a:t> ако и само тогава, когато: </a:t>
            </a:r>
          </a:p>
          <a:p>
            <a:pPr marL="914400" lvl="1" indent="-457200">
              <a:buFont typeface="+mj-lt"/>
              <a:buAutoNum type="arabicPeriod"/>
            </a:pPr>
            <a:r>
              <a:rPr lang="bg-BG" dirty="0" smtClean="0"/>
              <a:t>Всеки ключ</a:t>
            </a:r>
            <a:r>
              <a:rPr lang="en-US" dirty="0" smtClean="0"/>
              <a:t> </a:t>
            </a:r>
            <a:r>
              <a:rPr lang="en-US" dirty="0"/>
              <a:t>k ∈ K </a:t>
            </a:r>
            <a:r>
              <a:rPr lang="bg-BG" dirty="0" smtClean="0"/>
              <a:t>е избран с равна вероятност </a:t>
            </a:r>
            <a:r>
              <a:rPr lang="en-US" dirty="0" smtClean="0"/>
              <a:t>1</a:t>
            </a:r>
            <a:r>
              <a:rPr lang="en-US" dirty="0"/>
              <a:t>/|K| </a:t>
            </a:r>
            <a:r>
              <a:rPr lang="bg-BG" dirty="0" smtClean="0"/>
              <a:t>чрез алгоритъма </a:t>
            </a:r>
            <a:r>
              <a:rPr lang="en-US" dirty="0" smtClean="0"/>
              <a:t>Gen</a:t>
            </a:r>
            <a:endParaRPr lang="bg-BG" dirty="0" smtClean="0"/>
          </a:p>
          <a:p>
            <a:pPr marL="914400" lvl="1" indent="-457200">
              <a:buFont typeface="+mj-lt"/>
              <a:buAutoNum type="arabicPeriod"/>
            </a:pPr>
            <a:r>
              <a:rPr lang="bg-BG" dirty="0" smtClean="0"/>
              <a:t>За всяко явно съобщение </a:t>
            </a:r>
            <a:r>
              <a:rPr lang="en-US" dirty="0" smtClean="0"/>
              <a:t>p ∈ </a:t>
            </a:r>
            <a:r>
              <a:rPr lang="en-US" dirty="0"/>
              <a:t>M </a:t>
            </a:r>
            <a:r>
              <a:rPr lang="bg-BG" dirty="0" smtClean="0"/>
              <a:t>и за всяка криптограма </a:t>
            </a:r>
            <a:r>
              <a:rPr lang="en-US" dirty="0" smtClean="0"/>
              <a:t>c </a:t>
            </a:r>
            <a:r>
              <a:rPr lang="en-US" dirty="0"/>
              <a:t>∈ C, </a:t>
            </a:r>
            <a:r>
              <a:rPr lang="bg-BG" dirty="0" smtClean="0"/>
              <a:t>съществува уникален ключ</a:t>
            </a:r>
            <a:r>
              <a:rPr lang="en-US" dirty="0" smtClean="0"/>
              <a:t> </a:t>
            </a:r>
            <a:r>
              <a:rPr lang="en-US" dirty="0"/>
              <a:t>k ∈ K </a:t>
            </a:r>
            <a:r>
              <a:rPr lang="bg-BG" dirty="0" smtClean="0"/>
              <a:t>такъв, че чрез </a:t>
            </a:r>
            <a:r>
              <a:rPr lang="en-US" dirty="0" err="1" smtClean="0"/>
              <a:t>Enc</a:t>
            </a:r>
            <a:r>
              <a:rPr lang="en-US" b="1" baseline="-25000" dirty="0" err="1" smtClean="0"/>
              <a:t>k</a:t>
            </a:r>
            <a:r>
              <a:rPr lang="en-US" dirty="0" smtClean="0"/>
              <a:t>(</a:t>
            </a:r>
            <a:r>
              <a:rPr lang="bg-BG" dirty="0" smtClean="0"/>
              <a:t>р</a:t>
            </a:r>
            <a:r>
              <a:rPr lang="en-US" dirty="0" smtClean="0"/>
              <a:t>) </a:t>
            </a:r>
            <a:r>
              <a:rPr lang="bg-BG" dirty="0" smtClean="0"/>
              <a:t>се получава</a:t>
            </a:r>
            <a:r>
              <a:rPr lang="en-US" dirty="0" smtClean="0"/>
              <a:t> </a:t>
            </a:r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79111947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1123</TotalTime>
  <Words>2987</Words>
  <Application>Microsoft Office PowerPoint</Application>
  <PresentationFormat>Widescreen</PresentationFormat>
  <Paragraphs>266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Century Gothic</vt:lpstr>
      <vt:lpstr>Vapor Trail</vt:lpstr>
      <vt:lpstr>Въведение в класическата и съвременната криптография</vt:lpstr>
      <vt:lpstr>Литературни източници</vt:lpstr>
      <vt:lpstr>Въведение</vt:lpstr>
      <vt:lpstr>Въведение</vt:lpstr>
      <vt:lpstr>Произход</vt:lpstr>
      <vt:lpstr>ПРОИЗХОД</vt:lpstr>
      <vt:lpstr>Понятия</vt:lpstr>
      <vt:lpstr>Криптосистема</vt:lpstr>
      <vt:lpstr>Криптографски алгоритъм</vt:lpstr>
      <vt:lpstr>Симетрична криптография - Криптиране с частен ключ</vt:lpstr>
      <vt:lpstr>Асиметрична криптография</vt:lpstr>
      <vt:lpstr>класификация</vt:lpstr>
      <vt:lpstr>Използвана нотация при криптиране</vt:lpstr>
      <vt:lpstr>Ключове и принцип на Къркхофс</vt:lpstr>
      <vt:lpstr>Криптография - история</vt:lpstr>
      <vt:lpstr>Криптография - история</vt:lpstr>
      <vt:lpstr>Криптография - история</vt:lpstr>
      <vt:lpstr>Криптография - история</vt:lpstr>
      <vt:lpstr>Криптография - история</vt:lpstr>
      <vt:lpstr>PGP (Pretty Good Privacy</vt:lpstr>
      <vt:lpstr>Исторически криптосистеми и криптоанализ</vt:lpstr>
      <vt:lpstr>Исторически криптосистеми и криптоанализ</vt:lpstr>
      <vt:lpstr>търсене на ключ до изчерпване на всички възможности (exhaustive key search) </vt:lpstr>
      <vt:lpstr>принцип на задоволително пространство на ключовете</vt:lpstr>
      <vt:lpstr>Принципи на съвременната криптография</vt:lpstr>
      <vt:lpstr>Принципи на съвременната криптография</vt:lpstr>
      <vt:lpstr>Принципи на съвременната криптография</vt:lpstr>
      <vt:lpstr>Принципи на съвременната криптография</vt:lpstr>
      <vt:lpstr>Теорема на шанън за перфектната секретност</vt:lpstr>
      <vt:lpstr>Теорема на шанън за перфектната секретност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Въведение в класическата и съвременната криптография</dc:title>
  <dc:creator>Malinka Ivanova</dc:creator>
  <cp:lastModifiedBy>Malinka Ivanova</cp:lastModifiedBy>
  <cp:revision>115</cp:revision>
  <dcterms:created xsi:type="dcterms:W3CDTF">2022-09-25T16:18:08Z</dcterms:created>
  <dcterms:modified xsi:type="dcterms:W3CDTF">2025-09-24T10:35:38Z</dcterms:modified>
</cp:coreProperties>
</file>