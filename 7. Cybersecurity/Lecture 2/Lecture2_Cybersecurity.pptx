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31"/>
  </p:notesMasterIdLst>
  <p:sldIdLst>
    <p:sldId id="256" r:id="rId2"/>
    <p:sldId id="276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291" r:id="rId18"/>
    <p:sldId id="292" r:id="rId19"/>
    <p:sldId id="293" r:id="rId20"/>
    <p:sldId id="294" r:id="rId21"/>
    <p:sldId id="295" r:id="rId22"/>
    <p:sldId id="296" r:id="rId23"/>
    <p:sldId id="297" r:id="rId24"/>
    <p:sldId id="298" r:id="rId25"/>
    <p:sldId id="299" r:id="rId26"/>
    <p:sldId id="300" r:id="rId27"/>
    <p:sldId id="301" r:id="rId28"/>
    <p:sldId id="302" r:id="rId29"/>
    <p:sldId id="303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0" d="100"/>
          <a:sy n="50" d="100"/>
        </p:scale>
        <p:origin x="22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07D68F-0E77-4B72-86FC-2E050D93422D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AAF38-D7E5-4112-9208-2260DD505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927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774A3BAC-C9C3-4373-BB02-09DD2C2C5907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928F0540-044F-4E3E-B509-A8E97D76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99067"/>
      </p:ext>
    </p:extLst>
  </p:cSld>
  <p:clrMapOvr>
    <a:masterClrMapping/>
  </p:clrMapOvr>
  <p:transition spd="slow">
    <p:randomBar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3BAC-C9C3-4373-BB02-09DD2C2C5907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F0540-044F-4E3E-B509-A8E97D76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402357"/>
      </p:ext>
    </p:extLst>
  </p:cSld>
  <p:clrMapOvr>
    <a:masterClrMapping/>
  </p:clrMapOvr>
  <p:transition spd="slow">
    <p:randomBar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74A3BAC-C9C3-4373-BB02-09DD2C2C5907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28F0540-044F-4E3E-B509-A8E97D76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976821"/>
      </p:ext>
    </p:extLst>
  </p:cSld>
  <p:clrMapOvr>
    <a:masterClrMapping/>
  </p:clrMapOvr>
  <p:transition spd="slow">
    <p:randomBar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3BAC-C9C3-4373-BB02-09DD2C2C5907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F0540-044F-4E3E-B509-A8E97D76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378883"/>
      </p:ext>
    </p:extLst>
  </p:cSld>
  <p:clrMapOvr>
    <a:masterClrMapping/>
  </p:clrMapOvr>
  <p:transition spd="slow">
    <p:randomBar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3BAC-C9C3-4373-BB02-09DD2C2C5907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F0540-044F-4E3E-B509-A8E97D76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253794"/>
      </p:ext>
    </p:extLst>
  </p:cSld>
  <p:clrMapOvr>
    <a:masterClrMapping/>
  </p:clrMapOvr>
  <p:transition spd="slow">
    <p:randomBar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3BAC-C9C3-4373-BB02-09DD2C2C5907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F0540-044F-4E3E-B509-A8E97D76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447361"/>
      </p:ext>
    </p:extLst>
  </p:cSld>
  <p:clrMapOvr>
    <a:masterClrMapping/>
  </p:clrMapOvr>
  <p:transition spd="slow">
    <p:randomBar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3BAC-C9C3-4373-BB02-09DD2C2C5907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F0540-044F-4E3E-B509-A8E97D76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291483"/>
      </p:ext>
    </p:extLst>
  </p:cSld>
  <p:clrMapOvr>
    <a:masterClrMapping/>
  </p:clrMapOvr>
  <p:transition spd="slow">
    <p:randomBar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3BAC-C9C3-4373-BB02-09DD2C2C5907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F0540-044F-4E3E-B509-A8E97D76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53389"/>
      </p:ext>
    </p:extLst>
  </p:cSld>
  <p:clrMapOvr>
    <a:masterClrMapping/>
  </p:clrMapOvr>
  <p:transition spd="slow">
    <p:randomBar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3BAC-C9C3-4373-BB02-09DD2C2C5907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F0540-044F-4E3E-B509-A8E97D76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573685"/>
      </p:ext>
    </p:extLst>
  </p:cSld>
  <p:clrMapOvr>
    <a:masterClrMapping/>
  </p:clrMapOvr>
  <p:transition spd="slow">
    <p:randomBar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3BAC-C9C3-4373-BB02-09DD2C2C5907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F0540-044F-4E3E-B509-A8E97D76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200757"/>
      </p:ext>
    </p:extLst>
  </p:cSld>
  <p:clrMapOvr>
    <a:masterClrMapping/>
  </p:clrMapOvr>
  <p:transition spd="slow">
    <p:randomBar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74A3BAC-C9C3-4373-BB02-09DD2C2C5907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28F0540-044F-4E3E-B509-A8E97D76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245996"/>
      </p:ext>
    </p:extLst>
  </p:cSld>
  <p:clrMapOvr>
    <a:masterClrMapping/>
  </p:clrMapOvr>
  <p:transition spd="slow">
    <p:randomBar dir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74A3BAC-C9C3-4373-BB02-09DD2C2C5907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28F0540-044F-4E3E-B509-A8E97D7659A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69643881"/>
      </p:ext>
    </p:extLst>
  </p:cSld>
  <p:clrMapOvr>
    <a:masterClrMapping/>
  </p:clrMapOvr>
  <p:transition spd="slow">
    <p:randomBar dir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74A3BAC-C9C3-4373-BB02-09DD2C2C5907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28F0540-044F-4E3E-B509-A8E97D76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00314"/>
      </p:ext>
    </p:extLst>
  </p:cSld>
  <p:clrMapOvr>
    <a:masterClrMapping/>
  </p:clrMapOvr>
  <p:transition spd="slow">
    <p:randomBar dir="vert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3BAC-C9C3-4373-BB02-09DD2C2C5907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F0540-044F-4E3E-B509-A8E97D76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558206"/>
      </p:ext>
    </p:extLst>
  </p:cSld>
  <p:clrMapOvr>
    <a:masterClrMapping/>
  </p:clrMapOvr>
  <p:transition spd="slow">
    <p:randomBar dir="vert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3BAC-C9C3-4373-BB02-09DD2C2C5907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F0540-044F-4E3E-B509-A8E97D76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302306"/>
      </p:ext>
    </p:extLst>
  </p:cSld>
  <p:clrMapOvr>
    <a:masterClrMapping/>
  </p:clrMapOvr>
  <p:transition spd="slow">
    <p:randomBar dir="vert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3BAC-C9C3-4373-BB02-09DD2C2C5907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F0540-044F-4E3E-B509-A8E97D76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315367"/>
      </p:ext>
    </p:extLst>
  </p:cSld>
  <p:clrMapOvr>
    <a:masterClrMapping/>
  </p:clrMapOvr>
  <p:transition spd="slow">
    <p:randomBar dir="vert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74A3BAC-C9C3-4373-BB02-09DD2C2C5907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28F0540-044F-4E3E-B509-A8E97D76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851396"/>
      </p:ext>
    </p:extLst>
  </p:cSld>
  <p:clrMapOvr>
    <a:masterClrMapping/>
  </p:clrMapOvr>
  <p:transition spd="slow">
    <p:randomBar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4A3BAC-C9C3-4373-BB02-09DD2C2C5907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8F0540-044F-4E3E-B509-A8E97D76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138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ransition spd="slow">
    <p:randomBar dir="vert"/>
  </p:transition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54764" y="471055"/>
            <a:ext cx="6765636" cy="3157446"/>
          </a:xfrm>
        </p:spPr>
        <p:txBody>
          <a:bodyPr>
            <a:normAutofit fontScale="90000"/>
          </a:bodyPr>
          <a:lstStyle/>
          <a:p>
            <a:r>
              <a:rPr lang="bg-BG" dirty="0" smtClean="0"/>
              <a:t>Симетрична криптография </a:t>
            </a:r>
            <a:br>
              <a:rPr lang="bg-BG" dirty="0" smtClean="0"/>
            </a:br>
            <a:r>
              <a:rPr lang="bg-BG" dirty="0" smtClean="0"/>
              <a:t>Поточни алгоритми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16944" y="3632201"/>
            <a:ext cx="5703455" cy="685800"/>
          </a:xfrm>
        </p:spPr>
        <p:txBody>
          <a:bodyPr/>
          <a:lstStyle/>
          <a:p>
            <a:r>
              <a:rPr lang="bg-BG" dirty="0" smtClean="0"/>
              <a:t>Доц. Малинка Иванова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48589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Разлика между поточни и блокови алгоритми</a:t>
            </a:r>
            <a:endParaRPr lang="en-US" dirty="0"/>
          </a:p>
        </p:txBody>
      </p:sp>
      <p:grpSp>
        <p:nvGrpSpPr>
          <p:cNvPr id="22" name="Group 21"/>
          <p:cNvGrpSpPr/>
          <p:nvPr/>
        </p:nvGrpSpPr>
        <p:grpSpPr>
          <a:xfrm>
            <a:off x="301752" y="2550188"/>
            <a:ext cx="11076432" cy="2936212"/>
            <a:chOff x="301752" y="2550188"/>
            <a:chExt cx="11076432" cy="2936212"/>
          </a:xfrm>
        </p:grpSpPr>
        <p:sp>
          <p:nvSpPr>
            <p:cNvPr id="3" name="Rectangle 2"/>
            <p:cNvSpPr/>
            <p:nvPr/>
          </p:nvSpPr>
          <p:spPr>
            <a:xfrm>
              <a:off x="2478024" y="4517136"/>
              <a:ext cx="1463040" cy="9692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bg-BG" dirty="0" smtClean="0"/>
                <a:t>Поточен алгоритъм</a:t>
              </a:r>
              <a:endParaRPr lang="en-US" dirty="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8564880" y="4379976"/>
              <a:ext cx="1463040" cy="969264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bg-BG" dirty="0" smtClean="0"/>
                <a:t>Блоков алгоритъм</a:t>
              </a:r>
              <a:endParaRPr lang="en-US" dirty="0"/>
            </a:p>
          </p:txBody>
        </p:sp>
        <p:cxnSp>
          <p:nvCxnSpPr>
            <p:cNvPr id="9" name="Straight Arrow Connector 8"/>
            <p:cNvCxnSpPr/>
            <p:nvPr/>
          </p:nvCxnSpPr>
          <p:spPr>
            <a:xfrm>
              <a:off x="1572768" y="4910328"/>
              <a:ext cx="6858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>
              <a:off x="4029456" y="4962144"/>
              <a:ext cx="6858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>
              <a:off x="7748016" y="4858512"/>
              <a:ext cx="6858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>
              <a:off x="10134600" y="4858512"/>
              <a:ext cx="6858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301752" y="4489180"/>
              <a:ext cx="19568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P=p</a:t>
              </a:r>
              <a:r>
                <a:rPr lang="en-US" baseline="-25000" dirty="0" smtClean="0"/>
                <a:t>1</a:t>
              </a:r>
              <a:r>
                <a:rPr lang="en-US" dirty="0" smtClean="0"/>
                <a:t>p</a:t>
              </a:r>
              <a:r>
                <a:rPr lang="en-US" baseline="-25000" dirty="0"/>
                <a:t>2</a:t>
              </a:r>
              <a:r>
                <a:rPr lang="en-US" dirty="0" smtClean="0"/>
                <a:t>…</a:t>
              </a:r>
              <a:r>
                <a:rPr lang="en-US" dirty="0" err="1" smtClean="0"/>
                <a:t>p</a:t>
              </a:r>
              <a:r>
                <a:rPr lang="en-US" baseline="-25000" dirty="0" err="1"/>
                <a:t>n</a:t>
              </a:r>
              <a:endParaRPr lang="en-US" baseline="-25000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296156" y="4545830"/>
              <a:ext cx="19568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C=c</a:t>
              </a:r>
              <a:r>
                <a:rPr lang="en-US" baseline="-25000" dirty="0"/>
                <a:t>1</a:t>
              </a:r>
              <a:r>
                <a:rPr lang="en-US" dirty="0" smtClean="0"/>
                <a:t>c</a:t>
              </a:r>
              <a:r>
                <a:rPr lang="en-US" baseline="-25000" dirty="0"/>
                <a:t>2</a:t>
              </a:r>
              <a:r>
                <a:rPr lang="en-US" dirty="0" smtClean="0"/>
                <a:t>…</a:t>
              </a:r>
              <a:r>
                <a:rPr lang="en-US" dirty="0" err="1"/>
                <a:t>c</a:t>
              </a:r>
              <a:r>
                <a:rPr lang="en-US" baseline="-25000" dirty="0" err="1"/>
                <a:t>n</a:t>
              </a:r>
              <a:endParaRPr lang="en-US" baseline="-25000" dirty="0"/>
            </a:p>
          </p:txBody>
        </p:sp>
        <p:cxnSp>
          <p:nvCxnSpPr>
            <p:cNvPr id="16" name="Straight Arrow Connector 15"/>
            <p:cNvCxnSpPr/>
            <p:nvPr/>
          </p:nvCxnSpPr>
          <p:spPr>
            <a:xfrm>
              <a:off x="3209544" y="3593592"/>
              <a:ext cx="0" cy="6492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3383280" y="3785616"/>
              <a:ext cx="646176" cy="3657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k</a:t>
              </a:r>
              <a:endParaRPr lang="en-US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607808" y="2550188"/>
              <a:ext cx="826008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P=</a:t>
              </a:r>
            </a:p>
            <a:p>
              <a:r>
                <a:rPr lang="en-US" dirty="0" smtClean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p</a:t>
              </a:r>
              <a:r>
                <a:rPr lang="en-US" baseline="-25000" dirty="0"/>
                <a:t>1</a:t>
              </a:r>
            </a:p>
            <a:p>
              <a:r>
                <a:rPr lang="en-US" dirty="0" smtClean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p</a:t>
              </a:r>
              <a:r>
                <a:rPr lang="en-US" baseline="-25000" dirty="0"/>
                <a:t>2</a:t>
              </a:r>
            </a:p>
            <a:p>
              <a:r>
                <a:rPr lang="en-US" dirty="0" err="1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p</a:t>
              </a:r>
              <a:r>
                <a:rPr lang="en-US" baseline="-25000" dirty="0" err="1"/>
                <a:t>k</a:t>
              </a:r>
              <a:endParaRPr lang="en-US" baseline="-25000" dirty="0"/>
            </a:p>
            <a:p>
              <a:r>
                <a:rPr lang="en-US" dirty="0" smtClean="0"/>
                <a:t>…</a:t>
              </a:r>
            </a:p>
            <a:p>
              <a:r>
                <a:rPr lang="en-US" dirty="0" smtClean="0">
                  <a:solidFill>
                    <a:schemeClr val="accent4">
                      <a:lumMod val="75000"/>
                    </a:schemeClr>
                  </a:solidFill>
                </a:rPr>
                <a:t>p</a:t>
              </a:r>
              <a:r>
                <a:rPr lang="en-US" baseline="-25000" dirty="0"/>
                <a:t>n-2</a:t>
              </a:r>
            </a:p>
            <a:p>
              <a:r>
                <a:rPr lang="en-US" dirty="0" smtClean="0">
                  <a:solidFill>
                    <a:schemeClr val="accent4">
                      <a:lumMod val="75000"/>
                    </a:schemeClr>
                  </a:solidFill>
                </a:rPr>
                <a:t>p</a:t>
              </a:r>
              <a:r>
                <a:rPr lang="en-US" baseline="-25000" dirty="0"/>
                <a:t>n-1</a:t>
              </a:r>
            </a:p>
            <a:p>
              <a:r>
                <a:rPr lang="en-US" dirty="0" err="1" smtClean="0">
                  <a:solidFill>
                    <a:schemeClr val="accent4">
                      <a:lumMod val="75000"/>
                    </a:schemeClr>
                  </a:solidFill>
                </a:rPr>
                <a:t>p</a:t>
              </a:r>
              <a:r>
                <a:rPr lang="en-US" baseline="-25000" dirty="0" err="1"/>
                <a:t>n</a:t>
              </a:r>
              <a:endParaRPr lang="en-US" baseline="-25000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0552176" y="2550188"/>
              <a:ext cx="826008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C=</a:t>
              </a:r>
            </a:p>
            <a:p>
              <a:r>
                <a:rPr lang="en-US" dirty="0" smtClean="0"/>
                <a:t>c</a:t>
              </a:r>
              <a:r>
                <a:rPr lang="en-US" baseline="-25000" dirty="0"/>
                <a:t>1</a:t>
              </a:r>
            </a:p>
            <a:p>
              <a:r>
                <a:rPr lang="en-US" dirty="0" smtClean="0"/>
                <a:t>c</a:t>
              </a:r>
              <a:r>
                <a:rPr lang="en-US" baseline="-25000" dirty="0"/>
                <a:t>2</a:t>
              </a:r>
            </a:p>
            <a:p>
              <a:r>
                <a:rPr lang="en-US" dirty="0" err="1" smtClean="0"/>
                <a:t>c</a:t>
              </a:r>
              <a:r>
                <a:rPr lang="en-US" baseline="-25000" dirty="0" err="1"/>
                <a:t>k</a:t>
              </a:r>
              <a:endParaRPr lang="en-US" baseline="-25000" dirty="0"/>
            </a:p>
            <a:p>
              <a:r>
                <a:rPr lang="en-US" dirty="0" smtClean="0"/>
                <a:t>…</a:t>
              </a:r>
            </a:p>
            <a:p>
              <a:r>
                <a:rPr lang="en-US" dirty="0" smtClean="0"/>
                <a:t>c</a:t>
              </a:r>
              <a:r>
                <a:rPr lang="en-US" baseline="-25000" dirty="0"/>
                <a:t>n-2</a:t>
              </a:r>
            </a:p>
            <a:p>
              <a:r>
                <a:rPr lang="en-US" dirty="0" smtClean="0"/>
                <a:t>c</a:t>
              </a:r>
              <a:r>
                <a:rPr lang="en-US" baseline="-25000" dirty="0"/>
                <a:t>n-1</a:t>
              </a:r>
            </a:p>
            <a:p>
              <a:r>
                <a:rPr lang="en-US" dirty="0" err="1" smtClean="0"/>
                <a:t>c</a:t>
              </a:r>
              <a:r>
                <a:rPr lang="en-US" baseline="-25000" dirty="0" err="1"/>
                <a:t>n</a:t>
              </a:r>
              <a:endParaRPr lang="en-US" baseline="-25000" dirty="0"/>
            </a:p>
          </p:txBody>
        </p:sp>
        <p:cxnSp>
          <p:nvCxnSpPr>
            <p:cNvPr id="20" name="Straight Arrow Connector 19"/>
            <p:cNvCxnSpPr/>
            <p:nvPr/>
          </p:nvCxnSpPr>
          <p:spPr>
            <a:xfrm>
              <a:off x="9296400" y="3502152"/>
              <a:ext cx="0" cy="6492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9497569" y="3602736"/>
              <a:ext cx="646176" cy="3657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k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83769470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Разлика между поточни и блокови алгоритми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94560"/>
            <a:ext cx="5586984" cy="4024125"/>
          </a:xfrm>
        </p:spPr>
        <p:txBody>
          <a:bodyPr>
            <a:normAutofit/>
          </a:bodyPr>
          <a:lstStyle/>
          <a:p>
            <a:r>
              <a:rPr lang="bg-BG" b="1" dirty="0" smtClean="0"/>
              <a:t>Поточни алгоритми </a:t>
            </a:r>
            <a:r>
              <a:rPr lang="bg-BG" dirty="0" smtClean="0"/>
              <a:t>– криптират всеки бит поотделно чрез добавяне на бит от поточен ключ към бит от явното съобщение</a:t>
            </a:r>
          </a:p>
          <a:p>
            <a:r>
              <a:rPr lang="bg-BG" b="1" dirty="0" smtClean="0"/>
              <a:t>Синхронни поточни алгоритми </a:t>
            </a:r>
            <a:r>
              <a:rPr lang="bg-BG" dirty="0" smtClean="0"/>
              <a:t>– поточният ключ </a:t>
            </a:r>
            <a:r>
              <a:rPr lang="en-US" dirty="0" err="1" smtClean="0"/>
              <a:t>s</a:t>
            </a:r>
            <a:r>
              <a:rPr lang="en-US" baseline="-25000" dirty="0" err="1" smtClean="0"/>
              <a:t>i</a:t>
            </a:r>
            <a:r>
              <a:rPr lang="en-US" baseline="-25000" dirty="0" smtClean="0"/>
              <a:t> </a:t>
            </a:r>
            <a:r>
              <a:rPr lang="bg-BG" dirty="0" smtClean="0"/>
              <a:t>зависи само от ключа </a:t>
            </a:r>
            <a:r>
              <a:rPr lang="en-US" dirty="0" smtClean="0"/>
              <a:t>k</a:t>
            </a:r>
            <a:endParaRPr lang="bg-BG" dirty="0" smtClean="0"/>
          </a:p>
          <a:p>
            <a:r>
              <a:rPr lang="bg-BG" b="1" dirty="0" smtClean="0"/>
              <a:t>Асинхронни поточни алгоритми </a:t>
            </a:r>
            <a:r>
              <a:rPr lang="bg-BG" dirty="0" smtClean="0"/>
              <a:t>– поточният ключ </a:t>
            </a:r>
            <a:r>
              <a:rPr lang="en-US" dirty="0" err="1" smtClean="0"/>
              <a:t>s</a:t>
            </a:r>
            <a:r>
              <a:rPr lang="en-US" baseline="-25000" dirty="0" err="1" smtClean="0"/>
              <a:t>i</a:t>
            </a:r>
            <a:r>
              <a:rPr lang="en-US" dirty="0" smtClean="0"/>
              <a:t> </a:t>
            </a:r>
            <a:r>
              <a:rPr lang="bg-BG" dirty="0" smtClean="0"/>
              <a:t>зависи освен от ключ </a:t>
            </a:r>
            <a:r>
              <a:rPr lang="en-US" dirty="0" smtClean="0"/>
              <a:t>k </a:t>
            </a:r>
            <a:r>
              <a:rPr lang="bg-BG" dirty="0" smtClean="0"/>
              <a:t>и от криптограмата </a:t>
            </a:r>
            <a:r>
              <a:rPr lang="en-US" dirty="0" smtClean="0"/>
              <a:t>c</a:t>
            </a:r>
            <a:r>
              <a:rPr lang="en-US" baseline="-25000" dirty="0" smtClean="0"/>
              <a:t>i</a:t>
            </a:r>
            <a:r>
              <a:rPr lang="en-US" dirty="0" smtClean="0"/>
              <a:t> </a:t>
            </a:r>
            <a:r>
              <a:rPr lang="bg-BG" dirty="0" smtClean="0"/>
              <a:t>(представено чрез пунктирана линия)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7406640" y="2564384"/>
            <a:ext cx="3215640" cy="2990089"/>
            <a:chOff x="6949440" y="2340864"/>
            <a:chExt cx="3215640" cy="2990089"/>
          </a:xfrm>
        </p:grpSpPr>
        <p:sp>
          <p:nvSpPr>
            <p:cNvPr id="4" name="Rectangle 3"/>
            <p:cNvSpPr/>
            <p:nvPr/>
          </p:nvSpPr>
          <p:spPr>
            <a:xfrm>
              <a:off x="7872984" y="3035808"/>
              <a:ext cx="1481328" cy="9418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bg-BG" dirty="0" smtClean="0"/>
                <a:t>Генератор на поточен ключ</a:t>
              </a:r>
              <a:endParaRPr lang="en-US" dirty="0"/>
            </a:p>
          </p:txBody>
        </p:sp>
        <p:cxnSp>
          <p:nvCxnSpPr>
            <p:cNvPr id="6" name="Straight Arrow Connector 5"/>
            <p:cNvCxnSpPr/>
            <p:nvPr/>
          </p:nvCxnSpPr>
          <p:spPr>
            <a:xfrm>
              <a:off x="8494776" y="2340864"/>
              <a:ext cx="27432" cy="61264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>
              <a:off x="8599932" y="4059936"/>
              <a:ext cx="27432" cy="61264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lowchart: Or 7"/>
            <p:cNvSpPr/>
            <p:nvPr/>
          </p:nvSpPr>
          <p:spPr>
            <a:xfrm>
              <a:off x="8357616" y="4754880"/>
              <a:ext cx="576072" cy="576073"/>
            </a:xfrm>
            <a:prstGeom prst="flowChar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Arrow Connector 9"/>
            <p:cNvCxnSpPr/>
            <p:nvPr/>
          </p:nvCxnSpPr>
          <p:spPr>
            <a:xfrm>
              <a:off x="6949440" y="5042916"/>
              <a:ext cx="112471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>
              <a:off x="9040368" y="5042916"/>
              <a:ext cx="112471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7262622" y="4570214"/>
              <a:ext cx="6355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p</a:t>
              </a:r>
              <a:r>
                <a:rPr lang="en-US" baseline="-25000" dirty="0" smtClean="0"/>
                <a:t>i</a:t>
              </a:r>
              <a:endParaRPr lang="en-US" baseline="-25000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357741" y="4570214"/>
              <a:ext cx="6355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c</a:t>
              </a:r>
              <a:r>
                <a:rPr lang="en-US" baseline="-25000" dirty="0" smtClean="0"/>
                <a:t>i</a:t>
              </a:r>
              <a:endParaRPr lang="en-US" baseline="-25000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645652" y="2425946"/>
              <a:ext cx="6355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k</a:t>
              </a:r>
              <a:endParaRPr lang="en-US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722614" y="4159734"/>
              <a:ext cx="6355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 smtClean="0"/>
                <a:t>s</a:t>
              </a:r>
              <a:r>
                <a:rPr lang="en-US" baseline="-25000" dirty="0" err="1" smtClean="0"/>
                <a:t>i</a:t>
              </a:r>
              <a:endParaRPr lang="en-US" baseline="-25000" dirty="0"/>
            </a:p>
          </p:txBody>
        </p:sp>
        <p:cxnSp>
          <p:nvCxnSpPr>
            <p:cNvPr id="17" name="Elbow Connector 16"/>
            <p:cNvCxnSpPr>
              <a:endCxn id="4" idx="3"/>
            </p:cNvCxnSpPr>
            <p:nvPr/>
          </p:nvCxnSpPr>
          <p:spPr>
            <a:xfrm rot="16200000" flipV="1">
              <a:off x="8957370" y="3903666"/>
              <a:ext cx="1432822" cy="638937"/>
            </a:xfrm>
            <a:prstGeom prst="bentConnector2">
              <a:avLst/>
            </a:prstGeom>
            <a:ln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1478646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Разлика между поточни и блокови алгоритми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b="1" dirty="0" smtClean="0"/>
              <a:t>Блокови алгоритми </a:t>
            </a:r>
            <a:r>
              <a:rPr lang="bg-BG" dirty="0" smtClean="0"/>
              <a:t>– криптират цял блок от явното съобщение, като всеки блок се криптира с един и същ ключ</a:t>
            </a:r>
          </a:p>
          <a:p>
            <a:r>
              <a:rPr lang="bg-BG" dirty="0" smtClean="0"/>
              <a:t>Това означава, че криптирането на всеки бит от блок на явното съобщение зависи от другите битове от същия блок </a:t>
            </a:r>
          </a:p>
          <a:p>
            <a:r>
              <a:rPr lang="bg-BG" dirty="0" smtClean="0"/>
              <a:t>На практика, най-често блоковите алгоритми имат дължина на блока </a:t>
            </a:r>
            <a:r>
              <a:rPr lang="en-US" dirty="0" smtClean="0"/>
              <a:t>128 </a:t>
            </a:r>
            <a:r>
              <a:rPr lang="bg-BG" dirty="0" smtClean="0"/>
              <a:t>бита</a:t>
            </a:r>
            <a:r>
              <a:rPr lang="en-US" dirty="0" smtClean="0"/>
              <a:t> </a:t>
            </a:r>
            <a:r>
              <a:rPr lang="en-US" dirty="0"/>
              <a:t>(16 </a:t>
            </a:r>
            <a:r>
              <a:rPr lang="bg-BG" dirty="0" smtClean="0"/>
              <a:t>байта</a:t>
            </a:r>
            <a:r>
              <a:rPr lang="en-US" dirty="0" smtClean="0"/>
              <a:t>) </a:t>
            </a:r>
            <a:r>
              <a:rPr lang="bg-BG" dirty="0" smtClean="0"/>
              <a:t>(пример при </a:t>
            </a:r>
            <a:r>
              <a:rPr lang="en-US" dirty="0" smtClean="0"/>
              <a:t>Advanced Encryption Standard (</a:t>
            </a:r>
            <a:r>
              <a:rPr lang="en-US" dirty="0"/>
              <a:t>AES)</a:t>
            </a:r>
            <a:r>
              <a:rPr lang="bg-BG" dirty="0" smtClean="0"/>
              <a:t>)или дължина на блока от </a:t>
            </a:r>
            <a:r>
              <a:rPr lang="en-US" dirty="0" smtClean="0"/>
              <a:t>64 </a:t>
            </a:r>
            <a:r>
              <a:rPr lang="bg-BG" dirty="0" smtClean="0"/>
              <a:t>бита</a:t>
            </a:r>
            <a:r>
              <a:rPr lang="en-US" dirty="0" smtClean="0"/>
              <a:t> </a:t>
            </a:r>
            <a:r>
              <a:rPr lang="en-US" dirty="0"/>
              <a:t>(8 </a:t>
            </a:r>
            <a:r>
              <a:rPr lang="bg-BG" dirty="0" smtClean="0"/>
              <a:t>байта</a:t>
            </a:r>
            <a:r>
              <a:rPr lang="en-US" dirty="0" smtClean="0"/>
              <a:t>) </a:t>
            </a:r>
            <a:r>
              <a:rPr lang="bg-BG" dirty="0" smtClean="0"/>
              <a:t>(пример при </a:t>
            </a:r>
            <a:r>
              <a:rPr lang="en-US" dirty="0" smtClean="0"/>
              <a:t>Data Encryption Standard </a:t>
            </a:r>
            <a:r>
              <a:rPr lang="en-US" dirty="0"/>
              <a:t>(DES</a:t>
            </a:r>
            <a:r>
              <a:rPr lang="en-US" dirty="0" smtClean="0"/>
              <a:t>)) </a:t>
            </a:r>
            <a:r>
              <a:rPr lang="bg-BG" dirty="0" smtClean="0"/>
              <a:t>или</a:t>
            </a:r>
            <a:r>
              <a:rPr lang="en-US" dirty="0" smtClean="0"/>
              <a:t> </a:t>
            </a:r>
            <a:r>
              <a:rPr lang="en-US" dirty="0"/>
              <a:t>triple DES (3DES) </a:t>
            </a:r>
            <a:r>
              <a:rPr lang="bg-BG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65895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Разлика между поточни и блокови алгоритми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bg-BG" dirty="0" smtClean="0"/>
              <a:t>На практика за криптиране на компютърна комуникация през Интернет</a:t>
            </a:r>
            <a:r>
              <a:rPr lang="en-US" dirty="0" smtClean="0"/>
              <a:t>, </a:t>
            </a:r>
            <a:r>
              <a:rPr lang="bg-BG" dirty="0" smtClean="0"/>
              <a:t>блоковите алгоритми се използват по-често от поточните </a:t>
            </a:r>
          </a:p>
          <a:p>
            <a:r>
              <a:rPr lang="bg-BG" dirty="0" smtClean="0"/>
              <a:t>Тъй като, </a:t>
            </a:r>
            <a:r>
              <a:rPr lang="bg-BG" b="1" dirty="0" smtClean="0"/>
              <a:t>поточните алгоритми </a:t>
            </a:r>
            <a:r>
              <a:rPr lang="bg-BG" dirty="0" smtClean="0"/>
              <a:t>са малки и бързи, се използват при приложения с малки изчислителни ресурси като телефони и други малки вградени устройства</a:t>
            </a:r>
          </a:p>
          <a:p>
            <a:pPr lvl="1"/>
            <a:r>
              <a:rPr lang="bg-BG" dirty="0" smtClean="0"/>
              <a:t>Пример за </a:t>
            </a:r>
            <a:r>
              <a:rPr lang="bg-BG" b="1" dirty="0" smtClean="0"/>
              <a:t>поточен алгоритъм </a:t>
            </a:r>
            <a:r>
              <a:rPr lang="bg-BG" dirty="0" smtClean="0"/>
              <a:t>-  </a:t>
            </a:r>
            <a:r>
              <a:rPr lang="en-US" b="1" dirty="0" smtClean="0"/>
              <a:t>A5/1</a:t>
            </a:r>
            <a:r>
              <a:rPr lang="en-US" dirty="0" smtClean="0"/>
              <a:t>, </a:t>
            </a:r>
            <a:r>
              <a:rPr lang="bg-BG" dirty="0" smtClean="0"/>
              <a:t>който е стандарт за гласово криптиране за мобилни телефони</a:t>
            </a:r>
            <a:endParaRPr lang="bg-BG" dirty="0"/>
          </a:p>
          <a:p>
            <a:pPr lvl="1"/>
            <a:r>
              <a:rPr lang="bg-BG" dirty="0" smtClean="0"/>
              <a:t>Поточният алгоритъм </a:t>
            </a:r>
            <a:r>
              <a:rPr lang="en-US" dirty="0" smtClean="0"/>
              <a:t> </a:t>
            </a:r>
            <a:r>
              <a:rPr lang="en-US" b="1" dirty="0"/>
              <a:t>RC4. </a:t>
            </a:r>
            <a:r>
              <a:rPr lang="en-US" b="1" dirty="0" smtClean="0"/>
              <a:t>3</a:t>
            </a:r>
            <a:r>
              <a:rPr lang="bg-BG" b="1" dirty="0" smtClean="0"/>
              <a:t> </a:t>
            </a:r>
            <a:r>
              <a:rPr lang="bg-BG" dirty="0" smtClean="0"/>
              <a:t>се използва понякога за криптиране на Интернет трафика </a:t>
            </a:r>
          </a:p>
          <a:p>
            <a:r>
              <a:rPr lang="bg-BG" dirty="0" smtClean="0"/>
              <a:t>Обикновено се предполага, че </a:t>
            </a:r>
            <a:r>
              <a:rPr lang="bg-BG" dirty="0" smtClean="0">
                <a:solidFill>
                  <a:srgbClr val="FF0000"/>
                </a:solidFill>
              </a:rPr>
              <a:t>поточните алгоритми криптират по-ефективно</a:t>
            </a:r>
            <a:r>
              <a:rPr lang="bg-BG" dirty="0" smtClean="0"/>
              <a:t> в сравнение с блоковите </a:t>
            </a:r>
            <a:endParaRPr lang="bg-BG" dirty="0"/>
          </a:p>
          <a:p>
            <a:pPr lvl="1"/>
            <a:r>
              <a:rPr lang="bg-BG" b="1" dirty="0" smtClean="0"/>
              <a:t>Ефективен</a:t>
            </a:r>
            <a:r>
              <a:rPr lang="bg-BG" dirty="0" smtClean="0"/>
              <a:t> при </a:t>
            </a:r>
            <a:r>
              <a:rPr lang="bg-BG" b="1" dirty="0" smtClean="0">
                <a:solidFill>
                  <a:srgbClr val="0070C0"/>
                </a:solidFill>
              </a:rPr>
              <a:t>софтуерно-оптимизираните </a:t>
            </a:r>
            <a:r>
              <a:rPr lang="bg-BG" b="1" dirty="0">
                <a:solidFill>
                  <a:srgbClr val="0070C0"/>
                </a:solidFill>
              </a:rPr>
              <a:t>поточните алгоритми </a:t>
            </a:r>
            <a:r>
              <a:rPr lang="bg-BG" dirty="0" smtClean="0"/>
              <a:t>означава, че те изискват по-малка </a:t>
            </a:r>
            <a:r>
              <a:rPr lang="bg-BG" dirty="0" err="1" smtClean="0"/>
              <a:t>процесорна</a:t>
            </a:r>
            <a:r>
              <a:rPr lang="bg-BG" dirty="0" smtClean="0"/>
              <a:t> мощ </a:t>
            </a:r>
            <a:r>
              <a:rPr lang="bg-BG" b="1" dirty="0" smtClean="0">
                <a:solidFill>
                  <a:srgbClr val="FF0000"/>
                </a:solidFill>
              </a:rPr>
              <a:t>(по-малко </a:t>
            </a:r>
            <a:r>
              <a:rPr lang="bg-BG" b="1" dirty="0" err="1" smtClean="0">
                <a:solidFill>
                  <a:srgbClr val="FF0000"/>
                </a:solidFill>
              </a:rPr>
              <a:t>процесорни</a:t>
            </a:r>
            <a:r>
              <a:rPr lang="bg-BG" b="1" dirty="0" smtClean="0">
                <a:solidFill>
                  <a:srgbClr val="FF0000"/>
                </a:solidFill>
              </a:rPr>
              <a:t> инструкции (цикли)) </a:t>
            </a:r>
            <a:r>
              <a:rPr lang="bg-BG" dirty="0" smtClean="0"/>
              <a:t>за криптиране на един бит от явното съобщение </a:t>
            </a:r>
            <a:r>
              <a:rPr lang="en-US" dirty="0" smtClean="0"/>
              <a:t> </a:t>
            </a:r>
            <a:endParaRPr lang="bg-BG" dirty="0" smtClean="0"/>
          </a:p>
          <a:p>
            <a:pPr lvl="1"/>
            <a:r>
              <a:rPr lang="bg-BG" dirty="0" smtClean="0"/>
              <a:t>При </a:t>
            </a:r>
            <a:r>
              <a:rPr lang="bg-BG" b="1" dirty="0" smtClean="0">
                <a:solidFill>
                  <a:schemeClr val="accent3">
                    <a:lumMod val="75000"/>
                  </a:schemeClr>
                </a:solidFill>
              </a:rPr>
              <a:t>хардуерно-оптимизираните поточни алгоритми</a:t>
            </a:r>
            <a:r>
              <a:rPr lang="bg-BG" dirty="0" smtClean="0"/>
              <a:t>, ефективен означава, че те изискват </a:t>
            </a:r>
            <a:r>
              <a:rPr lang="bg-BG" b="1" dirty="0" smtClean="0">
                <a:solidFill>
                  <a:srgbClr val="FF0000"/>
                </a:solidFill>
              </a:rPr>
              <a:t>по-малко логически елементи </a:t>
            </a:r>
            <a:r>
              <a:rPr lang="bg-BG" dirty="0" smtClean="0"/>
              <a:t>(или по-малка площ на чипа) в сравнение с блоковите алгоритми </a:t>
            </a:r>
          </a:p>
          <a:p>
            <a:r>
              <a:rPr lang="bg-BG" dirty="0" smtClean="0"/>
              <a:t>Съвременните блокови алгоритми като </a:t>
            </a:r>
            <a:r>
              <a:rPr lang="en-US" dirty="0" smtClean="0"/>
              <a:t>AES </a:t>
            </a:r>
            <a:r>
              <a:rPr lang="bg-BG" dirty="0" smtClean="0"/>
              <a:t>са също много ефективни при софтуерни приложения </a:t>
            </a:r>
          </a:p>
          <a:p>
            <a:r>
              <a:rPr lang="bg-BG" dirty="0" smtClean="0"/>
              <a:t>За хардуерни приложения също има ефективни блокови алгоритми като</a:t>
            </a:r>
            <a:r>
              <a:rPr lang="en-US" dirty="0" smtClean="0"/>
              <a:t> PRESENT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008832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Поточни алгоритми – криптиране и декриптиране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94560"/>
            <a:ext cx="5867400" cy="4024125"/>
          </a:xfrm>
        </p:spPr>
        <p:txBody>
          <a:bodyPr/>
          <a:lstStyle/>
          <a:p>
            <a:r>
              <a:rPr lang="bg-BG" b="1" dirty="0" smtClean="0"/>
              <a:t>Криптиране</a:t>
            </a:r>
            <a:r>
              <a:rPr lang="bg-BG" dirty="0" smtClean="0"/>
              <a:t> – Всеки бит </a:t>
            </a:r>
            <a:r>
              <a:rPr lang="en-US" dirty="0" smtClean="0"/>
              <a:t>p</a:t>
            </a:r>
            <a:r>
              <a:rPr lang="en-US" baseline="-25000" dirty="0" smtClean="0"/>
              <a:t>i </a:t>
            </a:r>
            <a:r>
              <a:rPr lang="bg-BG" dirty="0" smtClean="0"/>
              <a:t>се криптира чрез прибавяне на бит от поточния секретен ключ </a:t>
            </a:r>
            <a:r>
              <a:rPr lang="en-US" dirty="0" err="1" smtClean="0"/>
              <a:t>s</a:t>
            </a:r>
            <a:r>
              <a:rPr lang="en-US" baseline="-25000" dirty="0" err="1" smtClean="0"/>
              <a:t>i</a:t>
            </a:r>
            <a:r>
              <a:rPr lang="en-US" dirty="0" smtClean="0"/>
              <a:t> </a:t>
            </a:r>
            <a:r>
              <a:rPr lang="bg-BG" dirty="0" smtClean="0"/>
              <a:t>по модул </a:t>
            </a:r>
            <a:r>
              <a:rPr lang="en-US" dirty="0" smtClean="0"/>
              <a:t>2: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</a:t>
            </a:r>
            <a:r>
              <a:rPr lang="en-US" b="1" baseline="-250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i</a:t>
            </a:r>
            <a:r>
              <a:rPr lang="en-US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= </a:t>
            </a:r>
            <a:r>
              <a:rPr lang="en-US" b="1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Encs</a:t>
            </a:r>
            <a:r>
              <a:rPr lang="en-US" b="1" baseline="-25000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i</a:t>
            </a:r>
            <a:r>
              <a:rPr lang="en-US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 (p</a:t>
            </a:r>
            <a:r>
              <a:rPr lang="en-US" b="1" baseline="-250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i</a:t>
            </a:r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) ≡ </a:t>
            </a:r>
            <a:r>
              <a:rPr lang="en-US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p</a:t>
            </a:r>
            <a:r>
              <a:rPr lang="en-US" b="1" baseline="-250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i</a:t>
            </a:r>
            <a:r>
              <a:rPr lang="en-US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+</a:t>
            </a:r>
            <a:r>
              <a:rPr lang="en-US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s</a:t>
            </a:r>
            <a:r>
              <a:rPr lang="en-US" b="1" baseline="-250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i</a:t>
            </a:r>
            <a:r>
              <a:rPr lang="en-US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mod2</a:t>
            </a:r>
          </a:p>
          <a:p>
            <a:r>
              <a:rPr lang="bg-BG" b="1" dirty="0" smtClean="0"/>
              <a:t>Декриптиране</a:t>
            </a:r>
            <a:r>
              <a:rPr lang="bg-BG" dirty="0" smtClean="0"/>
              <a:t>: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chemeClr val="accent4">
                    <a:lumMod val="75000"/>
                  </a:schemeClr>
                </a:solidFill>
              </a:rPr>
              <a:t>p</a:t>
            </a:r>
            <a:r>
              <a:rPr lang="en-US" b="1" baseline="-25000" dirty="0">
                <a:solidFill>
                  <a:schemeClr val="accent4">
                    <a:lumMod val="75000"/>
                  </a:schemeClr>
                </a:solidFill>
              </a:rPr>
              <a:t>i</a:t>
            </a:r>
            <a:r>
              <a:rPr lang="en-US" b="1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= </a:t>
            </a:r>
            <a:r>
              <a:rPr lang="en-US" b="1" dirty="0" err="1" smtClean="0">
                <a:solidFill>
                  <a:schemeClr val="accent4">
                    <a:lumMod val="75000"/>
                  </a:schemeClr>
                </a:solidFill>
              </a:rPr>
              <a:t>Decs</a:t>
            </a:r>
            <a:r>
              <a:rPr lang="en-US" b="1" baseline="-25000" dirty="0" err="1">
                <a:solidFill>
                  <a:schemeClr val="accent4">
                    <a:lumMod val="75000"/>
                  </a:schemeClr>
                </a:solidFill>
              </a:rPr>
              <a:t>i</a:t>
            </a:r>
            <a:r>
              <a:rPr lang="en-US" b="1" dirty="0" smtClean="0">
                <a:solidFill>
                  <a:schemeClr val="accent4">
                    <a:lumMod val="75000"/>
                  </a:schemeClr>
                </a:solidFill>
              </a:rPr>
              <a:t> (c</a:t>
            </a:r>
            <a:r>
              <a:rPr lang="en-US" b="1" baseline="-25000" dirty="0" smtClean="0">
                <a:solidFill>
                  <a:schemeClr val="accent4">
                    <a:lumMod val="75000"/>
                  </a:schemeClr>
                </a:solidFill>
              </a:rPr>
              <a:t>i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) ≡ </a:t>
            </a:r>
            <a:r>
              <a:rPr lang="en-US" b="1" dirty="0" smtClean="0">
                <a:solidFill>
                  <a:schemeClr val="accent4">
                    <a:lumMod val="75000"/>
                  </a:schemeClr>
                </a:solidFill>
              </a:rPr>
              <a:t>c</a:t>
            </a:r>
            <a:r>
              <a:rPr lang="en-US" b="1" baseline="-25000" dirty="0" smtClean="0">
                <a:solidFill>
                  <a:schemeClr val="accent4">
                    <a:lumMod val="75000"/>
                  </a:schemeClr>
                </a:solidFill>
              </a:rPr>
              <a:t>i</a:t>
            </a:r>
            <a:r>
              <a:rPr lang="en-US" b="1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+</a:t>
            </a:r>
            <a:r>
              <a:rPr lang="en-US" b="1" dirty="0" smtClean="0">
                <a:solidFill>
                  <a:schemeClr val="accent4">
                    <a:lumMod val="75000"/>
                  </a:schemeClr>
                </a:solidFill>
              </a:rPr>
              <a:t>s</a:t>
            </a:r>
            <a:r>
              <a:rPr lang="en-US" b="1" baseline="-25000" dirty="0" smtClean="0">
                <a:solidFill>
                  <a:schemeClr val="accent4">
                    <a:lumMod val="75000"/>
                  </a:schemeClr>
                </a:solidFill>
              </a:rPr>
              <a:t>i</a:t>
            </a:r>
            <a:r>
              <a:rPr lang="en-US" b="1" dirty="0" smtClean="0">
                <a:solidFill>
                  <a:schemeClr val="accent4">
                    <a:lumMod val="75000"/>
                  </a:schemeClr>
                </a:solidFill>
              </a:rPr>
              <a:t>mod2</a:t>
            </a:r>
            <a:r>
              <a:rPr lang="en-US" dirty="0" smtClean="0"/>
              <a:t>,</a:t>
            </a:r>
          </a:p>
          <a:p>
            <a:pPr marL="0" indent="0">
              <a:buNone/>
            </a:pPr>
            <a:r>
              <a:rPr lang="en-US" dirty="0" err="1" smtClean="0"/>
              <a:t>p</a:t>
            </a:r>
            <a:r>
              <a:rPr lang="en-US" baseline="-25000" dirty="0" err="1" smtClean="0"/>
              <a:t>i</a:t>
            </a:r>
            <a:r>
              <a:rPr lang="en-US" dirty="0" err="1" smtClean="0"/>
              <a:t>,x</a:t>
            </a:r>
            <a:r>
              <a:rPr lang="en-US" baseline="-25000" dirty="0" err="1"/>
              <a:t>i</a:t>
            </a:r>
            <a:r>
              <a:rPr lang="en-US" dirty="0" err="1" smtClean="0"/>
              <a:t>,s</a:t>
            </a:r>
            <a:r>
              <a:rPr lang="en-US" baseline="-25000" dirty="0" err="1"/>
              <a:t>i</a:t>
            </a:r>
            <a:r>
              <a:rPr lang="en-US" dirty="0" smtClean="0"/>
              <a:t> </a:t>
            </a:r>
            <a:r>
              <a:rPr lang="en-US" dirty="0"/>
              <a:t>∈ {0,1</a:t>
            </a:r>
            <a:r>
              <a:rPr lang="en-US" dirty="0" smtClean="0"/>
              <a:t>}</a:t>
            </a:r>
            <a:endParaRPr lang="en-US" dirty="0"/>
          </a:p>
        </p:txBody>
      </p:sp>
      <p:grpSp>
        <p:nvGrpSpPr>
          <p:cNvPr id="21" name="Group 20"/>
          <p:cNvGrpSpPr/>
          <p:nvPr/>
        </p:nvGrpSpPr>
        <p:grpSpPr>
          <a:xfrm>
            <a:off x="4613373" y="4206622"/>
            <a:ext cx="7325360" cy="1820808"/>
            <a:chOff x="4622800" y="3589392"/>
            <a:chExt cx="7325360" cy="1820808"/>
          </a:xfrm>
        </p:grpSpPr>
        <p:sp>
          <p:nvSpPr>
            <p:cNvPr id="4" name="Flowchart: Or 3"/>
            <p:cNvSpPr/>
            <p:nvPr/>
          </p:nvSpPr>
          <p:spPr>
            <a:xfrm>
              <a:off x="5374640" y="4420364"/>
              <a:ext cx="477520" cy="467360"/>
            </a:xfrm>
            <a:prstGeom prst="flowChar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Flowchart: Or 4"/>
            <p:cNvSpPr/>
            <p:nvPr/>
          </p:nvSpPr>
          <p:spPr>
            <a:xfrm>
              <a:off x="10713720" y="4307840"/>
              <a:ext cx="477520" cy="467360"/>
            </a:xfrm>
            <a:prstGeom prst="flowChar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Cloud Callout 5"/>
            <p:cNvSpPr/>
            <p:nvPr/>
          </p:nvSpPr>
          <p:spPr>
            <a:xfrm>
              <a:off x="6596380" y="3672840"/>
              <a:ext cx="3454400" cy="1737360"/>
            </a:xfrm>
            <a:prstGeom prst="cloudCallout">
              <a:avLst>
                <a:gd name="adj1" fmla="val -1965"/>
                <a:gd name="adj2" fmla="val 1892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bg-BG" dirty="0" smtClean="0"/>
                <a:t>Несигурен комуникационен канал (Интернет)</a:t>
              </a:r>
              <a:endParaRPr lang="en-US" dirty="0"/>
            </a:p>
          </p:txBody>
        </p:sp>
        <p:cxnSp>
          <p:nvCxnSpPr>
            <p:cNvPr id="8" name="Straight Arrow Connector 7"/>
            <p:cNvCxnSpPr/>
            <p:nvPr/>
          </p:nvCxnSpPr>
          <p:spPr>
            <a:xfrm>
              <a:off x="4622800" y="4654044"/>
              <a:ext cx="67056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>
              <a:off x="5933440" y="4644648"/>
              <a:ext cx="67056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>
              <a:off x="9956800" y="4541520"/>
              <a:ext cx="67056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>
              <a:off x="11277600" y="4551680"/>
              <a:ext cx="67056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4798060" y="4182348"/>
              <a:ext cx="5486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p</a:t>
              </a:r>
              <a:r>
                <a:rPr lang="en-US" baseline="-25000" dirty="0" smtClean="0"/>
                <a:t>i</a:t>
              </a:r>
              <a:endParaRPr lang="en-US" baseline="-25000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1391900" y="4123174"/>
              <a:ext cx="5486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p</a:t>
              </a:r>
              <a:r>
                <a:rPr lang="en-US" baseline="-25000" dirty="0" smtClean="0"/>
                <a:t>i</a:t>
              </a:r>
              <a:endParaRPr lang="en-US" baseline="-25000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073140" y="4214996"/>
              <a:ext cx="5486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  <a:r>
                <a:rPr lang="en-US" baseline="-25000" dirty="0" smtClean="0"/>
                <a:t>i</a:t>
              </a:r>
              <a:endParaRPr lang="en-US" baseline="-25000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0121900" y="4123174"/>
              <a:ext cx="5486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  <a:r>
                <a:rPr lang="en-US" baseline="-25000" dirty="0" smtClean="0"/>
                <a:t>i</a:t>
              </a:r>
              <a:endParaRPr lang="en-US" baseline="-25000" dirty="0"/>
            </a:p>
          </p:txBody>
        </p:sp>
        <p:cxnSp>
          <p:nvCxnSpPr>
            <p:cNvPr id="17" name="Straight Arrow Connector 16"/>
            <p:cNvCxnSpPr/>
            <p:nvPr/>
          </p:nvCxnSpPr>
          <p:spPr>
            <a:xfrm>
              <a:off x="5613400" y="3672840"/>
              <a:ext cx="0" cy="53378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>
              <a:off x="10947400" y="3589392"/>
              <a:ext cx="0" cy="53378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5613400" y="3672840"/>
              <a:ext cx="5537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 smtClean="0"/>
                <a:t>s</a:t>
              </a:r>
              <a:r>
                <a:rPr lang="en-US" baseline="-25000" dirty="0" err="1" smtClean="0"/>
                <a:t>i</a:t>
              </a:r>
              <a:endParaRPr lang="en-US" baseline="-25000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0952480" y="3609677"/>
              <a:ext cx="5537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 smtClean="0"/>
                <a:t>s</a:t>
              </a:r>
              <a:r>
                <a:rPr lang="en-US" baseline="-25000" dirty="0" err="1" smtClean="0"/>
                <a:t>i</a:t>
              </a:r>
              <a:endParaRPr lang="en-US" baseline="-25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41848543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Поточни алгоритми</a:t>
            </a:r>
            <a:r>
              <a:rPr lang="en-US" dirty="0" smtClean="0"/>
              <a:t> -</a:t>
            </a:r>
            <a:r>
              <a:rPr lang="bg-BG" dirty="0" smtClean="0"/>
              <a:t> </a:t>
            </a:r>
            <a:r>
              <a:rPr lang="bg-BG" dirty="0"/>
              <a:t>особености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94561"/>
            <a:ext cx="10820400" cy="139192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bg-BG" b="1" dirty="0" smtClean="0"/>
              <a:t>Криптирането и декриптирането използват едни и същи функции!</a:t>
            </a:r>
          </a:p>
          <a:p>
            <a:pPr marL="0" indent="0">
              <a:buNone/>
            </a:pPr>
            <a:r>
              <a:rPr lang="bg-BG" dirty="0" smtClean="0"/>
              <a:t>Трябва да се докаже, че функцията по декриптиране води до получаване на бит </a:t>
            </a:r>
            <a:r>
              <a:rPr lang="en-US" dirty="0" smtClean="0"/>
              <a:t>p</a:t>
            </a:r>
            <a:r>
              <a:rPr lang="en-US" baseline="-25000" dirty="0" smtClean="0"/>
              <a:t>i </a:t>
            </a:r>
            <a:r>
              <a:rPr lang="bg-BG" dirty="0" smtClean="0"/>
              <a:t>от явното съобщение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86944" y="3586481"/>
                <a:ext cx="10439400" cy="8518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𝐷𝑒𝑐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𝑚𝑜𝑑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2≡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𝑚𝑜𝑑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2≡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𝑚𝑜𝑑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2≡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+0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𝑚𝑜𝑑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2≡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𝑚𝑜𝑑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944" y="3586481"/>
                <a:ext cx="10439400" cy="85183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85800" y="4873588"/>
                <a:ext cx="472084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𝐼𝑓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𝑡h𝑒𝑛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2.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=2.0=0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4873588"/>
                <a:ext cx="4720844" cy="369332"/>
              </a:xfrm>
              <a:prstGeom prst="rect">
                <a:avLst/>
              </a:prstGeom>
              <a:blipFill>
                <a:blip r:embed="rId3"/>
                <a:stretch>
                  <a:fillRect l="-1680" r="-1034" b="-377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85800" y="5725424"/>
                <a:ext cx="8591158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𝐼𝑓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𝑡h𝑒𝑛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2.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=2.1=2=0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400" dirty="0" smtClean="0"/>
                  <a:t> (</a:t>
                </a:r>
                <a:r>
                  <a:rPr lang="bg-BG" sz="2400" dirty="0" smtClean="0"/>
                  <a:t>тук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2=0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smtClean="0"/>
                  <a:t>)</a:t>
                </a:r>
                <a:endParaRPr lang="en-US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5725424"/>
                <a:ext cx="8591158" cy="369332"/>
              </a:xfrm>
              <a:prstGeom prst="rect">
                <a:avLst/>
              </a:prstGeom>
              <a:blipFill>
                <a:blip r:embed="rId4"/>
                <a:stretch>
                  <a:fillRect l="-1703" t="-24590" b="-491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236380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Поточни алгоритми</a:t>
            </a:r>
            <a:r>
              <a:rPr lang="en-US" dirty="0"/>
              <a:t> -</a:t>
            </a:r>
            <a:r>
              <a:rPr lang="bg-BG" dirty="0"/>
              <a:t> особености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94561"/>
            <a:ext cx="10820400" cy="1036320"/>
          </a:xfrm>
        </p:spPr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US" b="1" dirty="0" smtClean="0"/>
              <a:t>XOR </a:t>
            </a:r>
            <a:r>
              <a:rPr lang="bg-BG" b="1" dirty="0" smtClean="0"/>
              <a:t>(изключващо или) е добра функция за криптиране </a:t>
            </a:r>
            <a:r>
              <a:rPr lang="bg-BG" dirty="0" smtClean="0"/>
              <a:t>и се използва в съвременната криптография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4373479"/>
              </p:ext>
            </p:extLst>
          </p:nvPr>
        </p:nvGraphicFramePr>
        <p:xfrm>
          <a:off x="822961" y="3743961"/>
          <a:ext cx="256031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484">
                  <a:extLst>
                    <a:ext uri="{9D8B030D-6E8A-4147-A177-3AD203B41FA5}">
                      <a16:colId xmlns:a16="http://schemas.microsoft.com/office/drawing/2014/main" val="2422531001"/>
                    </a:ext>
                  </a:extLst>
                </a:gridCol>
                <a:gridCol w="370484">
                  <a:extLst>
                    <a:ext uri="{9D8B030D-6E8A-4147-A177-3AD203B41FA5}">
                      <a16:colId xmlns:a16="http://schemas.microsoft.com/office/drawing/2014/main" val="3236258511"/>
                    </a:ext>
                  </a:extLst>
                </a:gridCol>
                <a:gridCol w="1800351">
                  <a:extLst>
                    <a:ext uri="{9D8B030D-6E8A-4147-A177-3AD203B41FA5}">
                      <a16:colId xmlns:a16="http://schemas.microsoft.com/office/drawing/2014/main" val="8409525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ci=pi+simod2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72130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6393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6079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099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5225499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4150755"/>
              </p:ext>
            </p:extLst>
          </p:nvPr>
        </p:nvGraphicFramePr>
        <p:xfrm>
          <a:off x="4185921" y="3743961"/>
          <a:ext cx="256031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484">
                  <a:extLst>
                    <a:ext uri="{9D8B030D-6E8A-4147-A177-3AD203B41FA5}">
                      <a16:colId xmlns:a16="http://schemas.microsoft.com/office/drawing/2014/main" val="2422531001"/>
                    </a:ext>
                  </a:extLst>
                </a:gridCol>
                <a:gridCol w="370484">
                  <a:extLst>
                    <a:ext uri="{9D8B030D-6E8A-4147-A177-3AD203B41FA5}">
                      <a16:colId xmlns:a16="http://schemas.microsoft.com/office/drawing/2014/main" val="3236258511"/>
                    </a:ext>
                  </a:extLst>
                </a:gridCol>
                <a:gridCol w="1800351">
                  <a:extLst>
                    <a:ext uri="{9D8B030D-6E8A-4147-A177-3AD203B41FA5}">
                      <a16:colId xmlns:a16="http://schemas.microsoft.com/office/drawing/2014/main" val="8409525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ci=pi+simod2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72130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6393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6079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099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5225499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965812"/>
              </p:ext>
            </p:extLst>
          </p:nvPr>
        </p:nvGraphicFramePr>
        <p:xfrm>
          <a:off x="7680961" y="3743961"/>
          <a:ext cx="256031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484">
                  <a:extLst>
                    <a:ext uri="{9D8B030D-6E8A-4147-A177-3AD203B41FA5}">
                      <a16:colId xmlns:a16="http://schemas.microsoft.com/office/drawing/2014/main" val="2422531001"/>
                    </a:ext>
                  </a:extLst>
                </a:gridCol>
                <a:gridCol w="370484">
                  <a:extLst>
                    <a:ext uri="{9D8B030D-6E8A-4147-A177-3AD203B41FA5}">
                      <a16:colId xmlns:a16="http://schemas.microsoft.com/office/drawing/2014/main" val="3236258511"/>
                    </a:ext>
                  </a:extLst>
                </a:gridCol>
                <a:gridCol w="1800351">
                  <a:extLst>
                    <a:ext uri="{9D8B030D-6E8A-4147-A177-3AD203B41FA5}">
                      <a16:colId xmlns:a16="http://schemas.microsoft.com/office/drawing/2014/main" val="8409525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ci=pi+simod2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72130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6393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6079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099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5225499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079240" y="3230881"/>
            <a:ext cx="2773679" cy="375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 smtClean="0"/>
              <a:t>Криптиране на </a:t>
            </a:r>
            <a:r>
              <a:rPr lang="en-US" dirty="0" smtClean="0"/>
              <a:t>pi=0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574280" y="3253742"/>
            <a:ext cx="2773679" cy="375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 smtClean="0"/>
              <a:t>Криптиране на </a:t>
            </a:r>
            <a:r>
              <a:rPr lang="en-US" dirty="0" smtClean="0"/>
              <a:t>pi=1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99440" y="5811520"/>
            <a:ext cx="111150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b="1" dirty="0" smtClean="0"/>
              <a:t>Защо </a:t>
            </a:r>
            <a:r>
              <a:rPr lang="en-US" b="1" dirty="0" smtClean="0"/>
              <a:t>XOR </a:t>
            </a:r>
            <a:r>
              <a:rPr lang="bg-BG" b="1" dirty="0" smtClean="0"/>
              <a:t>играе значителна роля в съвременната криптография? </a:t>
            </a:r>
            <a:r>
              <a:rPr lang="bg-BG" dirty="0" smtClean="0"/>
              <a:t>– Функцията </a:t>
            </a:r>
            <a:r>
              <a:rPr lang="en-US" dirty="0" smtClean="0"/>
              <a:t>XOR </a:t>
            </a:r>
            <a:r>
              <a:rPr lang="bg-BG" dirty="0" smtClean="0"/>
              <a:t>е перфектно балансирана</a:t>
            </a:r>
            <a:r>
              <a:rPr lang="en-US" dirty="0" smtClean="0"/>
              <a:t>, </a:t>
            </a:r>
            <a:r>
              <a:rPr lang="bg-BG" dirty="0" smtClean="0"/>
              <a:t>т.е. ако се погледне изходната величина</a:t>
            </a:r>
            <a:r>
              <a:rPr lang="en-US" dirty="0" smtClean="0"/>
              <a:t>, </a:t>
            </a:r>
            <a:r>
              <a:rPr lang="bg-BG" dirty="0" smtClean="0"/>
              <a:t>има точно </a:t>
            </a:r>
            <a:r>
              <a:rPr lang="en-US" dirty="0" smtClean="0"/>
              <a:t>50</a:t>
            </a:r>
            <a:r>
              <a:rPr lang="en-US" dirty="0"/>
              <a:t>% </a:t>
            </a:r>
            <a:r>
              <a:rPr lang="bg-BG" dirty="0" smtClean="0"/>
              <a:t>шанс за водната величина да се криптира с 0 или с 1</a:t>
            </a:r>
            <a:r>
              <a:rPr lang="en-US" dirty="0" smtClean="0"/>
              <a:t>. </a:t>
            </a:r>
            <a:r>
              <a:rPr lang="bg-BG" dirty="0" smtClean="0"/>
              <a:t>Това отличава </a:t>
            </a:r>
            <a:r>
              <a:rPr lang="en-US" dirty="0" smtClean="0"/>
              <a:t>XOR </a:t>
            </a:r>
            <a:r>
              <a:rPr lang="bg-BG" dirty="0" smtClean="0"/>
              <a:t>от </a:t>
            </a:r>
            <a:r>
              <a:rPr lang="en-US" dirty="0" smtClean="0"/>
              <a:t>OR</a:t>
            </a:r>
            <a:r>
              <a:rPr lang="en-US" dirty="0"/>
              <a:t>, AND </a:t>
            </a:r>
            <a:r>
              <a:rPr lang="bg-BG" dirty="0" smtClean="0"/>
              <a:t>или</a:t>
            </a:r>
            <a:r>
              <a:rPr lang="en-US" dirty="0" smtClean="0"/>
              <a:t> NAND. 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41832" y="3044875"/>
            <a:ext cx="24414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 smtClean="0"/>
              <a:t>Таблица на истинност </a:t>
            </a:r>
            <a:r>
              <a:rPr lang="en-US" dirty="0" smtClean="0"/>
              <a:t>XOR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205115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Поточни алгоритми</a:t>
            </a:r>
            <a:r>
              <a:rPr lang="en-US" dirty="0"/>
              <a:t> -</a:t>
            </a:r>
            <a:r>
              <a:rPr lang="bg-BG" dirty="0"/>
              <a:t> особености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bg-BG" b="1" dirty="0" smtClean="0"/>
              <a:t>Пример</a:t>
            </a:r>
            <a:r>
              <a:rPr lang="en-US" dirty="0" smtClean="0"/>
              <a:t> </a:t>
            </a:r>
            <a:endParaRPr lang="bg-BG" dirty="0" smtClean="0"/>
          </a:p>
          <a:p>
            <a:r>
              <a:rPr lang="bg-BG" dirty="0" smtClean="0"/>
              <a:t>Алис иска да криптира буквата </a:t>
            </a:r>
            <a:r>
              <a:rPr lang="en-US" dirty="0" smtClean="0"/>
              <a:t>A</a:t>
            </a:r>
            <a:r>
              <a:rPr lang="en-US" dirty="0"/>
              <a:t>, </a:t>
            </a:r>
            <a:r>
              <a:rPr lang="bg-BG" dirty="0" smtClean="0"/>
              <a:t>която е дадена чрез нейния </a:t>
            </a:r>
            <a:r>
              <a:rPr lang="en-US" dirty="0" smtClean="0"/>
              <a:t>ASCII </a:t>
            </a:r>
            <a:r>
              <a:rPr lang="bg-BG" dirty="0" smtClean="0"/>
              <a:t>код, т.е.</a:t>
            </a:r>
            <a:r>
              <a:rPr lang="en-US" dirty="0" smtClean="0"/>
              <a:t> 65</a:t>
            </a:r>
            <a:r>
              <a:rPr lang="en-US" baseline="-25000" dirty="0" smtClean="0"/>
              <a:t>10</a:t>
            </a:r>
            <a:r>
              <a:rPr lang="en-US" dirty="0" smtClean="0"/>
              <a:t> </a:t>
            </a:r>
            <a:r>
              <a:rPr lang="en-US" dirty="0"/>
              <a:t>= 1000001</a:t>
            </a:r>
            <a:r>
              <a:rPr lang="en-US" baseline="-25000" dirty="0"/>
              <a:t>2</a:t>
            </a:r>
            <a:r>
              <a:rPr lang="en-US" dirty="0"/>
              <a:t>. </a:t>
            </a:r>
            <a:endParaRPr lang="bg-BG" dirty="0" smtClean="0"/>
          </a:p>
          <a:p>
            <a:r>
              <a:rPr lang="bg-BG" dirty="0" smtClean="0"/>
              <a:t>Нека поточният ключ е: </a:t>
            </a:r>
            <a:r>
              <a:rPr lang="en-US" dirty="0" smtClean="0"/>
              <a:t>(s</a:t>
            </a:r>
            <a:r>
              <a:rPr lang="en-US" baseline="-25000" dirty="0" smtClean="0"/>
              <a:t>0</a:t>
            </a:r>
            <a:r>
              <a:rPr lang="en-US" dirty="0"/>
              <a:t>,...,s</a:t>
            </a:r>
            <a:r>
              <a:rPr lang="en-US" baseline="-25000" dirty="0"/>
              <a:t>6</a:t>
            </a:r>
            <a:r>
              <a:rPr lang="en-US" dirty="0"/>
              <a:t>) = </a:t>
            </a:r>
            <a:r>
              <a:rPr lang="en-US" dirty="0" smtClean="0"/>
              <a:t>0101100</a:t>
            </a:r>
            <a:endParaRPr lang="bg-BG" dirty="0" smtClean="0"/>
          </a:p>
          <a:p>
            <a:r>
              <a:rPr lang="en-US" dirty="0" smtClean="0"/>
              <a:t> </a:t>
            </a:r>
            <a:r>
              <a:rPr lang="bg-BG" b="1" dirty="0" smtClean="0"/>
              <a:t>Алис криптира</a:t>
            </a:r>
            <a:r>
              <a:rPr lang="bg-BG" dirty="0" smtClean="0"/>
              <a:t>:</a:t>
            </a:r>
            <a:r>
              <a:rPr lang="en-US" dirty="0" smtClean="0"/>
              <a:t> p</a:t>
            </a:r>
            <a:r>
              <a:rPr lang="en-US" baseline="-25000" dirty="0"/>
              <a:t>0</a:t>
            </a:r>
            <a:r>
              <a:rPr lang="en-US" dirty="0" smtClean="0"/>
              <a:t>,...,p</a:t>
            </a:r>
            <a:r>
              <a:rPr lang="en-US" baseline="-25000" dirty="0"/>
              <a:t>6 </a:t>
            </a:r>
            <a:r>
              <a:rPr lang="en-US" dirty="0"/>
              <a:t>= 1000001 = A </a:t>
            </a:r>
            <a:endParaRPr lang="bg-BG" dirty="0" smtClean="0"/>
          </a:p>
          <a:p>
            <a:pPr marL="0" indent="0">
              <a:buNone/>
            </a:pPr>
            <a:r>
              <a:rPr lang="bg-BG" dirty="0" smtClean="0"/>
              <a:t>		    </a:t>
            </a:r>
            <a:r>
              <a:rPr lang="en-US" dirty="0" smtClean="0"/>
              <a:t>⊕ </a:t>
            </a:r>
            <a:r>
              <a:rPr lang="en-US" dirty="0"/>
              <a:t>s</a:t>
            </a:r>
            <a:r>
              <a:rPr lang="en-US" baseline="-25000" dirty="0"/>
              <a:t>0</a:t>
            </a:r>
            <a:r>
              <a:rPr lang="en-US" dirty="0"/>
              <a:t>,...,s</a:t>
            </a:r>
            <a:r>
              <a:rPr lang="en-US" baseline="-25000" dirty="0"/>
              <a:t>6</a:t>
            </a:r>
            <a:r>
              <a:rPr lang="en-US" dirty="0"/>
              <a:t> = </a:t>
            </a:r>
            <a:r>
              <a:rPr lang="bg-BG" dirty="0" smtClean="0"/>
              <a:t> </a:t>
            </a:r>
            <a:r>
              <a:rPr lang="en-US" b="1" dirty="0" smtClean="0">
                <a:solidFill>
                  <a:schemeClr val="accent4">
                    <a:lumMod val="75000"/>
                  </a:schemeClr>
                </a:solidFill>
              </a:rPr>
              <a:t>0101100</a:t>
            </a:r>
            <a:r>
              <a:rPr lang="en-US" dirty="0" smtClean="0"/>
              <a:t> </a:t>
            </a:r>
            <a:endParaRPr lang="bg-BG" dirty="0"/>
          </a:p>
          <a:p>
            <a:pPr marL="0" indent="0">
              <a:buNone/>
            </a:pPr>
            <a:r>
              <a:rPr lang="en-US" dirty="0" smtClean="0"/>
              <a:t>  </a:t>
            </a:r>
            <a:r>
              <a:rPr lang="bg-BG" dirty="0" smtClean="0"/>
              <a:t>		        </a:t>
            </a:r>
            <a:r>
              <a:rPr lang="en-US" dirty="0" smtClean="0"/>
              <a:t>c</a:t>
            </a:r>
            <a:r>
              <a:rPr lang="en-US" baseline="-25000" dirty="0" smtClean="0"/>
              <a:t>0</a:t>
            </a:r>
            <a:r>
              <a:rPr lang="en-US" dirty="0" smtClean="0"/>
              <a:t>,...,c</a:t>
            </a:r>
            <a:r>
              <a:rPr lang="en-US" baseline="-25000" dirty="0"/>
              <a:t>6</a:t>
            </a:r>
            <a:r>
              <a:rPr lang="en-US" dirty="0" smtClean="0"/>
              <a:t> </a:t>
            </a:r>
            <a:r>
              <a:rPr lang="en-US" dirty="0"/>
              <a:t>= 1101101 = </a:t>
            </a:r>
            <a:r>
              <a:rPr lang="en-US" dirty="0" smtClean="0"/>
              <a:t>c </a:t>
            </a:r>
            <a:endParaRPr lang="bg-BG" dirty="0"/>
          </a:p>
          <a:p>
            <a:r>
              <a:rPr lang="en-US" dirty="0" smtClean="0"/>
              <a:t>E</a:t>
            </a:r>
            <a:r>
              <a:rPr lang="bg-BG" dirty="0" smtClean="0"/>
              <a:t>ва </a:t>
            </a:r>
            <a:r>
              <a:rPr lang="en-US" dirty="0" smtClean="0"/>
              <a:t> </a:t>
            </a:r>
            <a:r>
              <a:rPr lang="bg-BG" dirty="0" smtClean="0"/>
              <a:t>подслушва криптограмата </a:t>
            </a:r>
            <a:r>
              <a:rPr lang="en-US" dirty="0" smtClean="0"/>
              <a:t>c</a:t>
            </a:r>
            <a:r>
              <a:rPr lang="bg-BG" dirty="0" smtClean="0"/>
              <a:t>=</a:t>
            </a:r>
            <a:r>
              <a:rPr lang="en-US" dirty="0"/>
              <a:t>1101101</a:t>
            </a:r>
            <a:endParaRPr lang="en-US" dirty="0" smtClean="0"/>
          </a:p>
          <a:p>
            <a:r>
              <a:rPr lang="bg-BG" b="1" dirty="0" smtClean="0"/>
              <a:t>Боб декриптира</a:t>
            </a:r>
            <a:r>
              <a:rPr lang="bg-BG" dirty="0" smtClean="0"/>
              <a:t>: </a:t>
            </a:r>
            <a:r>
              <a:rPr lang="en-US" dirty="0" smtClean="0"/>
              <a:t> </a:t>
            </a:r>
            <a:r>
              <a:rPr lang="en-US" dirty="0"/>
              <a:t>c</a:t>
            </a:r>
            <a:r>
              <a:rPr lang="en-US" baseline="-25000" dirty="0"/>
              <a:t>0</a:t>
            </a:r>
            <a:r>
              <a:rPr lang="en-US" dirty="0" smtClean="0"/>
              <a:t>,...,c</a:t>
            </a:r>
            <a:r>
              <a:rPr lang="en-US" baseline="-25000" dirty="0"/>
              <a:t>6</a:t>
            </a:r>
            <a:r>
              <a:rPr lang="en-US" dirty="0" smtClean="0"/>
              <a:t> </a:t>
            </a:r>
            <a:r>
              <a:rPr lang="en-US" dirty="0"/>
              <a:t>= 1101101 </a:t>
            </a:r>
            <a:endParaRPr lang="bg-BG" dirty="0" smtClean="0"/>
          </a:p>
          <a:p>
            <a:pPr marL="0" indent="0">
              <a:buNone/>
            </a:pPr>
            <a:r>
              <a:rPr lang="bg-BG" dirty="0" smtClean="0"/>
              <a:t>		      </a:t>
            </a:r>
            <a:r>
              <a:rPr lang="en-US" dirty="0" smtClean="0"/>
              <a:t> ⊕ </a:t>
            </a:r>
            <a:r>
              <a:rPr lang="en-US" dirty="0"/>
              <a:t>s</a:t>
            </a:r>
            <a:r>
              <a:rPr lang="en-US" baseline="-25000" dirty="0"/>
              <a:t>0</a:t>
            </a:r>
            <a:r>
              <a:rPr lang="en-US" dirty="0"/>
              <a:t>,...,s</a:t>
            </a:r>
            <a:r>
              <a:rPr lang="en-US" baseline="-25000" dirty="0"/>
              <a:t>6</a:t>
            </a:r>
            <a:r>
              <a:rPr lang="en-US" dirty="0"/>
              <a:t> =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0101100</a:t>
            </a:r>
            <a:r>
              <a:rPr lang="en-US" dirty="0"/>
              <a:t> </a:t>
            </a:r>
            <a:endParaRPr lang="bg-BG" dirty="0" smtClean="0"/>
          </a:p>
          <a:p>
            <a:pPr marL="0" indent="0">
              <a:buNone/>
            </a:pPr>
            <a:r>
              <a:rPr lang="bg-BG" dirty="0" smtClean="0"/>
              <a:t>		          </a:t>
            </a:r>
            <a:r>
              <a:rPr lang="en-US" dirty="0" smtClean="0"/>
              <a:t>p</a:t>
            </a:r>
            <a:r>
              <a:rPr lang="en-US" baseline="-25000" dirty="0"/>
              <a:t>0</a:t>
            </a:r>
            <a:r>
              <a:rPr lang="en-US" dirty="0" smtClean="0"/>
              <a:t>,...,p</a:t>
            </a:r>
            <a:r>
              <a:rPr lang="en-US" baseline="-25000" dirty="0"/>
              <a:t>6</a:t>
            </a:r>
            <a:r>
              <a:rPr lang="en-US" dirty="0" smtClean="0"/>
              <a:t> </a:t>
            </a:r>
            <a:r>
              <a:rPr lang="en-US" dirty="0"/>
              <a:t>= 1000001 = A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8685"/>
            <a:ext cx="9331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 smtClean="0"/>
              <a:t>(Ключът е един и същ за Алис и за Боб – симетрична криптография!)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288676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Поточни алгоритми</a:t>
            </a:r>
            <a:r>
              <a:rPr lang="en-US" dirty="0"/>
              <a:t> -</a:t>
            </a:r>
            <a:r>
              <a:rPr lang="bg-BG" dirty="0"/>
              <a:t> особености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bg-BG" b="1" dirty="0" smtClean="0"/>
              <a:t>Секретността на поточните алгоритми зависи от секретността на поточните ключове</a:t>
            </a:r>
          </a:p>
          <a:p>
            <a:r>
              <a:rPr lang="bg-BG" dirty="0" smtClean="0"/>
              <a:t>Въпросът е как да се получи (генерира) поточният ключ? </a:t>
            </a:r>
          </a:p>
          <a:p>
            <a:r>
              <a:rPr lang="bg-BG" dirty="0" smtClean="0"/>
              <a:t>Поточният ключ трябва да съдържа </a:t>
            </a:r>
            <a:r>
              <a:rPr lang="bg-BG" b="1" dirty="0" smtClean="0"/>
              <a:t>случайна последователност </a:t>
            </a:r>
            <a:r>
              <a:rPr lang="bg-BG" dirty="0" smtClean="0"/>
              <a:t>от битове, за да се затрудни атакуващият, защото в противен случай атакуващият може да отгатне битовете и да декриптира криптограмата</a:t>
            </a:r>
          </a:p>
        </p:txBody>
      </p:sp>
    </p:spTree>
    <p:extLst>
      <p:ext uri="{BB962C8B-B14F-4D97-AF65-F5344CB8AC3E}">
        <p14:creationId xmlns:p14="http://schemas.microsoft.com/office/powerpoint/2010/main" val="28106483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Генератори на случайни числа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bg-BG" dirty="0" smtClean="0"/>
              <a:t>Три типа </a:t>
            </a:r>
            <a:r>
              <a:rPr lang="bg-BG" b="1" dirty="0" smtClean="0">
                <a:solidFill>
                  <a:schemeClr val="accent4">
                    <a:lumMod val="75000"/>
                  </a:schemeClr>
                </a:solidFill>
              </a:rPr>
              <a:t>генератори на случайни числа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True Random Number </a:t>
            </a:r>
            <a:r>
              <a:rPr lang="en-US" b="1" dirty="0" smtClean="0"/>
              <a:t>Generator </a:t>
            </a:r>
            <a:r>
              <a:rPr lang="en-US" b="1" dirty="0"/>
              <a:t>(TRNG) </a:t>
            </a:r>
            <a:r>
              <a:rPr lang="bg-BG" b="1" dirty="0" smtClean="0"/>
              <a:t>Истински генератор на случайни числа </a:t>
            </a:r>
            <a:r>
              <a:rPr lang="bg-BG" dirty="0" smtClean="0"/>
              <a:t>– характеризира се с факта, че изходът му не може да се повтори</a:t>
            </a:r>
          </a:p>
          <a:p>
            <a:r>
              <a:rPr lang="bg-BG" b="1" dirty="0" smtClean="0"/>
              <a:t>Пример</a:t>
            </a:r>
            <a:r>
              <a:rPr lang="bg-BG" dirty="0" smtClean="0"/>
              <a:t> – При хвърляне на монета 100 пъти се получава 100 битова последователност от 0 и 1 и е невъзможно да се генерира същата 100 битова последователност; шансът за успех е  </a:t>
            </a:r>
            <a:r>
              <a:rPr lang="en-US" dirty="0" smtClean="0"/>
              <a:t>1/2</a:t>
            </a:r>
            <a:r>
              <a:rPr lang="en-US" baseline="30000" dirty="0" smtClean="0"/>
              <a:t>100</a:t>
            </a:r>
            <a:r>
              <a:rPr lang="bg-BG" dirty="0" smtClean="0"/>
              <a:t>, което е много малка вероятност</a:t>
            </a:r>
          </a:p>
          <a:p>
            <a:r>
              <a:rPr lang="en-US" b="1" dirty="0" smtClean="0"/>
              <a:t>TRNG</a:t>
            </a:r>
            <a:r>
              <a:rPr lang="en-US" dirty="0" smtClean="0"/>
              <a:t> </a:t>
            </a:r>
            <a:r>
              <a:rPr lang="bg-BG" dirty="0" smtClean="0"/>
              <a:t>се изграждат въз основа на </a:t>
            </a:r>
            <a:r>
              <a:rPr lang="bg-BG" b="1" dirty="0" smtClean="0"/>
              <a:t>физични процеси </a:t>
            </a:r>
            <a:r>
              <a:rPr lang="bg-BG" dirty="0" smtClean="0"/>
              <a:t>– хвърляне на монета или зар, полупроводников шум, радиоактивно разпадане, </a:t>
            </a:r>
            <a:r>
              <a:rPr lang="bg-BG" dirty="0" err="1" smtClean="0"/>
              <a:t>др</a:t>
            </a:r>
            <a:r>
              <a:rPr lang="en-US" dirty="0" smtClean="0"/>
              <a:t>. </a:t>
            </a:r>
            <a:endParaRPr lang="bg-BG" dirty="0" smtClean="0"/>
          </a:p>
          <a:p>
            <a:r>
              <a:rPr lang="bg-BG" dirty="0" smtClean="0"/>
              <a:t>В криптографията, </a:t>
            </a:r>
            <a:r>
              <a:rPr lang="en-US" b="1" dirty="0" smtClean="0"/>
              <a:t>TRNG</a:t>
            </a:r>
            <a:r>
              <a:rPr lang="bg-BG" dirty="0" smtClean="0"/>
              <a:t> често се използват за генериране на </a:t>
            </a:r>
            <a:r>
              <a:rPr lang="bg-BG" dirty="0" err="1" smtClean="0"/>
              <a:t>сесийни</a:t>
            </a:r>
            <a:r>
              <a:rPr lang="bg-BG" dirty="0" smtClean="0"/>
              <a:t> ключове, които се доставят между Алис и Боб и за други цели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438230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Генератори на случайни числа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057401"/>
            <a:ext cx="10820400" cy="4453127"/>
          </a:xfrm>
        </p:spPr>
        <p:txBody>
          <a:bodyPr>
            <a:normAutofit fontScale="85000" lnSpcReduction="20000"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b="1" dirty="0"/>
              <a:t>Pseudorandom Number </a:t>
            </a:r>
            <a:r>
              <a:rPr lang="en-US" b="1" dirty="0" smtClean="0"/>
              <a:t>Generator </a:t>
            </a:r>
            <a:r>
              <a:rPr lang="en-US" b="1" dirty="0"/>
              <a:t>(PRNG</a:t>
            </a:r>
            <a:r>
              <a:rPr lang="en-US" b="1" dirty="0" smtClean="0"/>
              <a:t>)</a:t>
            </a:r>
            <a:r>
              <a:rPr lang="bg-BG" b="1" dirty="0" smtClean="0"/>
              <a:t> </a:t>
            </a:r>
            <a:r>
              <a:rPr lang="bg-BG" dirty="0" smtClean="0"/>
              <a:t>– </a:t>
            </a:r>
            <a:r>
              <a:rPr lang="bg-BG" b="1" dirty="0" smtClean="0"/>
              <a:t>Генератор на </a:t>
            </a:r>
            <a:r>
              <a:rPr lang="bg-BG" b="1" dirty="0" err="1" smtClean="0"/>
              <a:t>псевдослучайни</a:t>
            </a:r>
            <a:r>
              <a:rPr lang="bg-BG" b="1" dirty="0" smtClean="0"/>
              <a:t> числа</a:t>
            </a:r>
          </a:p>
          <a:p>
            <a:r>
              <a:rPr lang="bg-BG" dirty="0" smtClean="0"/>
              <a:t>Генерира последователности, които се изчисляват въз основа на </a:t>
            </a:r>
            <a:r>
              <a:rPr lang="bg-BG" b="1" dirty="0" smtClean="0">
                <a:solidFill>
                  <a:schemeClr val="accent4">
                    <a:lumMod val="75000"/>
                  </a:schemeClr>
                </a:solidFill>
              </a:rPr>
              <a:t>една начална стойност </a:t>
            </a:r>
            <a:r>
              <a:rPr lang="en-US" b="1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bg-BG" b="1" dirty="0" smtClean="0">
                <a:solidFill>
                  <a:schemeClr val="accent4">
                    <a:lumMod val="75000"/>
                  </a:schemeClr>
                </a:solidFill>
              </a:rPr>
              <a:t>(</a:t>
            </a:r>
            <a:r>
              <a:rPr lang="en-US" b="1" dirty="0" smtClean="0">
                <a:solidFill>
                  <a:schemeClr val="accent4">
                    <a:lumMod val="75000"/>
                  </a:schemeClr>
                </a:solidFill>
              </a:rPr>
              <a:t>seed</a:t>
            </a:r>
            <a:r>
              <a:rPr lang="bg-BG" b="1" dirty="0" smtClean="0">
                <a:solidFill>
                  <a:schemeClr val="accent4">
                    <a:lumMod val="75000"/>
                  </a:schemeClr>
                </a:solidFill>
              </a:rPr>
              <a:t>)</a:t>
            </a:r>
          </a:p>
          <a:p>
            <a:r>
              <a:rPr lang="bg-BG" dirty="0" smtClean="0"/>
              <a:t>Често се изчисляват </a:t>
            </a:r>
            <a:r>
              <a:rPr lang="bg-BG" b="1" dirty="0" smtClean="0"/>
              <a:t>рекурсивно</a:t>
            </a:r>
            <a:r>
              <a:rPr lang="bg-BG" dirty="0" smtClean="0"/>
              <a:t> по следния начин:</a:t>
            </a:r>
          </a:p>
          <a:p>
            <a:pPr marL="0" indent="0">
              <a:buNone/>
            </a:pPr>
            <a:r>
              <a:rPr lang="bg-BG" dirty="0" smtClean="0"/>
              <a:t>	</a:t>
            </a:r>
            <a:r>
              <a:rPr lang="en-US" b="1" dirty="0" smtClean="0"/>
              <a:t>s</a:t>
            </a:r>
            <a:r>
              <a:rPr lang="en-US" b="1" baseline="-25000" dirty="0" smtClean="0"/>
              <a:t>0</a:t>
            </a:r>
            <a:r>
              <a:rPr lang="en-US" b="1" dirty="0" smtClean="0"/>
              <a:t> </a:t>
            </a:r>
            <a:r>
              <a:rPr lang="en-US" b="1" dirty="0"/>
              <a:t>= </a:t>
            </a:r>
            <a:r>
              <a:rPr lang="en-US" b="1" dirty="0" smtClean="0"/>
              <a:t>seed</a:t>
            </a:r>
          </a:p>
          <a:p>
            <a:pPr marL="0" indent="0">
              <a:buNone/>
            </a:pPr>
            <a:r>
              <a:rPr lang="en-US" b="1" dirty="0"/>
              <a:t>	</a:t>
            </a:r>
            <a:r>
              <a:rPr lang="en-US" b="1" dirty="0" smtClean="0"/>
              <a:t>s</a:t>
            </a:r>
            <a:r>
              <a:rPr lang="en-US" b="1" baseline="-25000" dirty="0" smtClean="0"/>
              <a:t>i+1</a:t>
            </a:r>
            <a:r>
              <a:rPr lang="en-US" b="1" dirty="0" smtClean="0"/>
              <a:t> </a:t>
            </a:r>
            <a:r>
              <a:rPr lang="en-US" b="1" dirty="0"/>
              <a:t>= f(</a:t>
            </a:r>
            <a:r>
              <a:rPr lang="en-US" b="1" dirty="0" err="1"/>
              <a:t>s</a:t>
            </a:r>
            <a:r>
              <a:rPr lang="en-US" b="1" baseline="-25000" dirty="0" err="1"/>
              <a:t>i</a:t>
            </a:r>
            <a:r>
              <a:rPr lang="en-US" b="1" dirty="0"/>
              <a:t>)</a:t>
            </a:r>
            <a:r>
              <a:rPr lang="en-US" dirty="0"/>
              <a:t>, </a:t>
            </a:r>
            <a:r>
              <a:rPr lang="en-US" dirty="0" err="1"/>
              <a:t>i</a:t>
            </a:r>
            <a:r>
              <a:rPr lang="en-US" dirty="0"/>
              <a:t> = 0,1,... </a:t>
            </a:r>
            <a:endParaRPr lang="bg-BG" dirty="0" smtClean="0"/>
          </a:p>
          <a:p>
            <a:r>
              <a:rPr lang="bg-BG" dirty="0" smtClean="0"/>
              <a:t>Или в общия случай </a:t>
            </a:r>
          </a:p>
          <a:p>
            <a:pPr marL="0" indent="0">
              <a:buNone/>
            </a:pPr>
            <a:r>
              <a:rPr lang="bg-BG" dirty="0"/>
              <a:t>	</a:t>
            </a:r>
            <a:r>
              <a:rPr lang="en-US" b="1" dirty="0" smtClean="0"/>
              <a:t>s</a:t>
            </a:r>
            <a:r>
              <a:rPr lang="en-US" b="1" baseline="-25000" dirty="0" smtClean="0"/>
              <a:t>i+1</a:t>
            </a:r>
            <a:r>
              <a:rPr lang="en-US" b="1" dirty="0" smtClean="0"/>
              <a:t> </a:t>
            </a:r>
            <a:r>
              <a:rPr lang="en-US" b="1" dirty="0"/>
              <a:t>= f(s</a:t>
            </a:r>
            <a:r>
              <a:rPr lang="en-US" b="1" baseline="-25000" dirty="0"/>
              <a:t>i</a:t>
            </a:r>
            <a:r>
              <a:rPr lang="en-US" b="1" dirty="0"/>
              <a:t>,s</a:t>
            </a:r>
            <a:r>
              <a:rPr lang="en-US" b="1" baseline="-25000" dirty="0"/>
              <a:t>i−1</a:t>
            </a:r>
            <a:r>
              <a:rPr lang="en-US" b="1" dirty="0"/>
              <a:t>,...,</a:t>
            </a:r>
            <a:r>
              <a:rPr lang="en-US" b="1" dirty="0" err="1"/>
              <a:t>s</a:t>
            </a:r>
            <a:r>
              <a:rPr lang="en-US" b="1" baseline="-25000" dirty="0" err="1"/>
              <a:t>i</a:t>
            </a:r>
            <a:r>
              <a:rPr lang="en-US" b="1" baseline="-25000" dirty="0"/>
              <a:t>−t</a:t>
            </a:r>
            <a:r>
              <a:rPr lang="en-US" b="1" dirty="0"/>
              <a:t>)</a:t>
            </a:r>
            <a:r>
              <a:rPr lang="en-US" dirty="0"/>
              <a:t>, </a:t>
            </a:r>
            <a:r>
              <a:rPr lang="bg-BG" dirty="0" smtClean="0"/>
              <a:t>където</a:t>
            </a:r>
            <a:r>
              <a:rPr lang="en-US" dirty="0" smtClean="0"/>
              <a:t> </a:t>
            </a:r>
            <a:r>
              <a:rPr lang="en-US" b="1" dirty="0"/>
              <a:t>f</a:t>
            </a:r>
            <a:r>
              <a:rPr lang="en-US" dirty="0" smtClean="0"/>
              <a:t> </a:t>
            </a:r>
            <a:r>
              <a:rPr lang="bg-BG" dirty="0" smtClean="0"/>
              <a:t>е фиксирано число</a:t>
            </a:r>
          </a:p>
          <a:p>
            <a:r>
              <a:rPr lang="bg-BG" dirty="0" smtClean="0"/>
              <a:t>Един популярен пример е </a:t>
            </a:r>
            <a:r>
              <a:rPr lang="bg-BG" b="1" dirty="0" smtClean="0"/>
              <a:t>линейният </a:t>
            </a:r>
            <a:r>
              <a:rPr lang="bg-BG" b="1" dirty="0" err="1" smtClean="0"/>
              <a:t>конгруентен</a:t>
            </a:r>
            <a:r>
              <a:rPr lang="bg-BG" b="1" dirty="0" smtClean="0"/>
              <a:t> генератор </a:t>
            </a:r>
            <a:r>
              <a:rPr lang="bg-BG" dirty="0" smtClean="0"/>
              <a:t>(</a:t>
            </a:r>
            <a:r>
              <a:rPr lang="en-US" dirty="0"/>
              <a:t>linear congruential </a:t>
            </a:r>
            <a:r>
              <a:rPr lang="en-US" dirty="0" smtClean="0"/>
              <a:t>generator</a:t>
            </a:r>
            <a:r>
              <a:rPr lang="bg-BG" dirty="0" smtClean="0"/>
              <a:t> - </a:t>
            </a:r>
            <a:r>
              <a:rPr lang="en-US" dirty="0" smtClean="0"/>
              <a:t>LCG</a:t>
            </a:r>
            <a:r>
              <a:rPr lang="bg-BG" dirty="0" smtClean="0"/>
              <a:t>)</a:t>
            </a:r>
            <a:r>
              <a:rPr lang="en-US" dirty="0" smtClean="0"/>
              <a:t>: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s</a:t>
            </a:r>
            <a:r>
              <a:rPr lang="en-US" b="1" baseline="-250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0</a:t>
            </a:r>
            <a:r>
              <a:rPr lang="en-US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= </a:t>
            </a:r>
            <a:r>
              <a:rPr lang="en-US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seed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</a:t>
            </a:r>
            <a:r>
              <a:rPr lang="en-US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s</a:t>
            </a:r>
            <a:r>
              <a:rPr lang="en-US" b="1" baseline="-250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i+1</a:t>
            </a:r>
            <a:r>
              <a:rPr lang="en-US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≡ </a:t>
            </a:r>
            <a:r>
              <a:rPr lang="en-US" b="1" dirty="0" smtClean="0">
                <a:solidFill>
                  <a:srgbClr val="00B050"/>
                </a:solidFill>
              </a:rPr>
              <a:t>a</a:t>
            </a:r>
            <a:r>
              <a:rPr lang="en-US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.s</a:t>
            </a:r>
            <a:r>
              <a:rPr lang="en-US" b="1" baseline="-250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i</a:t>
            </a:r>
            <a:r>
              <a:rPr lang="en-US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+</a:t>
            </a:r>
            <a:r>
              <a:rPr lang="en-US" b="1" dirty="0" err="1" smtClean="0">
                <a:solidFill>
                  <a:srgbClr val="00B050"/>
                </a:solidFill>
              </a:rPr>
              <a:t>b</a:t>
            </a:r>
            <a:r>
              <a:rPr lang="en-US" b="1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mod</a:t>
            </a:r>
            <a:r>
              <a:rPr lang="en-US" b="1" dirty="0" err="1" smtClean="0">
                <a:solidFill>
                  <a:srgbClr val="00B050"/>
                </a:solidFill>
              </a:rPr>
              <a:t>m</a:t>
            </a:r>
            <a:r>
              <a:rPr lang="en-US" dirty="0"/>
              <a:t>, </a:t>
            </a:r>
            <a:r>
              <a:rPr lang="en-US" dirty="0" err="1"/>
              <a:t>i</a:t>
            </a:r>
            <a:r>
              <a:rPr lang="en-US" dirty="0"/>
              <a:t> = 0,1,... </a:t>
            </a:r>
            <a:r>
              <a:rPr lang="bg-BG" dirty="0" smtClean="0"/>
              <a:t>където</a:t>
            </a:r>
            <a:r>
              <a:rPr lang="en-US" dirty="0" smtClean="0"/>
              <a:t> </a:t>
            </a:r>
            <a:r>
              <a:rPr lang="en-US" dirty="0"/>
              <a:t>a, b, m </a:t>
            </a:r>
            <a:r>
              <a:rPr lang="bg-BG" dirty="0" smtClean="0"/>
              <a:t>са числови константи</a:t>
            </a:r>
          </a:p>
          <a:p>
            <a:r>
              <a:rPr lang="bg-BG" dirty="0" smtClean="0"/>
              <a:t>Друг пример е функцията </a:t>
            </a:r>
            <a:r>
              <a:rPr lang="en-US" b="1" dirty="0" smtClean="0"/>
              <a:t>rand</a:t>
            </a:r>
            <a:r>
              <a:rPr lang="en-US" b="1" dirty="0"/>
              <a:t>() </a:t>
            </a:r>
            <a:r>
              <a:rPr lang="bg-BG" dirty="0" smtClean="0"/>
              <a:t>от </a:t>
            </a:r>
            <a:r>
              <a:rPr lang="en-US" dirty="0" smtClean="0"/>
              <a:t>ANSI C</a:t>
            </a:r>
            <a:r>
              <a:rPr lang="bg-BG" dirty="0" smtClean="0"/>
              <a:t>:</a:t>
            </a:r>
            <a:r>
              <a:rPr lang="en-US" dirty="0" smtClean="0"/>
              <a:t> </a:t>
            </a:r>
            <a:endParaRPr lang="bg-BG" dirty="0" smtClean="0"/>
          </a:p>
          <a:p>
            <a:pPr marL="0" indent="0">
              <a:buNone/>
            </a:pPr>
            <a:r>
              <a:rPr lang="en-US" dirty="0" smtClean="0"/>
              <a:t>s</a:t>
            </a:r>
            <a:r>
              <a:rPr lang="en-US" baseline="-25000" dirty="0" smtClean="0"/>
              <a:t>0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en-US" dirty="0" smtClean="0"/>
              <a:t>12345; s</a:t>
            </a:r>
            <a:r>
              <a:rPr lang="en-US" baseline="-25000" dirty="0" smtClean="0"/>
              <a:t>i</a:t>
            </a:r>
            <a:r>
              <a:rPr lang="en-US" baseline="-25000" dirty="0"/>
              <a:t>+1</a:t>
            </a:r>
            <a:r>
              <a:rPr lang="en-US" dirty="0" smtClean="0"/>
              <a:t> </a:t>
            </a:r>
            <a:r>
              <a:rPr lang="en-US" dirty="0"/>
              <a:t>≡ 1103515245s</a:t>
            </a:r>
            <a:r>
              <a:rPr lang="en-US" baseline="-25000" dirty="0"/>
              <a:t>i</a:t>
            </a:r>
            <a:r>
              <a:rPr lang="en-US" dirty="0"/>
              <a:t> +</a:t>
            </a:r>
            <a:r>
              <a:rPr lang="en-US" dirty="0" smtClean="0"/>
              <a:t>12345mod </a:t>
            </a:r>
            <a:r>
              <a:rPr lang="en-US" dirty="0"/>
              <a:t>2</a:t>
            </a:r>
            <a:r>
              <a:rPr lang="en-US" baseline="30000" dirty="0"/>
              <a:t>31</a:t>
            </a:r>
            <a:r>
              <a:rPr lang="en-US" dirty="0"/>
              <a:t>, </a:t>
            </a:r>
            <a:r>
              <a:rPr lang="en-US" dirty="0" err="1"/>
              <a:t>i</a:t>
            </a:r>
            <a:r>
              <a:rPr lang="en-US" dirty="0"/>
              <a:t> = 0,1,...</a:t>
            </a:r>
          </a:p>
        </p:txBody>
      </p:sp>
    </p:spTree>
    <p:extLst>
      <p:ext uri="{BB962C8B-B14F-4D97-AF65-F5344CB8AC3E}">
        <p14:creationId xmlns:p14="http://schemas.microsoft.com/office/powerpoint/2010/main" val="3025896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Генератори на случайни числа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b="1" dirty="0"/>
              <a:t>Cryptographically Secure Pseudorandom Number </a:t>
            </a:r>
            <a:r>
              <a:rPr lang="en-US" b="1" dirty="0" smtClean="0"/>
              <a:t>Generator </a:t>
            </a:r>
            <a:r>
              <a:rPr lang="en-US" b="1" dirty="0"/>
              <a:t>(CSPRNG</a:t>
            </a:r>
            <a:r>
              <a:rPr lang="en-US" b="1" dirty="0" smtClean="0"/>
              <a:t>)</a:t>
            </a:r>
            <a:r>
              <a:rPr lang="bg-BG" b="1" dirty="0" smtClean="0"/>
              <a:t> – </a:t>
            </a:r>
            <a:r>
              <a:rPr lang="bg-BG" b="1" dirty="0" err="1" smtClean="0"/>
              <a:t>Криптографски</a:t>
            </a:r>
            <a:r>
              <a:rPr lang="bg-BG" b="1" dirty="0" smtClean="0"/>
              <a:t> сигурен генератор на </a:t>
            </a:r>
            <a:r>
              <a:rPr lang="bg-BG" b="1" dirty="0" err="1" smtClean="0"/>
              <a:t>псевдослучайни</a:t>
            </a:r>
            <a:r>
              <a:rPr lang="bg-BG" b="1" dirty="0" smtClean="0"/>
              <a:t> числа</a:t>
            </a:r>
          </a:p>
          <a:p>
            <a:r>
              <a:rPr lang="en-US" b="1" dirty="0" smtClean="0"/>
              <a:t>CSPRNG</a:t>
            </a:r>
            <a:r>
              <a:rPr lang="bg-BG" dirty="0" smtClean="0"/>
              <a:t> </a:t>
            </a:r>
            <a:r>
              <a:rPr lang="bg-BG" dirty="0"/>
              <a:t>е</a:t>
            </a:r>
            <a:r>
              <a:rPr lang="bg-BG" dirty="0" smtClean="0"/>
              <a:t> специален тип генератори на </a:t>
            </a:r>
            <a:r>
              <a:rPr lang="en-US" dirty="0" smtClean="0"/>
              <a:t> PRNG</a:t>
            </a:r>
            <a:r>
              <a:rPr lang="bg-BG" dirty="0" smtClean="0"/>
              <a:t>, който притежава следните допълнителни свойства</a:t>
            </a:r>
            <a:r>
              <a:rPr lang="en-US" dirty="0" smtClean="0"/>
              <a:t> : </a:t>
            </a:r>
            <a:endParaRPr lang="bg-BG" dirty="0" smtClean="0"/>
          </a:p>
          <a:p>
            <a:pPr lvl="1"/>
            <a:r>
              <a:rPr lang="en-US" b="1" dirty="0" smtClean="0"/>
              <a:t>CSPRNG </a:t>
            </a:r>
            <a:r>
              <a:rPr lang="bg-BG" b="1" dirty="0"/>
              <a:t>е</a:t>
            </a:r>
            <a:r>
              <a:rPr lang="en-US" b="1" dirty="0" smtClean="0"/>
              <a:t> PRNG</a:t>
            </a:r>
            <a:r>
              <a:rPr lang="bg-BG" dirty="0" smtClean="0"/>
              <a:t>, който е </a:t>
            </a:r>
            <a:r>
              <a:rPr lang="bg-BG" b="1" dirty="0" smtClean="0"/>
              <a:t>непредсказуем</a:t>
            </a:r>
            <a:r>
              <a:rPr lang="bg-BG" dirty="0"/>
              <a:t> </a:t>
            </a:r>
            <a:r>
              <a:rPr lang="bg-BG" dirty="0" smtClean="0"/>
              <a:t>– при дадени </a:t>
            </a:r>
            <a:r>
              <a:rPr lang="en-US" dirty="0" smtClean="0"/>
              <a:t>n </a:t>
            </a:r>
            <a:r>
              <a:rPr lang="bg-BG" dirty="0" smtClean="0"/>
              <a:t>бита от поточния ключ </a:t>
            </a:r>
            <a:r>
              <a:rPr lang="en-US" dirty="0" smtClean="0"/>
              <a:t>s</a:t>
            </a:r>
            <a:r>
              <a:rPr lang="en-US" baseline="-25000" dirty="0" smtClean="0"/>
              <a:t>i</a:t>
            </a:r>
            <a:r>
              <a:rPr lang="en-US" dirty="0" smtClean="0"/>
              <a:t>,s</a:t>
            </a:r>
            <a:r>
              <a:rPr lang="en-US" sz="2100" baseline="-25000" dirty="0"/>
              <a:t>i+1</a:t>
            </a:r>
            <a:r>
              <a:rPr lang="en-US" dirty="0"/>
              <a:t>,...,s</a:t>
            </a:r>
            <a:r>
              <a:rPr lang="en-US" sz="2100" baseline="-25000" dirty="0"/>
              <a:t>i+n−1</a:t>
            </a:r>
            <a:r>
              <a:rPr lang="en-US" dirty="0"/>
              <a:t>, </a:t>
            </a:r>
            <a:r>
              <a:rPr lang="bg-BG" dirty="0" smtClean="0"/>
              <a:t>където</a:t>
            </a:r>
            <a:r>
              <a:rPr lang="en-US" dirty="0" smtClean="0"/>
              <a:t> </a:t>
            </a:r>
            <a:r>
              <a:rPr lang="en-US" dirty="0"/>
              <a:t>n </a:t>
            </a:r>
            <a:r>
              <a:rPr lang="bg-BG" dirty="0" smtClean="0"/>
              <a:t>е цяло число</a:t>
            </a:r>
            <a:r>
              <a:rPr lang="en-US" dirty="0" smtClean="0"/>
              <a:t>, </a:t>
            </a:r>
            <a:r>
              <a:rPr lang="bg-BG" dirty="0" smtClean="0"/>
              <a:t>е </a:t>
            </a:r>
            <a:r>
              <a:rPr lang="bg-BG" u="sng" dirty="0" smtClean="0"/>
              <a:t>невъзможно да бъдат изчислени следващите битове </a:t>
            </a:r>
            <a:r>
              <a:rPr lang="en-US" dirty="0" smtClean="0"/>
              <a:t>s</a:t>
            </a:r>
            <a:r>
              <a:rPr lang="en-US" baseline="-25000" dirty="0" smtClean="0"/>
              <a:t>i+n</a:t>
            </a:r>
            <a:r>
              <a:rPr lang="en-US" dirty="0" smtClean="0"/>
              <a:t>,s</a:t>
            </a:r>
            <a:r>
              <a:rPr lang="en-US" sz="2100" baseline="-25000" dirty="0"/>
              <a:t>i+n+1</a:t>
            </a:r>
            <a:r>
              <a:rPr lang="en-US" dirty="0"/>
              <a:t>,.... </a:t>
            </a:r>
            <a:endParaRPr lang="bg-BG" dirty="0" smtClean="0"/>
          </a:p>
          <a:p>
            <a:r>
              <a:rPr lang="bg-BG" dirty="0" smtClean="0"/>
              <a:t>По-точна дефиниция – </a:t>
            </a:r>
            <a:r>
              <a:rPr lang="bg-BG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При дадени определени </a:t>
            </a:r>
            <a:r>
              <a:rPr lang="en-US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n </a:t>
            </a:r>
            <a:r>
              <a:rPr lang="bg-BG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последователни бита от поточния ключ</a:t>
            </a:r>
            <a:r>
              <a:rPr lang="en-US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, </a:t>
            </a:r>
            <a:r>
              <a:rPr lang="bg-BG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няма алгоритъм, който да предскаже следващите </a:t>
            </a:r>
            <a:r>
              <a:rPr lang="en-US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s</a:t>
            </a:r>
            <a:r>
              <a:rPr lang="en-US" b="1" baseline="-250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n+1</a:t>
            </a:r>
            <a:r>
              <a:rPr lang="en-US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bg-BG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бита с успех повече от </a:t>
            </a:r>
            <a:r>
              <a:rPr lang="en-US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50%</a:t>
            </a:r>
            <a:endParaRPr lang="bg-BG" b="1" dirty="0" smtClean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bg-BG" dirty="0" smtClean="0"/>
              <a:t>Друго свойство на</a:t>
            </a:r>
            <a:r>
              <a:rPr lang="en-US" dirty="0" smtClean="0"/>
              <a:t> </a:t>
            </a:r>
            <a:r>
              <a:rPr lang="en-US" dirty="0"/>
              <a:t>CSPRNG </a:t>
            </a:r>
            <a:r>
              <a:rPr lang="bg-BG" dirty="0" smtClean="0"/>
              <a:t>- </a:t>
            </a:r>
            <a:r>
              <a:rPr lang="bg-BG" b="1" dirty="0" smtClean="0">
                <a:solidFill>
                  <a:srgbClr val="00B050"/>
                </a:solidFill>
              </a:rPr>
              <a:t>при дадена горна последователност, е </a:t>
            </a:r>
            <a:r>
              <a:rPr lang="bg-BG" b="1" u="sng" dirty="0" smtClean="0">
                <a:solidFill>
                  <a:srgbClr val="00B050"/>
                </a:solidFill>
              </a:rPr>
              <a:t>невъзможно да се изчислят предшестващите </a:t>
            </a:r>
            <a:r>
              <a:rPr lang="en-US" b="1" dirty="0" smtClean="0">
                <a:solidFill>
                  <a:srgbClr val="00B050"/>
                </a:solidFill>
              </a:rPr>
              <a:t>s</a:t>
            </a:r>
            <a:r>
              <a:rPr lang="en-US" sz="2100" b="1" baseline="-25000" dirty="0">
                <a:solidFill>
                  <a:srgbClr val="00B050"/>
                </a:solidFill>
              </a:rPr>
              <a:t>i−</a:t>
            </a:r>
            <a:r>
              <a:rPr lang="en-US" b="1" baseline="-25000" dirty="0">
                <a:solidFill>
                  <a:srgbClr val="00B050"/>
                </a:solidFill>
              </a:rPr>
              <a:t>1</a:t>
            </a:r>
            <a:r>
              <a:rPr lang="en-US" b="1" dirty="0">
                <a:solidFill>
                  <a:srgbClr val="00B050"/>
                </a:solidFill>
              </a:rPr>
              <a:t>,s</a:t>
            </a:r>
            <a:r>
              <a:rPr lang="en-US" sz="2100" b="1" baseline="-25000" dirty="0">
                <a:solidFill>
                  <a:srgbClr val="00B050"/>
                </a:solidFill>
              </a:rPr>
              <a:t>i−2</a:t>
            </a:r>
            <a:r>
              <a:rPr lang="en-US" b="1" dirty="0">
                <a:solidFill>
                  <a:srgbClr val="00B050"/>
                </a:solidFill>
              </a:rPr>
              <a:t>,.... </a:t>
            </a:r>
            <a:r>
              <a:rPr lang="bg-BG" b="1" dirty="0" smtClean="0">
                <a:solidFill>
                  <a:srgbClr val="00B050"/>
                </a:solidFill>
              </a:rPr>
              <a:t>бита</a:t>
            </a:r>
          </a:p>
          <a:p>
            <a:r>
              <a:rPr lang="bg-BG" b="1" dirty="0" smtClean="0">
                <a:solidFill>
                  <a:schemeClr val="accent4">
                    <a:lumMod val="75000"/>
                  </a:schemeClr>
                </a:solidFill>
              </a:rPr>
              <a:t>Необходимостта за непредсказуемост на </a:t>
            </a:r>
            <a:r>
              <a:rPr lang="en-US" b="1" dirty="0" smtClean="0">
                <a:solidFill>
                  <a:schemeClr val="accent4">
                    <a:lumMod val="75000"/>
                  </a:schemeClr>
                </a:solidFill>
              </a:rPr>
              <a:t>CSPRNGs </a:t>
            </a:r>
            <a:r>
              <a:rPr lang="bg-BG" b="1" dirty="0" smtClean="0">
                <a:solidFill>
                  <a:schemeClr val="accent4">
                    <a:lumMod val="75000"/>
                  </a:schemeClr>
                </a:solidFill>
              </a:rPr>
              <a:t>е много важно за криптографията</a:t>
            </a:r>
            <a:r>
              <a:rPr lang="bg-BG" dirty="0" smtClean="0"/>
              <a:t>, за разлика от другите компютърни и инженерни науки</a:t>
            </a:r>
            <a:r>
              <a:rPr lang="bg-BG" dirty="0"/>
              <a:t>!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6403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One-Time Pad</a:t>
            </a:r>
            <a:r>
              <a:rPr lang="bg-BG" dirty="0" smtClean="0"/>
              <a:t> (алгоритъм на </a:t>
            </a:r>
            <a:r>
              <a:rPr lang="en-US" dirty="0" err="1" smtClean="0"/>
              <a:t>vernam</a:t>
            </a:r>
            <a:r>
              <a:rPr lang="bg-BG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bg-BG" b="1" dirty="0" smtClean="0"/>
              <a:t>Безусловна сигурност </a:t>
            </a:r>
            <a:r>
              <a:rPr lang="bg-BG" dirty="0" smtClean="0"/>
              <a:t>– Една </a:t>
            </a:r>
            <a:r>
              <a:rPr lang="bg-BG" dirty="0" err="1" smtClean="0"/>
              <a:t>криптосистема</a:t>
            </a:r>
            <a:r>
              <a:rPr lang="bg-BG" dirty="0" smtClean="0"/>
              <a:t> е безусловно или информационно – теоретично </a:t>
            </a:r>
            <a:r>
              <a:rPr lang="bg-BG" b="1" dirty="0" smtClean="0"/>
              <a:t>сигурна</a:t>
            </a:r>
            <a:r>
              <a:rPr lang="bg-BG" dirty="0" smtClean="0"/>
              <a:t>, ако не може да бъде разбита дори с </a:t>
            </a:r>
            <a:r>
              <a:rPr lang="bg-BG" b="1" dirty="0" smtClean="0"/>
              <a:t>безгранични компютърни ресурси</a:t>
            </a:r>
          </a:p>
          <a:p>
            <a:r>
              <a:rPr lang="bg-BG" b="1" dirty="0" smtClean="0"/>
              <a:t>Пример</a:t>
            </a:r>
            <a:r>
              <a:rPr lang="bg-BG" dirty="0" smtClean="0"/>
              <a:t> – Нека е приложен симетричен </a:t>
            </a:r>
            <a:r>
              <a:rPr lang="bg-BG" dirty="0" err="1" smtClean="0"/>
              <a:t>криптографски</a:t>
            </a:r>
            <a:r>
              <a:rPr lang="bg-BG" dirty="0" smtClean="0"/>
              <a:t> алгоритъм с дължина на поточния ключ </a:t>
            </a:r>
            <a:r>
              <a:rPr lang="en-US" dirty="0" smtClean="0"/>
              <a:t>10,000 </a:t>
            </a:r>
            <a:r>
              <a:rPr lang="bg-BG" dirty="0" smtClean="0"/>
              <a:t>бита и единствената приложима атака тук е </a:t>
            </a:r>
            <a:r>
              <a:rPr lang="en-US" dirty="0" smtClean="0"/>
              <a:t> exhaustive </a:t>
            </a:r>
            <a:r>
              <a:rPr lang="en-US" dirty="0"/>
              <a:t>key </a:t>
            </a:r>
            <a:r>
              <a:rPr lang="en-US" dirty="0" smtClean="0"/>
              <a:t>search</a:t>
            </a:r>
            <a:r>
              <a:rPr lang="bg-BG" dirty="0" smtClean="0"/>
              <a:t> (т.е. </a:t>
            </a:r>
            <a:r>
              <a:rPr lang="bg-BG" i="1" dirty="0"/>
              <a:t>търсене на ключ до изчерпване на всички възможности</a:t>
            </a:r>
            <a:r>
              <a:rPr lang="bg-BG" dirty="0" smtClean="0"/>
              <a:t>)</a:t>
            </a:r>
          </a:p>
          <a:p>
            <a:r>
              <a:rPr lang="bg-BG" b="1" dirty="0" smtClean="0">
                <a:solidFill>
                  <a:schemeClr val="accent4">
                    <a:lumMod val="75000"/>
                  </a:schemeClr>
                </a:solidFill>
              </a:rPr>
              <a:t>Ключ от</a:t>
            </a:r>
            <a:r>
              <a:rPr lang="en-US" b="1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128 </a:t>
            </a:r>
            <a:r>
              <a:rPr lang="bg-BG" b="1" dirty="0" smtClean="0">
                <a:solidFill>
                  <a:schemeClr val="accent4">
                    <a:lumMod val="75000"/>
                  </a:schemeClr>
                </a:solidFill>
              </a:rPr>
              <a:t>бита </a:t>
            </a:r>
            <a:r>
              <a:rPr lang="bg-BG" dirty="0" smtClean="0"/>
              <a:t>е напълно достатъчен за </a:t>
            </a:r>
            <a:r>
              <a:rPr lang="bg-BG" dirty="0" smtClean="0">
                <a:solidFill>
                  <a:schemeClr val="accent4">
                    <a:lumMod val="75000"/>
                  </a:schemeClr>
                </a:solidFill>
              </a:rPr>
              <a:t>защита в дългосрочен план?</a:t>
            </a:r>
          </a:p>
          <a:p>
            <a:r>
              <a:rPr lang="bg-BG" dirty="0" smtClean="0"/>
              <a:t>Една криптограма от </a:t>
            </a:r>
            <a:r>
              <a:rPr lang="en-US" dirty="0" smtClean="0"/>
              <a:t>10,000 </a:t>
            </a:r>
            <a:r>
              <a:rPr lang="bg-BG" dirty="0" smtClean="0"/>
              <a:t>бита</a:t>
            </a:r>
            <a:r>
              <a:rPr lang="en-US" dirty="0" smtClean="0"/>
              <a:t> </a:t>
            </a:r>
            <a:r>
              <a:rPr lang="bg-BG" dirty="0" smtClean="0"/>
              <a:t>дали може да бъде </a:t>
            </a:r>
            <a:r>
              <a:rPr lang="bg-BG" b="1" dirty="0" smtClean="0"/>
              <a:t>безусловно сигурна</a:t>
            </a:r>
            <a:r>
              <a:rPr lang="en-US" dirty="0" smtClean="0"/>
              <a:t>? </a:t>
            </a:r>
            <a:r>
              <a:rPr lang="bg-BG" dirty="0" smtClean="0"/>
              <a:t>– </a:t>
            </a:r>
            <a:r>
              <a:rPr lang="bg-BG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отговорът е не</a:t>
            </a:r>
            <a:r>
              <a:rPr lang="en-US" dirty="0" smtClean="0"/>
              <a:t>! </a:t>
            </a:r>
            <a:endParaRPr lang="bg-BG" dirty="0" smtClean="0"/>
          </a:p>
          <a:p>
            <a:pPr lvl="1"/>
            <a:r>
              <a:rPr lang="bg-BG" dirty="0" smtClean="0"/>
              <a:t>Ако атакуващ има безгранични изчислителни ресурси, може да се предположи, че той</a:t>
            </a:r>
            <a:r>
              <a:rPr lang="en-US" dirty="0" smtClean="0"/>
              <a:t> </a:t>
            </a:r>
            <a:r>
              <a:rPr lang="bg-BG" dirty="0" smtClean="0"/>
              <a:t>има </a:t>
            </a:r>
            <a:r>
              <a:rPr lang="en-US" dirty="0" smtClean="0"/>
              <a:t>2</a:t>
            </a:r>
            <a:r>
              <a:rPr lang="en-US" baseline="30000" dirty="0" smtClean="0"/>
              <a:t>10000</a:t>
            </a:r>
            <a:r>
              <a:rPr lang="en-US" dirty="0" smtClean="0"/>
              <a:t> </a:t>
            </a:r>
            <a:r>
              <a:rPr lang="bg-BG" dirty="0" smtClean="0"/>
              <a:t>компютъра и всеки един проверява точно един ключ – това ще позволи да се изчисли ключът в една времева стъпка </a:t>
            </a:r>
          </a:p>
          <a:p>
            <a:pPr lvl="1"/>
            <a:r>
              <a:rPr lang="bg-BG" dirty="0" smtClean="0"/>
              <a:t>Обаче, няма начин </a:t>
            </a:r>
            <a:r>
              <a:rPr lang="en-US" dirty="0" smtClean="0"/>
              <a:t>2</a:t>
            </a:r>
            <a:r>
              <a:rPr lang="en-US" baseline="30000" dirty="0" smtClean="0"/>
              <a:t>10000</a:t>
            </a:r>
            <a:r>
              <a:rPr lang="en-US" dirty="0" smtClean="0"/>
              <a:t> </a:t>
            </a:r>
            <a:r>
              <a:rPr lang="bg-BG" dirty="0" smtClean="0"/>
              <a:t>компютъра да бъдат използвани на практика</a:t>
            </a:r>
          </a:p>
          <a:p>
            <a:pPr lvl="1"/>
            <a:r>
              <a:rPr lang="bg-BG" dirty="0" smtClean="0"/>
              <a:t>Затова се приема, че </a:t>
            </a:r>
            <a:r>
              <a:rPr lang="bg-BG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алгоритъмът ще бъде изчислително сигурен</a:t>
            </a:r>
            <a:r>
              <a:rPr lang="bg-BG" dirty="0" smtClean="0"/>
              <a:t>, </a:t>
            </a:r>
            <a:r>
              <a:rPr lang="bg-BG" b="1" dirty="0" smtClean="0">
                <a:solidFill>
                  <a:schemeClr val="accent4">
                    <a:lumMod val="75000"/>
                  </a:schemeClr>
                </a:solidFill>
              </a:rPr>
              <a:t>но не и безусловно</a:t>
            </a:r>
            <a:endParaRPr lang="en-US" b="1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888342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One-Time Pad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b="1" dirty="0" smtClean="0"/>
              <a:t>Безусловно сигурен алгоритъм </a:t>
            </a:r>
            <a:r>
              <a:rPr lang="en-US" b="1" dirty="0" smtClean="0"/>
              <a:t>One-Time Pad</a:t>
            </a:r>
            <a:r>
              <a:rPr lang="bg-BG" b="1" dirty="0" smtClean="0"/>
              <a:t> (</a:t>
            </a:r>
            <a:r>
              <a:rPr lang="bg-BG" b="1" dirty="0" smtClean="0">
                <a:solidFill>
                  <a:schemeClr val="accent1"/>
                </a:solidFill>
              </a:rPr>
              <a:t>метод за еднократен вход-патент от 1919г.</a:t>
            </a:r>
            <a:r>
              <a:rPr lang="bg-BG" b="1" dirty="0" smtClean="0"/>
              <a:t>) </a:t>
            </a:r>
          </a:p>
          <a:p>
            <a:r>
              <a:rPr lang="bg-BG" dirty="0" smtClean="0"/>
              <a:t>Това е поточен алгоритъм, за който:</a:t>
            </a:r>
          </a:p>
          <a:p>
            <a:pPr marL="0" indent="0">
              <a:buNone/>
            </a:pPr>
            <a:r>
              <a:rPr lang="bg-BG" dirty="0" smtClean="0"/>
              <a:t>	</a:t>
            </a:r>
            <a:r>
              <a:rPr lang="en-US" dirty="0" smtClean="0"/>
              <a:t>1</a:t>
            </a:r>
            <a:r>
              <a:rPr lang="en-US" dirty="0"/>
              <a:t>. </a:t>
            </a:r>
            <a:r>
              <a:rPr lang="bg-BG" dirty="0" smtClean="0"/>
              <a:t>Поточният ключ</a:t>
            </a:r>
            <a:r>
              <a:rPr lang="en-US" dirty="0" smtClean="0"/>
              <a:t> </a:t>
            </a:r>
            <a:r>
              <a:rPr lang="en-US" dirty="0"/>
              <a:t>s</a:t>
            </a:r>
            <a:r>
              <a:rPr lang="en-US" baseline="-25000" dirty="0"/>
              <a:t>0</a:t>
            </a:r>
            <a:r>
              <a:rPr lang="en-US" dirty="0"/>
              <a:t>,s</a:t>
            </a:r>
            <a:r>
              <a:rPr lang="en-US" baseline="-25000" dirty="0"/>
              <a:t>1</a:t>
            </a:r>
            <a:r>
              <a:rPr lang="en-US" dirty="0"/>
              <a:t>,s</a:t>
            </a:r>
            <a:r>
              <a:rPr lang="en-US" baseline="-25000" dirty="0"/>
              <a:t>2</a:t>
            </a:r>
            <a:r>
              <a:rPr lang="en-US" dirty="0"/>
              <a:t>,... </a:t>
            </a:r>
            <a:r>
              <a:rPr lang="bg-BG" dirty="0" smtClean="0"/>
              <a:t>е генериран от генератор на </a:t>
            </a:r>
            <a:r>
              <a:rPr lang="bg-BG" b="1" dirty="0" smtClean="0"/>
              <a:t>случайни числа</a:t>
            </a:r>
            <a:r>
              <a:rPr lang="bg-BG" dirty="0" smtClean="0"/>
              <a:t>;</a:t>
            </a:r>
          </a:p>
          <a:p>
            <a:pPr marL="0" indent="0">
              <a:buNone/>
            </a:pPr>
            <a:r>
              <a:rPr lang="bg-BG" dirty="0" smtClean="0"/>
              <a:t>	</a:t>
            </a:r>
            <a:r>
              <a:rPr lang="en-US" dirty="0" smtClean="0"/>
              <a:t>2</a:t>
            </a:r>
            <a:r>
              <a:rPr lang="en-US" dirty="0"/>
              <a:t>. </a:t>
            </a:r>
            <a:r>
              <a:rPr lang="bg-BG" dirty="0" smtClean="0"/>
              <a:t>Поточният ключ е известен само на легитимно комуникиращи се страни (</a:t>
            </a:r>
            <a:r>
              <a:rPr lang="bg-BG" b="1" dirty="0" smtClean="0"/>
              <a:t>секретен параметър</a:t>
            </a:r>
            <a:r>
              <a:rPr lang="bg-BG" dirty="0" smtClean="0"/>
              <a:t>); </a:t>
            </a:r>
          </a:p>
          <a:p>
            <a:pPr marL="0" indent="0">
              <a:buNone/>
            </a:pPr>
            <a:r>
              <a:rPr lang="bg-BG" dirty="0"/>
              <a:t>	</a:t>
            </a:r>
            <a:r>
              <a:rPr lang="en-US" dirty="0" smtClean="0"/>
              <a:t>3</a:t>
            </a:r>
            <a:r>
              <a:rPr lang="en-US" dirty="0"/>
              <a:t>. </a:t>
            </a:r>
            <a:r>
              <a:rPr lang="bg-BG" dirty="0" smtClean="0"/>
              <a:t>Поточният ключ</a:t>
            </a:r>
            <a:r>
              <a:rPr lang="en-US" dirty="0" smtClean="0"/>
              <a:t> </a:t>
            </a:r>
            <a:r>
              <a:rPr lang="en-US" dirty="0" err="1"/>
              <a:t>s</a:t>
            </a:r>
            <a:r>
              <a:rPr lang="en-US" baseline="-25000" dirty="0" err="1"/>
              <a:t>i</a:t>
            </a:r>
            <a:r>
              <a:rPr lang="en-US" dirty="0"/>
              <a:t> </a:t>
            </a:r>
            <a:r>
              <a:rPr lang="bg-BG" dirty="0" smtClean="0"/>
              <a:t>е използван </a:t>
            </a:r>
            <a:r>
              <a:rPr lang="bg-BG" b="1" dirty="0" smtClean="0"/>
              <a:t>само веднъж (и е с размерността на явното съобщение)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98302314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One-Time Pad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764792"/>
            <a:ext cx="10820400" cy="4773168"/>
          </a:xfrm>
        </p:spPr>
        <p:txBody>
          <a:bodyPr>
            <a:normAutofit fontScale="92500" lnSpcReduction="20000"/>
          </a:bodyPr>
          <a:lstStyle/>
          <a:p>
            <a:r>
              <a:rPr lang="bg-BG" b="1" dirty="0"/>
              <a:t>Безусловно сигурен алгоритъм </a:t>
            </a:r>
            <a:r>
              <a:rPr lang="en-US" b="1" dirty="0"/>
              <a:t>One-Time Pad</a:t>
            </a:r>
            <a:r>
              <a:rPr lang="bg-BG" b="1" dirty="0"/>
              <a:t> </a:t>
            </a:r>
            <a:r>
              <a:rPr lang="en-US" dirty="0" smtClean="0"/>
              <a:t>– </a:t>
            </a:r>
            <a:r>
              <a:rPr lang="bg-BG" dirty="0" smtClean="0"/>
              <a:t>Доказателство:</a:t>
            </a:r>
            <a:endParaRPr lang="bg-BG" dirty="0"/>
          </a:p>
          <a:p>
            <a:r>
              <a:rPr lang="bg-BG" dirty="0" smtClean="0"/>
              <a:t>За всеки бит от криптограмата са в сила: </a:t>
            </a:r>
          </a:p>
          <a:p>
            <a:pPr marL="0" indent="0">
              <a:buNone/>
            </a:pPr>
            <a:r>
              <a:rPr lang="bg-BG" dirty="0"/>
              <a:t>	</a:t>
            </a:r>
            <a:r>
              <a:rPr lang="en-US" dirty="0" smtClean="0"/>
              <a:t>c</a:t>
            </a:r>
            <a:r>
              <a:rPr lang="en-US" baseline="-25000" dirty="0" smtClean="0"/>
              <a:t>0</a:t>
            </a:r>
            <a:r>
              <a:rPr lang="en-US" dirty="0" smtClean="0"/>
              <a:t> </a:t>
            </a:r>
            <a:r>
              <a:rPr lang="en-US" dirty="0"/>
              <a:t>≡ </a:t>
            </a:r>
            <a:r>
              <a:rPr lang="en-US" dirty="0" smtClean="0"/>
              <a:t>p</a:t>
            </a:r>
            <a:r>
              <a:rPr lang="en-US" baseline="-25000" dirty="0" smtClean="0"/>
              <a:t>0</a:t>
            </a:r>
            <a:r>
              <a:rPr lang="en-US" dirty="0" smtClean="0"/>
              <a:t> </a:t>
            </a:r>
            <a:r>
              <a:rPr lang="en-US" dirty="0"/>
              <a:t>+</a:t>
            </a:r>
            <a:r>
              <a:rPr lang="en-US" dirty="0" smtClean="0"/>
              <a:t>s</a:t>
            </a:r>
            <a:r>
              <a:rPr lang="en-US" baseline="-25000" dirty="0" smtClean="0"/>
              <a:t>0</a:t>
            </a:r>
            <a:r>
              <a:rPr lang="en-US" dirty="0" smtClean="0"/>
              <a:t>mod2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c</a:t>
            </a:r>
            <a:r>
              <a:rPr lang="en-US" baseline="-25000" dirty="0"/>
              <a:t>1</a:t>
            </a:r>
            <a:r>
              <a:rPr lang="en-US" dirty="0" smtClean="0"/>
              <a:t> </a:t>
            </a:r>
            <a:r>
              <a:rPr lang="en-US" dirty="0"/>
              <a:t>≡ </a:t>
            </a:r>
            <a:r>
              <a:rPr lang="en-US" dirty="0" smtClean="0"/>
              <a:t>p</a:t>
            </a:r>
            <a:r>
              <a:rPr lang="en-US" baseline="-25000" dirty="0"/>
              <a:t>1</a:t>
            </a:r>
            <a:r>
              <a:rPr lang="en-US" dirty="0" smtClean="0"/>
              <a:t> </a:t>
            </a:r>
            <a:r>
              <a:rPr lang="en-US" dirty="0"/>
              <a:t>+</a:t>
            </a:r>
            <a:r>
              <a:rPr lang="en-US" dirty="0" smtClean="0"/>
              <a:t>s</a:t>
            </a:r>
            <a:r>
              <a:rPr lang="en-US" baseline="-25000" dirty="0" smtClean="0"/>
              <a:t>1</a:t>
            </a:r>
            <a:r>
              <a:rPr lang="en-US" dirty="0" smtClean="0"/>
              <a:t>mod2 </a:t>
            </a:r>
            <a:endParaRPr lang="bg-BG" dirty="0" smtClean="0"/>
          </a:p>
          <a:p>
            <a:pPr marL="0" indent="0">
              <a:buNone/>
            </a:pPr>
            <a:r>
              <a:rPr lang="bg-BG" dirty="0"/>
              <a:t>	</a:t>
            </a:r>
            <a:r>
              <a:rPr lang="en-US" dirty="0" smtClean="0"/>
              <a:t>. </a:t>
            </a:r>
            <a:r>
              <a:rPr lang="en-US" dirty="0"/>
              <a:t>. . </a:t>
            </a:r>
            <a:endParaRPr lang="en-US" dirty="0" smtClean="0"/>
          </a:p>
          <a:p>
            <a:r>
              <a:rPr lang="bg-BG" dirty="0" smtClean="0"/>
              <a:t>Имаме </a:t>
            </a:r>
            <a:r>
              <a:rPr lang="bg-BG" b="1" dirty="0" smtClean="0">
                <a:solidFill>
                  <a:schemeClr val="accent4">
                    <a:lumMod val="75000"/>
                  </a:schemeClr>
                </a:solidFill>
              </a:rPr>
              <a:t>линейна зависимост с две неизвестни </a:t>
            </a:r>
            <a:r>
              <a:rPr lang="bg-BG" dirty="0" smtClean="0"/>
              <a:t>(за всяко уравнение), което е </a:t>
            </a:r>
            <a:r>
              <a:rPr lang="bg-BG" u="sng" dirty="0" smtClean="0"/>
              <a:t>невъзможно да се реши</a:t>
            </a:r>
            <a:r>
              <a:rPr lang="bg-BG" dirty="0" smtClean="0"/>
              <a:t>.</a:t>
            </a:r>
          </a:p>
          <a:p>
            <a:pPr lvl="1"/>
            <a:r>
              <a:rPr lang="bg-BG" dirty="0" smtClean="0"/>
              <a:t>Ако атакуващият знае стойността </a:t>
            </a:r>
            <a:r>
              <a:rPr lang="en-US" dirty="0" smtClean="0"/>
              <a:t>c</a:t>
            </a:r>
            <a:r>
              <a:rPr lang="en-US" baseline="-25000" dirty="0" smtClean="0"/>
              <a:t>0</a:t>
            </a:r>
            <a:r>
              <a:rPr lang="en-US" dirty="0" smtClean="0"/>
              <a:t> </a:t>
            </a:r>
            <a:r>
              <a:rPr lang="en-US" dirty="0"/>
              <a:t>(0 </a:t>
            </a:r>
            <a:r>
              <a:rPr lang="bg-BG" dirty="0" smtClean="0"/>
              <a:t>или</a:t>
            </a:r>
            <a:r>
              <a:rPr lang="en-US" dirty="0" smtClean="0"/>
              <a:t> </a:t>
            </a:r>
            <a:r>
              <a:rPr lang="en-US" dirty="0"/>
              <a:t>1), </a:t>
            </a:r>
            <a:r>
              <a:rPr lang="bg-BG" dirty="0" smtClean="0"/>
              <a:t>той няма как да определи </a:t>
            </a:r>
            <a:r>
              <a:rPr lang="en-US" dirty="0" smtClean="0"/>
              <a:t>p</a:t>
            </a:r>
            <a:r>
              <a:rPr lang="en-US" baseline="-25000" dirty="0" smtClean="0"/>
              <a:t>0</a:t>
            </a:r>
            <a:endParaRPr lang="bg-BG" baseline="-25000" dirty="0" smtClean="0"/>
          </a:p>
          <a:p>
            <a:pPr lvl="1"/>
            <a:r>
              <a:rPr lang="bg-BG" dirty="0" smtClean="0"/>
              <a:t>Решенията </a:t>
            </a:r>
            <a:r>
              <a:rPr lang="en-US" dirty="0" smtClean="0"/>
              <a:t>p</a:t>
            </a:r>
            <a:r>
              <a:rPr lang="en-US" baseline="-25000" dirty="0" smtClean="0"/>
              <a:t>0</a:t>
            </a:r>
            <a:r>
              <a:rPr lang="en-US" dirty="0" smtClean="0"/>
              <a:t> </a:t>
            </a:r>
            <a:r>
              <a:rPr lang="en-US" dirty="0"/>
              <a:t>= 0 </a:t>
            </a:r>
            <a:r>
              <a:rPr lang="bg-BG" dirty="0" smtClean="0"/>
              <a:t>и</a:t>
            </a:r>
            <a:r>
              <a:rPr lang="en-US" dirty="0" smtClean="0"/>
              <a:t> p</a:t>
            </a:r>
            <a:r>
              <a:rPr lang="en-US" baseline="-25000" dirty="0" smtClean="0"/>
              <a:t>0</a:t>
            </a:r>
            <a:r>
              <a:rPr lang="en-US" dirty="0" smtClean="0"/>
              <a:t> </a:t>
            </a:r>
            <a:r>
              <a:rPr lang="en-US" dirty="0"/>
              <a:t>= 1 </a:t>
            </a:r>
            <a:r>
              <a:rPr lang="bg-BG" dirty="0" smtClean="0"/>
              <a:t>са еднакво възможни, ако </a:t>
            </a:r>
            <a:r>
              <a:rPr lang="en-US" dirty="0" smtClean="0"/>
              <a:t>s</a:t>
            </a:r>
            <a:r>
              <a:rPr lang="en-US" baseline="-25000" dirty="0" smtClean="0"/>
              <a:t>0</a:t>
            </a:r>
            <a:r>
              <a:rPr lang="en-US" dirty="0" smtClean="0"/>
              <a:t> </a:t>
            </a:r>
            <a:r>
              <a:rPr lang="bg-BG" dirty="0" smtClean="0"/>
              <a:t>е получен по случаен начин и има </a:t>
            </a:r>
            <a:r>
              <a:rPr lang="en-US" dirty="0" smtClean="0"/>
              <a:t>50</a:t>
            </a:r>
            <a:r>
              <a:rPr lang="en-US" dirty="0"/>
              <a:t>% </a:t>
            </a:r>
            <a:r>
              <a:rPr lang="bg-BG" dirty="0" smtClean="0"/>
              <a:t>вероятност стойността да бъде </a:t>
            </a:r>
            <a:r>
              <a:rPr lang="en-US" dirty="0" smtClean="0"/>
              <a:t>0 </a:t>
            </a:r>
            <a:r>
              <a:rPr lang="bg-BG" dirty="0" smtClean="0"/>
              <a:t>или</a:t>
            </a:r>
            <a:r>
              <a:rPr lang="en-US" dirty="0" smtClean="0"/>
              <a:t> 1</a:t>
            </a:r>
            <a:endParaRPr lang="bg-BG" dirty="0" smtClean="0"/>
          </a:p>
          <a:p>
            <a:pPr lvl="1"/>
            <a:r>
              <a:rPr lang="bg-BG" dirty="0" smtClean="0"/>
              <a:t>Ситуацията е различна, ако</a:t>
            </a:r>
            <a:r>
              <a:rPr lang="en-US" dirty="0" smtClean="0"/>
              <a:t> </a:t>
            </a:r>
            <a:r>
              <a:rPr lang="en-US" dirty="0" err="1"/>
              <a:t>s</a:t>
            </a:r>
            <a:r>
              <a:rPr lang="en-US" baseline="-25000" dirty="0" err="1"/>
              <a:t>i</a:t>
            </a:r>
            <a:r>
              <a:rPr lang="en-US" dirty="0"/>
              <a:t> </a:t>
            </a:r>
            <a:r>
              <a:rPr lang="bg-BG" dirty="0" smtClean="0"/>
              <a:t>не са напълно случайни, защото ще има функционална зависимост между тях и между горните уравнения, но и тогава ще е трудно да се реши системата</a:t>
            </a:r>
          </a:p>
          <a:p>
            <a:r>
              <a:rPr lang="en-US" b="1" dirty="0"/>
              <a:t>One-Time </a:t>
            </a:r>
            <a:r>
              <a:rPr lang="en-US" b="1" dirty="0" smtClean="0"/>
              <a:t>Pad</a:t>
            </a:r>
            <a:r>
              <a:rPr lang="bg-BG" b="1" dirty="0" smtClean="0"/>
              <a:t> -</a:t>
            </a:r>
            <a:r>
              <a:rPr lang="en-US" b="1" dirty="0" smtClean="0"/>
              <a:t> </a:t>
            </a:r>
            <a:r>
              <a:rPr lang="bg-BG" b="1" dirty="0" smtClean="0"/>
              <a:t>сигурен, но непрактичен </a:t>
            </a:r>
            <a:r>
              <a:rPr lang="bg-BG" dirty="0" smtClean="0"/>
              <a:t>- </a:t>
            </a:r>
            <a:r>
              <a:rPr lang="bg-BG" u="sng" dirty="0" smtClean="0"/>
              <a:t>използва се рядко на практика</a:t>
            </a:r>
            <a:r>
              <a:rPr lang="bg-BG" dirty="0" smtClean="0"/>
              <a:t>, поради необходимостта </a:t>
            </a:r>
            <a:r>
              <a:rPr lang="bg-BG" dirty="0" smtClean="0">
                <a:solidFill>
                  <a:schemeClr val="accent1"/>
                </a:solidFill>
              </a:rPr>
              <a:t>поточният ключ да бъде с дължината на съобщението</a:t>
            </a:r>
            <a:r>
              <a:rPr lang="bg-BG" dirty="0" smtClean="0"/>
              <a:t>, но той дава идея за реализиране на сигурен алгоритъм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320200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Практически използваеми поточни алгоритми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243" y="2066886"/>
            <a:ext cx="10890504" cy="480870"/>
          </a:xfrm>
        </p:spPr>
        <p:txBody>
          <a:bodyPr/>
          <a:lstStyle/>
          <a:p>
            <a:r>
              <a:rPr lang="bg-BG" b="1" dirty="0" smtClean="0"/>
              <a:t>Практически използваемите поточни алгоритми </a:t>
            </a:r>
            <a:r>
              <a:rPr lang="bg-BG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не са безусловни</a:t>
            </a:r>
            <a:endParaRPr lang="en-US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39" name="Group 38"/>
          <p:cNvGrpSpPr/>
          <p:nvPr/>
        </p:nvGrpSpPr>
        <p:grpSpPr>
          <a:xfrm>
            <a:off x="1319014" y="2649039"/>
            <a:ext cx="9692961" cy="3936175"/>
            <a:chOff x="720243" y="2676471"/>
            <a:chExt cx="9692961" cy="3936175"/>
          </a:xfrm>
        </p:grpSpPr>
        <p:sp>
          <p:nvSpPr>
            <p:cNvPr id="5" name="Flowchart: Or 4"/>
            <p:cNvSpPr/>
            <p:nvPr/>
          </p:nvSpPr>
          <p:spPr>
            <a:xfrm>
              <a:off x="2695448" y="5622810"/>
              <a:ext cx="477520" cy="467360"/>
            </a:xfrm>
            <a:prstGeom prst="flowChar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lowchart: Or 5"/>
            <p:cNvSpPr/>
            <p:nvPr/>
          </p:nvSpPr>
          <p:spPr>
            <a:xfrm>
              <a:off x="8034528" y="5510286"/>
              <a:ext cx="477520" cy="467360"/>
            </a:xfrm>
            <a:prstGeom prst="flowChar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Cloud Callout 6"/>
            <p:cNvSpPr/>
            <p:nvPr/>
          </p:nvSpPr>
          <p:spPr>
            <a:xfrm>
              <a:off x="3917188" y="4875286"/>
              <a:ext cx="3454400" cy="1737360"/>
            </a:xfrm>
            <a:prstGeom prst="cloudCallout">
              <a:avLst>
                <a:gd name="adj1" fmla="val -1965"/>
                <a:gd name="adj2" fmla="val 1892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bg-BG" dirty="0" smtClean="0"/>
                <a:t>Несигурен комуникационен канал (Интернет)</a:t>
              </a:r>
              <a:endParaRPr lang="en-US" dirty="0"/>
            </a:p>
          </p:txBody>
        </p:sp>
        <p:cxnSp>
          <p:nvCxnSpPr>
            <p:cNvPr id="8" name="Straight Arrow Connector 7"/>
            <p:cNvCxnSpPr/>
            <p:nvPr/>
          </p:nvCxnSpPr>
          <p:spPr>
            <a:xfrm>
              <a:off x="1943608" y="5856490"/>
              <a:ext cx="67056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>
              <a:off x="3254248" y="5847094"/>
              <a:ext cx="67056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>
              <a:off x="7277608" y="5743966"/>
              <a:ext cx="67056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>
              <a:off x="8598408" y="5754126"/>
              <a:ext cx="67056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868680" y="5384794"/>
              <a:ext cx="17988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p</a:t>
              </a:r>
              <a:r>
                <a:rPr lang="en-US" baseline="-25000" dirty="0" smtClean="0"/>
                <a:t>1</a:t>
              </a:r>
              <a:r>
                <a:rPr lang="en-US" dirty="0" smtClean="0"/>
                <a:t>, </a:t>
              </a:r>
              <a:r>
                <a:rPr lang="en-US" dirty="0"/>
                <a:t>p</a:t>
              </a:r>
              <a:r>
                <a:rPr lang="en-US" baseline="-25000" dirty="0"/>
                <a:t>2</a:t>
              </a:r>
              <a:r>
                <a:rPr lang="en-US" dirty="0"/>
                <a:t>, </a:t>
              </a:r>
              <a:r>
                <a:rPr lang="en-US" dirty="0" smtClean="0"/>
                <a:t>…, </a:t>
              </a:r>
              <a:r>
                <a:rPr lang="en-US" dirty="0" err="1" smtClean="0"/>
                <a:t>p</a:t>
              </a:r>
              <a:r>
                <a:rPr lang="en-US" baseline="-25000" dirty="0" err="1"/>
                <a:t>n</a:t>
              </a:r>
              <a:endParaRPr lang="en-US" baseline="-25000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393948" y="5417442"/>
              <a:ext cx="5486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  <a:r>
                <a:rPr lang="en-US" baseline="-25000" dirty="0" smtClean="0"/>
                <a:t>i</a:t>
              </a:r>
              <a:endParaRPr lang="en-US" baseline="-25000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442708" y="5325620"/>
              <a:ext cx="5486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  <a:r>
                <a:rPr lang="en-US" baseline="-25000" dirty="0" smtClean="0"/>
                <a:t>i</a:t>
              </a:r>
              <a:endParaRPr lang="en-US" baseline="-25000" dirty="0"/>
            </a:p>
          </p:txBody>
        </p:sp>
        <p:cxnSp>
          <p:nvCxnSpPr>
            <p:cNvPr id="16" name="Straight Arrow Connector 15"/>
            <p:cNvCxnSpPr/>
            <p:nvPr/>
          </p:nvCxnSpPr>
          <p:spPr>
            <a:xfrm>
              <a:off x="2934208" y="4875286"/>
              <a:ext cx="0" cy="53378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>
              <a:off x="8268208" y="4791838"/>
              <a:ext cx="0" cy="53378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2934208" y="4875286"/>
              <a:ext cx="5537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</a:lstStyle>
            <a:p>
              <a:r>
                <a:rPr lang="en-US" dirty="0" err="1"/>
                <a:t>s</a:t>
              </a:r>
              <a:r>
                <a:rPr lang="en-US" baseline="-25000" dirty="0" err="1"/>
                <a:t>i</a:t>
              </a:r>
              <a:endParaRPr lang="en-US" baseline="-25000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273288" y="4812123"/>
              <a:ext cx="5537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 smtClean="0"/>
                <a:t>s</a:t>
              </a:r>
              <a:r>
                <a:rPr lang="en-US" baseline="-25000" dirty="0" err="1" smtClean="0"/>
                <a:t>i</a:t>
              </a:r>
              <a:endParaRPr lang="en-US" baseline="-25000" dirty="0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957832" y="4026197"/>
              <a:ext cx="1998980" cy="79790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bg-BG" dirty="0" smtClean="0"/>
                <a:t>Генератор на поточен ключ</a:t>
              </a:r>
              <a:endParaRPr lang="en-US" dirty="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7260337" y="3934757"/>
              <a:ext cx="1998980" cy="79790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bg-BG" dirty="0" smtClean="0"/>
                <a:t>Генератор на поточен ключ</a:t>
              </a:r>
              <a:endParaRPr lang="en-US" dirty="0"/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>
              <a:off x="2891536" y="3400975"/>
              <a:ext cx="0" cy="53378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>
              <a:off x="8268208" y="3333919"/>
              <a:ext cx="0" cy="53378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2965704" y="3187984"/>
              <a:ext cx="5212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k</a:t>
              </a:r>
              <a:endParaRPr lang="en-US" dirty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845552" y="3189679"/>
              <a:ext cx="5212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k</a:t>
              </a:r>
              <a:endParaRPr lang="en-US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8537955" y="5292645"/>
              <a:ext cx="17988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p</a:t>
              </a:r>
              <a:r>
                <a:rPr lang="en-US" baseline="-25000" dirty="0" smtClean="0"/>
                <a:t>1</a:t>
              </a:r>
              <a:r>
                <a:rPr lang="en-US" dirty="0" smtClean="0"/>
                <a:t>, </a:t>
              </a:r>
              <a:r>
                <a:rPr lang="en-US" dirty="0"/>
                <a:t>p</a:t>
              </a:r>
              <a:r>
                <a:rPr lang="en-US" baseline="-25000" dirty="0"/>
                <a:t>2</a:t>
              </a:r>
              <a:r>
                <a:rPr lang="en-US" dirty="0"/>
                <a:t>, </a:t>
              </a:r>
              <a:r>
                <a:rPr lang="en-US" dirty="0" smtClean="0"/>
                <a:t>…, </a:t>
              </a:r>
              <a:r>
                <a:rPr lang="en-US" dirty="0" err="1" smtClean="0"/>
                <a:t>p</a:t>
              </a:r>
              <a:r>
                <a:rPr lang="en-US" baseline="-25000" dirty="0" err="1" smtClean="0"/>
                <a:t>n</a:t>
              </a:r>
              <a:endParaRPr lang="en-US" baseline="-25000" dirty="0"/>
            </a:p>
          </p:txBody>
        </p:sp>
        <p:cxnSp>
          <p:nvCxnSpPr>
            <p:cNvPr id="28" name="Straight Arrow Connector 27"/>
            <p:cNvCxnSpPr/>
            <p:nvPr/>
          </p:nvCxnSpPr>
          <p:spPr>
            <a:xfrm>
              <a:off x="1270000" y="4729898"/>
              <a:ext cx="0" cy="53378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>
              <a:off x="5640324" y="4258056"/>
              <a:ext cx="0" cy="53378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>
              <a:off x="9733788" y="4791838"/>
              <a:ext cx="0" cy="53378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1" name="Picture 3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0243" y="3401593"/>
              <a:ext cx="1082242" cy="1329069"/>
            </a:xfrm>
            <a:prstGeom prst="rect">
              <a:avLst/>
            </a:prstGeom>
          </p:spPr>
        </p:pic>
        <p:pic>
          <p:nvPicPr>
            <p:cNvPr id="32" name="Picture 3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423688" y="3629727"/>
              <a:ext cx="989516" cy="1265381"/>
            </a:xfrm>
            <a:prstGeom prst="rect">
              <a:avLst/>
            </a:prstGeom>
          </p:spPr>
        </p:pic>
        <p:pic>
          <p:nvPicPr>
            <p:cNvPr id="33" name="Picture 3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95081" y="3187984"/>
              <a:ext cx="999981" cy="1186418"/>
            </a:xfrm>
            <a:prstGeom prst="rect">
              <a:avLst/>
            </a:prstGeom>
          </p:spPr>
        </p:pic>
        <p:sp>
          <p:nvSpPr>
            <p:cNvPr id="34" name="TextBox 33"/>
            <p:cNvSpPr txBox="1"/>
            <p:nvPr/>
          </p:nvSpPr>
          <p:spPr>
            <a:xfrm>
              <a:off x="4325112" y="2676471"/>
              <a:ext cx="2715768" cy="3834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dirty="0"/>
                <a:t>к</a:t>
              </a:r>
              <a:r>
                <a:rPr lang="bg-BG" dirty="0" smtClean="0"/>
                <a:t>ратък начален ключ</a:t>
              </a:r>
              <a:endParaRPr lang="en-US" dirty="0"/>
            </a:p>
          </p:txBody>
        </p:sp>
        <p:cxnSp>
          <p:nvCxnSpPr>
            <p:cNvPr id="36" name="Straight Arrow Connector 35"/>
            <p:cNvCxnSpPr/>
            <p:nvPr/>
          </p:nvCxnSpPr>
          <p:spPr>
            <a:xfrm flipH="1">
              <a:off x="3589528" y="3059956"/>
              <a:ext cx="1110488" cy="312694"/>
            </a:xfrm>
            <a:prstGeom prst="straightConnector1">
              <a:avLst/>
            </a:prstGeom>
            <a:ln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>
              <a:off x="6617718" y="3059956"/>
              <a:ext cx="1099310" cy="341019"/>
            </a:xfrm>
            <a:prstGeom prst="straightConnector1">
              <a:avLst/>
            </a:prstGeom>
            <a:ln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7000321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Практически използваеми поточни алгоритми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057401"/>
            <a:ext cx="10820400" cy="4503655"/>
          </a:xfrm>
        </p:spPr>
        <p:txBody>
          <a:bodyPr>
            <a:normAutofit fontScale="92500" lnSpcReduction="20000"/>
          </a:bodyPr>
          <a:lstStyle/>
          <a:p>
            <a:r>
              <a:rPr lang="bg-BG" b="1" dirty="0" smtClean="0"/>
              <a:t>Практически използваемите поточни алгоритми </a:t>
            </a:r>
            <a:r>
              <a:rPr lang="bg-BG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не са безусловно сигурни</a:t>
            </a:r>
            <a:r>
              <a:rPr lang="bg-BG" b="1" dirty="0" smtClean="0"/>
              <a:t>, но </a:t>
            </a:r>
            <a:r>
              <a:rPr lang="bg-BG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могат бъдат изчислително сигурни </a:t>
            </a:r>
            <a:r>
              <a:rPr lang="bg-BG" dirty="0" smtClean="0"/>
              <a:t>(това е така до създаване на квантовите компютри)</a:t>
            </a:r>
          </a:p>
          <a:p>
            <a:r>
              <a:rPr lang="bg-BG" b="1" dirty="0" smtClean="0"/>
              <a:t>Изчислителна сигурност </a:t>
            </a:r>
            <a:r>
              <a:rPr lang="bg-BG" dirty="0" smtClean="0"/>
              <a:t>– </a:t>
            </a:r>
            <a:r>
              <a:rPr lang="bg-BG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Една </a:t>
            </a:r>
            <a:r>
              <a:rPr lang="bg-BG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криптосистема</a:t>
            </a:r>
            <a:r>
              <a:rPr lang="bg-BG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 е изчислително сигурна, ако най-добрият известен алгоритъм за разбиването й изисква най-малко </a:t>
            </a:r>
            <a:r>
              <a:rPr lang="en-US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t</a:t>
            </a:r>
            <a:r>
              <a:rPr 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bg-BG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операции</a:t>
            </a:r>
          </a:p>
          <a:p>
            <a:r>
              <a:rPr lang="bg-BG" dirty="0" smtClean="0"/>
              <a:t>Тази дефиниция е малко неприемлива, защото не се знае кой алгоритъм е най-добър, срещу каква атака, може ли да се приложи по-мощна атака от атаката </a:t>
            </a:r>
            <a:r>
              <a:rPr lang="bg-BG" b="1" dirty="0" smtClean="0"/>
              <a:t>търсене на ключ до изчерпване на възможностите </a:t>
            </a:r>
          </a:p>
          <a:p>
            <a:r>
              <a:rPr lang="bg-BG" dirty="0" smtClean="0">
                <a:solidFill>
                  <a:schemeClr val="accent4">
                    <a:lumMod val="75000"/>
                  </a:schemeClr>
                </a:solidFill>
              </a:rPr>
              <a:t>На практика, създаващият </a:t>
            </a:r>
            <a:r>
              <a:rPr lang="bg-BG" dirty="0" err="1" smtClean="0">
                <a:solidFill>
                  <a:schemeClr val="accent4">
                    <a:lumMod val="75000"/>
                  </a:schemeClr>
                </a:solidFill>
              </a:rPr>
              <a:t>криптосистема</a:t>
            </a:r>
            <a:r>
              <a:rPr lang="bg-BG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bg-BG" b="1" dirty="0" smtClean="0">
                <a:solidFill>
                  <a:schemeClr val="accent4">
                    <a:lumMod val="75000"/>
                  </a:schemeClr>
                </a:solidFill>
              </a:rPr>
              <a:t>предполага</a:t>
            </a:r>
            <a:r>
              <a:rPr lang="bg-BG" dirty="0" smtClean="0">
                <a:solidFill>
                  <a:schemeClr val="accent4">
                    <a:lumMod val="75000"/>
                  </a:schemeClr>
                </a:solidFill>
              </a:rPr>
              <a:t>, че тя е с </a:t>
            </a:r>
            <a:r>
              <a:rPr lang="bg-BG" b="1" dirty="0" smtClean="0">
                <a:solidFill>
                  <a:schemeClr val="accent4">
                    <a:lumMod val="75000"/>
                  </a:schemeClr>
                </a:solidFill>
              </a:rPr>
              <a:t>изчислителна сигурност </a:t>
            </a:r>
            <a:r>
              <a:rPr lang="bg-BG" dirty="0" smtClean="0">
                <a:solidFill>
                  <a:schemeClr val="accent4">
                    <a:lumMod val="75000"/>
                  </a:schemeClr>
                </a:solidFill>
              </a:rPr>
              <a:t>и се надява, че няма атака по-мощна от </a:t>
            </a:r>
            <a:r>
              <a:rPr lang="bg-BG" b="1" dirty="0"/>
              <a:t>търсене на ключ до изчерпване на възможностите </a:t>
            </a:r>
            <a:endParaRPr lang="bg-BG" b="1" dirty="0" smtClean="0"/>
          </a:p>
          <a:p>
            <a:r>
              <a:rPr lang="bg-BG" b="1" dirty="0" smtClean="0">
                <a:solidFill>
                  <a:schemeClr val="accent6">
                    <a:lumMod val="75000"/>
                  </a:schemeClr>
                </a:solidFill>
              </a:rPr>
              <a:t>Предимство</a:t>
            </a:r>
            <a:r>
              <a:rPr lang="bg-BG" dirty="0" smtClean="0">
                <a:solidFill>
                  <a:schemeClr val="accent6">
                    <a:lumMod val="75000"/>
                  </a:schemeClr>
                </a:solidFill>
              </a:rPr>
              <a:t> на практически използваемите поточни алгоритми пред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One-Time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Pad</a:t>
            </a:r>
            <a:r>
              <a:rPr lang="bg-BG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bg-BG" dirty="0" smtClean="0"/>
              <a:t>е, че Алис и Боб трябва да си обменят </a:t>
            </a:r>
            <a:r>
              <a:rPr lang="bg-BG" b="1" u="sng" dirty="0" smtClean="0"/>
              <a:t>по-къс секретен ключ </a:t>
            </a:r>
            <a:r>
              <a:rPr lang="en-US" b="1" u="sng" dirty="0" smtClean="0"/>
              <a:t>k</a:t>
            </a:r>
            <a:r>
              <a:rPr lang="bg-BG" b="1" u="sng" dirty="0" smtClean="0"/>
              <a:t> </a:t>
            </a:r>
            <a:r>
              <a:rPr lang="bg-BG" dirty="0" smtClean="0"/>
              <a:t>(около и по-малко от 100 бита) и който не трябва да е с дължината на явното съобщение; Алис и Боб трябва да разполагат с </a:t>
            </a:r>
            <a:r>
              <a:rPr lang="bg-BG" b="1" dirty="0" smtClean="0"/>
              <a:t>генератори на </a:t>
            </a:r>
            <a:r>
              <a:rPr lang="bg-BG" b="1" dirty="0" err="1" smtClean="0"/>
              <a:t>псевдослучайни</a:t>
            </a:r>
            <a:r>
              <a:rPr lang="bg-BG" b="1" dirty="0" smtClean="0"/>
              <a:t> числа </a:t>
            </a:r>
            <a:r>
              <a:rPr lang="bg-BG" dirty="0" smtClean="0"/>
              <a:t>(тук не може да се използва генератор на случайни числа), за да си генерират поточния ключ </a:t>
            </a:r>
            <a:r>
              <a:rPr lang="en-US" dirty="0" err="1" smtClean="0"/>
              <a:t>s</a:t>
            </a:r>
            <a:r>
              <a:rPr lang="en-US" baseline="-25000" dirty="0" err="1" smtClean="0"/>
              <a:t>i</a:t>
            </a:r>
            <a:endParaRPr lang="en-US" baseline="-25000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537259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 smtClean="0"/>
              <a:t>Управление на ключовете при поточни </a:t>
            </a:r>
            <a:r>
              <a:rPr lang="bg-BG" dirty="0"/>
              <a:t>алгоритми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bg-BG" b="1" dirty="0" smtClean="0"/>
              <a:t>Поточните алгоритми </a:t>
            </a:r>
            <a:r>
              <a:rPr lang="bg-BG" dirty="0" smtClean="0"/>
              <a:t>са основани на </a:t>
            </a:r>
            <a:r>
              <a:rPr lang="bg-BG" dirty="0" smtClean="0">
                <a:solidFill>
                  <a:srgbClr val="FF0000"/>
                </a:solidFill>
              </a:rPr>
              <a:t>алгоритъма на </a:t>
            </a:r>
            <a:r>
              <a:rPr lang="en-US" dirty="0" err="1" smtClean="0">
                <a:solidFill>
                  <a:srgbClr val="FF0000"/>
                </a:solidFill>
              </a:rPr>
              <a:t>Vernam</a:t>
            </a:r>
            <a:r>
              <a:rPr lang="bg-BG" dirty="0" smtClean="0">
                <a:solidFill>
                  <a:srgbClr val="FF0000"/>
                </a:solidFill>
              </a:rPr>
              <a:t> </a:t>
            </a:r>
            <a:r>
              <a:rPr lang="bg-BG" dirty="0" smtClean="0"/>
              <a:t>(</a:t>
            </a:r>
            <a:r>
              <a:rPr lang="en-US" dirty="0"/>
              <a:t>One-Time Pad</a:t>
            </a:r>
            <a:r>
              <a:rPr lang="bg-BG" dirty="0" smtClean="0"/>
              <a:t>)</a:t>
            </a:r>
            <a:r>
              <a:rPr lang="en-US" dirty="0" smtClean="0"/>
              <a:t>, </a:t>
            </a:r>
            <a:r>
              <a:rPr lang="bg-BG" dirty="0" smtClean="0"/>
              <a:t>но са </a:t>
            </a:r>
            <a:r>
              <a:rPr lang="bg-BG" dirty="0" smtClean="0">
                <a:solidFill>
                  <a:srgbClr val="00B050"/>
                </a:solidFill>
              </a:rPr>
              <a:t>практически използваеми </a:t>
            </a:r>
            <a:r>
              <a:rPr lang="bg-BG" dirty="0" smtClean="0"/>
              <a:t>и се характеризират с:</a:t>
            </a:r>
          </a:p>
          <a:p>
            <a:r>
              <a:rPr lang="bg-BG" dirty="0" smtClean="0"/>
              <a:t>Използване на </a:t>
            </a:r>
            <a:r>
              <a:rPr lang="bg-BG" b="1" dirty="0" smtClean="0"/>
              <a:t>по-къс ключ </a:t>
            </a:r>
            <a:r>
              <a:rPr lang="bg-BG" dirty="0" smtClean="0"/>
              <a:t>(При </a:t>
            </a:r>
            <a:r>
              <a:rPr lang="en-US" dirty="0"/>
              <a:t>One-Time </a:t>
            </a:r>
            <a:r>
              <a:rPr lang="en-US" dirty="0" smtClean="0"/>
              <a:t>Pad</a:t>
            </a:r>
            <a:r>
              <a:rPr lang="bg-BG" dirty="0" smtClean="0"/>
              <a:t> ключът е с дължината на съобщението);</a:t>
            </a:r>
          </a:p>
          <a:p>
            <a:r>
              <a:rPr lang="bg-BG" dirty="0" smtClean="0"/>
              <a:t>Поточният ключ се генерира от генератор на </a:t>
            </a:r>
            <a:r>
              <a:rPr lang="bg-BG" b="1" dirty="0" err="1" smtClean="0"/>
              <a:t>псевдослучайни</a:t>
            </a:r>
            <a:r>
              <a:rPr lang="bg-BG" b="1" dirty="0" smtClean="0"/>
              <a:t> числа</a:t>
            </a:r>
            <a:r>
              <a:rPr lang="bg-BG" dirty="0" smtClean="0"/>
              <a:t>, което е по-евтино (</a:t>
            </a:r>
            <a:r>
              <a:rPr lang="bg-BG" dirty="0"/>
              <a:t>При </a:t>
            </a:r>
            <a:r>
              <a:rPr lang="en-US" dirty="0"/>
              <a:t>One-Time Pad</a:t>
            </a:r>
            <a:r>
              <a:rPr lang="bg-BG" dirty="0"/>
              <a:t> </a:t>
            </a:r>
            <a:r>
              <a:rPr lang="bg-BG" dirty="0" smtClean="0"/>
              <a:t>ключът се създава от генератор на </a:t>
            </a:r>
            <a:r>
              <a:rPr lang="bg-BG" b="1" dirty="0" smtClean="0"/>
              <a:t>случайни</a:t>
            </a:r>
            <a:r>
              <a:rPr lang="bg-BG" dirty="0" smtClean="0"/>
              <a:t> числа, което е по-скъпо)</a:t>
            </a:r>
          </a:p>
          <a:p>
            <a:r>
              <a:rPr lang="bg-BG" b="1" dirty="0" smtClean="0"/>
              <a:t>Еднократно използване на ключа</a:t>
            </a:r>
            <a:r>
              <a:rPr lang="bg-BG" dirty="0" smtClean="0"/>
              <a:t>:</a:t>
            </a:r>
          </a:p>
          <a:p>
            <a:pPr lvl="1"/>
            <a:r>
              <a:rPr lang="bg-BG" dirty="0" smtClean="0"/>
              <a:t>Да не се използва </a:t>
            </a:r>
            <a:r>
              <a:rPr lang="bg-BG" b="1" dirty="0" smtClean="0"/>
              <a:t>отново част </a:t>
            </a:r>
            <a:r>
              <a:rPr lang="bg-BG" dirty="0" smtClean="0"/>
              <a:t>от поточния ключ;</a:t>
            </a:r>
          </a:p>
          <a:p>
            <a:pPr lvl="1"/>
            <a:r>
              <a:rPr lang="bg-BG" dirty="0" smtClean="0"/>
              <a:t>Получаване на </a:t>
            </a:r>
            <a:r>
              <a:rPr lang="bg-BG" b="1" dirty="0" smtClean="0"/>
              <a:t>производен уникален ключ от главния </a:t>
            </a:r>
            <a:r>
              <a:rPr lang="bg-BG" dirty="0" smtClean="0"/>
              <a:t>и той да се използва вместо главния;</a:t>
            </a:r>
          </a:p>
          <a:p>
            <a:pPr lvl="1"/>
            <a:r>
              <a:rPr lang="bg-BG" dirty="0" smtClean="0"/>
              <a:t>Поточният ключ може да бъде в зависимост от данни, изменящи се с времето;</a:t>
            </a:r>
          </a:p>
          <a:p>
            <a:pPr lvl="1"/>
            <a:r>
              <a:rPr lang="bg-BG" dirty="0" smtClean="0"/>
              <a:t>Създаване на по-сложен метод за комбиниране на поточния ключ и явното съобщение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69260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5416" y="764373"/>
            <a:ext cx="9320784" cy="1293028"/>
          </a:xfrm>
        </p:spPr>
        <p:txBody>
          <a:bodyPr>
            <a:normAutofit fontScale="90000"/>
          </a:bodyPr>
          <a:lstStyle/>
          <a:p>
            <a:r>
              <a:rPr lang="bg-BG" dirty="0" smtClean="0"/>
              <a:t>Съвременни поточни алгоритми – Преместващи регистри с линейна обратна връзка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94561"/>
            <a:ext cx="10820400" cy="2615183"/>
          </a:xfrm>
        </p:spPr>
        <p:txBody>
          <a:bodyPr>
            <a:normAutofit fontScale="92500" lnSpcReduction="10000"/>
          </a:bodyPr>
          <a:lstStyle/>
          <a:p>
            <a:r>
              <a:rPr lang="bg-BG" b="1" dirty="0" smtClean="0"/>
              <a:t>Преместващи регистри с линейна обратна връзка (</a:t>
            </a:r>
            <a:r>
              <a:rPr lang="en-US" b="1" dirty="0"/>
              <a:t>Linear Feedback Shift </a:t>
            </a:r>
            <a:r>
              <a:rPr lang="en-US" b="1" dirty="0" smtClean="0"/>
              <a:t>Registers</a:t>
            </a:r>
            <a:r>
              <a:rPr lang="bg-BG" b="1" dirty="0" smtClean="0"/>
              <a:t> - </a:t>
            </a:r>
            <a:r>
              <a:rPr lang="en-US" b="1" dirty="0" smtClean="0"/>
              <a:t>LFSR</a:t>
            </a:r>
            <a:r>
              <a:rPr lang="bg-BG" b="1" dirty="0" smtClean="0"/>
              <a:t>)</a:t>
            </a:r>
          </a:p>
          <a:p>
            <a:r>
              <a:rPr lang="bg-BG" b="1" dirty="0" smtClean="0"/>
              <a:t>Преместващият регистър</a:t>
            </a:r>
            <a:r>
              <a:rPr lang="ru-RU" b="1" dirty="0" smtClean="0"/>
              <a:t> </a:t>
            </a:r>
            <a:r>
              <a:rPr lang="ru-RU" dirty="0"/>
              <a:t>се състои от елементи за съхранение с </a:t>
            </a:r>
            <a:r>
              <a:rPr lang="ru-RU" dirty="0" smtClean="0"/>
              <a:t>определена тактова </a:t>
            </a:r>
            <a:r>
              <a:rPr lang="ru-RU" dirty="0"/>
              <a:t>честота (тригери) и път за обратна </a:t>
            </a:r>
            <a:r>
              <a:rPr lang="ru-RU" dirty="0" smtClean="0"/>
              <a:t>връзка</a:t>
            </a:r>
          </a:p>
          <a:p>
            <a:r>
              <a:rPr lang="ru-RU" dirty="0" smtClean="0"/>
              <a:t>Броят </a:t>
            </a:r>
            <a:r>
              <a:rPr lang="ru-RU" dirty="0"/>
              <a:t>на елементите за съхранение </a:t>
            </a:r>
            <a:r>
              <a:rPr lang="ru-RU" dirty="0" smtClean="0"/>
              <a:t>дава </a:t>
            </a:r>
            <a:r>
              <a:rPr lang="ru-RU" b="1" dirty="0"/>
              <a:t>степента на </a:t>
            </a:r>
            <a:r>
              <a:rPr lang="ru-RU" b="1" dirty="0" smtClean="0"/>
              <a:t>LFSR </a:t>
            </a:r>
            <a:r>
              <a:rPr lang="ru-RU" dirty="0" smtClean="0"/>
              <a:t>– при </a:t>
            </a:r>
            <a:r>
              <a:rPr lang="en-US" dirty="0" smtClean="0"/>
              <a:t>m </a:t>
            </a:r>
            <a:r>
              <a:rPr lang="bg-BG" dirty="0" smtClean="0"/>
              <a:t>елементи, степента е </a:t>
            </a:r>
            <a:r>
              <a:rPr lang="en-US" dirty="0" smtClean="0"/>
              <a:t>m</a:t>
            </a:r>
            <a:endParaRPr lang="ru-RU" dirty="0" smtClean="0"/>
          </a:p>
          <a:p>
            <a:r>
              <a:rPr lang="bg-BG" dirty="0" smtClean="0"/>
              <a:t>Чрез </a:t>
            </a:r>
            <a:r>
              <a:rPr lang="ru-RU" b="1" dirty="0" smtClean="0"/>
              <a:t>обратна </a:t>
            </a:r>
            <a:r>
              <a:rPr lang="ru-RU" b="1" dirty="0"/>
              <a:t>връзка </a:t>
            </a:r>
            <a:r>
              <a:rPr lang="ru-RU" dirty="0" smtClean="0"/>
              <a:t>се </a:t>
            </a:r>
            <a:r>
              <a:rPr lang="ru-RU" b="1" dirty="0" smtClean="0"/>
              <a:t>изчислява входът на регистъра </a:t>
            </a:r>
            <a:r>
              <a:rPr lang="ru-RU" dirty="0" smtClean="0"/>
              <a:t>въз основа на последното състояние на тригерите (чрез оператор </a:t>
            </a:r>
            <a:r>
              <a:rPr lang="en-US" dirty="0" smtClean="0"/>
              <a:t>XOR)</a:t>
            </a:r>
            <a:endParaRPr lang="ru-RU" dirty="0"/>
          </a:p>
        </p:txBody>
      </p:sp>
      <p:grpSp>
        <p:nvGrpSpPr>
          <p:cNvPr id="24" name="Group 23"/>
          <p:cNvGrpSpPr/>
          <p:nvPr/>
        </p:nvGrpSpPr>
        <p:grpSpPr>
          <a:xfrm>
            <a:off x="2488692" y="4892040"/>
            <a:ext cx="7214616" cy="1417320"/>
            <a:chOff x="1051560" y="4892040"/>
            <a:chExt cx="7214616" cy="1417320"/>
          </a:xfrm>
        </p:grpSpPr>
        <p:sp>
          <p:nvSpPr>
            <p:cNvPr id="4" name="Rectangle 3"/>
            <p:cNvSpPr/>
            <p:nvPr/>
          </p:nvSpPr>
          <p:spPr>
            <a:xfrm>
              <a:off x="1051560" y="4892040"/>
              <a:ext cx="749808" cy="53949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S</a:t>
              </a:r>
              <a:r>
                <a:rPr lang="en-US" baseline="-25000" dirty="0" smtClean="0"/>
                <a:t>l-1</a:t>
              </a:r>
              <a:endParaRPr lang="en-US" baseline="-25000" dirty="0"/>
            </a:p>
          </p:txBody>
        </p:sp>
        <p:sp>
          <p:nvSpPr>
            <p:cNvPr id="5" name="Rectangle 4"/>
            <p:cNvSpPr/>
            <p:nvPr/>
          </p:nvSpPr>
          <p:spPr>
            <a:xfrm>
              <a:off x="1801368" y="4892040"/>
              <a:ext cx="749808" cy="53949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S</a:t>
              </a:r>
              <a:r>
                <a:rPr lang="en-US" baseline="-25000" dirty="0" smtClean="0"/>
                <a:t>l-2</a:t>
              </a:r>
              <a:endParaRPr lang="en-US" baseline="-25000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2551176" y="4892040"/>
              <a:ext cx="749808" cy="53949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S</a:t>
              </a:r>
              <a:r>
                <a:rPr lang="en-US" baseline="-25000" dirty="0" smtClean="0"/>
                <a:t>l-3</a:t>
              </a:r>
              <a:endParaRPr lang="en-US" baseline="-25000" dirty="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300984" y="4892040"/>
              <a:ext cx="2276856" cy="53949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…</a:t>
              </a:r>
              <a:endParaRPr lang="en-US" baseline="-25000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5577840" y="4892040"/>
              <a:ext cx="749808" cy="53949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S</a:t>
              </a:r>
              <a:r>
                <a:rPr lang="en-US" baseline="-25000" dirty="0" smtClean="0"/>
                <a:t>2</a:t>
              </a:r>
              <a:endParaRPr lang="en-US" baseline="-25000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6327648" y="4892040"/>
              <a:ext cx="749808" cy="53949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S</a:t>
              </a:r>
              <a:r>
                <a:rPr lang="en-US" baseline="-25000" dirty="0"/>
                <a:t>1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7077456" y="4892040"/>
              <a:ext cx="749808" cy="53949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S</a:t>
              </a:r>
              <a:r>
                <a:rPr lang="en-US" baseline="-25000" dirty="0" smtClean="0"/>
                <a:t>0</a:t>
              </a:r>
              <a:endParaRPr lang="en-US" baseline="-25000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051560" y="5861304"/>
              <a:ext cx="6775704" cy="448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bg-BG" dirty="0" smtClean="0"/>
                <a:t>Функция за обратна връзка</a:t>
              </a:r>
              <a:endParaRPr lang="en-US" dirty="0"/>
            </a:p>
          </p:txBody>
        </p:sp>
        <p:cxnSp>
          <p:nvCxnSpPr>
            <p:cNvPr id="13" name="Straight Arrow Connector 12"/>
            <p:cNvCxnSpPr/>
            <p:nvPr/>
          </p:nvCxnSpPr>
          <p:spPr>
            <a:xfrm>
              <a:off x="1435608" y="5513832"/>
              <a:ext cx="0" cy="2926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>
              <a:off x="2173224" y="5513832"/>
              <a:ext cx="0" cy="2926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>
              <a:off x="2910840" y="5513832"/>
              <a:ext cx="0" cy="2926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>
              <a:off x="4447032" y="5513832"/>
              <a:ext cx="0" cy="2926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>
              <a:off x="5964936" y="5513832"/>
              <a:ext cx="0" cy="2926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>
              <a:off x="6723888" y="5513832"/>
              <a:ext cx="0" cy="2926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>
              <a:off x="7482840" y="5513832"/>
              <a:ext cx="0" cy="2926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>
              <a:off x="7818120" y="5148072"/>
              <a:ext cx="44805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Elbow Connector 22"/>
            <p:cNvCxnSpPr>
              <a:stCxn id="11" idx="1"/>
              <a:endCxn id="4" idx="1"/>
            </p:cNvCxnSpPr>
            <p:nvPr/>
          </p:nvCxnSpPr>
          <p:spPr>
            <a:xfrm rot="10800000">
              <a:off x="1051560" y="5161788"/>
              <a:ext cx="12700" cy="923544"/>
            </a:xfrm>
            <a:prstGeom prst="bentConnector3">
              <a:avLst>
                <a:gd name="adj1" fmla="val 180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6194733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7192" y="764373"/>
            <a:ext cx="9589008" cy="1293028"/>
          </a:xfrm>
        </p:spPr>
        <p:txBody>
          <a:bodyPr>
            <a:normAutofit fontScale="90000"/>
          </a:bodyPr>
          <a:lstStyle/>
          <a:p>
            <a:r>
              <a:rPr lang="bg-BG" dirty="0"/>
              <a:t>Съвременни поточни алгоритми – Преместващи регистри с линейна обратна връзка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94561"/>
            <a:ext cx="10820400" cy="2659887"/>
          </a:xfrm>
        </p:spPr>
        <p:txBody>
          <a:bodyPr>
            <a:normAutofit fontScale="77500" lnSpcReduction="20000"/>
          </a:bodyPr>
          <a:lstStyle/>
          <a:p>
            <a:r>
              <a:rPr lang="ru-RU" b="1" dirty="0" smtClean="0"/>
              <a:t>Пример</a:t>
            </a:r>
            <a:r>
              <a:rPr lang="en-US" b="1" dirty="0" smtClean="0"/>
              <a:t> -</a:t>
            </a:r>
            <a:r>
              <a:rPr lang="ru-RU" b="1" dirty="0" smtClean="0"/>
              <a:t> </a:t>
            </a:r>
            <a:r>
              <a:rPr lang="ru-RU" dirty="0" smtClean="0"/>
              <a:t>Нека преместващият регистър е </a:t>
            </a:r>
            <a:r>
              <a:rPr lang="ru-RU" dirty="0"/>
              <a:t>от степен m = 3 с тригери FF2, FF1, FF0 и път за обратна </a:t>
            </a:r>
            <a:r>
              <a:rPr lang="ru-RU" dirty="0" smtClean="0"/>
              <a:t>връзка</a:t>
            </a:r>
          </a:p>
          <a:p>
            <a:r>
              <a:rPr lang="ru-RU" dirty="0" smtClean="0"/>
              <a:t>Битовете </a:t>
            </a:r>
            <a:r>
              <a:rPr lang="ru-RU" dirty="0"/>
              <a:t>за вътрешно състояние са обозначени със s</a:t>
            </a:r>
            <a:r>
              <a:rPr lang="ru-RU" baseline="-25000" dirty="0"/>
              <a:t>i</a:t>
            </a:r>
            <a:r>
              <a:rPr lang="ru-RU" dirty="0"/>
              <a:t> и се изместват </a:t>
            </a:r>
            <a:r>
              <a:rPr lang="ru-RU" dirty="0" smtClean="0"/>
              <a:t>надясно </a:t>
            </a:r>
            <a:r>
              <a:rPr lang="ru-RU" dirty="0"/>
              <a:t>с </a:t>
            </a:r>
            <a:r>
              <a:rPr lang="ru-RU" dirty="0" smtClean="0"/>
              <a:t>всеки такт </a:t>
            </a:r>
            <a:r>
              <a:rPr lang="ru-RU" dirty="0"/>
              <a:t>на </a:t>
            </a:r>
            <a:r>
              <a:rPr lang="ru-RU" dirty="0" smtClean="0"/>
              <a:t>часовника</a:t>
            </a:r>
          </a:p>
          <a:p>
            <a:r>
              <a:rPr lang="ru-RU" dirty="0" smtClean="0"/>
              <a:t>Най-десният бит е </a:t>
            </a:r>
            <a:r>
              <a:rPr lang="ru-RU" dirty="0"/>
              <a:t>текущият изходен </a:t>
            </a:r>
            <a:r>
              <a:rPr lang="ru-RU" dirty="0" smtClean="0"/>
              <a:t>бит</a:t>
            </a:r>
          </a:p>
          <a:p>
            <a:r>
              <a:rPr lang="ru-RU" dirty="0" smtClean="0"/>
              <a:t>Най-левият </a:t>
            </a:r>
            <a:r>
              <a:rPr lang="ru-RU" dirty="0"/>
              <a:t>бит на състоянието се изчислява </a:t>
            </a:r>
            <a:r>
              <a:rPr lang="ru-RU" dirty="0" smtClean="0"/>
              <a:t>в обратната </a:t>
            </a:r>
            <a:r>
              <a:rPr lang="ru-RU" dirty="0"/>
              <a:t>връзка, която е </a:t>
            </a:r>
            <a:r>
              <a:rPr lang="ru-RU" dirty="0" smtClean="0"/>
              <a:t>XOR от </a:t>
            </a:r>
            <a:r>
              <a:rPr lang="bg-BG" dirty="0" smtClean="0"/>
              <a:t>някои от </a:t>
            </a:r>
            <a:r>
              <a:rPr lang="ru-RU" dirty="0" smtClean="0"/>
              <a:t>стойностите </a:t>
            </a:r>
            <a:r>
              <a:rPr lang="ru-RU" dirty="0"/>
              <a:t>на </a:t>
            </a:r>
            <a:r>
              <a:rPr lang="ru-RU" dirty="0" smtClean="0"/>
              <a:t>тригерите </a:t>
            </a:r>
            <a:r>
              <a:rPr lang="ru-RU" dirty="0"/>
              <a:t>в предишния тактов </a:t>
            </a:r>
            <a:r>
              <a:rPr lang="ru-RU" dirty="0" smtClean="0"/>
              <a:t>период</a:t>
            </a:r>
          </a:p>
          <a:p>
            <a:r>
              <a:rPr lang="ru-RU" dirty="0" smtClean="0"/>
              <a:t>Тъй </a:t>
            </a:r>
            <a:r>
              <a:rPr lang="ru-RU" dirty="0"/>
              <a:t>като XOR е линейна операция, такива схеми се наричат ​​</a:t>
            </a:r>
            <a:r>
              <a:rPr lang="ru-RU" b="1" dirty="0"/>
              <a:t>линейни </a:t>
            </a:r>
            <a:r>
              <a:rPr lang="ru-RU" b="1" dirty="0" smtClean="0"/>
              <a:t>преместващи </a:t>
            </a:r>
            <a:r>
              <a:rPr lang="ru-RU" b="1" dirty="0"/>
              <a:t>регистри </a:t>
            </a:r>
            <a:r>
              <a:rPr lang="ru-RU" b="1" dirty="0" smtClean="0"/>
              <a:t>с </a:t>
            </a:r>
            <a:r>
              <a:rPr lang="ru-RU" b="1" dirty="0"/>
              <a:t>обратна </a:t>
            </a:r>
            <a:r>
              <a:rPr lang="ru-RU" b="1" dirty="0" smtClean="0"/>
              <a:t>връзка</a:t>
            </a:r>
          </a:p>
          <a:p>
            <a:r>
              <a:rPr lang="ru-RU" dirty="0" smtClean="0"/>
              <a:t>Нека </a:t>
            </a:r>
            <a:r>
              <a:rPr lang="ru-RU" dirty="0"/>
              <a:t>приемем първоначално състояние </a:t>
            </a:r>
            <a:r>
              <a:rPr lang="ru-RU" dirty="0" smtClean="0"/>
              <a:t>на регистъра </a:t>
            </a:r>
            <a:r>
              <a:rPr lang="ru-RU" dirty="0"/>
              <a:t>(s2 = 1,s1 = 0,s0 = 0</a:t>
            </a:r>
            <a:r>
              <a:rPr lang="ru-RU" dirty="0" smtClean="0"/>
              <a:t>)</a:t>
            </a:r>
            <a:endParaRPr lang="en-US" dirty="0"/>
          </a:p>
        </p:txBody>
      </p:sp>
      <p:grpSp>
        <p:nvGrpSpPr>
          <p:cNvPr id="41" name="Group 40"/>
          <p:cNvGrpSpPr/>
          <p:nvPr/>
        </p:nvGrpSpPr>
        <p:grpSpPr>
          <a:xfrm>
            <a:off x="1615440" y="4927600"/>
            <a:ext cx="8409432" cy="1509776"/>
            <a:chOff x="1615440" y="4927600"/>
            <a:chExt cx="8409432" cy="1509776"/>
          </a:xfrm>
        </p:grpSpPr>
        <p:sp>
          <p:nvSpPr>
            <p:cNvPr id="4" name="Rectangle 3"/>
            <p:cNvSpPr/>
            <p:nvPr/>
          </p:nvSpPr>
          <p:spPr>
            <a:xfrm>
              <a:off x="2788920" y="5303520"/>
              <a:ext cx="594360" cy="4663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S2</a:t>
              </a:r>
              <a:endParaRPr lang="en-US" dirty="0"/>
            </a:p>
          </p:txBody>
        </p:sp>
        <p:sp>
          <p:nvSpPr>
            <p:cNvPr id="5" name="Rectangle 4"/>
            <p:cNvSpPr/>
            <p:nvPr/>
          </p:nvSpPr>
          <p:spPr>
            <a:xfrm>
              <a:off x="4706112" y="5303520"/>
              <a:ext cx="594360" cy="4663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S1</a:t>
              </a:r>
              <a:endParaRPr lang="en-US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6507480" y="5303520"/>
              <a:ext cx="594360" cy="4663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S0</a:t>
              </a:r>
              <a:endParaRPr lang="en-US" dirty="0"/>
            </a:p>
          </p:txBody>
        </p:sp>
        <p:cxnSp>
          <p:nvCxnSpPr>
            <p:cNvPr id="8" name="Straight Arrow Connector 7"/>
            <p:cNvCxnSpPr>
              <a:stCxn id="4" idx="3"/>
              <a:endCxn id="5" idx="1"/>
            </p:cNvCxnSpPr>
            <p:nvPr/>
          </p:nvCxnSpPr>
          <p:spPr>
            <a:xfrm>
              <a:off x="3383280" y="5536692"/>
              <a:ext cx="132283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>
              <a:stCxn id="5" idx="3"/>
              <a:endCxn id="6" idx="1"/>
            </p:cNvCxnSpPr>
            <p:nvPr/>
          </p:nvCxnSpPr>
          <p:spPr>
            <a:xfrm>
              <a:off x="5300472" y="5536692"/>
              <a:ext cx="120700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>
              <a:stCxn id="6" idx="3"/>
            </p:cNvCxnSpPr>
            <p:nvPr/>
          </p:nvCxnSpPr>
          <p:spPr>
            <a:xfrm>
              <a:off x="7101840" y="5536692"/>
              <a:ext cx="87172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>
              <a:off x="1917192" y="5536692"/>
              <a:ext cx="87172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Flowchart: Or 13"/>
            <p:cNvSpPr/>
            <p:nvPr/>
          </p:nvSpPr>
          <p:spPr>
            <a:xfrm>
              <a:off x="5801868" y="6089904"/>
              <a:ext cx="387096" cy="347472"/>
            </a:xfrm>
            <a:prstGeom prst="flowChar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Elbow Connector 15"/>
            <p:cNvCxnSpPr/>
            <p:nvPr/>
          </p:nvCxnSpPr>
          <p:spPr>
            <a:xfrm rot="10800000" flipV="1">
              <a:off x="6181344" y="5536692"/>
              <a:ext cx="1356360" cy="726948"/>
            </a:xfrm>
            <a:prstGeom prst="bentConnector3">
              <a:avLst>
                <a:gd name="adj1" fmla="val 12247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Elbow Connector 21"/>
            <p:cNvCxnSpPr>
              <a:stCxn id="14" idx="2"/>
            </p:cNvCxnSpPr>
            <p:nvPr/>
          </p:nvCxnSpPr>
          <p:spPr>
            <a:xfrm rot="10800000">
              <a:off x="2350008" y="5559554"/>
              <a:ext cx="3451860" cy="704087"/>
            </a:xfrm>
            <a:prstGeom prst="bentConnector3">
              <a:avLst>
                <a:gd name="adj1" fmla="val 100066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>
              <a:off x="5990843" y="5559554"/>
              <a:ext cx="0" cy="45719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flipV="1">
              <a:off x="2267712" y="5102352"/>
              <a:ext cx="4536948" cy="9144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>
              <a:endCxn id="6" idx="0"/>
            </p:cNvCxnSpPr>
            <p:nvPr/>
          </p:nvCxnSpPr>
          <p:spPr>
            <a:xfrm>
              <a:off x="6804660" y="5129785"/>
              <a:ext cx="0" cy="1737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>
              <a:off x="4996180" y="5119625"/>
              <a:ext cx="0" cy="1737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>
              <a:off x="3106420" y="5119625"/>
              <a:ext cx="0" cy="1737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/>
            <p:cNvSpPr txBox="1"/>
            <p:nvPr/>
          </p:nvSpPr>
          <p:spPr>
            <a:xfrm>
              <a:off x="1615440" y="4927600"/>
              <a:ext cx="652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CLK</a:t>
              </a:r>
              <a:endParaRPr lang="en-US" dirty="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788920" y="5900166"/>
              <a:ext cx="5943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FF2</a:t>
              </a:r>
              <a:endParaRPr lang="en-US" dirty="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720591" y="5861303"/>
              <a:ext cx="5943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FF1</a:t>
              </a:r>
              <a:endParaRPr lang="en-US" dirty="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574535" y="5863088"/>
              <a:ext cx="5943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FF0</a:t>
              </a:r>
              <a:endParaRPr lang="en-US" dirty="0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8132064" y="5349241"/>
              <a:ext cx="18928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Si, … S1,S0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54371695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6957" y="764373"/>
            <a:ext cx="8989243" cy="1293028"/>
          </a:xfrm>
        </p:spPr>
        <p:txBody>
          <a:bodyPr>
            <a:normAutofit fontScale="90000"/>
          </a:bodyPr>
          <a:lstStyle/>
          <a:p>
            <a:r>
              <a:rPr lang="bg-BG" dirty="0"/>
              <a:t>Съвременни поточни алгоритми – Преместващи регистри с линейна обратна връзка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94560"/>
            <a:ext cx="5870448" cy="4024125"/>
          </a:xfrm>
        </p:spPr>
        <p:txBody>
          <a:bodyPr/>
          <a:lstStyle/>
          <a:p>
            <a:r>
              <a:rPr lang="bg-BG" dirty="0"/>
              <a:t>П</a:t>
            </a:r>
            <a:r>
              <a:rPr lang="ru-RU" dirty="0" smtClean="0"/>
              <a:t>ълната </a:t>
            </a:r>
            <a:r>
              <a:rPr lang="ru-RU" dirty="0"/>
              <a:t>последователност от състояния на </a:t>
            </a:r>
            <a:r>
              <a:rPr lang="ru-RU" dirty="0" smtClean="0"/>
              <a:t>регистъра са показани в Таблицата</a:t>
            </a:r>
          </a:p>
          <a:p>
            <a:r>
              <a:rPr lang="ru-RU" dirty="0" smtClean="0"/>
              <a:t>Най-дясната </a:t>
            </a:r>
            <a:r>
              <a:rPr lang="ru-RU" dirty="0"/>
              <a:t>колона е изходът на </a:t>
            </a:r>
            <a:r>
              <a:rPr lang="ru-RU" dirty="0" smtClean="0"/>
              <a:t>регистъра</a:t>
            </a:r>
          </a:p>
          <a:p>
            <a:r>
              <a:rPr lang="ru-RU" dirty="0" smtClean="0"/>
              <a:t>Регистърът повтаря състоянията след 6-тия цикъл</a:t>
            </a:r>
          </a:p>
          <a:p>
            <a:r>
              <a:rPr lang="ru-RU" dirty="0" smtClean="0"/>
              <a:t>Това означава, че регистърът има </a:t>
            </a:r>
            <a:r>
              <a:rPr lang="ru-RU" dirty="0" smtClean="0">
                <a:solidFill>
                  <a:srgbClr val="0070C0"/>
                </a:solidFill>
              </a:rPr>
              <a:t>дължина на периода </a:t>
            </a:r>
            <a:r>
              <a:rPr lang="ru-RU" b="1" dirty="0" smtClean="0">
                <a:solidFill>
                  <a:srgbClr val="0070C0"/>
                </a:solidFill>
              </a:rPr>
              <a:t>7</a:t>
            </a:r>
            <a:r>
              <a:rPr lang="ru-RU" dirty="0" smtClean="0"/>
              <a:t>: </a:t>
            </a:r>
          </a:p>
          <a:p>
            <a:pPr marL="0" indent="0">
              <a:buNone/>
            </a:pPr>
            <a:r>
              <a:rPr lang="en-US" dirty="0"/>
              <a:t>0010111 </a:t>
            </a:r>
            <a:r>
              <a:rPr lang="bg-BG" dirty="0" smtClean="0"/>
              <a:t>   </a:t>
            </a:r>
            <a:r>
              <a:rPr lang="en-US" dirty="0" smtClean="0"/>
              <a:t>0010111 </a:t>
            </a:r>
            <a:r>
              <a:rPr lang="bg-BG" dirty="0" smtClean="0"/>
              <a:t>   </a:t>
            </a:r>
            <a:r>
              <a:rPr lang="en-US" dirty="0" smtClean="0"/>
              <a:t>0010111 </a:t>
            </a:r>
            <a:r>
              <a:rPr lang="en-US" dirty="0"/>
              <a:t>...</a:t>
            </a:r>
          </a:p>
          <a:p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8003922"/>
              </p:ext>
            </p:extLst>
          </p:nvPr>
        </p:nvGraphicFramePr>
        <p:xfrm>
          <a:off x="6914896" y="2424941"/>
          <a:ext cx="414020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6064">
                  <a:extLst>
                    <a:ext uri="{9D8B030D-6E8A-4147-A177-3AD203B41FA5}">
                      <a16:colId xmlns:a16="http://schemas.microsoft.com/office/drawing/2014/main" val="1186959150"/>
                    </a:ext>
                  </a:extLst>
                </a:gridCol>
                <a:gridCol w="584959">
                  <a:extLst>
                    <a:ext uri="{9D8B030D-6E8A-4147-A177-3AD203B41FA5}">
                      <a16:colId xmlns:a16="http://schemas.microsoft.com/office/drawing/2014/main" val="3268578402"/>
                    </a:ext>
                  </a:extLst>
                </a:gridCol>
                <a:gridCol w="649481">
                  <a:extLst>
                    <a:ext uri="{9D8B030D-6E8A-4147-A177-3AD203B41FA5}">
                      <a16:colId xmlns:a16="http://schemas.microsoft.com/office/drawing/2014/main" val="347412199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3106461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clk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FF2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FF1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FF0=Si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5077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654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1763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358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36191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  <a:endParaRPr lang="en-US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568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  <a:endParaRPr lang="en-US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8232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6</a:t>
                      </a:r>
                      <a:endParaRPr lang="en-US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5718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4830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23671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694864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4872" y="764373"/>
            <a:ext cx="9101328" cy="1293028"/>
          </a:xfrm>
        </p:spPr>
        <p:txBody>
          <a:bodyPr>
            <a:normAutofit fontScale="90000"/>
          </a:bodyPr>
          <a:lstStyle/>
          <a:p>
            <a:r>
              <a:rPr lang="bg-BG" dirty="0"/>
              <a:t>Съвременни поточни алгоритми – Преместващи регистри с линейна обратна връзка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</a:t>
            </a:r>
            <a:r>
              <a:rPr lang="en-US" baseline="-25000" dirty="0"/>
              <a:t>3</a:t>
            </a:r>
            <a:r>
              <a:rPr lang="en-US" dirty="0"/>
              <a:t> ≡ s</a:t>
            </a:r>
            <a:r>
              <a:rPr lang="en-US" baseline="-25000" dirty="0"/>
              <a:t>1</a:t>
            </a:r>
            <a:r>
              <a:rPr lang="en-US" dirty="0"/>
              <a:t> +</a:t>
            </a:r>
            <a:r>
              <a:rPr lang="en-US" dirty="0" smtClean="0"/>
              <a:t>s</a:t>
            </a:r>
            <a:r>
              <a:rPr lang="en-US" baseline="-25000" dirty="0" smtClean="0"/>
              <a:t>0</a:t>
            </a:r>
            <a:r>
              <a:rPr lang="en-US" dirty="0" smtClean="0"/>
              <a:t>mod2 </a:t>
            </a:r>
            <a:endParaRPr lang="bg-BG" dirty="0" smtClean="0"/>
          </a:p>
          <a:p>
            <a:pPr marL="0" indent="0">
              <a:buNone/>
            </a:pPr>
            <a:r>
              <a:rPr lang="en-US" dirty="0" smtClean="0"/>
              <a:t>s</a:t>
            </a:r>
            <a:r>
              <a:rPr lang="en-US" baseline="-25000" dirty="0" smtClean="0"/>
              <a:t>4</a:t>
            </a:r>
            <a:r>
              <a:rPr lang="en-US" dirty="0" smtClean="0"/>
              <a:t> </a:t>
            </a:r>
            <a:r>
              <a:rPr lang="en-US" dirty="0"/>
              <a:t>≡ s</a:t>
            </a:r>
            <a:r>
              <a:rPr lang="en-US" baseline="-25000" dirty="0"/>
              <a:t>2</a:t>
            </a:r>
            <a:r>
              <a:rPr lang="en-US" dirty="0"/>
              <a:t> +</a:t>
            </a:r>
            <a:r>
              <a:rPr lang="en-US" dirty="0" smtClean="0"/>
              <a:t>s</a:t>
            </a:r>
            <a:r>
              <a:rPr lang="en-US" baseline="-25000" dirty="0" smtClean="0"/>
              <a:t>1</a:t>
            </a:r>
            <a:r>
              <a:rPr lang="en-US" dirty="0" smtClean="0"/>
              <a:t>mod2 </a:t>
            </a:r>
            <a:endParaRPr lang="bg-BG" dirty="0" smtClean="0"/>
          </a:p>
          <a:p>
            <a:pPr marL="0" indent="0">
              <a:buNone/>
            </a:pPr>
            <a:r>
              <a:rPr lang="en-US" dirty="0" smtClean="0"/>
              <a:t>s</a:t>
            </a:r>
            <a:r>
              <a:rPr lang="en-US" baseline="-25000" dirty="0"/>
              <a:t>5</a:t>
            </a:r>
            <a:r>
              <a:rPr lang="en-US" dirty="0" smtClean="0"/>
              <a:t> </a:t>
            </a:r>
            <a:r>
              <a:rPr lang="en-US" dirty="0"/>
              <a:t>≡ s</a:t>
            </a:r>
            <a:r>
              <a:rPr lang="en-US" baseline="-25000" dirty="0"/>
              <a:t>3</a:t>
            </a:r>
            <a:r>
              <a:rPr lang="en-US" dirty="0"/>
              <a:t> +</a:t>
            </a:r>
            <a:r>
              <a:rPr lang="en-US" dirty="0" smtClean="0"/>
              <a:t>s</a:t>
            </a:r>
            <a:r>
              <a:rPr lang="en-US" baseline="-25000" dirty="0" smtClean="0"/>
              <a:t>2</a:t>
            </a:r>
            <a:r>
              <a:rPr lang="en-US" dirty="0" smtClean="0"/>
              <a:t>mod2 </a:t>
            </a:r>
            <a:endParaRPr lang="bg-BG" dirty="0" smtClean="0"/>
          </a:p>
          <a:p>
            <a:pPr marL="0" indent="0">
              <a:buNone/>
            </a:pPr>
            <a:r>
              <a:rPr lang="en-US" dirty="0" smtClean="0"/>
              <a:t>. </a:t>
            </a:r>
            <a:r>
              <a:rPr lang="en-US" dirty="0"/>
              <a:t>. . </a:t>
            </a:r>
            <a:endParaRPr lang="bg-BG" dirty="0" smtClean="0"/>
          </a:p>
          <a:p>
            <a:r>
              <a:rPr lang="bg-BG" dirty="0" smtClean="0"/>
              <a:t>В общия случай изходният бит се изчислява чрез</a:t>
            </a:r>
            <a:r>
              <a:rPr lang="en-US" dirty="0" smtClean="0"/>
              <a:t>: </a:t>
            </a:r>
            <a:endParaRPr lang="bg-BG" dirty="0" smtClean="0"/>
          </a:p>
          <a:p>
            <a:pPr marL="0" indent="0">
              <a:buNone/>
            </a:pPr>
            <a:r>
              <a:rPr lang="en-US" b="1" dirty="0" smtClean="0"/>
              <a:t>s</a:t>
            </a:r>
            <a:r>
              <a:rPr lang="en-US" b="1" baseline="-25000" dirty="0" smtClean="0"/>
              <a:t>i</a:t>
            </a:r>
            <a:r>
              <a:rPr lang="en-US" b="1" dirty="0" smtClean="0"/>
              <a:t>+3 </a:t>
            </a:r>
            <a:r>
              <a:rPr lang="en-US" b="1" dirty="0"/>
              <a:t>≡ s</a:t>
            </a:r>
            <a:r>
              <a:rPr lang="en-US" b="1" baseline="-25000" dirty="0"/>
              <a:t>i+1</a:t>
            </a:r>
            <a:r>
              <a:rPr lang="en-US" b="1" dirty="0"/>
              <a:t> +</a:t>
            </a:r>
            <a:r>
              <a:rPr lang="en-US" b="1" dirty="0" smtClean="0"/>
              <a:t>s</a:t>
            </a:r>
            <a:r>
              <a:rPr lang="en-US" b="1" baseline="-25000" dirty="0" smtClean="0"/>
              <a:t>i</a:t>
            </a:r>
            <a:r>
              <a:rPr lang="en-US" b="1" dirty="0" smtClean="0"/>
              <a:t>mod2</a:t>
            </a:r>
            <a:r>
              <a:rPr lang="bg-BG" dirty="0" smtClean="0"/>
              <a:t>,</a:t>
            </a:r>
            <a:r>
              <a:rPr lang="en-US" dirty="0" smtClean="0"/>
              <a:t> </a:t>
            </a:r>
            <a:r>
              <a:rPr lang="bg-BG" dirty="0" smtClean="0"/>
              <a:t>където</a:t>
            </a:r>
            <a:r>
              <a:rPr lang="en-US" dirty="0" smtClean="0"/>
              <a:t> </a:t>
            </a:r>
            <a:r>
              <a:rPr lang="en-US" dirty="0" err="1"/>
              <a:t>i</a:t>
            </a:r>
            <a:r>
              <a:rPr lang="en-US" dirty="0"/>
              <a:t> = 0,1,2</a:t>
            </a:r>
            <a:r>
              <a:rPr lang="en-US" dirty="0" smtClean="0"/>
              <a:t>,...</a:t>
            </a:r>
            <a:endParaRPr lang="bg-BG" dirty="0" smtClean="0"/>
          </a:p>
          <a:p>
            <a:r>
              <a:rPr lang="bg-BG" b="1" dirty="0" smtClean="0"/>
              <a:t>Теорема: </a:t>
            </a:r>
            <a:r>
              <a:rPr lang="bg-BG" dirty="0" smtClean="0">
                <a:solidFill>
                  <a:schemeClr val="accent1"/>
                </a:solidFill>
              </a:rPr>
              <a:t>Максималната дължина на </a:t>
            </a:r>
          </a:p>
          <a:p>
            <a:pPr marL="0" indent="0">
              <a:buNone/>
            </a:pPr>
            <a:r>
              <a:rPr lang="bg-BG" dirty="0" smtClean="0">
                <a:solidFill>
                  <a:schemeClr val="accent1"/>
                </a:solidFill>
              </a:rPr>
              <a:t>генерираната последователност от </a:t>
            </a:r>
          </a:p>
          <a:p>
            <a:pPr marL="0" indent="0">
              <a:buNone/>
            </a:pPr>
            <a:r>
              <a:rPr lang="bg-BG" dirty="0" smtClean="0">
                <a:solidFill>
                  <a:schemeClr val="accent1"/>
                </a:solidFill>
              </a:rPr>
              <a:t>преместващия регистър от степен </a:t>
            </a:r>
            <a:r>
              <a:rPr lang="en-US" b="1" dirty="0" smtClean="0">
                <a:solidFill>
                  <a:schemeClr val="accent1"/>
                </a:solidFill>
              </a:rPr>
              <a:t>m</a:t>
            </a:r>
            <a:r>
              <a:rPr lang="en-US" dirty="0" smtClean="0">
                <a:solidFill>
                  <a:schemeClr val="accent1"/>
                </a:solidFill>
              </a:rPr>
              <a:t> </a:t>
            </a:r>
            <a:r>
              <a:rPr lang="bg-BG" dirty="0" smtClean="0">
                <a:solidFill>
                  <a:schemeClr val="accent1"/>
                </a:solidFill>
              </a:rPr>
              <a:t>е</a:t>
            </a:r>
            <a:r>
              <a:rPr lang="en-US" dirty="0" smtClean="0">
                <a:solidFill>
                  <a:schemeClr val="accent1"/>
                </a:solidFill>
              </a:rPr>
              <a:t> </a:t>
            </a:r>
            <a:r>
              <a:rPr lang="en-US" b="1" dirty="0">
                <a:solidFill>
                  <a:schemeClr val="accent1"/>
                </a:solidFill>
              </a:rPr>
              <a:t>2</a:t>
            </a:r>
            <a:r>
              <a:rPr lang="en-US" b="1" baseline="30000" dirty="0">
                <a:solidFill>
                  <a:schemeClr val="accent1"/>
                </a:solidFill>
              </a:rPr>
              <a:t>m</a:t>
            </a:r>
            <a:r>
              <a:rPr lang="en-US" b="1" dirty="0">
                <a:solidFill>
                  <a:schemeClr val="accent1"/>
                </a:solidFill>
              </a:rPr>
              <a:t> −</a:t>
            </a:r>
            <a:r>
              <a:rPr lang="en-US" b="1" dirty="0" smtClean="0">
                <a:solidFill>
                  <a:schemeClr val="accent1"/>
                </a:solidFill>
              </a:rPr>
              <a:t>1</a:t>
            </a:r>
            <a:endParaRPr lang="en-US" dirty="0">
              <a:solidFill>
                <a:schemeClr val="accent1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9255417"/>
              </p:ext>
            </p:extLst>
          </p:nvPr>
        </p:nvGraphicFramePr>
        <p:xfrm>
          <a:off x="7975600" y="2194560"/>
          <a:ext cx="414020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6064">
                  <a:extLst>
                    <a:ext uri="{9D8B030D-6E8A-4147-A177-3AD203B41FA5}">
                      <a16:colId xmlns:a16="http://schemas.microsoft.com/office/drawing/2014/main" val="1186959150"/>
                    </a:ext>
                  </a:extLst>
                </a:gridCol>
                <a:gridCol w="584959">
                  <a:extLst>
                    <a:ext uri="{9D8B030D-6E8A-4147-A177-3AD203B41FA5}">
                      <a16:colId xmlns:a16="http://schemas.microsoft.com/office/drawing/2014/main" val="3268578402"/>
                    </a:ext>
                  </a:extLst>
                </a:gridCol>
                <a:gridCol w="649481">
                  <a:extLst>
                    <a:ext uri="{9D8B030D-6E8A-4147-A177-3AD203B41FA5}">
                      <a16:colId xmlns:a16="http://schemas.microsoft.com/office/drawing/2014/main" val="347412199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3106461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clk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FF2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FF1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FF0=Si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5077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654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1763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358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36191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  <a:endParaRPr lang="en-US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568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  <a:endParaRPr lang="en-US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8232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6</a:t>
                      </a:r>
                      <a:endParaRPr lang="en-US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5718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4830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23671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194823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 smtClean="0"/>
              <a:t>Поточен алгоритъм </a:t>
            </a:r>
            <a:r>
              <a:rPr lang="en-US" dirty="0" err="1" smtClean="0"/>
              <a:t>Trivium</a:t>
            </a:r>
            <a:r>
              <a:rPr lang="bg-BG" dirty="0" smtClean="0"/>
              <a:t> за генериране на поточен ключ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err="1" smtClean="0"/>
              <a:t>Trivium</a:t>
            </a:r>
            <a:r>
              <a:rPr lang="bg-BG" dirty="0" smtClean="0"/>
              <a:t> – съвременен поточен алгоритъм с </a:t>
            </a:r>
            <a:r>
              <a:rPr lang="en-US" dirty="0" smtClean="0"/>
              <a:t>80</a:t>
            </a:r>
            <a:r>
              <a:rPr lang="bg-BG" dirty="0" smtClean="0"/>
              <a:t> битов ключ</a:t>
            </a:r>
            <a:endParaRPr lang="bg-BG" dirty="0"/>
          </a:p>
          <a:p>
            <a:r>
              <a:rPr lang="bg-BG" dirty="0" smtClean="0"/>
              <a:t>Изграден е въз основа на три преместващи регистъра с обратна връзка </a:t>
            </a:r>
            <a:r>
              <a:rPr lang="en-US" dirty="0" smtClean="0"/>
              <a:t>A, B </a:t>
            </a:r>
            <a:r>
              <a:rPr lang="bg-BG" dirty="0" smtClean="0"/>
              <a:t>и </a:t>
            </a:r>
            <a:r>
              <a:rPr lang="en-US" dirty="0" smtClean="0"/>
              <a:t>C</a:t>
            </a:r>
            <a:endParaRPr lang="bg-BG" dirty="0" smtClean="0"/>
          </a:p>
          <a:p>
            <a:r>
              <a:rPr lang="bg-BG" dirty="0" smtClean="0"/>
              <a:t>Дължината на регистрите е </a:t>
            </a:r>
            <a:r>
              <a:rPr lang="en-US" dirty="0" smtClean="0"/>
              <a:t>93</a:t>
            </a:r>
            <a:r>
              <a:rPr lang="en-US" dirty="0"/>
              <a:t>, 84 </a:t>
            </a:r>
            <a:r>
              <a:rPr lang="bg-BG" dirty="0" smtClean="0"/>
              <a:t>и</a:t>
            </a:r>
            <a:r>
              <a:rPr lang="en-US" dirty="0" smtClean="0"/>
              <a:t> 111</a:t>
            </a:r>
            <a:r>
              <a:rPr lang="bg-BG" dirty="0" smtClean="0"/>
              <a:t> бита</a:t>
            </a:r>
          </a:p>
          <a:p>
            <a:r>
              <a:rPr lang="bg-BG" dirty="0" smtClean="0"/>
              <a:t>Приложена е </a:t>
            </a:r>
            <a:r>
              <a:rPr lang="en-US" dirty="0" smtClean="0"/>
              <a:t>XOR</a:t>
            </a:r>
            <a:r>
              <a:rPr lang="bg-BG" dirty="0" smtClean="0"/>
              <a:t> функцията върху трите регистъра за</a:t>
            </a:r>
            <a:r>
              <a:rPr lang="en-US" dirty="0" smtClean="0"/>
              <a:t> </a:t>
            </a:r>
            <a:r>
              <a:rPr lang="bg-BG" dirty="0" smtClean="0"/>
              <a:t>формиране на</a:t>
            </a:r>
            <a:r>
              <a:rPr lang="en-US" dirty="0" smtClean="0"/>
              <a:t> </a:t>
            </a:r>
            <a:r>
              <a:rPr lang="bg-BG" b="1" dirty="0" smtClean="0"/>
              <a:t>поточния ключ </a:t>
            </a:r>
            <a:r>
              <a:rPr lang="en-US" b="1" dirty="0" err="1" smtClean="0"/>
              <a:t>s</a:t>
            </a:r>
            <a:r>
              <a:rPr lang="en-US" b="1" baseline="-25000" dirty="0" err="1" smtClean="0"/>
              <a:t>i</a:t>
            </a:r>
            <a:endParaRPr lang="bg-BG" baseline="-25000" dirty="0" smtClean="0"/>
          </a:p>
          <a:p>
            <a:r>
              <a:rPr lang="bg-BG" dirty="0" smtClean="0"/>
              <a:t>Особеност на алгоритъма е, че изходът на всеки регистър е свързан към входа на другия регистър и по този начин се оказват свързани в </a:t>
            </a:r>
            <a:r>
              <a:rPr lang="bg-BG" b="1" dirty="0" smtClean="0">
                <a:solidFill>
                  <a:srgbClr val="0070C0"/>
                </a:solidFill>
              </a:rPr>
              <a:t>кръг</a:t>
            </a:r>
          </a:p>
          <a:p>
            <a:r>
              <a:rPr lang="bg-BG" dirty="0" smtClean="0"/>
              <a:t>От тук и алгоритъмът може да се каже, че е изграден от </a:t>
            </a:r>
            <a:r>
              <a:rPr lang="bg-BG" b="1" dirty="0" smtClean="0">
                <a:solidFill>
                  <a:srgbClr val="0070C0"/>
                </a:solidFill>
              </a:rPr>
              <a:t>един кръгов регистър</a:t>
            </a:r>
            <a:r>
              <a:rPr lang="bg-BG" b="1" dirty="0" smtClean="0"/>
              <a:t> </a:t>
            </a:r>
            <a:r>
              <a:rPr lang="bg-BG" dirty="0" smtClean="0"/>
              <a:t>с </a:t>
            </a:r>
            <a:r>
              <a:rPr lang="bg-BG" b="1" dirty="0" smtClean="0"/>
              <a:t>обща дължина на поточния ключ </a:t>
            </a:r>
            <a:r>
              <a:rPr lang="en-US" b="1" dirty="0" smtClean="0"/>
              <a:t>93+84+111 </a:t>
            </a:r>
            <a:r>
              <a:rPr lang="en-US" b="1" dirty="0"/>
              <a:t>= </a:t>
            </a:r>
            <a:r>
              <a:rPr lang="en-US" b="1" dirty="0" smtClean="0"/>
              <a:t>288</a:t>
            </a:r>
            <a:r>
              <a:rPr lang="bg-BG" b="1" dirty="0" smtClean="0"/>
              <a:t> бита</a:t>
            </a:r>
            <a:endParaRPr lang="bg-BG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61760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Поточен алгоритъм </a:t>
            </a:r>
            <a:r>
              <a:rPr lang="en-US" dirty="0" err="1"/>
              <a:t>Trivium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63" y="1753386"/>
            <a:ext cx="10746845" cy="467389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550111" y="5578052"/>
            <a:ext cx="34102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 smtClean="0"/>
              <a:t>Генерира</a:t>
            </a:r>
            <a:r>
              <a:rPr lang="en-US" dirty="0" smtClean="0"/>
              <a:t> </a:t>
            </a:r>
            <a:r>
              <a:rPr lang="en-US" dirty="0"/>
              <a:t>2</a:t>
            </a:r>
            <a:r>
              <a:rPr lang="en-US" baseline="30000" dirty="0"/>
              <a:t>64</a:t>
            </a:r>
            <a:r>
              <a:rPr lang="en-US" dirty="0"/>
              <a:t> </a:t>
            </a:r>
            <a:r>
              <a:rPr lang="bg-BG" dirty="0" smtClean="0"/>
              <a:t>изходни бита от </a:t>
            </a:r>
            <a:r>
              <a:rPr lang="en-US" dirty="0" smtClean="0"/>
              <a:t>80-</a:t>
            </a:r>
            <a:r>
              <a:rPr lang="bg-BG" dirty="0" smtClean="0"/>
              <a:t>битов ключ и</a:t>
            </a:r>
            <a:r>
              <a:rPr lang="en-US" dirty="0"/>
              <a:t> </a:t>
            </a:r>
            <a:r>
              <a:rPr lang="en-US" dirty="0" smtClean="0"/>
              <a:t>80-</a:t>
            </a:r>
            <a:r>
              <a:rPr lang="bg-BG" dirty="0" smtClean="0"/>
              <a:t>битов инициализиращ вектор </a:t>
            </a:r>
            <a:r>
              <a:rPr lang="en-US" dirty="0" smtClean="0"/>
              <a:t>IV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511724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Поточен алгоритъм </a:t>
            </a:r>
            <a:r>
              <a:rPr lang="en-US" dirty="0" err="1"/>
              <a:t>Trivium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874521"/>
            <a:ext cx="10820400" cy="3060530"/>
          </a:xfrm>
        </p:spPr>
        <p:txBody>
          <a:bodyPr>
            <a:normAutofit fontScale="92500" lnSpcReduction="10000"/>
          </a:bodyPr>
          <a:lstStyle/>
          <a:p>
            <a:r>
              <a:rPr lang="bg-BG" b="1" dirty="0" smtClean="0"/>
              <a:t>Входът на всеки регистър </a:t>
            </a:r>
            <a:r>
              <a:rPr lang="bg-BG" dirty="0" smtClean="0"/>
              <a:t>се изчислява като </a:t>
            </a:r>
            <a:r>
              <a:rPr lang="en-US" b="1" dirty="0" smtClean="0"/>
              <a:t>XOR</a:t>
            </a:r>
            <a:r>
              <a:rPr lang="bg-BG" b="1" dirty="0" smtClean="0"/>
              <a:t> от два бита</a:t>
            </a:r>
            <a:r>
              <a:rPr lang="en-US" dirty="0" smtClean="0"/>
              <a:t>: </a:t>
            </a:r>
            <a:endParaRPr lang="bg-BG" dirty="0" smtClean="0"/>
          </a:p>
          <a:p>
            <a:pPr lvl="2"/>
            <a:r>
              <a:rPr lang="bg-BG" dirty="0" smtClean="0"/>
              <a:t>Изходният бит на друг регистър – например изходът на регистъра </a:t>
            </a:r>
            <a:r>
              <a:rPr lang="en-US" dirty="0" smtClean="0"/>
              <a:t>A </a:t>
            </a:r>
            <a:r>
              <a:rPr lang="bg-BG" dirty="0" smtClean="0"/>
              <a:t>е част от входа на регистър</a:t>
            </a:r>
            <a:r>
              <a:rPr lang="en-US" dirty="0" smtClean="0"/>
              <a:t> B</a:t>
            </a:r>
            <a:r>
              <a:rPr lang="bg-BG" dirty="0" smtClean="0"/>
              <a:t>;</a:t>
            </a:r>
          </a:p>
          <a:p>
            <a:pPr lvl="2"/>
            <a:r>
              <a:rPr lang="bg-BG" dirty="0" smtClean="0"/>
              <a:t>Един бит от регистъра, намиращ се на специфична позиция се подава също на входа – например бит </a:t>
            </a:r>
            <a:r>
              <a:rPr lang="en-US" dirty="0" smtClean="0"/>
              <a:t>6</a:t>
            </a:r>
            <a:r>
              <a:rPr lang="bg-BG" dirty="0" smtClean="0"/>
              <a:t>9</a:t>
            </a:r>
            <a:r>
              <a:rPr lang="en-US" dirty="0" smtClean="0"/>
              <a:t> </a:t>
            </a:r>
            <a:r>
              <a:rPr lang="bg-BG" dirty="0" smtClean="0"/>
              <a:t>от регистър </a:t>
            </a:r>
            <a:r>
              <a:rPr lang="en-US" dirty="0" smtClean="0"/>
              <a:t>A </a:t>
            </a:r>
            <a:r>
              <a:rPr lang="bg-BG" dirty="0" smtClean="0"/>
              <a:t>се връща на неговия вход</a:t>
            </a:r>
          </a:p>
          <a:p>
            <a:r>
              <a:rPr lang="bg-BG" b="1" dirty="0" smtClean="0"/>
              <a:t>Изходът на всеки регистър </a:t>
            </a:r>
            <a:r>
              <a:rPr lang="bg-BG" dirty="0" smtClean="0"/>
              <a:t>се изчислява като </a:t>
            </a:r>
            <a:r>
              <a:rPr lang="en-US" b="1" dirty="0" smtClean="0"/>
              <a:t>XOR</a:t>
            </a:r>
            <a:r>
              <a:rPr lang="bg-BG" b="1" dirty="0" smtClean="0"/>
              <a:t> от три бита</a:t>
            </a:r>
            <a:r>
              <a:rPr lang="en-US" dirty="0" smtClean="0"/>
              <a:t>: </a:t>
            </a:r>
            <a:endParaRPr lang="bg-BG" dirty="0" smtClean="0"/>
          </a:p>
          <a:p>
            <a:pPr lvl="1"/>
            <a:r>
              <a:rPr lang="bg-BG" dirty="0" smtClean="0"/>
              <a:t>Най-десният бит на регистъра;</a:t>
            </a:r>
          </a:p>
          <a:p>
            <a:pPr lvl="1"/>
            <a:r>
              <a:rPr lang="bg-BG" dirty="0" smtClean="0"/>
              <a:t>Един </a:t>
            </a:r>
            <a:r>
              <a:rPr lang="bg-BG" dirty="0" err="1" smtClean="0"/>
              <a:t>регистров</a:t>
            </a:r>
            <a:r>
              <a:rPr lang="bg-BG" dirty="0" smtClean="0"/>
              <a:t> бит, намиращ се на специфична позиция се подава към изхода – например бит </a:t>
            </a:r>
            <a:r>
              <a:rPr lang="en-US" dirty="0" smtClean="0"/>
              <a:t>66 </a:t>
            </a:r>
            <a:r>
              <a:rPr lang="bg-BG" dirty="0" smtClean="0"/>
              <a:t>от регистър </a:t>
            </a:r>
            <a:r>
              <a:rPr lang="en-US" dirty="0" smtClean="0"/>
              <a:t>A </a:t>
            </a:r>
            <a:r>
              <a:rPr lang="bg-BG" dirty="0" smtClean="0"/>
              <a:t>се подава на неговия изход;</a:t>
            </a:r>
          </a:p>
          <a:p>
            <a:pPr lvl="1"/>
            <a:r>
              <a:rPr lang="bg-BG" dirty="0" smtClean="0"/>
              <a:t>Изходът на логическата функция </a:t>
            </a:r>
            <a:r>
              <a:rPr lang="en-US" dirty="0" smtClean="0"/>
              <a:t>AND</a:t>
            </a:r>
            <a:r>
              <a:rPr lang="bg-BG" dirty="0" smtClean="0"/>
              <a:t>, чийто вход са два специфични бита от регистъра.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6107522"/>
              </p:ext>
            </p:extLst>
          </p:nvPr>
        </p:nvGraphicFramePr>
        <p:xfrm>
          <a:off x="341377" y="5077968"/>
          <a:ext cx="11750039" cy="1780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1">
                  <a:extLst>
                    <a:ext uri="{9D8B030D-6E8A-4147-A177-3AD203B41FA5}">
                      <a16:colId xmlns:a16="http://schemas.microsoft.com/office/drawing/2014/main" val="734879955"/>
                    </a:ext>
                  </a:extLst>
                </a:gridCol>
                <a:gridCol w="1307592">
                  <a:extLst>
                    <a:ext uri="{9D8B030D-6E8A-4147-A177-3AD203B41FA5}">
                      <a16:colId xmlns:a16="http://schemas.microsoft.com/office/drawing/2014/main" val="107985876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237829376"/>
                    </a:ext>
                  </a:extLst>
                </a:gridCol>
                <a:gridCol w="3611878">
                  <a:extLst>
                    <a:ext uri="{9D8B030D-6E8A-4147-A177-3AD203B41FA5}">
                      <a16:colId xmlns:a16="http://schemas.microsoft.com/office/drawing/2014/main" val="1372574323"/>
                    </a:ext>
                  </a:extLst>
                </a:gridCol>
                <a:gridCol w="2350008">
                  <a:extLst>
                    <a:ext uri="{9D8B030D-6E8A-4147-A177-3AD203B41FA5}">
                      <a16:colId xmlns:a16="http://schemas.microsoft.com/office/drawing/2014/main" val="2179583642"/>
                    </a:ext>
                  </a:extLst>
                </a:gridCol>
              </a:tblGrid>
              <a:tr h="667512">
                <a:tc>
                  <a:txBody>
                    <a:bodyPr/>
                    <a:lstStyle/>
                    <a:p>
                      <a:r>
                        <a:rPr lang="bg-BG" dirty="0" smtClean="0"/>
                        <a:t>Регистър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 smtClean="0"/>
                        <a:t>Дължина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 smtClean="0"/>
                        <a:t>Бит от обратната връзка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 smtClean="0"/>
                        <a:t>Бит подаван към</a:t>
                      </a:r>
                      <a:r>
                        <a:rPr lang="bg-BG" baseline="0" dirty="0" smtClean="0"/>
                        <a:t> изхода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AND</a:t>
                      </a:r>
                      <a:r>
                        <a:rPr lang="en-US" baseline="0" dirty="0" smtClean="0"/>
                        <a:t> </a:t>
                      </a:r>
                      <a:r>
                        <a:rPr lang="bg-BG" baseline="0" dirty="0" smtClean="0"/>
                        <a:t>входове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1668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91,92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8929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82,83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725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109,110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76210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17972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Поточен алгоритъм </a:t>
            </a:r>
            <a:r>
              <a:rPr lang="en-US" dirty="0" err="1"/>
              <a:t>Trivium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bg-BG" b="1" dirty="0" smtClean="0"/>
              <a:t>Криптиране</a:t>
            </a:r>
            <a:r>
              <a:rPr lang="bg-BG" dirty="0" smtClean="0"/>
              <a:t> – Почти всички съвременни поточни алгоритми имат два входни параметъра: </a:t>
            </a:r>
            <a:r>
              <a:rPr lang="bg-BG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ключ </a:t>
            </a:r>
            <a:r>
              <a:rPr lang="en-US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k </a:t>
            </a:r>
            <a:r>
              <a:rPr lang="bg-BG" dirty="0" smtClean="0"/>
              <a:t>и </a:t>
            </a:r>
            <a:r>
              <a:rPr lang="bg-BG" b="1" dirty="0" smtClean="0">
                <a:solidFill>
                  <a:schemeClr val="accent4">
                    <a:lumMod val="75000"/>
                  </a:schemeClr>
                </a:solidFill>
              </a:rPr>
              <a:t>инициализиращ вектор </a:t>
            </a:r>
            <a:r>
              <a:rPr lang="en-US" b="1" dirty="0" smtClean="0">
                <a:solidFill>
                  <a:schemeClr val="accent4">
                    <a:lumMod val="75000"/>
                  </a:schemeClr>
                </a:solidFill>
              </a:rPr>
              <a:t>IV</a:t>
            </a:r>
            <a:r>
              <a:rPr lang="bg-BG" b="1" dirty="0" smtClean="0">
                <a:solidFill>
                  <a:schemeClr val="accent4">
                    <a:lumMod val="75000"/>
                  </a:schemeClr>
                </a:solidFill>
              </a:rPr>
              <a:t> (за получаване на поточния ключ)</a:t>
            </a:r>
          </a:p>
          <a:p>
            <a:r>
              <a:rPr lang="bg-BG" b="1" dirty="0" smtClean="0"/>
              <a:t>Ключът</a:t>
            </a:r>
            <a:r>
              <a:rPr lang="bg-BG" dirty="0" smtClean="0"/>
              <a:t> е вече дискутираният и характерен за симетричната криптография</a:t>
            </a:r>
          </a:p>
          <a:p>
            <a:r>
              <a:rPr lang="bg-BG" b="1" dirty="0" smtClean="0"/>
              <a:t>Инициализиращият вектор </a:t>
            </a:r>
            <a:r>
              <a:rPr lang="en-US" b="1" dirty="0" smtClean="0"/>
              <a:t> </a:t>
            </a:r>
            <a:r>
              <a:rPr lang="bg-BG" dirty="0" smtClean="0"/>
              <a:t>се използва като </a:t>
            </a:r>
            <a:r>
              <a:rPr lang="bg-BG" b="1" dirty="0" smtClean="0">
                <a:solidFill>
                  <a:srgbClr val="0070C0"/>
                </a:solidFill>
              </a:rPr>
              <a:t>генератор на случайни числа </a:t>
            </a:r>
            <a:r>
              <a:rPr lang="bg-BG" dirty="0" smtClean="0"/>
              <a:t>и има различна нова стойност при всяка нова сесия на криптиране; </a:t>
            </a:r>
            <a:r>
              <a:rPr lang="en-US" u="sng" dirty="0" smtClean="0"/>
              <a:t>IV</a:t>
            </a:r>
            <a:r>
              <a:rPr lang="bg-BG" u="sng" dirty="0" smtClean="0"/>
              <a:t> не трябва да се пази в тайна</a:t>
            </a:r>
            <a:r>
              <a:rPr lang="bg-BG" dirty="0" smtClean="0"/>
              <a:t>, </a:t>
            </a:r>
            <a:r>
              <a:rPr lang="bg-BG" u="sng" dirty="0" smtClean="0"/>
              <a:t>а да се променя при всяка сесия  </a:t>
            </a:r>
          </a:p>
          <a:p>
            <a:r>
              <a:rPr lang="bg-BG" dirty="0" smtClean="0"/>
              <a:t>Основната цел на </a:t>
            </a:r>
            <a:r>
              <a:rPr lang="en-US" dirty="0" smtClean="0"/>
              <a:t>IV </a:t>
            </a:r>
            <a:r>
              <a:rPr lang="bg-BG" dirty="0" smtClean="0"/>
              <a:t>е да се </a:t>
            </a:r>
            <a:r>
              <a:rPr lang="bg-BG" dirty="0" smtClean="0">
                <a:solidFill>
                  <a:schemeClr val="accent1"/>
                </a:solidFill>
              </a:rPr>
              <a:t>получат два различни поточни ключа дори ключът </a:t>
            </a:r>
            <a:r>
              <a:rPr lang="en-US" dirty="0" smtClean="0">
                <a:solidFill>
                  <a:schemeClr val="accent1"/>
                </a:solidFill>
              </a:rPr>
              <a:t>k </a:t>
            </a:r>
            <a:r>
              <a:rPr lang="bg-BG" dirty="0" smtClean="0">
                <a:solidFill>
                  <a:schemeClr val="accent1"/>
                </a:solidFill>
              </a:rPr>
              <a:t>да не бъде променен</a:t>
            </a:r>
          </a:p>
          <a:p>
            <a:r>
              <a:rPr lang="bg-BG" b="1" dirty="0" smtClean="0"/>
              <a:t>Възможна атака </a:t>
            </a:r>
            <a:r>
              <a:rPr lang="bg-BG" dirty="0" smtClean="0"/>
              <a:t>–</a:t>
            </a:r>
            <a:r>
              <a:rPr lang="en-US" dirty="0" smtClean="0"/>
              <a:t> </a:t>
            </a:r>
            <a:r>
              <a:rPr lang="bg-BG" dirty="0" smtClean="0"/>
              <a:t>Ако атакуващ е разчел явното съобщение от първа криптограма, той може да изчисли поточния ключ; ако втората криптограма използва същия поточен ключ, то може веднага да извърши декриптирането</a:t>
            </a:r>
          </a:p>
        </p:txBody>
      </p:sp>
    </p:spTree>
    <p:extLst>
      <p:ext uri="{BB962C8B-B14F-4D97-AF65-F5344CB8AC3E}">
        <p14:creationId xmlns:p14="http://schemas.microsoft.com/office/powerpoint/2010/main" val="2521830782"/>
      </p:ext>
    </p:extLst>
  </p:cSld>
  <p:clrMapOvr>
    <a:masterClrMapping/>
  </p:clrMapOvr>
  <p:transition spd="slow">
    <p:randomBar dir="vert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Поточен алгоритъм </a:t>
            </a:r>
            <a:r>
              <a:rPr lang="en-US" dirty="0" err="1"/>
              <a:t>Trivium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b="1" dirty="0" smtClean="0"/>
              <a:t>Първоначална инициализация:</a:t>
            </a:r>
          </a:p>
          <a:p>
            <a:r>
              <a:rPr lang="en-US" dirty="0" smtClean="0"/>
              <a:t>80-</a:t>
            </a:r>
            <a:r>
              <a:rPr lang="bg-BG" dirty="0" smtClean="0"/>
              <a:t>битова</a:t>
            </a:r>
            <a:r>
              <a:rPr lang="en-US" dirty="0" smtClean="0"/>
              <a:t> </a:t>
            </a:r>
            <a:r>
              <a:rPr lang="en-US" dirty="0"/>
              <a:t>IV </a:t>
            </a:r>
            <a:r>
              <a:rPr lang="bg-BG" dirty="0" smtClean="0"/>
              <a:t>е заредена в </a:t>
            </a:r>
            <a:r>
              <a:rPr lang="en-US" dirty="0" smtClean="0"/>
              <a:t>80</a:t>
            </a:r>
            <a:r>
              <a:rPr lang="bg-BG" dirty="0" smtClean="0"/>
              <a:t>-те</a:t>
            </a:r>
            <a:r>
              <a:rPr lang="en-US" dirty="0" smtClean="0"/>
              <a:t> </a:t>
            </a:r>
            <a:r>
              <a:rPr lang="bg-BG" dirty="0" smtClean="0"/>
              <a:t>най-леви</a:t>
            </a:r>
            <a:r>
              <a:rPr lang="en-US" dirty="0" smtClean="0"/>
              <a:t> </a:t>
            </a:r>
            <a:r>
              <a:rPr lang="bg-BG" dirty="0" smtClean="0"/>
              <a:t>локации на регистъра </a:t>
            </a:r>
            <a:r>
              <a:rPr lang="en-US" dirty="0" smtClean="0"/>
              <a:t>A</a:t>
            </a:r>
            <a:r>
              <a:rPr lang="bg-BG" dirty="0" smtClean="0"/>
              <a:t>;</a:t>
            </a:r>
            <a:endParaRPr lang="bg-BG" dirty="0"/>
          </a:p>
          <a:p>
            <a:r>
              <a:rPr lang="en-US" dirty="0" smtClean="0"/>
              <a:t>80-</a:t>
            </a:r>
            <a:r>
              <a:rPr lang="bg-BG" dirty="0" smtClean="0"/>
              <a:t>битова </a:t>
            </a:r>
            <a:r>
              <a:rPr lang="en-US" dirty="0"/>
              <a:t>IV </a:t>
            </a:r>
            <a:r>
              <a:rPr lang="bg-BG" dirty="0"/>
              <a:t>е заредена в </a:t>
            </a:r>
            <a:r>
              <a:rPr lang="en-US" dirty="0"/>
              <a:t>80</a:t>
            </a:r>
            <a:r>
              <a:rPr lang="bg-BG" dirty="0"/>
              <a:t>-те</a:t>
            </a:r>
            <a:r>
              <a:rPr lang="en-US" dirty="0"/>
              <a:t> </a:t>
            </a:r>
            <a:r>
              <a:rPr lang="bg-BG" dirty="0"/>
              <a:t>най-леви</a:t>
            </a:r>
            <a:r>
              <a:rPr lang="en-US" dirty="0"/>
              <a:t> </a:t>
            </a:r>
            <a:r>
              <a:rPr lang="bg-BG" dirty="0"/>
              <a:t>локации на регистъра </a:t>
            </a:r>
            <a:r>
              <a:rPr lang="en-US" dirty="0" smtClean="0"/>
              <a:t>B</a:t>
            </a:r>
            <a:r>
              <a:rPr lang="bg-BG" dirty="0" smtClean="0"/>
              <a:t>;</a:t>
            </a:r>
            <a:endParaRPr lang="bg-BG" dirty="0"/>
          </a:p>
          <a:p>
            <a:r>
              <a:rPr lang="bg-BG" dirty="0" smtClean="0"/>
              <a:t>Всички </a:t>
            </a:r>
            <a:r>
              <a:rPr lang="bg-BG" dirty="0"/>
              <a:t>други </a:t>
            </a:r>
            <a:r>
              <a:rPr lang="bg-BG" dirty="0" err="1"/>
              <a:t>регистрови</a:t>
            </a:r>
            <a:r>
              <a:rPr lang="bg-BG" dirty="0"/>
              <a:t> </a:t>
            </a:r>
            <a:r>
              <a:rPr lang="bg-BG" dirty="0" smtClean="0"/>
              <a:t>битове са установени в 0 с изключение на трите най-десни бита </a:t>
            </a:r>
            <a:r>
              <a:rPr lang="en-US" dirty="0" smtClean="0"/>
              <a:t> </a:t>
            </a:r>
            <a:r>
              <a:rPr lang="bg-BG" dirty="0" smtClean="0"/>
              <a:t>на регистъра </a:t>
            </a:r>
            <a:r>
              <a:rPr lang="en-US" dirty="0" smtClean="0"/>
              <a:t>C</a:t>
            </a:r>
            <a:r>
              <a:rPr lang="en-US" dirty="0"/>
              <a:t>, </a:t>
            </a:r>
            <a:r>
              <a:rPr lang="bg-BG" dirty="0" smtClean="0"/>
              <a:t>т.е. битове </a:t>
            </a:r>
            <a:r>
              <a:rPr lang="en-US" dirty="0" smtClean="0"/>
              <a:t>109</a:t>
            </a:r>
            <a:r>
              <a:rPr lang="en-US" dirty="0"/>
              <a:t>, </a:t>
            </a:r>
            <a:r>
              <a:rPr lang="en-US" dirty="0" smtClean="0"/>
              <a:t>110 </a:t>
            </a:r>
            <a:r>
              <a:rPr lang="en-US" dirty="0"/>
              <a:t>and </a:t>
            </a:r>
            <a:r>
              <a:rPr lang="en-US" dirty="0" smtClean="0"/>
              <a:t>111</a:t>
            </a:r>
            <a:r>
              <a:rPr lang="en-US" dirty="0"/>
              <a:t>, </a:t>
            </a:r>
            <a:r>
              <a:rPr lang="bg-BG" dirty="0" smtClean="0"/>
              <a:t>които са установени в</a:t>
            </a:r>
            <a:r>
              <a:rPr lang="en-US" dirty="0" smtClean="0"/>
              <a:t> 1</a:t>
            </a:r>
            <a:endParaRPr lang="bg-BG" dirty="0" smtClean="0"/>
          </a:p>
          <a:p>
            <a:r>
              <a:rPr lang="en-US" b="1" dirty="0" smtClean="0"/>
              <a:t>Warm-up </a:t>
            </a:r>
            <a:r>
              <a:rPr lang="bg-BG" b="1" dirty="0" smtClean="0"/>
              <a:t>фаза:</a:t>
            </a:r>
            <a:r>
              <a:rPr lang="bg-BG" dirty="0" smtClean="0"/>
              <a:t> Това е първата фаза</a:t>
            </a:r>
            <a:r>
              <a:rPr lang="en-US" dirty="0" smtClean="0"/>
              <a:t> </a:t>
            </a:r>
            <a:r>
              <a:rPr lang="bg-BG" dirty="0" smtClean="0"/>
              <a:t>за </a:t>
            </a:r>
            <a:r>
              <a:rPr lang="bg-BG" b="1" dirty="0" smtClean="0"/>
              <a:t>настройване на алгоритъма</a:t>
            </a:r>
            <a:r>
              <a:rPr lang="bg-BG" dirty="0" smtClean="0"/>
              <a:t>, когато състоянието му се обновява </a:t>
            </a:r>
            <a:r>
              <a:rPr lang="en-US" dirty="0" smtClean="0"/>
              <a:t>4×288 </a:t>
            </a:r>
            <a:r>
              <a:rPr lang="en-US" dirty="0"/>
              <a:t>= 1152 </a:t>
            </a:r>
            <a:r>
              <a:rPr lang="bg-BG" dirty="0" smtClean="0"/>
              <a:t>времена (4-ри пъти се сменя състоянието му), през което време </a:t>
            </a:r>
            <a:r>
              <a:rPr lang="bg-BG" u="sng" dirty="0" smtClean="0"/>
              <a:t>не се извършва криптиране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3158608606"/>
      </p:ext>
    </p:extLst>
  </p:cSld>
  <p:clrMapOvr>
    <a:masterClrMapping/>
  </p:clrMapOvr>
  <p:transition spd="slow">
    <p:randomBar dir="vert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Поточен алгоритъм </a:t>
            </a:r>
            <a:r>
              <a:rPr lang="en-US" dirty="0" err="1"/>
              <a:t>Trivium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960776"/>
            <a:ext cx="10820400" cy="4257910"/>
          </a:xfrm>
        </p:spPr>
        <p:txBody>
          <a:bodyPr>
            <a:normAutofit fontScale="92500" lnSpcReduction="20000"/>
          </a:bodyPr>
          <a:lstStyle/>
          <a:p>
            <a:r>
              <a:rPr lang="bg-BG" b="1" dirty="0" smtClean="0"/>
              <a:t>Фаза криптиране:</a:t>
            </a:r>
            <a:r>
              <a:rPr lang="bg-BG" dirty="0" smtClean="0"/>
              <a:t> Криптирането започва с изходния бит от цикъл </a:t>
            </a:r>
            <a:r>
              <a:rPr lang="en-US" b="1" dirty="0" smtClean="0"/>
              <a:t>1153</a:t>
            </a:r>
            <a:r>
              <a:rPr lang="en-US" dirty="0"/>
              <a:t>, </a:t>
            </a:r>
            <a:r>
              <a:rPr lang="bg-BG" dirty="0" smtClean="0"/>
              <a:t>когато се </a:t>
            </a:r>
            <a:r>
              <a:rPr lang="bg-BG" b="1" dirty="0" smtClean="0">
                <a:solidFill>
                  <a:schemeClr val="accent1"/>
                </a:solidFill>
              </a:rPr>
              <a:t>формира поточният ключ</a:t>
            </a:r>
          </a:p>
          <a:p>
            <a:r>
              <a:rPr lang="bg-BG" dirty="0" smtClean="0"/>
              <a:t>Първоначалната фаза </a:t>
            </a:r>
            <a:r>
              <a:rPr lang="en-US" dirty="0" smtClean="0"/>
              <a:t> </a:t>
            </a:r>
            <a:r>
              <a:rPr lang="en-US" dirty="0"/>
              <a:t>warm-up </a:t>
            </a:r>
            <a:r>
              <a:rPr lang="bg-BG" dirty="0" smtClean="0"/>
              <a:t>е необходима за получаване на достатъчно добро </a:t>
            </a:r>
            <a:r>
              <a:rPr lang="bg-BG" b="1" dirty="0" err="1" smtClean="0">
                <a:solidFill>
                  <a:srgbClr val="0070C0"/>
                </a:solidFill>
              </a:rPr>
              <a:t>рандомизиране</a:t>
            </a:r>
            <a:r>
              <a:rPr lang="bg-BG" dirty="0" smtClean="0"/>
              <a:t>; Тя гарантира, че </a:t>
            </a:r>
            <a:r>
              <a:rPr lang="bg-BG" u="sng" dirty="0" smtClean="0"/>
              <a:t>поточният ключ зависи както от </a:t>
            </a:r>
            <a:r>
              <a:rPr lang="en-US" u="sng" dirty="0" smtClean="0"/>
              <a:t>k</a:t>
            </a:r>
            <a:r>
              <a:rPr lang="bg-BG" u="sng" dirty="0" smtClean="0"/>
              <a:t>, така и от</a:t>
            </a:r>
            <a:r>
              <a:rPr lang="en-US" u="sng" dirty="0" smtClean="0"/>
              <a:t> IV</a:t>
            </a:r>
            <a:endParaRPr lang="bg-BG" u="sng" dirty="0" smtClean="0"/>
          </a:p>
          <a:p>
            <a:r>
              <a:rPr lang="bg-BG" b="1" dirty="0" smtClean="0"/>
              <a:t>Положително свойство </a:t>
            </a:r>
            <a:r>
              <a:rPr lang="bg-BG" dirty="0" smtClean="0"/>
              <a:t>на </a:t>
            </a:r>
            <a:r>
              <a:rPr lang="en-US" b="1" dirty="0" err="1" smtClean="0"/>
              <a:t>Trivium</a:t>
            </a:r>
            <a:r>
              <a:rPr lang="en-US" dirty="0" smtClean="0"/>
              <a:t> </a:t>
            </a:r>
            <a:r>
              <a:rPr lang="bg-BG" dirty="0" smtClean="0"/>
              <a:t>е неговата </a:t>
            </a:r>
            <a:r>
              <a:rPr lang="bg-BG" b="1" dirty="0" smtClean="0"/>
              <a:t>компактност</a:t>
            </a:r>
            <a:r>
              <a:rPr lang="bg-BG" dirty="0" smtClean="0"/>
              <a:t>, особено когато е хардуерно реализиран</a:t>
            </a:r>
            <a:r>
              <a:rPr lang="en-US" dirty="0" smtClean="0"/>
              <a:t> </a:t>
            </a:r>
            <a:r>
              <a:rPr lang="bg-BG" dirty="0" smtClean="0"/>
              <a:t>– основно се състои от </a:t>
            </a:r>
            <a:r>
              <a:rPr lang="en-US" dirty="0" smtClean="0"/>
              <a:t>288-</a:t>
            </a:r>
            <a:r>
              <a:rPr lang="bg-BG" dirty="0" smtClean="0"/>
              <a:t>битов преместващ регистър и няколко булеви операции</a:t>
            </a:r>
          </a:p>
          <a:p>
            <a:r>
              <a:rPr lang="bg-BG" b="1" dirty="0" smtClean="0"/>
              <a:t>Хардуерната реализация </a:t>
            </a:r>
            <a:r>
              <a:rPr lang="bg-BG" dirty="0" smtClean="0"/>
              <a:t>на алгоритъма включва около </a:t>
            </a:r>
            <a:r>
              <a:rPr lang="en-US" dirty="0" smtClean="0"/>
              <a:t> 3500 </a:t>
            </a:r>
            <a:r>
              <a:rPr lang="bg-BG" dirty="0" smtClean="0"/>
              <a:t>и</a:t>
            </a:r>
            <a:r>
              <a:rPr lang="en-US" dirty="0" smtClean="0"/>
              <a:t> </a:t>
            </a:r>
            <a:r>
              <a:rPr lang="en-US" dirty="0"/>
              <a:t>5500 </a:t>
            </a:r>
            <a:r>
              <a:rPr lang="bg-BG" dirty="0" err="1" smtClean="0"/>
              <a:t>гейта</a:t>
            </a:r>
            <a:r>
              <a:rPr lang="bg-BG" dirty="0" smtClean="0"/>
              <a:t> (логически елементи)</a:t>
            </a:r>
          </a:p>
          <a:p>
            <a:r>
              <a:rPr lang="bg-BG" b="1" dirty="0" smtClean="0"/>
              <a:t>Например</a:t>
            </a:r>
            <a:r>
              <a:rPr lang="bg-BG" dirty="0" smtClean="0"/>
              <a:t> – Реализацията с </a:t>
            </a:r>
            <a:r>
              <a:rPr lang="en-US" dirty="0" smtClean="0"/>
              <a:t>4000 </a:t>
            </a:r>
            <a:r>
              <a:rPr lang="bg-BG" dirty="0" err="1" smtClean="0"/>
              <a:t>гейта</a:t>
            </a:r>
            <a:r>
              <a:rPr lang="bg-BG" dirty="0" smtClean="0"/>
              <a:t> изчислява поточният ключ </a:t>
            </a:r>
            <a:r>
              <a:rPr lang="en-US" dirty="0" smtClean="0"/>
              <a:t> </a:t>
            </a:r>
            <a:r>
              <a:rPr lang="bg-BG" dirty="0" smtClean="0"/>
              <a:t>със скорост </a:t>
            </a:r>
            <a:r>
              <a:rPr lang="en-US" dirty="0" smtClean="0"/>
              <a:t>16 </a:t>
            </a:r>
            <a:r>
              <a:rPr lang="en-US" dirty="0"/>
              <a:t>bits/clock </a:t>
            </a:r>
            <a:r>
              <a:rPr lang="en-US" dirty="0" smtClean="0"/>
              <a:t>cycle</a:t>
            </a:r>
            <a:r>
              <a:rPr lang="bg-BG" dirty="0" smtClean="0"/>
              <a:t> – това е сравнително по-малко от блоковия алгоритъм </a:t>
            </a:r>
            <a:r>
              <a:rPr lang="en-US" dirty="0" smtClean="0"/>
              <a:t>AES </a:t>
            </a:r>
            <a:r>
              <a:rPr lang="bg-BG" dirty="0" smtClean="0"/>
              <a:t>и е много бързо; </a:t>
            </a:r>
            <a:r>
              <a:rPr lang="en-US" dirty="0" smtClean="0"/>
              <a:t> </a:t>
            </a:r>
            <a:r>
              <a:rPr lang="bg-BG" dirty="0" smtClean="0"/>
              <a:t>Ако честотата е </a:t>
            </a:r>
            <a:r>
              <a:rPr lang="en-US" dirty="0" smtClean="0"/>
              <a:t>125 </a:t>
            </a:r>
            <a:r>
              <a:rPr lang="en-US" dirty="0"/>
              <a:t>MHz, </a:t>
            </a:r>
            <a:r>
              <a:rPr lang="bg-BG" dirty="0" smtClean="0"/>
              <a:t>скоростта на криптиране е</a:t>
            </a:r>
            <a:r>
              <a:rPr lang="en-US" dirty="0" smtClean="0"/>
              <a:t>16bit×125MHz </a:t>
            </a:r>
            <a:r>
              <a:rPr lang="en-US" dirty="0"/>
              <a:t>= 2 </a:t>
            </a:r>
            <a:r>
              <a:rPr lang="en-US" dirty="0" err="1" smtClean="0"/>
              <a:t>Gbit</a:t>
            </a:r>
            <a:r>
              <a:rPr lang="en-US" dirty="0" smtClean="0"/>
              <a:t>/sec</a:t>
            </a:r>
            <a:endParaRPr lang="bg-BG" dirty="0" smtClean="0"/>
          </a:p>
          <a:p>
            <a:r>
              <a:rPr lang="bg-BG" dirty="0" smtClean="0"/>
              <a:t>При </a:t>
            </a:r>
            <a:r>
              <a:rPr lang="bg-BG" b="1" dirty="0" smtClean="0"/>
              <a:t>софтуерна реализация </a:t>
            </a:r>
            <a:r>
              <a:rPr lang="bg-BG" dirty="0" smtClean="0"/>
              <a:t>за 8 изходни бита са необходими </a:t>
            </a:r>
            <a:r>
              <a:rPr lang="en-US" dirty="0" smtClean="0"/>
              <a:t>12 </a:t>
            </a:r>
            <a:r>
              <a:rPr lang="bg-BG" dirty="0" smtClean="0"/>
              <a:t>цикъла върху </a:t>
            </a:r>
            <a:r>
              <a:rPr lang="en-US" dirty="0" smtClean="0"/>
              <a:t>1.5 </a:t>
            </a:r>
            <a:r>
              <a:rPr lang="en-US" dirty="0"/>
              <a:t>GHz Intel CPU, </a:t>
            </a:r>
            <a:r>
              <a:rPr lang="bg-BG" dirty="0" smtClean="0"/>
              <a:t>което води до скорост на криптиране </a:t>
            </a:r>
            <a:r>
              <a:rPr lang="en-US" dirty="0" smtClean="0"/>
              <a:t>1 </a:t>
            </a:r>
            <a:r>
              <a:rPr lang="en-US" dirty="0" err="1" smtClean="0"/>
              <a:t>Gbit</a:t>
            </a:r>
            <a:r>
              <a:rPr lang="en-US" dirty="0" smtClean="0"/>
              <a:t>/sec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265691"/>
      </p:ext>
    </p:extLst>
  </p:cSld>
  <p:clrMapOvr>
    <a:masterClrMapping/>
  </p:clrMapOvr>
  <p:transition spd="slow">
    <p:randomBar dir="vert"/>
  </p:transition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2030</TotalTime>
  <Words>2628</Words>
  <Application>Microsoft Office PowerPoint</Application>
  <PresentationFormat>Widescreen</PresentationFormat>
  <Paragraphs>394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Cambria Math</vt:lpstr>
      <vt:lpstr>Century Gothic</vt:lpstr>
      <vt:lpstr>Vapor Trail</vt:lpstr>
      <vt:lpstr>Симетрична криптография  Поточни алгоритми</vt:lpstr>
      <vt:lpstr>Разлика между поточни и блокови алгоритми</vt:lpstr>
      <vt:lpstr>Разлика между поточни и блокови алгоритми</vt:lpstr>
      <vt:lpstr>Разлика между поточни и блокови алгоритми</vt:lpstr>
      <vt:lpstr>Разлика между поточни и блокови алгоритми</vt:lpstr>
      <vt:lpstr>Поточни алгоритми – криптиране и декриптиране</vt:lpstr>
      <vt:lpstr>Поточни алгоритми - особености </vt:lpstr>
      <vt:lpstr>Поточни алгоритми - особености </vt:lpstr>
      <vt:lpstr>Поточни алгоритми - особености </vt:lpstr>
      <vt:lpstr>Поточни алгоритми - особености </vt:lpstr>
      <vt:lpstr>Генератори на случайни числа</vt:lpstr>
      <vt:lpstr>Генератори на случайни числа</vt:lpstr>
      <vt:lpstr>Генератори на случайни числа</vt:lpstr>
      <vt:lpstr>One-Time Pad (алгоритъм на vernam)</vt:lpstr>
      <vt:lpstr>One-Time Pad</vt:lpstr>
      <vt:lpstr>One-Time Pad</vt:lpstr>
      <vt:lpstr>Практически използваеми поточни алгоритми</vt:lpstr>
      <vt:lpstr>Практически използваеми поточни алгоритми</vt:lpstr>
      <vt:lpstr>Управление на ключовете при поточни алгоритми</vt:lpstr>
      <vt:lpstr>Съвременни поточни алгоритми – Преместващи регистри с линейна обратна връзка </vt:lpstr>
      <vt:lpstr>Съвременни поточни алгоритми – Преместващи регистри с линейна обратна връзка </vt:lpstr>
      <vt:lpstr>Съвременни поточни алгоритми – Преместващи регистри с линейна обратна връзка </vt:lpstr>
      <vt:lpstr>Съвременни поточни алгоритми – Преместващи регистри с линейна обратна връзка </vt:lpstr>
      <vt:lpstr>Поточен алгоритъм Trivium за генериране на поточен ключ</vt:lpstr>
      <vt:lpstr>Поточен алгоритъм Trivium</vt:lpstr>
      <vt:lpstr>Поточен алгоритъм Trivium</vt:lpstr>
      <vt:lpstr>Поточен алгоритъм Trivium</vt:lpstr>
      <vt:lpstr>Поточен алгоритъм Trivium</vt:lpstr>
      <vt:lpstr>Поточен алгоритъм Trivium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Въведение в класическата и съвременната криптография</dc:title>
  <dc:creator>Malinka Ivanova</dc:creator>
  <cp:lastModifiedBy>Malinka Ivanova</cp:lastModifiedBy>
  <cp:revision>231</cp:revision>
  <dcterms:created xsi:type="dcterms:W3CDTF">2022-09-25T16:18:08Z</dcterms:created>
  <dcterms:modified xsi:type="dcterms:W3CDTF">2025-10-01T17:55:20Z</dcterms:modified>
</cp:coreProperties>
</file>