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4" r:id="rId13"/>
    <p:sldId id="275" r:id="rId14"/>
    <p:sldId id="27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9" r:id="rId23"/>
    <p:sldId id="277" r:id="rId24"/>
    <p:sldId id="278" r:id="rId25"/>
    <p:sldId id="287" r:id="rId26"/>
    <p:sldId id="280" r:id="rId27"/>
    <p:sldId id="293" r:id="rId28"/>
    <p:sldId id="281" r:id="rId29"/>
    <p:sldId id="289" r:id="rId30"/>
    <p:sldId id="291" r:id="rId31"/>
    <p:sldId id="292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07D68F-0E77-4B72-86FC-2E050D93422D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AAF38-D7E5-4112-9208-2260DD505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927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68261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361063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774A3BAC-C9C3-4373-BB02-09DD2C2C5907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928F0540-044F-4E3E-B509-A8E97D76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99067"/>
      </p:ext>
    </p:extLst>
  </p:cSld>
  <p:clrMapOvr>
    <a:masterClrMapping/>
  </p:clrMapOvr>
  <p:transition spd="slow">
    <p:randomBar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3BAC-C9C3-4373-BB02-09DD2C2C5907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F0540-044F-4E3E-B509-A8E97D76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402357"/>
      </p:ext>
    </p:extLst>
  </p:cSld>
  <p:clrMapOvr>
    <a:masterClrMapping/>
  </p:clrMapOvr>
  <p:transition spd="slow">
    <p:randomBar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74A3BAC-C9C3-4373-BB02-09DD2C2C5907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28F0540-044F-4E3E-B509-A8E97D76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976821"/>
      </p:ext>
    </p:extLst>
  </p:cSld>
  <p:clrMapOvr>
    <a:masterClrMapping/>
  </p:clrMapOvr>
  <p:transition spd="slow">
    <p:randomBar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3BAC-C9C3-4373-BB02-09DD2C2C5907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F0540-044F-4E3E-B509-A8E97D76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378883"/>
      </p:ext>
    </p:extLst>
  </p:cSld>
  <p:clrMapOvr>
    <a:masterClrMapping/>
  </p:clrMapOvr>
  <p:transition spd="slow">
    <p:randomBar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3BAC-C9C3-4373-BB02-09DD2C2C5907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F0540-044F-4E3E-B509-A8E97D76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253794"/>
      </p:ext>
    </p:extLst>
  </p:cSld>
  <p:clrMapOvr>
    <a:masterClrMapping/>
  </p:clrMapOvr>
  <p:transition spd="slow">
    <p:randomBar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3BAC-C9C3-4373-BB02-09DD2C2C5907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F0540-044F-4E3E-B509-A8E97D76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447361"/>
      </p:ext>
    </p:extLst>
  </p:cSld>
  <p:clrMapOvr>
    <a:masterClrMapping/>
  </p:clrMapOvr>
  <p:transition spd="slow">
    <p:randomBar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3BAC-C9C3-4373-BB02-09DD2C2C5907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F0540-044F-4E3E-B509-A8E97D76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291483"/>
      </p:ext>
    </p:extLst>
  </p:cSld>
  <p:clrMapOvr>
    <a:masterClrMapping/>
  </p:clrMapOvr>
  <p:transition spd="slow">
    <p:randomBar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3BAC-C9C3-4373-BB02-09DD2C2C5907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F0540-044F-4E3E-B509-A8E97D76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53389"/>
      </p:ext>
    </p:extLst>
  </p:cSld>
  <p:clrMapOvr>
    <a:masterClrMapping/>
  </p:clrMapOvr>
  <p:transition spd="slow">
    <p:randomBar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3BAC-C9C3-4373-BB02-09DD2C2C5907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F0540-044F-4E3E-B509-A8E97D76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573685"/>
      </p:ext>
    </p:extLst>
  </p:cSld>
  <p:clrMapOvr>
    <a:masterClrMapping/>
  </p:clrMapOvr>
  <p:transition spd="slow">
    <p:randomBar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3BAC-C9C3-4373-BB02-09DD2C2C5907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F0540-044F-4E3E-B509-A8E97D76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200757"/>
      </p:ext>
    </p:extLst>
  </p:cSld>
  <p:clrMapOvr>
    <a:masterClrMapping/>
  </p:clrMapOvr>
  <p:transition spd="slow">
    <p:randomBar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74A3BAC-C9C3-4373-BB02-09DD2C2C5907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28F0540-044F-4E3E-B509-A8E97D76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245996"/>
      </p:ext>
    </p:extLst>
  </p:cSld>
  <p:clrMapOvr>
    <a:masterClrMapping/>
  </p:clrMapOvr>
  <p:transition spd="slow">
    <p:randomBar dir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74A3BAC-C9C3-4373-BB02-09DD2C2C5907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28F0540-044F-4E3E-B509-A8E97D7659A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69643881"/>
      </p:ext>
    </p:extLst>
  </p:cSld>
  <p:clrMapOvr>
    <a:masterClrMapping/>
  </p:clrMapOvr>
  <p:transition spd="slow">
    <p:randomBar dir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74A3BAC-C9C3-4373-BB02-09DD2C2C5907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28F0540-044F-4E3E-B509-A8E97D76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00314"/>
      </p:ext>
    </p:extLst>
  </p:cSld>
  <p:clrMapOvr>
    <a:masterClrMapping/>
  </p:clrMapOvr>
  <p:transition spd="slow">
    <p:randomBar dir="vert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3BAC-C9C3-4373-BB02-09DD2C2C5907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F0540-044F-4E3E-B509-A8E97D76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558206"/>
      </p:ext>
    </p:extLst>
  </p:cSld>
  <p:clrMapOvr>
    <a:masterClrMapping/>
  </p:clrMapOvr>
  <p:transition spd="slow">
    <p:randomBar dir="vert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3BAC-C9C3-4373-BB02-09DD2C2C5907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F0540-044F-4E3E-B509-A8E97D76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302306"/>
      </p:ext>
    </p:extLst>
  </p:cSld>
  <p:clrMapOvr>
    <a:masterClrMapping/>
  </p:clrMapOvr>
  <p:transition spd="slow">
    <p:randomBar dir="vert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A3BAC-C9C3-4373-BB02-09DD2C2C5907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F0540-044F-4E3E-B509-A8E97D76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315367"/>
      </p:ext>
    </p:extLst>
  </p:cSld>
  <p:clrMapOvr>
    <a:masterClrMapping/>
  </p:clrMapOvr>
  <p:transition spd="slow">
    <p:randomBar dir="vert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74A3BAC-C9C3-4373-BB02-09DD2C2C5907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28F0540-044F-4E3E-B509-A8E97D76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851396"/>
      </p:ext>
    </p:extLst>
  </p:cSld>
  <p:clrMapOvr>
    <a:masterClrMapping/>
  </p:clrMapOvr>
  <p:transition spd="slow">
    <p:randomBar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4A3BAC-C9C3-4373-BB02-09DD2C2C5907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8F0540-044F-4E3E-B509-A8E97D765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138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ransition spd="slow">
    <p:randomBar dir="vert"/>
  </p:transition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90872" y="471055"/>
            <a:ext cx="6129528" cy="3157446"/>
          </a:xfrm>
        </p:spPr>
        <p:txBody>
          <a:bodyPr>
            <a:normAutofit fontScale="90000"/>
          </a:bodyPr>
          <a:lstStyle/>
          <a:p>
            <a:r>
              <a:rPr lang="bg-BG" dirty="0" err="1" smtClean="0"/>
              <a:t>АСиметрична</a:t>
            </a:r>
            <a:r>
              <a:rPr lang="bg-BG" dirty="0" smtClean="0"/>
              <a:t> криптография </a:t>
            </a:r>
            <a:br>
              <a:rPr lang="bg-BG" dirty="0" smtClean="0"/>
            </a:br>
            <a:r>
              <a:rPr lang="bg-BG" dirty="0" smtClean="0"/>
              <a:t>(публична криптография)</a:t>
            </a:r>
            <a:endParaRPr lang="en-US" sz="31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56824" y="4144265"/>
            <a:ext cx="5703455" cy="685800"/>
          </a:xfrm>
        </p:spPr>
        <p:txBody>
          <a:bodyPr/>
          <a:lstStyle/>
          <a:p>
            <a:r>
              <a:rPr lang="bg-BG" dirty="0" smtClean="0"/>
              <a:t>Доц. Малинка Иванова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48589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/>
              <a:t>Симетрична криптография – </a:t>
            </a:r>
            <a:r>
              <a:rPr lang="bg-BG" dirty="0" smtClean="0"/>
              <a:t>Свойства</a:t>
            </a:r>
            <a:r>
              <a:rPr lang="bg-BG" dirty="0"/>
              <a:t/>
            </a:r>
            <a:br>
              <a:rPr lang="bg-BG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94561"/>
            <a:ext cx="10820400" cy="1817288"/>
          </a:xfrm>
        </p:spPr>
        <p:txBody>
          <a:bodyPr>
            <a:normAutofit lnSpcReduction="10000"/>
          </a:bodyPr>
          <a:lstStyle/>
          <a:p>
            <a:r>
              <a:rPr lang="bg-BG" b="1" dirty="0" smtClean="0"/>
              <a:t>Симетричната криптография </a:t>
            </a:r>
            <a:r>
              <a:rPr lang="bg-BG" dirty="0" smtClean="0"/>
              <a:t>се характеризира с две основни свойства:</a:t>
            </a:r>
          </a:p>
          <a:p>
            <a:pPr marL="0" indent="0">
              <a:buNone/>
            </a:pPr>
            <a:r>
              <a:rPr lang="bg-BG" dirty="0" smtClean="0"/>
              <a:t>1. Един и същ ключ за криптиране и декриптиране </a:t>
            </a:r>
          </a:p>
          <a:p>
            <a:pPr marL="0" indent="0">
              <a:buNone/>
            </a:pPr>
            <a:r>
              <a:rPr lang="en-US" dirty="0" smtClean="0"/>
              <a:t>2</a:t>
            </a:r>
            <a:r>
              <a:rPr lang="en-US" dirty="0"/>
              <a:t>. </a:t>
            </a:r>
            <a:r>
              <a:rPr lang="bg-BG" dirty="0" smtClean="0"/>
              <a:t>Функциите за криптиране и декриптиране са много подобни </a:t>
            </a:r>
            <a:r>
              <a:rPr lang="en-US" dirty="0" smtClean="0"/>
              <a:t>(</a:t>
            </a:r>
            <a:r>
              <a:rPr lang="bg-BG" dirty="0" smtClean="0"/>
              <a:t>при </a:t>
            </a:r>
            <a:r>
              <a:rPr lang="en-US" dirty="0" smtClean="0"/>
              <a:t>DES </a:t>
            </a:r>
            <a:r>
              <a:rPr lang="bg-BG" dirty="0" smtClean="0"/>
              <a:t>са еднакви</a:t>
            </a:r>
            <a:r>
              <a:rPr lang="en-US" dirty="0" smtClean="0"/>
              <a:t>)</a:t>
            </a: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1143722" y="4467885"/>
            <a:ext cx="8256768" cy="2390115"/>
            <a:chOff x="1143722" y="4467885"/>
            <a:chExt cx="8256768" cy="2390115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43722" y="4467885"/>
              <a:ext cx="1082242" cy="1329069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10974" y="4590473"/>
              <a:ext cx="989516" cy="1265381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44675" y="5671582"/>
              <a:ext cx="999981" cy="1186418"/>
            </a:xfrm>
            <a:prstGeom prst="rect">
              <a:avLst/>
            </a:prstGeom>
          </p:spPr>
        </p:pic>
        <p:sp>
          <p:nvSpPr>
            <p:cNvPr id="8" name="Rounded Rectangle 7"/>
            <p:cNvSpPr/>
            <p:nvPr/>
          </p:nvSpPr>
          <p:spPr>
            <a:xfrm>
              <a:off x="2820482" y="4590473"/>
              <a:ext cx="1671690" cy="932872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bg-BG" dirty="0" smtClean="0"/>
                <a:t>Криптиране</a:t>
              </a:r>
              <a:endParaRPr lang="en-US" dirty="0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813769" y="4618183"/>
              <a:ext cx="2007908" cy="932872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bg-BG" dirty="0" smtClean="0"/>
                <a:t>Декриптиране</a:t>
              </a:r>
              <a:endParaRPr lang="en-US" dirty="0"/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2235200" y="5056909"/>
              <a:ext cx="497176" cy="166254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ight Arrow 10"/>
            <p:cNvSpPr/>
            <p:nvPr/>
          </p:nvSpPr>
          <p:spPr>
            <a:xfrm>
              <a:off x="4561285" y="5010727"/>
              <a:ext cx="1183372" cy="2048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Arrow 11"/>
            <p:cNvSpPr/>
            <p:nvPr/>
          </p:nvSpPr>
          <p:spPr>
            <a:xfrm>
              <a:off x="7844686" y="5049292"/>
              <a:ext cx="497176" cy="166254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299855" y="4590473"/>
              <a:ext cx="4325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g-BG" dirty="0"/>
                <a:t>Р</a:t>
              </a:r>
              <a:endParaRPr lang="en-US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943897" y="4623045"/>
              <a:ext cx="4325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g-BG" dirty="0"/>
                <a:t>Р</a:t>
              </a:r>
              <a:endParaRPr lang="en-US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102208" y="4572062"/>
              <a:ext cx="4325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bg-BG" dirty="0"/>
                <a:t>С</a:t>
              </a:r>
              <a:endParaRPr lang="en-US" dirty="0"/>
            </a:p>
          </p:txBody>
        </p:sp>
        <p:sp>
          <p:nvSpPr>
            <p:cNvPr id="16" name="Up Arrow 15"/>
            <p:cNvSpPr/>
            <p:nvPr/>
          </p:nvSpPr>
          <p:spPr>
            <a:xfrm>
              <a:off x="5180718" y="5223163"/>
              <a:ext cx="180850" cy="327892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278349" y="5223163"/>
              <a:ext cx="714375" cy="257175"/>
            </a:xfrm>
            <a:prstGeom prst="rect">
              <a:avLst/>
            </a:prstGeom>
          </p:spPr>
        </p:pic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511781" y="5252946"/>
              <a:ext cx="714375" cy="2571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6816324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Симетрична </a:t>
            </a:r>
            <a:r>
              <a:rPr lang="bg-BG" dirty="0" smtClean="0"/>
              <a:t>криптография - недостатъци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bg-BG" b="1" dirty="0" smtClean="0"/>
              <a:t>1. Проблем при предаване на ключа </a:t>
            </a:r>
            <a:r>
              <a:rPr lang="bg-BG" dirty="0" smtClean="0"/>
              <a:t>от Алис до Боб</a:t>
            </a:r>
          </a:p>
          <a:p>
            <a:r>
              <a:rPr lang="bg-BG" dirty="0" smtClean="0"/>
              <a:t>Ключът между източника на съобщението и получателя трябва да се предава по </a:t>
            </a:r>
            <a:r>
              <a:rPr lang="bg-BG" b="1" dirty="0" smtClean="0"/>
              <a:t>защитен комуникационен канал</a:t>
            </a:r>
            <a:r>
              <a:rPr lang="bg-BG" dirty="0" smtClean="0"/>
              <a:t>.</a:t>
            </a:r>
          </a:p>
          <a:p>
            <a:r>
              <a:rPr lang="bg-BG" dirty="0" smtClean="0"/>
              <a:t>Директното предаване на секретния ключ по начина, по който се предава съобщението не може да се извърши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221804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Симетрична криптография - недостатъци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2. </a:t>
            </a:r>
            <a:r>
              <a:rPr lang="ru-RU" b="1" dirty="0" smtClean="0"/>
              <a:t>Брой ключове (много голям)</a:t>
            </a:r>
            <a:endParaRPr lang="en-US" b="1" dirty="0" smtClean="0"/>
          </a:p>
          <a:p>
            <a:r>
              <a:rPr lang="ru-RU" dirty="0"/>
              <a:t>Ако</a:t>
            </a:r>
            <a:r>
              <a:rPr lang="ru-RU" dirty="0" smtClean="0"/>
              <a:t> </a:t>
            </a:r>
            <a:r>
              <a:rPr lang="ru-RU" dirty="0"/>
              <a:t>всяка двойка потребители </a:t>
            </a:r>
            <a:r>
              <a:rPr lang="en-US" dirty="0" smtClean="0"/>
              <a:t>(</a:t>
            </a:r>
            <a:r>
              <a:rPr lang="bg-BG" dirty="0" smtClean="0"/>
              <a:t>Алис и Боб</a:t>
            </a:r>
            <a:r>
              <a:rPr lang="en-US" dirty="0" smtClean="0"/>
              <a:t>) </a:t>
            </a:r>
            <a:r>
              <a:rPr lang="ru-RU" dirty="0" smtClean="0"/>
              <a:t>се </a:t>
            </a:r>
            <a:r>
              <a:rPr lang="ru-RU" dirty="0"/>
              <a:t>нуждае от </a:t>
            </a:r>
            <a:r>
              <a:rPr lang="ru-RU" dirty="0" smtClean="0"/>
              <a:t>отделна двойка секретни ключове </a:t>
            </a:r>
            <a:r>
              <a:rPr lang="ru-RU" dirty="0"/>
              <a:t>в мрежа с n потребители, </a:t>
            </a:r>
            <a:r>
              <a:rPr lang="ru-RU" dirty="0" smtClean="0"/>
              <a:t>то има n(n</a:t>
            </a:r>
            <a:r>
              <a:rPr lang="ru-RU" dirty="0"/>
              <a:t>−1</a:t>
            </a:r>
            <a:r>
              <a:rPr lang="ru-RU" dirty="0" smtClean="0"/>
              <a:t>)/2 двойки </a:t>
            </a:r>
            <a:r>
              <a:rPr lang="ru-RU" dirty="0"/>
              <a:t>ключове и всеки потребител трябва да съхранява сигурно n − 1 ключа. </a:t>
            </a:r>
            <a:endParaRPr lang="ru-RU" dirty="0" smtClean="0"/>
          </a:p>
          <a:p>
            <a:r>
              <a:rPr lang="ru-RU" dirty="0" smtClean="0"/>
              <a:t>Дори </a:t>
            </a:r>
            <a:r>
              <a:rPr lang="ru-RU" dirty="0"/>
              <a:t>за средни мрежи, да речем, корпорация с 2000 </a:t>
            </a:r>
            <a:r>
              <a:rPr lang="ru-RU" dirty="0" smtClean="0"/>
              <a:t>служители, </a:t>
            </a:r>
            <a:r>
              <a:rPr lang="ru-RU" dirty="0"/>
              <a:t>това изисква повече от 4 милиона </a:t>
            </a:r>
            <a:r>
              <a:rPr lang="ru-RU" dirty="0" smtClean="0"/>
              <a:t>двойки</a:t>
            </a:r>
            <a:r>
              <a:rPr lang="en-US" dirty="0" smtClean="0"/>
              <a:t> </a:t>
            </a:r>
            <a:r>
              <a:rPr lang="ru-RU" dirty="0" smtClean="0"/>
              <a:t>ключове</a:t>
            </a:r>
            <a:r>
              <a:rPr lang="ru-RU" dirty="0"/>
              <a:t>, </a:t>
            </a:r>
            <a:r>
              <a:rPr lang="ru-RU" dirty="0"/>
              <a:t>които трябва да бъдат генерирани и транспортирани по защитени канали. </a:t>
            </a:r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256940498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Симетрична криптография - недостатъци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894788"/>
            <a:ext cx="10820400" cy="467569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bg-BG" dirty="0" smtClean="0"/>
              <a:t>3. </a:t>
            </a:r>
            <a:r>
              <a:rPr lang="ru-RU" b="1" dirty="0"/>
              <a:t>Без защита срещу измама от Алис или Боб </a:t>
            </a:r>
            <a:endParaRPr lang="ru-RU" b="1" dirty="0" smtClean="0"/>
          </a:p>
          <a:p>
            <a:r>
              <a:rPr lang="ru-RU" dirty="0" smtClean="0"/>
              <a:t>Алис </a:t>
            </a:r>
            <a:r>
              <a:rPr lang="ru-RU" dirty="0"/>
              <a:t>и Боб имат </a:t>
            </a:r>
            <a:r>
              <a:rPr lang="ru-RU" dirty="0" smtClean="0"/>
              <a:t>също възможности да мамят, </a:t>
            </a:r>
            <a:r>
              <a:rPr lang="ru-RU" dirty="0"/>
              <a:t>тъй като те притежават един и същ </a:t>
            </a:r>
            <a:r>
              <a:rPr lang="ru-RU" dirty="0" smtClean="0"/>
              <a:t>секретен ключ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Като </a:t>
            </a:r>
            <a:r>
              <a:rPr lang="ru-RU" dirty="0"/>
              <a:t>следствие, симетричната криптография не може да се използва за приложения, при които бихме искали да предотвратим </a:t>
            </a:r>
            <a:r>
              <a:rPr lang="ru-RU" dirty="0" smtClean="0"/>
              <a:t>измама от страна на Алис </a:t>
            </a:r>
            <a:r>
              <a:rPr lang="ru-RU" dirty="0"/>
              <a:t>или Боб, за разлика от измама от </a:t>
            </a:r>
            <a:r>
              <a:rPr lang="ru-RU" dirty="0" smtClean="0"/>
              <a:t>външен атакуващ като Ева. </a:t>
            </a:r>
          </a:p>
          <a:p>
            <a:r>
              <a:rPr lang="ru-RU" dirty="0" smtClean="0"/>
              <a:t>Например, в </a:t>
            </a:r>
            <a:r>
              <a:rPr lang="ru-RU" dirty="0"/>
              <a:t>приложенията за електронна търговия често е важно да се докаже, че Алис действително е изпратила </a:t>
            </a:r>
            <a:r>
              <a:rPr lang="ru-RU" dirty="0" smtClean="0"/>
              <a:t>определено </a:t>
            </a:r>
            <a:r>
              <a:rPr lang="ru-RU" dirty="0"/>
              <a:t>съобщение, да речем, онлайн поръчка за телевизор с плосък екран. Ако използваме само симетрична криптография и Алис промени решението си по-късно, тя винаги може да твърди, че Боб</a:t>
            </a:r>
            <a:r>
              <a:rPr lang="ru-RU" dirty="0" smtClean="0"/>
              <a:t>, продавачът </a:t>
            </a:r>
            <a:r>
              <a:rPr lang="ru-RU" dirty="0"/>
              <a:t>е генерирал фалшиво електронната поръчка за </a:t>
            </a:r>
            <a:r>
              <a:rPr lang="ru-RU" dirty="0" smtClean="0"/>
              <a:t>покупка.</a:t>
            </a:r>
          </a:p>
          <a:p>
            <a:r>
              <a:rPr lang="ru-RU" dirty="0" smtClean="0"/>
              <a:t>Предотвратяването </a:t>
            </a:r>
            <a:r>
              <a:rPr lang="ru-RU" dirty="0"/>
              <a:t>на </a:t>
            </a:r>
            <a:r>
              <a:rPr lang="ru-RU" dirty="0" smtClean="0"/>
              <a:t>такъв вид измама е наречено </a:t>
            </a:r>
            <a:r>
              <a:rPr lang="ru-RU" b="1" dirty="0" smtClean="0"/>
              <a:t>без отричане </a:t>
            </a:r>
            <a:r>
              <a:rPr lang="ru-RU" dirty="0" smtClean="0"/>
              <a:t>(</a:t>
            </a:r>
            <a:r>
              <a:rPr lang="ru-RU" b="1" dirty="0" smtClean="0"/>
              <a:t>nonrepudiation</a:t>
            </a:r>
            <a:r>
              <a:rPr lang="ru-RU" dirty="0" smtClean="0"/>
              <a:t>) </a:t>
            </a:r>
            <a:r>
              <a:rPr lang="ru-RU" dirty="0"/>
              <a:t>и може да се постигне с </a:t>
            </a:r>
            <a:r>
              <a:rPr lang="ru-RU" b="1" dirty="0"/>
              <a:t>асиметрична </a:t>
            </a:r>
            <a:r>
              <a:rPr lang="ru-RU" b="1" dirty="0" smtClean="0"/>
              <a:t>криптография </a:t>
            </a:r>
            <a:r>
              <a:rPr lang="ru-RU" dirty="0" smtClean="0"/>
              <a:t>и използване на електронни подписи</a:t>
            </a:r>
            <a:r>
              <a:rPr lang="ru-RU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4385121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Асиметрична криптография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За да преодолеят тези </a:t>
            </a:r>
            <a:r>
              <a:rPr lang="ru-RU" dirty="0" smtClean="0"/>
              <a:t>недостатъци на симетричната криптография, </a:t>
            </a:r>
            <a:r>
              <a:rPr lang="ru-RU" b="1" dirty="0"/>
              <a:t>Дифи, Хелман и Меркъл</a:t>
            </a:r>
            <a:r>
              <a:rPr lang="ru-RU" dirty="0"/>
              <a:t> </a:t>
            </a:r>
            <a:r>
              <a:rPr lang="ru-RU" dirty="0" smtClean="0"/>
              <a:t>(1976 г.) имат </a:t>
            </a:r>
            <a:r>
              <a:rPr lang="ru-RU" dirty="0"/>
              <a:t>революционно предложение, основано на следната идея: </a:t>
            </a:r>
            <a:r>
              <a:rPr lang="ru-RU" b="1" dirty="0"/>
              <a:t>Не е необходимо </a:t>
            </a:r>
            <a:r>
              <a:rPr lang="ru-RU" b="1" dirty="0" smtClean="0"/>
              <a:t>ключът</a:t>
            </a:r>
            <a:r>
              <a:rPr lang="ru-RU" dirty="0" smtClean="0"/>
              <a:t>, който се притежава от </a:t>
            </a:r>
            <a:r>
              <a:rPr lang="ru-RU" dirty="0"/>
              <a:t>лицето, което </a:t>
            </a:r>
            <a:r>
              <a:rPr lang="ru-RU" b="1" dirty="0"/>
              <a:t>криптира</a:t>
            </a:r>
            <a:r>
              <a:rPr lang="ru-RU" dirty="0"/>
              <a:t> съобщението (това е Алис в нашия пример</a:t>
            </a:r>
            <a:r>
              <a:rPr lang="ru-RU" dirty="0" smtClean="0"/>
              <a:t>), </a:t>
            </a:r>
            <a:r>
              <a:rPr lang="ru-RU" b="1" dirty="0" smtClean="0"/>
              <a:t>да бъде частен </a:t>
            </a:r>
            <a:r>
              <a:rPr lang="ru-RU" dirty="0" smtClean="0"/>
              <a:t>(и секретен). Ключът на получателя (Боб) за </a:t>
            </a:r>
            <a:r>
              <a:rPr lang="ru-RU" b="1" dirty="0" smtClean="0"/>
              <a:t>декриптиране</a:t>
            </a:r>
            <a:r>
              <a:rPr lang="ru-RU" dirty="0" smtClean="0"/>
              <a:t> е </a:t>
            </a:r>
            <a:r>
              <a:rPr lang="ru-RU" b="1" dirty="0" smtClean="0"/>
              <a:t>частен</a:t>
            </a:r>
            <a:r>
              <a:rPr lang="ru-RU" dirty="0" smtClean="0"/>
              <a:t> (и секретен).</a:t>
            </a:r>
          </a:p>
          <a:p>
            <a:r>
              <a:rPr lang="ru-RU" dirty="0" smtClean="0"/>
              <a:t>За </a:t>
            </a:r>
            <a:r>
              <a:rPr lang="ru-RU" dirty="0"/>
              <a:t>да </a:t>
            </a:r>
            <a:r>
              <a:rPr lang="ru-RU" dirty="0" smtClean="0"/>
              <a:t>се реализира </a:t>
            </a:r>
            <a:r>
              <a:rPr lang="ru-RU" dirty="0"/>
              <a:t>такава </a:t>
            </a:r>
            <a:r>
              <a:rPr lang="ru-RU" dirty="0" smtClean="0"/>
              <a:t>крипто система</a:t>
            </a:r>
            <a:r>
              <a:rPr lang="ru-RU" dirty="0"/>
              <a:t>, </a:t>
            </a:r>
            <a:r>
              <a:rPr lang="ru-RU" b="1" dirty="0" smtClean="0"/>
              <a:t>получателят</a:t>
            </a:r>
            <a:r>
              <a:rPr lang="ru-RU" dirty="0" smtClean="0"/>
              <a:t> (Боб) </a:t>
            </a:r>
            <a:r>
              <a:rPr lang="ru-RU" b="1" dirty="0" smtClean="0"/>
              <a:t>генерира двойка ключове публичен-частен</a:t>
            </a:r>
            <a:r>
              <a:rPr lang="ru-RU" dirty="0" smtClean="0"/>
              <a:t>, като </a:t>
            </a:r>
            <a:r>
              <a:rPr lang="ru-RU" b="1" dirty="0" smtClean="0"/>
              <a:t>публикува </a:t>
            </a:r>
            <a:r>
              <a:rPr lang="ru-RU" b="1" dirty="0"/>
              <a:t>публичен ключ за криптиране</a:t>
            </a:r>
            <a:r>
              <a:rPr lang="ru-RU" dirty="0"/>
              <a:t>, който е известен </a:t>
            </a:r>
            <a:r>
              <a:rPr lang="ru-RU" dirty="0" smtClean="0"/>
              <a:t>на всеки</a:t>
            </a:r>
            <a:r>
              <a:rPr lang="ru-RU" dirty="0"/>
              <a:t>. Боб също има съответстващ </a:t>
            </a:r>
            <a:r>
              <a:rPr lang="ru-RU" b="1" dirty="0" smtClean="0"/>
              <a:t>частен </a:t>
            </a:r>
            <a:r>
              <a:rPr lang="ru-RU" b="1" dirty="0"/>
              <a:t>ключ</a:t>
            </a:r>
            <a:r>
              <a:rPr lang="ru-RU" dirty="0"/>
              <a:t>, който се използва за </a:t>
            </a:r>
            <a:r>
              <a:rPr lang="ru-RU" dirty="0" smtClean="0"/>
              <a:t>декриптиране и се пази в </a:t>
            </a:r>
            <a:r>
              <a:rPr lang="ru-RU" b="1" dirty="0" smtClean="0"/>
              <a:t>тайна</a:t>
            </a:r>
            <a:r>
              <a:rPr lang="ru-RU" dirty="0" smtClean="0"/>
              <a:t>. </a:t>
            </a:r>
          </a:p>
          <a:p>
            <a:r>
              <a:rPr lang="ru-RU" dirty="0" smtClean="0"/>
              <a:t>По </a:t>
            </a:r>
            <a:r>
              <a:rPr lang="ru-RU" dirty="0"/>
              <a:t>този начин</a:t>
            </a:r>
            <a:r>
              <a:rPr lang="ru-RU" dirty="0" smtClean="0"/>
              <a:t>, </a:t>
            </a:r>
            <a:r>
              <a:rPr lang="ru-RU" b="1" dirty="0" smtClean="0"/>
              <a:t>ключът </a:t>
            </a:r>
            <a:r>
              <a:rPr lang="ru-RU" b="1" dirty="0"/>
              <a:t>k </a:t>
            </a:r>
            <a:r>
              <a:rPr lang="ru-RU" dirty="0"/>
              <a:t>на </a:t>
            </a:r>
            <a:r>
              <a:rPr lang="ru-RU" dirty="0" smtClean="0"/>
              <a:t>получателя (Боб) </a:t>
            </a:r>
            <a:r>
              <a:rPr lang="ru-RU" dirty="0"/>
              <a:t>се състои от две части, </a:t>
            </a:r>
            <a:r>
              <a:rPr lang="ru-RU" b="1" dirty="0"/>
              <a:t>публична </a:t>
            </a:r>
            <a:r>
              <a:rPr lang="ru-RU" b="1" dirty="0" smtClean="0"/>
              <a:t>част k</a:t>
            </a:r>
            <a:r>
              <a:rPr lang="ru-RU" b="1" baseline="-25000" dirty="0" smtClean="0"/>
              <a:t>pub</a:t>
            </a:r>
            <a:r>
              <a:rPr lang="ru-RU" b="1" dirty="0" smtClean="0"/>
              <a:t> </a:t>
            </a:r>
            <a:r>
              <a:rPr lang="ru-RU" dirty="0"/>
              <a:t>и </a:t>
            </a:r>
            <a:r>
              <a:rPr lang="ru-RU" b="1" dirty="0" smtClean="0"/>
              <a:t>частна </a:t>
            </a:r>
            <a:r>
              <a:rPr lang="ru-RU" b="1" dirty="0"/>
              <a:t>k</a:t>
            </a:r>
            <a:r>
              <a:rPr lang="ru-RU" b="1" baseline="-25000" dirty="0"/>
              <a:t>pr</a:t>
            </a:r>
            <a:r>
              <a:rPr lang="ru-RU" dirty="0"/>
              <a:t>.</a:t>
            </a:r>
          </a:p>
          <a:p>
            <a:r>
              <a:rPr lang="ru-RU" dirty="0" smtClean="0"/>
              <a:t>Тази </a:t>
            </a:r>
            <a:r>
              <a:rPr lang="ru-RU" dirty="0"/>
              <a:t>система работи доста </a:t>
            </a:r>
            <a:r>
              <a:rPr lang="ru-RU" dirty="0" smtClean="0"/>
              <a:t>добре подобно </a:t>
            </a:r>
            <a:r>
              <a:rPr lang="ru-RU" dirty="0"/>
              <a:t>на добрата стара пощенска кутия на ъгъла на улицата: всеки може да остави </a:t>
            </a:r>
            <a:r>
              <a:rPr lang="ru-RU" dirty="0" smtClean="0"/>
              <a:t>писмо в </a:t>
            </a:r>
            <a:r>
              <a:rPr lang="ru-RU" dirty="0"/>
              <a:t>кутията, т.е. криптиране, но само човек с частен (таен) ключ може да </a:t>
            </a:r>
            <a:r>
              <a:rPr lang="ru-RU" dirty="0" smtClean="0"/>
              <a:t>вземе писмата.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859658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307173"/>
            <a:ext cx="8610600" cy="1293028"/>
          </a:xfrm>
        </p:spPr>
        <p:txBody>
          <a:bodyPr/>
          <a:lstStyle/>
          <a:p>
            <a:r>
              <a:rPr lang="bg-BG" dirty="0"/>
              <a:t>Асиметрична криптография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463040"/>
            <a:ext cx="10820400" cy="2295334"/>
          </a:xfrm>
        </p:spPr>
        <p:txBody>
          <a:bodyPr>
            <a:normAutofit fontScale="92500"/>
          </a:bodyPr>
          <a:lstStyle/>
          <a:p>
            <a:r>
              <a:rPr lang="bg-BG" dirty="0" smtClean="0"/>
              <a:t>Получателят на съобщението (Боб) генерира двойка ключове публичен-частен;</a:t>
            </a:r>
          </a:p>
          <a:p>
            <a:r>
              <a:rPr lang="bg-BG" dirty="0" smtClean="0"/>
              <a:t>Боб изпраща публичния ключ на Алис по незащитен комуникационен канал или публикува на публичен сървър;</a:t>
            </a:r>
          </a:p>
          <a:p>
            <a:r>
              <a:rPr lang="bg-BG" dirty="0" smtClean="0"/>
              <a:t>Алис използва публичния ключ, за да криптира съобщението и изпраща криптограмата на Боб;</a:t>
            </a:r>
          </a:p>
          <a:p>
            <a:r>
              <a:rPr lang="bg-BG" dirty="0" smtClean="0"/>
              <a:t>Боб използва частния ключ, за да декриптира криптограмата.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737" y="3758374"/>
            <a:ext cx="9048750" cy="25050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92808" y="6263449"/>
            <a:ext cx="7973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b="1" dirty="0" smtClean="0"/>
              <a:t>Основен протокол в публичната криптография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9574900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Асиметрична криптография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847654"/>
            <a:ext cx="10820400" cy="4854804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Разглеждайки </a:t>
            </a:r>
            <a:r>
              <a:rPr lang="ru-RU" b="1" dirty="0" smtClean="0"/>
              <a:t>основния протокол </a:t>
            </a:r>
            <a:r>
              <a:rPr lang="ru-RU" dirty="0" smtClean="0"/>
              <a:t>в </a:t>
            </a:r>
            <a:r>
              <a:rPr lang="ru-RU" b="1" dirty="0" smtClean="0"/>
              <a:t>публичната криптография</a:t>
            </a:r>
            <a:r>
              <a:rPr lang="ru-RU" dirty="0" smtClean="0"/>
              <a:t>, </a:t>
            </a:r>
            <a:r>
              <a:rPr lang="ru-RU" dirty="0"/>
              <a:t>може да </a:t>
            </a:r>
            <a:r>
              <a:rPr lang="ru-RU" dirty="0" smtClean="0"/>
              <a:t>се твърди, </a:t>
            </a:r>
            <a:r>
              <a:rPr lang="ru-RU" dirty="0"/>
              <a:t>че въпреки че </a:t>
            </a:r>
            <a:r>
              <a:rPr lang="ru-RU" dirty="0" smtClean="0"/>
              <a:t>може </a:t>
            </a:r>
            <a:r>
              <a:rPr lang="ru-RU" dirty="0"/>
              <a:t>да </a:t>
            </a:r>
            <a:r>
              <a:rPr lang="ru-RU" dirty="0" smtClean="0"/>
              <a:t>се криптира едно съобщение </a:t>
            </a:r>
            <a:r>
              <a:rPr lang="ru-RU" dirty="0"/>
              <a:t>без </a:t>
            </a:r>
            <a:r>
              <a:rPr lang="ru-RU" dirty="0" smtClean="0"/>
              <a:t>необходимост от таен </a:t>
            </a:r>
            <a:r>
              <a:rPr lang="ru-RU" dirty="0"/>
              <a:t>канал за </a:t>
            </a:r>
            <a:r>
              <a:rPr lang="ru-RU" dirty="0" smtClean="0"/>
              <a:t>предаване </a:t>
            </a:r>
            <a:r>
              <a:rPr lang="ru-RU" dirty="0"/>
              <a:t>на </a:t>
            </a:r>
            <a:r>
              <a:rPr lang="ru-RU" dirty="0" smtClean="0"/>
              <a:t>ключа, </a:t>
            </a:r>
            <a:r>
              <a:rPr lang="ru-RU" dirty="0"/>
              <a:t>все още </a:t>
            </a:r>
            <a:r>
              <a:rPr lang="ru-RU" b="1" dirty="0"/>
              <a:t>не </a:t>
            </a:r>
            <a:r>
              <a:rPr lang="ru-RU" b="1" dirty="0" smtClean="0"/>
              <a:t>може </a:t>
            </a:r>
            <a:r>
              <a:rPr lang="ru-RU" b="1" dirty="0"/>
              <a:t>да </a:t>
            </a:r>
            <a:r>
              <a:rPr lang="ru-RU" b="1" dirty="0" smtClean="0"/>
              <a:t>се обменя ключа</a:t>
            </a:r>
            <a:r>
              <a:rPr lang="ru-RU" dirty="0"/>
              <a:t> </a:t>
            </a:r>
            <a:r>
              <a:rPr lang="ru-RU" dirty="0" smtClean="0"/>
              <a:t>(по незащитен канал – например ако </a:t>
            </a:r>
            <a:r>
              <a:rPr lang="ru-RU" dirty="0"/>
              <a:t>искаме да </a:t>
            </a:r>
            <a:r>
              <a:rPr lang="ru-RU" dirty="0" smtClean="0"/>
              <a:t>криптираме, </a:t>
            </a:r>
            <a:r>
              <a:rPr lang="ru-RU" dirty="0"/>
              <a:t>да </a:t>
            </a:r>
            <a:r>
              <a:rPr lang="ru-RU" dirty="0" smtClean="0"/>
              <a:t>речем </a:t>
            </a:r>
            <a:r>
              <a:rPr lang="ru-RU" dirty="0"/>
              <a:t>с</a:t>
            </a:r>
            <a:r>
              <a:rPr lang="ru-RU" dirty="0" smtClean="0"/>
              <a:t> AES). </a:t>
            </a:r>
          </a:p>
          <a:p>
            <a:r>
              <a:rPr lang="ru-RU" dirty="0" smtClean="0"/>
              <a:t>Въпреки </a:t>
            </a:r>
            <a:r>
              <a:rPr lang="ru-RU" dirty="0"/>
              <a:t>това, протоколът може лесно да бъде модифициран за тази </a:t>
            </a:r>
            <a:r>
              <a:rPr lang="ru-RU" dirty="0" smtClean="0"/>
              <a:t>му употреба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Това</a:t>
            </a:r>
            <a:r>
              <a:rPr lang="ru-RU" dirty="0"/>
              <a:t>, което трябва да </a:t>
            </a:r>
            <a:r>
              <a:rPr lang="ru-RU" dirty="0" smtClean="0"/>
              <a:t>се направи, </a:t>
            </a:r>
            <a:r>
              <a:rPr lang="ru-RU" dirty="0"/>
              <a:t>е да </a:t>
            </a:r>
            <a:r>
              <a:rPr lang="ru-RU" dirty="0" smtClean="0"/>
              <a:t>се </a:t>
            </a:r>
            <a:r>
              <a:rPr lang="ru-RU" b="1" dirty="0" smtClean="0"/>
              <a:t>криптира симетричният </a:t>
            </a:r>
            <a:r>
              <a:rPr lang="ru-RU" b="1" dirty="0"/>
              <a:t>ключ</a:t>
            </a:r>
            <a:r>
              <a:rPr lang="ru-RU" dirty="0"/>
              <a:t>, например </a:t>
            </a:r>
            <a:r>
              <a:rPr lang="ru-RU" dirty="0" smtClean="0"/>
              <a:t>при AES, </a:t>
            </a:r>
            <a:r>
              <a:rPr lang="ru-RU" dirty="0"/>
              <a:t>използвайки </a:t>
            </a:r>
            <a:r>
              <a:rPr lang="ru-RU" b="1" dirty="0" smtClean="0"/>
              <a:t>алгоритъм от асиметричната криптография</a:t>
            </a:r>
            <a:r>
              <a:rPr lang="ru-RU" dirty="0" smtClean="0"/>
              <a:t>. </a:t>
            </a:r>
          </a:p>
          <a:p>
            <a:r>
              <a:rPr lang="ru-RU" dirty="0" smtClean="0"/>
              <a:t>След </a:t>
            </a:r>
            <a:r>
              <a:rPr lang="ru-RU" dirty="0"/>
              <a:t>като </a:t>
            </a:r>
            <a:r>
              <a:rPr lang="ru-RU" b="1" dirty="0"/>
              <a:t>симетричният ключ бъде </a:t>
            </a:r>
            <a:r>
              <a:rPr lang="ru-RU" b="1" dirty="0" smtClean="0"/>
              <a:t>декриптиран от Боб</a:t>
            </a:r>
            <a:r>
              <a:rPr lang="ru-RU" dirty="0" smtClean="0"/>
              <a:t>, </a:t>
            </a:r>
            <a:r>
              <a:rPr lang="ru-RU" dirty="0"/>
              <a:t>и двете страни могат да го използват за криптиране и декриптиране на съобщения с помощта на </a:t>
            </a:r>
            <a:r>
              <a:rPr lang="ru-RU" dirty="0" smtClean="0"/>
              <a:t>алгоритми от симетричната криптография. </a:t>
            </a:r>
          </a:p>
          <a:p>
            <a:r>
              <a:rPr lang="ru-RU" b="1" dirty="0" smtClean="0"/>
              <a:t>Основното </a:t>
            </a:r>
            <a:r>
              <a:rPr lang="ru-RU" b="1" dirty="0"/>
              <a:t>предимство </a:t>
            </a:r>
            <a:r>
              <a:rPr lang="ru-RU" dirty="0"/>
              <a:t>на </a:t>
            </a:r>
            <a:r>
              <a:rPr lang="ru-RU" b="1" dirty="0">
                <a:solidFill>
                  <a:srgbClr val="FF0000"/>
                </a:solidFill>
              </a:rPr>
              <a:t>протокола </a:t>
            </a:r>
            <a:r>
              <a:rPr lang="ru-RU" b="1" dirty="0" smtClean="0">
                <a:solidFill>
                  <a:srgbClr val="FF0000"/>
                </a:solidFill>
              </a:rPr>
              <a:t>за предаване на частен ключ </a:t>
            </a:r>
            <a:r>
              <a:rPr lang="ru-RU" dirty="0" smtClean="0"/>
              <a:t>(например при AES) чрез използване на асиметричен крипрографски алгоритъм пред основния протокол е</a:t>
            </a:r>
            <a:r>
              <a:rPr lang="ru-RU" dirty="0"/>
              <a:t>, че </a:t>
            </a:r>
            <a:r>
              <a:rPr lang="ru-RU" b="1" dirty="0" smtClean="0"/>
              <a:t>секретният ключ </a:t>
            </a:r>
            <a:r>
              <a:rPr lang="ru-RU" b="1" dirty="0"/>
              <a:t>е криптиран </a:t>
            </a:r>
            <a:r>
              <a:rPr lang="ru-RU" b="1" dirty="0" smtClean="0"/>
              <a:t>чрез алгоритъм от асиметричната криптография, а съобщението чрез алгоритъм от симетричната криптография</a:t>
            </a:r>
            <a:r>
              <a:rPr lang="ru-RU" dirty="0" smtClean="0"/>
              <a:t>, което </a:t>
            </a:r>
            <a:r>
              <a:rPr lang="ru-RU" dirty="0"/>
              <a:t>има тенденция да бъде </a:t>
            </a:r>
            <a:r>
              <a:rPr lang="ru-RU" b="1" dirty="0"/>
              <a:t>много </a:t>
            </a:r>
            <a:r>
              <a:rPr lang="ru-RU" b="1" dirty="0" smtClean="0"/>
              <a:t>по-бързо </a:t>
            </a:r>
            <a:r>
              <a:rPr lang="ru-RU" dirty="0" smtClean="0"/>
              <a:t>в сравнение, </a:t>
            </a:r>
            <a:r>
              <a:rPr lang="ru-RU" dirty="0"/>
              <a:t>к</a:t>
            </a:r>
            <a:r>
              <a:rPr lang="ru-RU" dirty="0" smtClean="0"/>
              <a:t>огато се използва само асиметричен </a:t>
            </a:r>
            <a:r>
              <a:rPr lang="ru-RU" dirty="0"/>
              <a:t>алгоритъм.</a:t>
            </a:r>
          </a:p>
          <a:p>
            <a:r>
              <a:rPr lang="ru-RU" dirty="0" smtClean="0"/>
              <a:t>Асиметричната </a:t>
            </a:r>
            <a:r>
              <a:rPr lang="ru-RU" dirty="0"/>
              <a:t>криптография </a:t>
            </a:r>
            <a:r>
              <a:rPr lang="ru-RU" dirty="0" smtClean="0"/>
              <a:t>е желан </a:t>
            </a:r>
            <a:r>
              <a:rPr lang="ru-RU" dirty="0"/>
              <a:t>инструмент за приложения за сигурност. Остава въпросът </a:t>
            </a:r>
            <a:r>
              <a:rPr lang="ru-RU" b="1" dirty="0"/>
              <a:t>как </a:t>
            </a:r>
            <a:r>
              <a:rPr lang="ru-RU" b="1" dirty="0" smtClean="0"/>
              <a:t>да </a:t>
            </a:r>
            <a:r>
              <a:rPr lang="ru-RU" b="1" dirty="0"/>
              <a:t>се </a:t>
            </a:r>
            <a:r>
              <a:rPr lang="ru-RU" b="1" dirty="0" smtClean="0"/>
              <a:t>създаде алгорит</a:t>
            </a:r>
            <a:r>
              <a:rPr lang="bg-BG" b="1" dirty="0" smtClean="0"/>
              <a:t>ъ</a:t>
            </a:r>
            <a:r>
              <a:rPr lang="ru-RU" b="1" dirty="0" smtClean="0"/>
              <a:t>м </a:t>
            </a:r>
            <a:r>
              <a:rPr lang="ru-RU" b="1" dirty="0"/>
              <a:t>с публичен </a:t>
            </a:r>
            <a:r>
              <a:rPr lang="ru-RU" b="1" dirty="0" smtClean="0"/>
              <a:t>ключ</a:t>
            </a:r>
            <a:r>
              <a:rPr lang="ru-RU" dirty="0" smtClean="0"/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697067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9024" y="160869"/>
            <a:ext cx="8610600" cy="640409"/>
          </a:xfrm>
        </p:spPr>
        <p:txBody>
          <a:bodyPr/>
          <a:lstStyle/>
          <a:p>
            <a:r>
              <a:rPr lang="bg-BG" dirty="0"/>
              <a:t>Асиметрична криптография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6384" y="1140643"/>
            <a:ext cx="10820400" cy="2599253"/>
          </a:xfrm>
        </p:spPr>
        <p:txBody>
          <a:bodyPr>
            <a:normAutofit fontScale="77500" lnSpcReduction="20000"/>
          </a:bodyPr>
          <a:lstStyle/>
          <a:p>
            <a:r>
              <a:rPr lang="bg-BG" b="1" dirty="0" smtClean="0"/>
              <a:t>Боб</a:t>
            </a:r>
            <a:r>
              <a:rPr lang="bg-BG" dirty="0" smtClean="0"/>
              <a:t> генерира </a:t>
            </a:r>
            <a:r>
              <a:rPr lang="bg-BG" b="1" dirty="0" smtClean="0"/>
              <a:t>двойка ключове </a:t>
            </a:r>
            <a:r>
              <a:rPr lang="bg-BG" b="1" dirty="0" smtClean="0">
                <a:solidFill>
                  <a:srgbClr val="00B050"/>
                </a:solidFill>
              </a:rPr>
              <a:t>публичен</a:t>
            </a:r>
            <a:r>
              <a:rPr lang="bg-BG" b="1" dirty="0" smtClean="0"/>
              <a:t>-</a:t>
            </a:r>
            <a:r>
              <a:rPr lang="bg-BG" b="1" dirty="0" smtClean="0">
                <a:solidFill>
                  <a:srgbClr val="FF0000"/>
                </a:solidFill>
              </a:rPr>
              <a:t>частен</a:t>
            </a:r>
            <a:r>
              <a:rPr lang="bg-BG" b="1" dirty="0" smtClean="0"/>
              <a:t> (</a:t>
            </a:r>
            <a:r>
              <a:rPr lang="ru-RU" b="1" dirty="0"/>
              <a:t>k</a:t>
            </a:r>
            <a:r>
              <a:rPr lang="ru-RU" b="1" baseline="-25000" dirty="0"/>
              <a:t>pub</a:t>
            </a:r>
            <a:r>
              <a:rPr lang="ru-RU" b="1" dirty="0"/>
              <a:t> </a:t>
            </a:r>
            <a:r>
              <a:rPr lang="ru-RU" dirty="0" smtClean="0"/>
              <a:t>и</a:t>
            </a:r>
            <a:r>
              <a:rPr lang="ru-RU" b="1" dirty="0" smtClean="0"/>
              <a:t> k</a:t>
            </a:r>
            <a:r>
              <a:rPr lang="ru-RU" b="1" baseline="-25000" dirty="0" smtClean="0"/>
              <a:t>pr</a:t>
            </a:r>
            <a:r>
              <a:rPr lang="bg-BG" b="1" dirty="0" smtClean="0"/>
              <a:t>) </a:t>
            </a:r>
            <a:r>
              <a:rPr lang="bg-BG" dirty="0" smtClean="0"/>
              <a:t>и изпраща по </a:t>
            </a:r>
            <a:r>
              <a:rPr lang="bg-BG" b="1" dirty="0" smtClean="0"/>
              <a:t>незащитен канал </a:t>
            </a:r>
            <a:r>
              <a:rPr lang="bg-BG" b="1" dirty="0" smtClean="0">
                <a:solidFill>
                  <a:srgbClr val="00B050"/>
                </a:solidFill>
              </a:rPr>
              <a:t>публичния ключ</a:t>
            </a:r>
            <a:r>
              <a:rPr lang="en-US" b="1" dirty="0" smtClean="0">
                <a:solidFill>
                  <a:srgbClr val="00B050"/>
                </a:solidFill>
              </a:rPr>
              <a:t> </a:t>
            </a:r>
            <a:r>
              <a:rPr lang="bg-BG" b="1" dirty="0"/>
              <a:t>(</a:t>
            </a:r>
            <a:r>
              <a:rPr lang="ru-RU" b="1" dirty="0"/>
              <a:t>k</a:t>
            </a:r>
            <a:r>
              <a:rPr lang="ru-RU" b="1" baseline="-25000" dirty="0"/>
              <a:t>pub</a:t>
            </a:r>
            <a:r>
              <a:rPr lang="bg-BG" dirty="0" smtClean="0"/>
              <a:t> на Алис;</a:t>
            </a:r>
          </a:p>
          <a:p>
            <a:r>
              <a:rPr lang="bg-BG" dirty="0" smtClean="0"/>
              <a:t>Алис използва </a:t>
            </a:r>
            <a:r>
              <a:rPr lang="bg-BG" b="1" dirty="0" smtClean="0">
                <a:solidFill>
                  <a:srgbClr val="00B050"/>
                </a:solidFill>
              </a:rPr>
              <a:t>публичния ключ</a:t>
            </a:r>
            <a:r>
              <a:rPr lang="bg-BG" dirty="0" smtClean="0"/>
              <a:t>, за да криптира </a:t>
            </a:r>
            <a:r>
              <a:rPr lang="bg-BG" b="1" dirty="0" smtClean="0">
                <a:solidFill>
                  <a:srgbClr val="00B0F0"/>
                </a:solidFill>
              </a:rPr>
              <a:t>секретен ключ </a:t>
            </a:r>
            <a:r>
              <a:rPr lang="en-US" b="1" dirty="0" smtClean="0"/>
              <a:t>k</a:t>
            </a:r>
            <a:r>
              <a:rPr lang="bg-BG" dirty="0" smtClean="0"/>
              <a:t>, необходим за криптиране на съобщение чрез симетричен алгоритъм и предава </a:t>
            </a:r>
            <a:r>
              <a:rPr lang="bg-BG" b="1" dirty="0" smtClean="0">
                <a:solidFill>
                  <a:srgbClr val="00B0F0"/>
                </a:solidFill>
              </a:rPr>
              <a:t>криптирания ключ </a:t>
            </a:r>
            <a:r>
              <a:rPr lang="bg-BG" dirty="0" smtClean="0"/>
              <a:t>на Боб;</a:t>
            </a:r>
          </a:p>
          <a:p>
            <a:r>
              <a:rPr lang="bg-BG" dirty="0" smtClean="0"/>
              <a:t>Боб използва </a:t>
            </a:r>
            <a:r>
              <a:rPr lang="bg-BG" b="1" dirty="0">
                <a:solidFill>
                  <a:srgbClr val="FF0000"/>
                </a:solidFill>
              </a:rPr>
              <a:t>частния </a:t>
            </a:r>
            <a:r>
              <a:rPr lang="bg-BG" b="1" dirty="0" smtClean="0">
                <a:solidFill>
                  <a:srgbClr val="FF0000"/>
                </a:solidFill>
              </a:rPr>
              <a:t>си ключ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ru-RU" b="1" dirty="0"/>
              <a:t>k</a:t>
            </a:r>
            <a:r>
              <a:rPr lang="ru-RU" b="1" baseline="-25000" dirty="0"/>
              <a:t>pr</a:t>
            </a:r>
            <a:r>
              <a:rPr lang="bg-BG" dirty="0" smtClean="0"/>
              <a:t>, за да декриптира </a:t>
            </a:r>
            <a:r>
              <a:rPr lang="bg-BG" b="1" dirty="0" smtClean="0">
                <a:solidFill>
                  <a:srgbClr val="00B0F0"/>
                </a:solidFill>
              </a:rPr>
              <a:t>криптирания ключ </a:t>
            </a:r>
            <a:r>
              <a:rPr lang="en-US" b="1" dirty="0"/>
              <a:t>k</a:t>
            </a:r>
            <a:r>
              <a:rPr lang="bg-BG" dirty="0" smtClean="0"/>
              <a:t>, изпратен от Алис; Така, Алис и Боб вече притежават необходимия </a:t>
            </a:r>
            <a:r>
              <a:rPr lang="bg-BG" b="1" dirty="0" smtClean="0">
                <a:solidFill>
                  <a:srgbClr val="00B0F0"/>
                </a:solidFill>
              </a:rPr>
              <a:t>секретен ключ </a:t>
            </a:r>
            <a:r>
              <a:rPr lang="en-US" b="1" dirty="0"/>
              <a:t>k </a:t>
            </a:r>
            <a:r>
              <a:rPr lang="bg-BG" dirty="0" smtClean="0"/>
              <a:t>за криптиране на съобщение чрез алгоритъм от симетричната криптография (например </a:t>
            </a:r>
            <a:r>
              <a:rPr lang="en-US" dirty="0" smtClean="0"/>
              <a:t>AES</a:t>
            </a:r>
            <a:r>
              <a:rPr lang="bg-BG" dirty="0" smtClean="0"/>
              <a:t>);</a:t>
            </a:r>
          </a:p>
          <a:p>
            <a:r>
              <a:rPr lang="bg-BG" dirty="0" smtClean="0"/>
              <a:t>Алис използва </a:t>
            </a:r>
            <a:r>
              <a:rPr lang="bg-BG" b="1" dirty="0" smtClean="0">
                <a:solidFill>
                  <a:srgbClr val="00B0F0"/>
                </a:solidFill>
              </a:rPr>
              <a:t>секретния ключ </a:t>
            </a:r>
            <a:r>
              <a:rPr lang="en-US" b="1" dirty="0"/>
              <a:t>k </a:t>
            </a:r>
            <a:r>
              <a:rPr lang="bg-BG" dirty="0" smtClean="0"/>
              <a:t>и криптира чрез </a:t>
            </a:r>
            <a:r>
              <a:rPr lang="en-US" dirty="0" smtClean="0"/>
              <a:t>AES </a:t>
            </a:r>
            <a:r>
              <a:rPr lang="bg-BG" dirty="0" smtClean="0"/>
              <a:t>съобщението и получената криптограма я изпраща на Боб;</a:t>
            </a:r>
          </a:p>
          <a:p>
            <a:r>
              <a:rPr lang="bg-BG" dirty="0" smtClean="0"/>
              <a:t>Боб получава от Алис криптограмата и използва </a:t>
            </a:r>
            <a:r>
              <a:rPr lang="bg-BG" b="1" dirty="0" smtClean="0">
                <a:solidFill>
                  <a:srgbClr val="00B0F0"/>
                </a:solidFill>
              </a:rPr>
              <a:t>същия секретен ключ </a:t>
            </a:r>
            <a:r>
              <a:rPr lang="en-US" b="1" dirty="0"/>
              <a:t>k</a:t>
            </a:r>
            <a:r>
              <a:rPr lang="bg-BG" dirty="0" smtClean="0"/>
              <a:t>, за да извърши декриптиране.</a:t>
            </a:r>
          </a:p>
          <a:p>
            <a:endParaRPr lang="bg-BG" dirty="0" smtClean="0"/>
          </a:p>
          <a:p>
            <a:endParaRPr lang="bg-BG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5807" y="3633736"/>
            <a:ext cx="7818501" cy="3157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19624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Асиметрична криптография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 smtClean="0"/>
              <a:t>В асиметричната криптография често се използват </a:t>
            </a:r>
            <a:r>
              <a:rPr lang="bg-BG" b="1" dirty="0" smtClean="0"/>
              <a:t>еднопосочни функции за </a:t>
            </a:r>
            <a:r>
              <a:rPr lang="bg-BG" b="1" dirty="0" smtClean="0">
                <a:solidFill>
                  <a:srgbClr val="00B0F0"/>
                </a:solidFill>
              </a:rPr>
              <a:t>постигане на голяма надеждност на алгоритъма</a:t>
            </a:r>
            <a:r>
              <a:rPr lang="bg-BG" dirty="0" smtClean="0"/>
              <a:t>.</a:t>
            </a:r>
          </a:p>
          <a:p>
            <a:r>
              <a:rPr lang="bg-BG" b="1" dirty="0" smtClean="0"/>
              <a:t>Еднопосочна функция – дефиниция</a:t>
            </a:r>
          </a:p>
          <a:p>
            <a:pPr marL="0" indent="0">
              <a:buNone/>
            </a:pPr>
            <a:r>
              <a:rPr lang="bg-BG" dirty="0" smtClean="0"/>
              <a:t>Функцията </a:t>
            </a:r>
            <a:r>
              <a:rPr lang="en-US" dirty="0" smtClean="0"/>
              <a:t>f</a:t>
            </a:r>
            <a:r>
              <a:rPr lang="en-US" dirty="0"/>
              <a:t>() </a:t>
            </a:r>
            <a:r>
              <a:rPr lang="bg-BG" dirty="0" smtClean="0"/>
              <a:t>е </a:t>
            </a:r>
            <a:r>
              <a:rPr lang="bg-BG" b="1" dirty="0" smtClean="0"/>
              <a:t>еднопосочна</a:t>
            </a:r>
            <a:r>
              <a:rPr lang="bg-BG" dirty="0" smtClean="0"/>
              <a:t>, ако</a:t>
            </a:r>
            <a:r>
              <a:rPr lang="en-US" dirty="0" smtClean="0"/>
              <a:t>: </a:t>
            </a:r>
            <a:endParaRPr lang="bg-BG" dirty="0" smtClean="0"/>
          </a:p>
          <a:p>
            <a:pPr marL="457200" indent="-457200">
              <a:buAutoNum type="arabicPeriod"/>
            </a:pPr>
            <a:r>
              <a:rPr lang="en-US" dirty="0" smtClean="0"/>
              <a:t>y </a:t>
            </a:r>
            <a:r>
              <a:rPr lang="en-US" dirty="0"/>
              <a:t>= f(x) </a:t>
            </a:r>
            <a:r>
              <a:rPr lang="bg-BG" dirty="0" smtClean="0"/>
              <a:t>е изчислително лесно (т.е. </a:t>
            </a:r>
            <a:r>
              <a:rPr lang="en-US" dirty="0" smtClean="0"/>
              <a:t>c=f(p)</a:t>
            </a:r>
            <a:r>
              <a:rPr lang="bg-BG" dirty="0" smtClean="0"/>
              <a:t>)</a:t>
            </a:r>
            <a:r>
              <a:rPr lang="en-US" dirty="0" smtClean="0"/>
              <a:t>;</a:t>
            </a:r>
            <a:endParaRPr lang="bg-BG" dirty="0" smtClean="0"/>
          </a:p>
          <a:p>
            <a:pPr marL="457200" indent="-457200">
              <a:buAutoNum type="arabicPeriod"/>
            </a:pPr>
            <a:r>
              <a:rPr lang="en-US" dirty="0" smtClean="0"/>
              <a:t>x </a:t>
            </a:r>
            <a:r>
              <a:rPr lang="en-US" dirty="0"/>
              <a:t>= f </a:t>
            </a:r>
            <a:r>
              <a:rPr lang="en-US" baseline="30000" dirty="0"/>
              <a:t>−1</a:t>
            </a:r>
            <a:r>
              <a:rPr lang="en-US" dirty="0"/>
              <a:t>(y) </a:t>
            </a:r>
            <a:r>
              <a:rPr lang="bg-BG" dirty="0" smtClean="0"/>
              <a:t>е изчислително невъзможно</a:t>
            </a:r>
            <a:r>
              <a:rPr lang="en-US" dirty="0" smtClean="0"/>
              <a:t> (</a:t>
            </a:r>
            <a:r>
              <a:rPr lang="bg-BG" dirty="0" smtClean="0"/>
              <a:t>т.е. </a:t>
            </a:r>
            <a:r>
              <a:rPr lang="en-US" dirty="0" smtClean="0"/>
              <a:t>p=f</a:t>
            </a:r>
            <a:r>
              <a:rPr lang="en-US" baseline="30000" dirty="0" smtClean="0"/>
              <a:t>-1</a:t>
            </a:r>
            <a:r>
              <a:rPr lang="en-US" dirty="0" smtClean="0"/>
              <a:t>(c)).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12272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16491" y="0"/>
            <a:ext cx="8610600" cy="1293028"/>
          </a:xfrm>
        </p:spPr>
        <p:txBody>
          <a:bodyPr/>
          <a:lstStyle/>
          <a:p>
            <a:r>
              <a:rPr lang="bg-BG" dirty="0"/>
              <a:t>Асиметрична криптография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517715"/>
            <a:ext cx="10820400" cy="5157405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Очевидно прилагателните „</a:t>
            </a:r>
            <a:r>
              <a:rPr lang="ru-RU" b="1" dirty="0"/>
              <a:t>лесно</a:t>
            </a:r>
            <a:r>
              <a:rPr lang="ru-RU" dirty="0"/>
              <a:t>” и </a:t>
            </a:r>
            <a:r>
              <a:rPr lang="ru-RU" dirty="0" smtClean="0"/>
              <a:t>„</a:t>
            </a:r>
            <a:r>
              <a:rPr lang="ru-RU" b="1" dirty="0" smtClean="0"/>
              <a:t>невъзможно</a:t>
            </a:r>
            <a:r>
              <a:rPr lang="ru-RU" dirty="0" smtClean="0"/>
              <a:t>” </a:t>
            </a:r>
            <a:r>
              <a:rPr lang="ru-RU" dirty="0"/>
              <a:t>не са особено точни. </a:t>
            </a:r>
          </a:p>
          <a:p>
            <a:r>
              <a:rPr lang="ru-RU" dirty="0" smtClean="0"/>
              <a:t>От математическа гледна точка, </a:t>
            </a:r>
            <a:r>
              <a:rPr lang="ru-RU" dirty="0"/>
              <a:t>една функция е </a:t>
            </a:r>
            <a:r>
              <a:rPr lang="ru-RU" b="1" dirty="0"/>
              <a:t>лесна</a:t>
            </a:r>
            <a:r>
              <a:rPr lang="ru-RU" dirty="0"/>
              <a:t> за изчисляване, ако може да бъде оценена в </a:t>
            </a:r>
            <a:r>
              <a:rPr lang="ru-RU" b="1" dirty="0"/>
              <a:t>полиномиално </a:t>
            </a:r>
            <a:r>
              <a:rPr lang="ru-RU" b="1" dirty="0" smtClean="0"/>
              <a:t>време</a:t>
            </a:r>
            <a:r>
              <a:rPr lang="ru-RU" dirty="0" smtClean="0"/>
              <a:t>. </a:t>
            </a:r>
          </a:p>
          <a:p>
            <a:r>
              <a:rPr lang="ru-RU" dirty="0" smtClean="0"/>
              <a:t>За да са полезни на практика </a:t>
            </a:r>
            <a:r>
              <a:rPr lang="ru-RU" dirty="0"/>
              <a:t>крипто </a:t>
            </a:r>
            <a:r>
              <a:rPr lang="ru-RU" dirty="0" smtClean="0"/>
              <a:t>системите, </a:t>
            </a:r>
            <a:r>
              <a:rPr lang="ru-RU" b="1" dirty="0"/>
              <a:t>изчислението y = f(x) трябва да бъде достатъчно </a:t>
            </a:r>
            <a:r>
              <a:rPr lang="ru-RU" b="1" dirty="0" smtClean="0"/>
              <a:t>бързо </a:t>
            </a:r>
            <a:r>
              <a:rPr lang="ru-RU" dirty="0" smtClean="0"/>
              <a:t>и да не </a:t>
            </a:r>
            <a:r>
              <a:rPr lang="ru-RU" dirty="0"/>
              <a:t>води до неприемливо бавно </a:t>
            </a:r>
            <a:r>
              <a:rPr lang="ru-RU" dirty="0" smtClean="0"/>
              <a:t>изпълнение </a:t>
            </a:r>
            <a:r>
              <a:rPr lang="ru-RU" dirty="0"/>
              <a:t>в приложение. </a:t>
            </a:r>
            <a:endParaRPr lang="ru-RU" dirty="0" smtClean="0"/>
          </a:p>
          <a:p>
            <a:r>
              <a:rPr lang="ru-RU" b="1" dirty="0" smtClean="0"/>
              <a:t>Обратното изчисление </a:t>
            </a:r>
            <a:r>
              <a:rPr lang="ru-RU" b="1" dirty="0"/>
              <a:t>x = f </a:t>
            </a:r>
            <a:r>
              <a:rPr lang="ru-RU" b="1" baseline="30000" dirty="0"/>
              <a:t>−1</a:t>
            </a:r>
            <a:r>
              <a:rPr lang="ru-RU" b="1" dirty="0"/>
              <a:t>(y) трябва да бъде толкова изчислително </a:t>
            </a:r>
            <a:r>
              <a:rPr lang="ru-RU" b="1" dirty="0" smtClean="0"/>
              <a:t>затруднено</a:t>
            </a:r>
            <a:r>
              <a:rPr lang="ru-RU" dirty="0" smtClean="0"/>
              <a:t>, </a:t>
            </a:r>
            <a:r>
              <a:rPr lang="ru-RU" dirty="0"/>
              <a:t>че </a:t>
            </a:r>
            <a:r>
              <a:rPr lang="ru-RU" dirty="0" smtClean="0"/>
              <a:t>да не </a:t>
            </a:r>
            <a:r>
              <a:rPr lang="ru-RU" dirty="0"/>
              <a:t>е възможно да се оцени в </a:t>
            </a:r>
            <a:r>
              <a:rPr lang="ru-RU" b="1" dirty="0"/>
              <a:t>разумен период от време</a:t>
            </a:r>
            <a:r>
              <a:rPr lang="ru-RU" dirty="0"/>
              <a:t>, да речем 10 000 години, когато се </a:t>
            </a:r>
            <a:r>
              <a:rPr lang="ru-RU" dirty="0" smtClean="0"/>
              <a:t>използва най-известният </a:t>
            </a:r>
            <a:r>
              <a:rPr lang="ru-RU" dirty="0"/>
              <a:t>алгоритъм.</a:t>
            </a:r>
          </a:p>
          <a:p>
            <a:r>
              <a:rPr lang="ru-RU" dirty="0"/>
              <a:t>Има </a:t>
            </a:r>
            <a:r>
              <a:rPr lang="ru-RU" b="1" dirty="0"/>
              <a:t>две</a:t>
            </a:r>
            <a:r>
              <a:rPr lang="ru-RU" dirty="0"/>
              <a:t> популярни </a:t>
            </a:r>
            <a:r>
              <a:rPr lang="ru-RU" b="1" dirty="0"/>
              <a:t>еднопосочни функции</a:t>
            </a:r>
            <a:r>
              <a:rPr lang="ru-RU" dirty="0"/>
              <a:t>, които се използват в </a:t>
            </a:r>
            <a:r>
              <a:rPr lang="ru-RU" dirty="0" smtClean="0"/>
              <a:t>практически крипто системи с </a:t>
            </a:r>
            <a:r>
              <a:rPr lang="ru-RU" dirty="0"/>
              <a:t>публичен </a:t>
            </a:r>
            <a:r>
              <a:rPr lang="ru-RU" dirty="0" smtClean="0"/>
              <a:t>ключ. </a:t>
            </a:r>
          </a:p>
          <a:p>
            <a:pPr lvl="1"/>
            <a:r>
              <a:rPr lang="ru-RU" dirty="0" smtClean="0"/>
              <a:t>Първият начин е свързан с </a:t>
            </a:r>
            <a:r>
              <a:rPr lang="ru-RU" b="1" dirty="0" smtClean="0"/>
              <a:t>целочисления </a:t>
            </a:r>
            <a:r>
              <a:rPr lang="ru-RU" b="1" dirty="0"/>
              <a:t>проблем за факторизиране</a:t>
            </a:r>
            <a:r>
              <a:rPr lang="ru-RU" dirty="0"/>
              <a:t>, на който се основава </a:t>
            </a:r>
            <a:r>
              <a:rPr lang="ru-RU" b="1" dirty="0"/>
              <a:t>RSA</a:t>
            </a:r>
            <a:r>
              <a:rPr lang="ru-RU" dirty="0" smtClean="0"/>
              <a:t>. При </a:t>
            </a:r>
            <a:r>
              <a:rPr lang="ru-RU" dirty="0"/>
              <a:t>дадени </a:t>
            </a:r>
            <a:r>
              <a:rPr lang="ru-RU" b="1" dirty="0"/>
              <a:t>две големи прости числа </a:t>
            </a:r>
            <a:r>
              <a:rPr lang="ru-RU" dirty="0"/>
              <a:t>е лесно да се изчисли </a:t>
            </a:r>
            <a:r>
              <a:rPr lang="ru-RU" b="1" dirty="0"/>
              <a:t>произведението</a:t>
            </a:r>
            <a:r>
              <a:rPr lang="ru-RU" dirty="0"/>
              <a:t>. Въпреки това е </a:t>
            </a:r>
            <a:r>
              <a:rPr lang="ru-RU" b="1" dirty="0"/>
              <a:t>много трудно да се разложи полученият </a:t>
            </a:r>
            <a:r>
              <a:rPr lang="ru-RU" b="1" dirty="0" smtClean="0"/>
              <a:t>продукт (разлагане на прости множители)</a:t>
            </a:r>
            <a:r>
              <a:rPr lang="ru-RU" dirty="0" smtClean="0"/>
              <a:t>. </a:t>
            </a:r>
            <a:r>
              <a:rPr lang="ru-RU" dirty="0"/>
              <a:t>Всъщност, ако всяко от простите числа има 150 или </a:t>
            </a:r>
            <a:r>
              <a:rPr lang="ru-RU" dirty="0" smtClean="0"/>
              <a:t>повече </a:t>
            </a:r>
            <a:r>
              <a:rPr lang="ru-RU" dirty="0"/>
              <a:t>цифри, полученият продукт не може да бъде разложен на множители, дори и с хиляди </a:t>
            </a:r>
            <a:r>
              <a:rPr lang="ru-RU" dirty="0" smtClean="0"/>
              <a:t>компютри, работещи </a:t>
            </a:r>
            <a:r>
              <a:rPr lang="ru-RU" dirty="0"/>
              <a:t>в продължение на много години. </a:t>
            </a:r>
            <a:endParaRPr lang="ru-RU" dirty="0" smtClean="0"/>
          </a:p>
          <a:p>
            <a:pPr lvl="1"/>
            <a:r>
              <a:rPr lang="ru-RU" dirty="0" smtClean="0"/>
              <a:t>Другата </a:t>
            </a:r>
            <a:r>
              <a:rPr lang="ru-RU" b="1" dirty="0"/>
              <a:t>еднопосочна функция</a:t>
            </a:r>
            <a:r>
              <a:rPr lang="ru-RU" dirty="0"/>
              <a:t>, която се използва широко, е </a:t>
            </a:r>
            <a:r>
              <a:rPr lang="ru-RU" dirty="0" smtClean="0"/>
              <a:t>проблемът </a:t>
            </a:r>
            <a:r>
              <a:rPr lang="ru-RU" dirty="0"/>
              <a:t>с </a:t>
            </a:r>
            <a:r>
              <a:rPr lang="ru-RU" b="1" dirty="0"/>
              <a:t>дискретния логаритъм</a:t>
            </a:r>
            <a:r>
              <a:rPr lang="ru-RU" dirty="0"/>
              <a:t>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192191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Асиметрична криптография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b="1" dirty="0" smtClean="0"/>
              <a:t>Еднопосочни функции</a:t>
            </a:r>
          </a:p>
          <a:p>
            <a:pPr marL="457200" indent="-457200">
              <a:buAutoNum type="arabicPeriod"/>
            </a:pPr>
            <a:r>
              <a:rPr lang="bg-BG" b="1" dirty="0" smtClean="0"/>
              <a:t>Целочислена </a:t>
            </a:r>
            <a:r>
              <a:rPr lang="bg-BG" b="1" dirty="0" err="1" smtClean="0"/>
              <a:t>факторизация</a:t>
            </a:r>
            <a:r>
              <a:rPr lang="bg-BG" b="1" dirty="0"/>
              <a:t> </a:t>
            </a:r>
            <a:r>
              <a:rPr lang="bg-BG" dirty="0" smtClean="0"/>
              <a:t>(разлагане на прости множители)</a:t>
            </a:r>
          </a:p>
          <a:p>
            <a:r>
              <a:rPr lang="bg-BG" dirty="0" smtClean="0"/>
              <a:t>Изчислението на две </a:t>
            </a:r>
            <a:r>
              <a:rPr lang="bg-BG" b="1" dirty="0" smtClean="0">
                <a:solidFill>
                  <a:schemeClr val="accent4">
                    <a:lumMod val="75000"/>
                  </a:schemeClr>
                </a:solidFill>
              </a:rPr>
              <a:t>прости числа </a:t>
            </a:r>
            <a:r>
              <a:rPr lang="bg-BG" dirty="0" smtClean="0"/>
              <a:t>е изчислително </a:t>
            </a:r>
            <a:r>
              <a:rPr lang="bg-BG" b="1" dirty="0" smtClean="0"/>
              <a:t>лесно</a:t>
            </a:r>
            <a:r>
              <a:rPr lang="bg-BG" dirty="0" smtClean="0"/>
              <a:t> и се извършва за </a:t>
            </a:r>
            <a:r>
              <a:rPr lang="bg-BG" dirty="0" err="1" smtClean="0"/>
              <a:t>полиномиално</a:t>
            </a:r>
            <a:r>
              <a:rPr lang="bg-BG" dirty="0" smtClean="0"/>
              <a:t> време. Обаче, </a:t>
            </a:r>
            <a:r>
              <a:rPr lang="bg-BG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задачата за разлагане на прости множители е трудна</a:t>
            </a:r>
            <a:r>
              <a:rPr lang="bg-BG" dirty="0" smtClean="0"/>
              <a:t> (от произведението да се намерят тези две прости числа)</a:t>
            </a:r>
            <a:r>
              <a:rPr lang="en-US" dirty="0" smtClean="0"/>
              <a:t> </a:t>
            </a:r>
            <a:r>
              <a:rPr lang="bg-BG" dirty="0" smtClean="0"/>
              <a:t>и затова се казва, че е </a:t>
            </a:r>
            <a:r>
              <a:rPr lang="bg-BG" b="1" u="sng" dirty="0" smtClean="0"/>
              <a:t>еднопосочна</a:t>
            </a:r>
            <a:r>
              <a:rPr lang="bg-BG" dirty="0" smtClean="0"/>
              <a:t>.</a:t>
            </a:r>
          </a:p>
          <a:p>
            <a:r>
              <a:rPr lang="bg-BG" dirty="0" smtClean="0"/>
              <a:t>Разлагането на прости множители е </a:t>
            </a:r>
            <a:r>
              <a:rPr lang="bg-BG" b="1" dirty="0" smtClean="0"/>
              <a:t>единствено</a:t>
            </a:r>
            <a:r>
              <a:rPr lang="bg-BG" dirty="0" smtClean="0"/>
              <a:t>, т.е. има само една двойка прости множители за всяко произведение.</a:t>
            </a:r>
          </a:p>
          <a:p>
            <a:r>
              <a:rPr lang="bg-BG" dirty="0" smtClean="0"/>
              <a:t>Ако единият от простите множители е малък, то не е трудно да се открие и от там може да се намери и </a:t>
            </a:r>
            <a:r>
              <a:rPr lang="bg-BG" dirty="0" smtClean="0"/>
              <a:t>другият.</a:t>
            </a:r>
            <a:endParaRPr lang="bg-BG" dirty="0" smtClean="0"/>
          </a:p>
        </p:txBody>
      </p:sp>
    </p:spTree>
    <p:extLst>
      <p:ext uri="{BB962C8B-B14F-4D97-AF65-F5344CB8AC3E}">
        <p14:creationId xmlns:p14="http://schemas.microsoft.com/office/powerpoint/2010/main" val="294394039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4744" y="340448"/>
            <a:ext cx="8610600" cy="1293028"/>
          </a:xfrm>
        </p:spPr>
        <p:txBody>
          <a:bodyPr/>
          <a:lstStyle/>
          <a:p>
            <a:r>
              <a:rPr lang="bg-BG" dirty="0"/>
              <a:t>Асиметрична криптография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9456" y="1521968"/>
            <a:ext cx="4325112" cy="4024125"/>
          </a:xfrm>
        </p:spPr>
        <p:txBody>
          <a:bodyPr/>
          <a:lstStyle/>
          <a:p>
            <a:r>
              <a:rPr lang="bg-BG" dirty="0" smtClean="0"/>
              <a:t>Ако се намери ефективен метод за </a:t>
            </a:r>
            <a:r>
              <a:rPr lang="bg-BG" b="1" dirty="0" smtClean="0"/>
              <a:t>разлагане на прости множители</a:t>
            </a:r>
            <a:r>
              <a:rPr lang="bg-BG" dirty="0" smtClean="0"/>
              <a:t>, тогава всяка </a:t>
            </a:r>
            <a:r>
              <a:rPr lang="bg-BG" dirty="0" err="1" smtClean="0"/>
              <a:t>крипто</a:t>
            </a:r>
            <a:r>
              <a:rPr lang="bg-BG" dirty="0" smtClean="0"/>
              <a:t> система с публичен ключ, чиято сигурност е свързана с тази задача като </a:t>
            </a:r>
            <a:r>
              <a:rPr lang="bg-BG" b="1" u="sng" dirty="0" smtClean="0"/>
              <a:t>еднопосочна функция</a:t>
            </a:r>
            <a:r>
              <a:rPr lang="bg-BG" dirty="0" smtClean="0"/>
              <a:t>, ще бъде разбита.</a:t>
            </a:r>
          </a:p>
          <a:p>
            <a:r>
              <a:rPr lang="en-US" b="1" dirty="0" smtClean="0"/>
              <a:t>RSA</a:t>
            </a:r>
            <a:r>
              <a:rPr lang="en-US" dirty="0" smtClean="0"/>
              <a:t> </a:t>
            </a:r>
            <a:r>
              <a:rPr lang="bg-BG" dirty="0" smtClean="0"/>
              <a:t>е </a:t>
            </a:r>
            <a:r>
              <a:rPr lang="bg-BG" dirty="0" err="1" smtClean="0"/>
              <a:t>крипто</a:t>
            </a:r>
            <a:r>
              <a:rPr lang="bg-BG" dirty="0" smtClean="0"/>
              <a:t> системата, чиято сигурност се основава на тази задача.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816789"/>
              </p:ext>
            </p:extLst>
          </p:nvPr>
        </p:nvGraphicFramePr>
        <p:xfrm>
          <a:off x="4544568" y="1317028"/>
          <a:ext cx="7489952" cy="469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6632">
                  <a:extLst>
                    <a:ext uri="{9D8B030D-6E8A-4147-A177-3AD203B41FA5}">
                      <a16:colId xmlns:a16="http://schemas.microsoft.com/office/drawing/2014/main" val="1737886524"/>
                    </a:ext>
                  </a:extLst>
                </a:gridCol>
                <a:gridCol w="3853320">
                  <a:extLst>
                    <a:ext uri="{9D8B030D-6E8A-4147-A177-3AD203B41FA5}">
                      <a16:colId xmlns:a16="http://schemas.microsoft.com/office/drawing/2014/main" val="4210221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bg-BG" dirty="0" smtClean="0"/>
                        <a:t>Число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 smtClean="0"/>
                        <a:t>Трудност на решението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2027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bg-BG" dirty="0" smtClean="0"/>
                        <a:t>15 =</a:t>
                      </a:r>
                      <a:r>
                        <a:rPr lang="bg-BG" baseline="0" dirty="0" smtClean="0"/>
                        <a:t> 5.3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 smtClean="0"/>
                        <a:t>Всеки може да го намери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2075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bg-BG" dirty="0" smtClean="0"/>
                        <a:t>143=13.11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 smtClean="0"/>
                        <a:t>Необходимо е малко време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6522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bg-BG" dirty="0" smtClean="0"/>
                        <a:t>6887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 smtClean="0"/>
                        <a:t>Няколко минути са необходими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33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bg-BG" dirty="0" smtClean="0"/>
                        <a:t>31897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 smtClean="0"/>
                        <a:t>Необходим е калкулатор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077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bg-BG" dirty="0" smtClean="0"/>
                        <a:t>20</a:t>
                      </a:r>
                      <a:r>
                        <a:rPr lang="en-US" dirty="0" smtClean="0"/>
                        <a:t>-</a:t>
                      </a:r>
                      <a:r>
                        <a:rPr lang="bg-BG" dirty="0" smtClean="0"/>
                        <a:t>цифрено</a:t>
                      </a:r>
                      <a:r>
                        <a:rPr lang="bg-BG" baseline="0" dirty="0" smtClean="0"/>
                        <a:t> число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 smtClean="0"/>
                        <a:t>Необходим е компютър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6400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bg-BG" dirty="0" smtClean="0"/>
                        <a:t>600 – цифрено число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 smtClean="0"/>
                        <a:t>Използва се компютър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35394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bg-BG" dirty="0" smtClean="0"/>
                        <a:t>600 –</a:t>
                      </a:r>
                      <a:r>
                        <a:rPr lang="bg-BG" baseline="0" dirty="0" smtClean="0"/>
                        <a:t> </a:t>
                      </a:r>
                      <a:r>
                        <a:rPr lang="bg-BG" dirty="0" smtClean="0"/>
                        <a:t>цифрено четно число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 smtClean="0"/>
                        <a:t>Единият множител веднага се намира, другите лесно могат да бъдат изчислени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19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bg-BG" dirty="0" smtClean="0"/>
                        <a:t>600 – цифрено число с малък множител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 smtClean="0"/>
                        <a:t>Единият множител лесно се намира,</a:t>
                      </a:r>
                      <a:r>
                        <a:rPr lang="bg-BG" baseline="0" dirty="0" smtClean="0"/>
                        <a:t> другите лесно се изчисляват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4990396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219456" y="6081282"/>
            <a:ext cx="117866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202122"/>
                </a:solidFill>
                <a:latin typeface="Arial" panose="020B0604020202020204" pitchFamily="34" charset="0"/>
              </a:rPr>
              <a:t>Най-голямото известно просто число към октомври 2019 г. е </a:t>
            </a:r>
            <a:r>
              <a:rPr lang="ru-RU" b="1" dirty="0">
                <a:solidFill>
                  <a:srgbClr val="202122"/>
                </a:solidFill>
                <a:latin typeface="Arial" panose="020B0604020202020204" pitchFamily="34" charset="0"/>
              </a:rPr>
              <a:t>2</a:t>
            </a:r>
            <a:r>
              <a:rPr lang="ru-RU" b="1" baseline="30000" dirty="0">
                <a:solidFill>
                  <a:srgbClr val="202122"/>
                </a:solidFill>
                <a:latin typeface="Arial" panose="020B0604020202020204" pitchFamily="34" charset="0"/>
              </a:rPr>
              <a:t>82 589 933</a:t>
            </a:r>
            <a:r>
              <a:rPr lang="ru-RU" b="1" dirty="0">
                <a:solidFill>
                  <a:srgbClr val="202122"/>
                </a:solidFill>
                <a:latin typeface="Arial" panose="020B0604020202020204" pitchFamily="34" charset="0"/>
              </a:rPr>
              <a:t> − 1</a:t>
            </a:r>
            <a:r>
              <a:rPr lang="ru-RU" dirty="0" smtClean="0">
                <a:solidFill>
                  <a:srgbClr val="202122"/>
                </a:solidFill>
                <a:latin typeface="Arial" panose="020B0604020202020204" pitchFamily="34" charset="0"/>
              </a:rPr>
              <a:t>,</a:t>
            </a:r>
            <a:r>
              <a:rPr lang="ru-RU" dirty="0">
                <a:solidFill>
                  <a:srgbClr val="202122"/>
                </a:solidFill>
                <a:latin typeface="Arial" panose="020B0604020202020204" pitchFamily="34" charset="0"/>
              </a:rPr>
              <a:t> и се записва с 24 862 048 знака. То е число на </a:t>
            </a:r>
            <a:r>
              <a:rPr lang="ru-RU" dirty="0">
                <a:solidFill>
                  <a:srgbClr val="3366CC"/>
                </a:solidFill>
                <a:latin typeface="Arial" panose="020B0604020202020204" pitchFamily="34" charset="0"/>
              </a:rPr>
              <a:t>Мерсен</a:t>
            </a:r>
            <a:r>
              <a:rPr lang="ru-RU" dirty="0">
                <a:solidFill>
                  <a:srgbClr val="202122"/>
                </a:solidFill>
                <a:latin typeface="Arial" panose="020B0604020202020204" pitchFamily="34" charset="0"/>
              </a:rPr>
              <a:t>, както и следващите го единадесет най-големи прости числа.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331106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Асиметрична криптография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bg-BG" b="1" dirty="0"/>
              <a:t>Еднопосочни функции</a:t>
            </a:r>
          </a:p>
          <a:p>
            <a:pPr marL="0" indent="0">
              <a:buNone/>
            </a:pPr>
            <a:r>
              <a:rPr lang="bg-BG" b="1" dirty="0" smtClean="0"/>
              <a:t>2. Задача за дискретния логаритъм</a:t>
            </a:r>
          </a:p>
          <a:p>
            <a:r>
              <a:rPr lang="bg-BG" dirty="0" smtClean="0"/>
              <a:t>Нека да трябва да се извърши </a:t>
            </a:r>
            <a:r>
              <a:rPr lang="bg-BG" b="1" dirty="0" smtClean="0"/>
              <a:t>степенуване по модул</a:t>
            </a:r>
            <a:r>
              <a:rPr lang="bg-BG" dirty="0" smtClean="0"/>
              <a:t>, т.е. </a:t>
            </a:r>
            <a:r>
              <a:rPr lang="en-US" b="1" dirty="0" err="1" smtClean="0"/>
              <a:t>a</a:t>
            </a:r>
            <a:r>
              <a:rPr lang="en-US" b="1" baseline="30000" dirty="0" err="1" smtClean="0"/>
              <a:t>b</a:t>
            </a:r>
            <a:r>
              <a:rPr lang="en-US" b="1" dirty="0" err="1" smtClean="0"/>
              <a:t>modn</a:t>
            </a:r>
            <a:r>
              <a:rPr lang="en-US" dirty="0" smtClean="0"/>
              <a:t>.</a:t>
            </a:r>
          </a:p>
          <a:p>
            <a:r>
              <a:rPr lang="bg-BG" b="1" dirty="0" smtClean="0"/>
              <a:t>Пример</a:t>
            </a:r>
            <a:r>
              <a:rPr lang="bg-BG" dirty="0" smtClean="0"/>
              <a:t>: 3</a:t>
            </a:r>
            <a:r>
              <a:rPr lang="bg-BG" baseline="30000" dirty="0" smtClean="0"/>
              <a:t>5</a:t>
            </a:r>
            <a:r>
              <a:rPr lang="en-US" dirty="0" smtClean="0"/>
              <a:t>mod</a:t>
            </a:r>
            <a:r>
              <a:rPr lang="bg-BG" dirty="0" smtClean="0"/>
              <a:t>7=5</a:t>
            </a:r>
            <a:r>
              <a:rPr lang="en-US" dirty="0" smtClean="0"/>
              <a:t>=243mod7=34 </a:t>
            </a:r>
            <a:r>
              <a:rPr lang="bg-BG" dirty="0" smtClean="0"/>
              <a:t>и остатък </a:t>
            </a:r>
            <a:r>
              <a:rPr lang="en-US" dirty="0" smtClean="0"/>
              <a:t>5</a:t>
            </a:r>
            <a:endParaRPr lang="bg-BG" dirty="0" smtClean="0"/>
          </a:p>
          <a:p>
            <a:r>
              <a:rPr lang="bg-BG" dirty="0" smtClean="0"/>
              <a:t>Степенуването се извършва за </a:t>
            </a:r>
            <a:r>
              <a:rPr lang="bg-BG" dirty="0" err="1" smtClean="0"/>
              <a:t>полиномиално</a:t>
            </a:r>
            <a:r>
              <a:rPr lang="bg-BG" dirty="0" smtClean="0"/>
              <a:t> време и </a:t>
            </a:r>
            <a:r>
              <a:rPr lang="bg-BG" b="1" dirty="0" smtClean="0"/>
              <a:t>степенуването по модул</a:t>
            </a:r>
            <a:r>
              <a:rPr lang="bg-BG" dirty="0" smtClean="0"/>
              <a:t> се счита за </a:t>
            </a:r>
            <a:r>
              <a:rPr lang="bg-BG" b="1" dirty="0" smtClean="0"/>
              <a:t>лесна операция</a:t>
            </a:r>
            <a:r>
              <a:rPr lang="bg-BG" dirty="0" smtClean="0"/>
              <a:t>.</a:t>
            </a:r>
          </a:p>
          <a:p>
            <a:r>
              <a:rPr lang="bg-BG" dirty="0" smtClean="0"/>
              <a:t>Обаче, обратната задача</a:t>
            </a:r>
            <a:r>
              <a:rPr lang="en-US" dirty="0" smtClean="0"/>
              <a:t>,</a:t>
            </a:r>
            <a:r>
              <a:rPr lang="bg-BG" dirty="0" smtClean="0"/>
              <a:t> ако се знае резултатът от степенуването по модул и числата </a:t>
            </a:r>
            <a:r>
              <a:rPr lang="bg-BG" b="1" dirty="0" smtClean="0"/>
              <a:t>а</a:t>
            </a:r>
            <a:r>
              <a:rPr lang="bg-BG" dirty="0" smtClean="0"/>
              <a:t> и </a:t>
            </a:r>
            <a:r>
              <a:rPr lang="en-US" b="1" dirty="0" smtClean="0"/>
              <a:t>n</a:t>
            </a:r>
            <a:r>
              <a:rPr lang="bg-BG" dirty="0" smtClean="0"/>
              <a:t> (</a:t>
            </a:r>
            <a:r>
              <a:rPr lang="en-US" b="1" dirty="0" smtClean="0"/>
              <a:t>n</a:t>
            </a:r>
            <a:r>
              <a:rPr lang="en-US" dirty="0" smtClean="0"/>
              <a:t> </a:t>
            </a:r>
            <a:r>
              <a:rPr lang="bg-BG" dirty="0" smtClean="0"/>
              <a:t>е просто число), </a:t>
            </a:r>
            <a:r>
              <a:rPr lang="bg-BG" b="1" dirty="0" smtClean="0">
                <a:solidFill>
                  <a:schemeClr val="accent4">
                    <a:lumMod val="75000"/>
                  </a:schemeClr>
                </a:solidFill>
              </a:rPr>
              <a:t>изчисляването на степенния показател </a:t>
            </a:r>
            <a:r>
              <a:rPr lang="en-US" b="1" dirty="0" smtClean="0">
                <a:solidFill>
                  <a:schemeClr val="accent4">
                    <a:lumMod val="75000"/>
                  </a:schemeClr>
                </a:solidFill>
              </a:rPr>
              <a:t>b </a:t>
            </a:r>
            <a:r>
              <a:rPr lang="bg-BG" b="1" dirty="0" smtClean="0">
                <a:solidFill>
                  <a:schemeClr val="accent4">
                    <a:lumMod val="75000"/>
                  </a:schemeClr>
                </a:solidFill>
              </a:rPr>
              <a:t>се счита за трудна задача</a:t>
            </a:r>
            <a:r>
              <a:rPr lang="bg-BG" dirty="0" smtClean="0"/>
              <a:t> (</a:t>
            </a:r>
            <a:r>
              <a:rPr lang="bg-BG" b="1" dirty="0" smtClean="0"/>
              <a:t>при </a:t>
            </a:r>
            <a:r>
              <a:rPr lang="en-US" b="1" dirty="0" smtClean="0"/>
              <a:t>n </a:t>
            </a:r>
            <a:r>
              <a:rPr lang="bg-BG" b="1" dirty="0" smtClean="0"/>
              <a:t>голямо просто число</a:t>
            </a:r>
            <a:r>
              <a:rPr lang="bg-BG" dirty="0" smtClean="0"/>
              <a:t>). Тази </a:t>
            </a:r>
            <a:r>
              <a:rPr lang="bg-BG" b="1" dirty="0" smtClean="0"/>
              <a:t>трудна задача </a:t>
            </a:r>
            <a:r>
              <a:rPr lang="bg-BG" dirty="0" smtClean="0"/>
              <a:t>се нарича </a:t>
            </a:r>
            <a:r>
              <a:rPr lang="bg-BG" b="1" dirty="0" smtClean="0"/>
              <a:t>задача за дискретния логаритъм</a:t>
            </a:r>
            <a:r>
              <a:rPr lang="bg-BG" dirty="0" smtClean="0"/>
              <a:t>.</a:t>
            </a:r>
          </a:p>
          <a:p>
            <a:r>
              <a:rPr lang="bg-BG" dirty="0" smtClean="0"/>
              <a:t>Това означава, че по дадени </a:t>
            </a:r>
            <a:r>
              <a:rPr lang="en-US" b="1" dirty="0" smtClean="0"/>
              <a:t>a</a:t>
            </a:r>
            <a:r>
              <a:rPr lang="en-US" dirty="0" smtClean="0"/>
              <a:t> </a:t>
            </a:r>
            <a:r>
              <a:rPr lang="bg-BG" dirty="0" smtClean="0"/>
              <a:t>и </a:t>
            </a:r>
            <a:r>
              <a:rPr lang="en-US" b="1" dirty="0" smtClean="0"/>
              <a:t>n</a:t>
            </a:r>
            <a:r>
              <a:rPr lang="bg-BG" dirty="0" smtClean="0"/>
              <a:t> </a:t>
            </a:r>
            <a:r>
              <a:rPr lang="en-US" dirty="0" smtClean="0"/>
              <a:t>(</a:t>
            </a:r>
            <a:r>
              <a:rPr lang="en-US" b="1" dirty="0" smtClean="0"/>
              <a:t>n </a:t>
            </a:r>
            <a:r>
              <a:rPr lang="bg-BG" b="1" dirty="0" smtClean="0"/>
              <a:t>е просто число</a:t>
            </a:r>
            <a:r>
              <a:rPr lang="en-US" dirty="0" smtClean="0"/>
              <a:t>)</a:t>
            </a:r>
            <a:r>
              <a:rPr lang="bg-BG" dirty="0" smtClean="0"/>
              <a:t>, </a:t>
            </a:r>
            <a:r>
              <a:rPr lang="bg-BG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функцията </a:t>
            </a:r>
            <a:r>
              <a:rPr lang="en-US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f(b)=</a:t>
            </a:r>
            <a:r>
              <a:rPr lang="en-US" b="1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a</a:t>
            </a:r>
            <a:r>
              <a:rPr lang="en-US" b="1" baseline="30000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b</a:t>
            </a:r>
            <a:r>
              <a:rPr lang="en-US" b="1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modn</a:t>
            </a:r>
            <a:r>
              <a:rPr lang="bg-BG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bg-BG" dirty="0" smtClean="0"/>
              <a:t>се счита за </a:t>
            </a:r>
            <a:r>
              <a:rPr lang="bg-BG" b="1" u="sng" dirty="0" smtClean="0"/>
              <a:t>еднопосочна функция</a:t>
            </a:r>
            <a:r>
              <a:rPr lang="bg-BG" dirty="0" smtClean="0"/>
              <a:t>, тъй като </a:t>
            </a:r>
            <a:r>
              <a:rPr lang="bg-BG" b="1" dirty="0" smtClean="0"/>
              <a:t>намирането на </a:t>
            </a:r>
            <a:r>
              <a:rPr lang="en-US" b="1" dirty="0" smtClean="0"/>
              <a:t>b </a:t>
            </a:r>
            <a:r>
              <a:rPr lang="bg-BG" b="1" dirty="0" smtClean="0"/>
              <a:t>е трудна задача </a:t>
            </a:r>
            <a:r>
              <a:rPr lang="en-US" b="1" dirty="0" err="1" smtClean="0"/>
              <a:t>log</a:t>
            </a:r>
            <a:r>
              <a:rPr lang="en-US" b="1" baseline="-25000" dirty="0" err="1" smtClean="0"/>
              <a:t>a</a:t>
            </a:r>
            <a:r>
              <a:rPr lang="en-US" b="1" dirty="0" smtClean="0"/>
              <a:t>(f(b))</a:t>
            </a:r>
            <a:r>
              <a:rPr lang="en-US" b="1" dirty="0" err="1" smtClean="0"/>
              <a:t>modn</a:t>
            </a:r>
            <a:r>
              <a:rPr lang="en-US" b="1" dirty="0" smtClean="0"/>
              <a:t>=b</a:t>
            </a:r>
            <a:r>
              <a:rPr lang="bg-BG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87891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Асиметрична криптография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791094"/>
            <a:ext cx="10820400" cy="4751108"/>
          </a:xfrm>
        </p:spPr>
        <p:txBody>
          <a:bodyPr>
            <a:normAutofit fontScale="92500" lnSpcReduction="10000"/>
          </a:bodyPr>
          <a:lstStyle/>
          <a:p>
            <a:r>
              <a:rPr lang="bg-BG" b="1" dirty="0" smtClean="0"/>
              <a:t>Механизми за сигурност</a:t>
            </a:r>
          </a:p>
          <a:p>
            <a:r>
              <a:rPr lang="ru-RU" dirty="0" smtClean="0"/>
              <a:t>Криптосистемите с </a:t>
            </a:r>
            <a:r>
              <a:rPr lang="ru-RU" dirty="0"/>
              <a:t>публичен ключ могат да се използват </a:t>
            </a:r>
            <a:r>
              <a:rPr lang="ru-RU" dirty="0" smtClean="0"/>
              <a:t>както за </a:t>
            </a:r>
            <a:r>
              <a:rPr lang="ru-RU" b="1" dirty="0"/>
              <a:t>криптиране</a:t>
            </a:r>
            <a:r>
              <a:rPr lang="ru-RU" dirty="0"/>
              <a:t> </a:t>
            </a:r>
            <a:r>
              <a:rPr lang="ru-RU" dirty="0" smtClean="0"/>
              <a:t>на съобщения, така и да изпълняват </a:t>
            </a:r>
            <a:r>
              <a:rPr lang="ru-RU" b="1" dirty="0" smtClean="0"/>
              <a:t>различни функции</a:t>
            </a:r>
            <a:r>
              <a:rPr lang="ru-RU" dirty="0" smtClean="0"/>
              <a:t>, свързани със сигурността.</a:t>
            </a:r>
          </a:p>
          <a:p>
            <a:r>
              <a:rPr lang="ru-RU" dirty="0" smtClean="0"/>
              <a:t>Основни </a:t>
            </a:r>
            <a:r>
              <a:rPr lang="ru-RU" b="1" dirty="0"/>
              <a:t>механизми за сигурност </a:t>
            </a:r>
            <a:r>
              <a:rPr lang="ru-RU" dirty="0"/>
              <a:t>на </a:t>
            </a:r>
            <a:r>
              <a:rPr lang="ru-RU" b="1" dirty="0"/>
              <a:t>алгоритмите с публичен ключ</a:t>
            </a:r>
            <a:r>
              <a:rPr lang="ru-RU" dirty="0"/>
              <a:t>:</a:t>
            </a:r>
          </a:p>
          <a:p>
            <a:pPr lvl="1"/>
            <a:r>
              <a:rPr lang="ru-RU" b="1" dirty="0"/>
              <a:t>Създаване на </a:t>
            </a:r>
            <a:r>
              <a:rPr lang="ru-RU" b="1" dirty="0" smtClean="0"/>
              <a:t>ключ </a:t>
            </a:r>
            <a:r>
              <a:rPr lang="ru-RU" dirty="0" smtClean="0"/>
              <a:t>- Има </a:t>
            </a:r>
            <a:r>
              <a:rPr lang="ru-RU" dirty="0"/>
              <a:t>протоколи за </a:t>
            </a:r>
            <a:r>
              <a:rPr lang="bg-BG" b="1" dirty="0" smtClean="0"/>
              <a:t>генериране и предаване</a:t>
            </a:r>
            <a:r>
              <a:rPr lang="ru-RU" b="1" dirty="0" smtClean="0"/>
              <a:t> </a:t>
            </a:r>
            <a:r>
              <a:rPr lang="ru-RU" b="1" dirty="0"/>
              <a:t>на секретни </a:t>
            </a:r>
            <a:r>
              <a:rPr lang="ru-RU" b="1" dirty="0" smtClean="0"/>
              <a:t>ключове по несигурен </a:t>
            </a:r>
            <a:r>
              <a:rPr lang="ru-RU" b="1" dirty="0"/>
              <a:t>канал</a:t>
            </a:r>
            <a:r>
              <a:rPr lang="ru-RU" dirty="0"/>
              <a:t>. Примери за такива протоколи </a:t>
            </a:r>
            <a:r>
              <a:rPr lang="ru-RU" dirty="0" smtClean="0"/>
              <a:t>са </a:t>
            </a:r>
            <a:r>
              <a:rPr lang="ru-RU" b="1" dirty="0" smtClean="0"/>
              <a:t>Diffie–Hellman</a:t>
            </a:r>
            <a:r>
              <a:rPr lang="ru-RU" dirty="0" smtClean="0"/>
              <a:t> алгоритъм за </a:t>
            </a:r>
            <a:r>
              <a:rPr lang="ru-RU" b="1" dirty="0" smtClean="0"/>
              <a:t>обмен</a:t>
            </a:r>
            <a:r>
              <a:rPr lang="ru-RU" dirty="0" smtClean="0"/>
              <a:t> на </a:t>
            </a:r>
            <a:r>
              <a:rPr lang="ru-RU" dirty="0" smtClean="0"/>
              <a:t>ключове.</a:t>
            </a:r>
            <a:endParaRPr lang="ru-RU" dirty="0"/>
          </a:p>
          <a:p>
            <a:pPr lvl="1"/>
            <a:r>
              <a:rPr lang="ru-RU" b="1" dirty="0"/>
              <a:t>Неотричане</a:t>
            </a:r>
            <a:r>
              <a:rPr lang="ru-RU" dirty="0"/>
              <a:t> </a:t>
            </a:r>
            <a:r>
              <a:rPr lang="ru-RU" dirty="0" smtClean="0"/>
              <a:t>- Осигуряването </a:t>
            </a:r>
            <a:r>
              <a:rPr lang="ru-RU" dirty="0"/>
              <a:t>на </a:t>
            </a:r>
            <a:r>
              <a:rPr lang="ru-RU" b="1" dirty="0"/>
              <a:t>неотричане и цялост на съобщението </a:t>
            </a:r>
            <a:r>
              <a:rPr lang="ru-RU" dirty="0" smtClean="0"/>
              <a:t>могат </a:t>
            </a:r>
            <a:r>
              <a:rPr lang="ru-RU" dirty="0"/>
              <a:t>да </a:t>
            </a:r>
            <a:r>
              <a:rPr lang="ru-RU" dirty="0" smtClean="0"/>
              <a:t>бъдат реализирани </a:t>
            </a:r>
            <a:r>
              <a:rPr lang="ru-RU" dirty="0"/>
              <a:t>с алгоритми за </a:t>
            </a:r>
            <a:r>
              <a:rPr lang="ru-RU" b="1" dirty="0"/>
              <a:t>цифров подпис, например RSA, </a:t>
            </a:r>
            <a:r>
              <a:rPr lang="ru-RU" b="1" dirty="0" smtClean="0"/>
              <a:t>DSA</a:t>
            </a:r>
            <a:r>
              <a:rPr lang="en-US" b="1" dirty="0"/>
              <a:t> (Digital Signature Algorithm)</a:t>
            </a:r>
            <a:r>
              <a:rPr lang="ru-RU" b="1" dirty="0" smtClean="0"/>
              <a:t> </a:t>
            </a:r>
            <a:r>
              <a:rPr lang="ru-RU" b="1" dirty="0"/>
              <a:t>или </a:t>
            </a:r>
            <a:r>
              <a:rPr lang="ru-RU" b="1" dirty="0" smtClean="0"/>
              <a:t>ECDSA</a:t>
            </a:r>
            <a:r>
              <a:rPr lang="en-US" b="1" dirty="0" smtClean="0"/>
              <a:t> (</a:t>
            </a:r>
            <a:r>
              <a:rPr lang="en-US" b="1" dirty="0"/>
              <a:t>Elliptic Curve Digital Signature Algorithm</a:t>
            </a:r>
            <a:r>
              <a:rPr lang="en-US" b="1" dirty="0" smtClean="0"/>
              <a:t>)</a:t>
            </a:r>
            <a:r>
              <a:rPr lang="ru-RU" dirty="0" smtClean="0"/>
              <a:t>.</a:t>
            </a:r>
            <a:endParaRPr lang="ru-RU" dirty="0"/>
          </a:p>
          <a:p>
            <a:pPr lvl="1"/>
            <a:r>
              <a:rPr lang="ru-RU" b="1" dirty="0"/>
              <a:t>Идентификация</a:t>
            </a:r>
            <a:r>
              <a:rPr lang="ru-RU" dirty="0"/>
              <a:t> </a:t>
            </a:r>
            <a:r>
              <a:rPr lang="ru-RU" dirty="0" smtClean="0"/>
              <a:t>- Можем </a:t>
            </a:r>
            <a:r>
              <a:rPr lang="ru-RU" dirty="0"/>
              <a:t>да идентифицираме обекти, използвайки </a:t>
            </a:r>
            <a:r>
              <a:rPr lang="ru-RU" b="1" dirty="0"/>
              <a:t>протоколи за предизвикателство и отговор</a:t>
            </a:r>
            <a:r>
              <a:rPr lang="ru-RU" dirty="0"/>
              <a:t> </a:t>
            </a:r>
            <a:r>
              <a:rPr lang="ru-RU" dirty="0" smtClean="0"/>
              <a:t>(</a:t>
            </a:r>
            <a:r>
              <a:rPr lang="en-US" dirty="0" smtClean="0"/>
              <a:t>challenge-and-response</a:t>
            </a:r>
            <a:r>
              <a:rPr lang="ru-RU" dirty="0" smtClean="0"/>
              <a:t>) заедно </a:t>
            </a:r>
            <a:r>
              <a:rPr lang="ru-RU" dirty="0"/>
              <a:t>с цифрови подписи, например в приложения като </a:t>
            </a:r>
            <a:r>
              <a:rPr lang="ru-RU" dirty="0" smtClean="0"/>
              <a:t>смарт карти </a:t>
            </a:r>
            <a:r>
              <a:rPr lang="ru-RU" dirty="0"/>
              <a:t>за банкиране или за мобилни телефони.</a:t>
            </a:r>
          </a:p>
          <a:p>
            <a:pPr lvl="1"/>
            <a:r>
              <a:rPr lang="ru-RU" b="1" dirty="0" smtClean="0"/>
              <a:t>Криптиране</a:t>
            </a:r>
            <a:r>
              <a:rPr lang="ru-RU" dirty="0" smtClean="0"/>
              <a:t> -  </a:t>
            </a:r>
            <a:r>
              <a:rPr lang="ru-RU" dirty="0"/>
              <a:t>Ние можем да </a:t>
            </a:r>
            <a:r>
              <a:rPr lang="ru-RU" dirty="0" smtClean="0"/>
              <a:t>криптираме </a:t>
            </a:r>
            <a:r>
              <a:rPr lang="ru-RU" dirty="0"/>
              <a:t>съобщения с помощта на алгоритми като </a:t>
            </a:r>
            <a:r>
              <a:rPr lang="ru-RU" b="1" dirty="0" smtClean="0"/>
              <a:t>RSA</a:t>
            </a:r>
            <a:r>
              <a:rPr lang="ru-RU" dirty="0"/>
              <a:t>,</a:t>
            </a:r>
            <a:r>
              <a:rPr lang="en-US" dirty="0" smtClean="0"/>
              <a:t> </a:t>
            </a:r>
            <a:r>
              <a:rPr lang="en-US" b="1" dirty="0" err="1" smtClean="0"/>
              <a:t>ElGamal</a:t>
            </a:r>
            <a:r>
              <a:rPr lang="bg-BG" b="1" dirty="0" smtClean="0"/>
              <a:t>, </a:t>
            </a:r>
            <a:r>
              <a:rPr lang="bg-BG" b="1" dirty="0" smtClean="0"/>
              <a:t>други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7501091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Асиметрична криптография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791094"/>
            <a:ext cx="10820400" cy="4939644"/>
          </a:xfrm>
        </p:spPr>
        <p:txBody>
          <a:bodyPr>
            <a:normAutofit fontScale="85000" lnSpcReduction="20000"/>
          </a:bodyPr>
          <a:lstStyle/>
          <a:p>
            <a:r>
              <a:rPr lang="ru-RU" dirty="0" smtClean="0"/>
              <a:t>Съществуват </a:t>
            </a:r>
            <a:r>
              <a:rPr lang="ru-RU" dirty="0"/>
              <a:t>няколкостотин </a:t>
            </a:r>
            <a:r>
              <a:rPr lang="ru-RU" dirty="0" smtClean="0"/>
              <a:t>алгоритми от симетричната криптография (пример </a:t>
            </a:r>
            <a:r>
              <a:rPr lang="ru-RU" dirty="0"/>
              <a:t>DES и AES</a:t>
            </a:r>
            <a:r>
              <a:rPr lang="ru-RU" dirty="0" smtClean="0"/>
              <a:t>), както и бяха </a:t>
            </a:r>
            <a:r>
              <a:rPr lang="ru-RU" dirty="0"/>
              <a:t>предложени </a:t>
            </a:r>
            <a:r>
              <a:rPr lang="ru-RU" dirty="0" smtClean="0"/>
              <a:t>през годините, въпреки </a:t>
            </a:r>
            <a:r>
              <a:rPr lang="ru-RU" dirty="0"/>
              <a:t>че беше установено, че много </a:t>
            </a:r>
            <a:r>
              <a:rPr lang="ru-RU" dirty="0" smtClean="0"/>
              <a:t>от тях не </a:t>
            </a:r>
            <a:r>
              <a:rPr lang="ru-RU" dirty="0"/>
              <a:t>са </a:t>
            </a:r>
            <a:r>
              <a:rPr lang="ru-RU" dirty="0" smtClean="0"/>
              <a:t>сигурни и не се използват на практика.</a:t>
            </a:r>
            <a:endParaRPr lang="ru-RU" dirty="0"/>
          </a:p>
          <a:p>
            <a:r>
              <a:rPr lang="ru-RU" dirty="0" smtClean="0"/>
              <a:t>Ситуацията </a:t>
            </a:r>
            <a:r>
              <a:rPr lang="ru-RU" dirty="0"/>
              <a:t>е съвсем различна при асиметричните алгоритми. Има само </a:t>
            </a:r>
            <a:r>
              <a:rPr lang="ru-RU" b="1" dirty="0"/>
              <a:t>три основни групи алгоритми с публичен ключ</a:t>
            </a:r>
            <a:r>
              <a:rPr lang="ru-RU" dirty="0"/>
              <a:t>, които са от </a:t>
            </a:r>
            <a:r>
              <a:rPr lang="ru-RU" b="1" dirty="0"/>
              <a:t>практическо значение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Те </a:t>
            </a:r>
            <a:r>
              <a:rPr lang="ru-RU" dirty="0"/>
              <a:t>могат да бъдат </a:t>
            </a:r>
            <a:r>
              <a:rPr lang="ru-RU" dirty="0" smtClean="0"/>
              <a:t>класифицирани въз </a:t>
            </a:r>
            <a:r>
              <a:rPr lang="ru-RU" dirty="0"/>
              <a:t>основа на техния основен </a:t>
            </a:r>
            <a:r>
              <a:rPr lang="ru-RU" b="1" dirty="0"/>
              <a:t>изчислителен проблем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b="1" dirty="0" smtClean="0"/>
              <a:t>	1. Крипто системи с целочислена факторизация</a:t>
            </a:r>
            <a:r>
              <a:rPr lang="en-US" b="1" dirty="0" smtClean="0"/>
              <a:t> </a:t>
            </a:r>
            <a:r>
              <a:rPr lang="bg-BG" b="1" dirty="0" smtClean="0"/>
              <a:t>(разлагане на множители)</a:t>
            </a:r>
            <a:r>
              <a:rPr lang="ru-RU" b="1" dirty="0" smtClean="0"/>
              <a:t> </a:t>
            </a:r>
            <a:r>
              <a:rPr lang="ru-RU" dirty="0" smtClean="0"/>
              <a:t>- Няколко крипто системи </a:t>
            </a:r>
            <a:r>
              <a:rPr lang="ru-RU" dirty="0"/>
              <a:t>с публичен ключ се основават </a:t>
            </a:r>
            <a:r>
              <a:rPr lang="ru-RU" dirty="0" smtClean="0"/>
              <a:t>на фактът</a:t>
            </a:r>
            <a:r>
              <a:rPr lang="ru-RU" dirty="0"/>
              <a:t>, че е трудно да се разделят на множители големи цели числа. </a:t>
            </a:r>
            <a:r>
              <a:rPr lang="ru-RU" dirty="0" smtClean="0"/>
              <a:t>Най-популярният </a:t>
            </a:r>
            <a:r>
              <a:rPr lang="ru-RU" dirty="0"/>
              <a:t>представител на това семейство алгоритми е </a:t>
            </a:r>
            <a:r>
              <a:rPr lang="ru-RU" b="1" dirty="0"/>
              <a:t>RSA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b="1" dirty="0" smtClean="0"/>
              <a:t>	2. Крипто системи, основани на дискретни логаритми </a:t>
            </a:r>
            <a:r>
              <a:rPr lang="ru-RU" dirty="0" smtClean="0"/>
              <a:t>- </a:t>
            </a:r>
            <a:r>
              <a:rPr lang="ru-RU" dirty="0"/>
              <a:t>Има няколко алгоритъма, които </a:t>
            </a:r>
            <a:r>
              <a:rPr lang="ru-RU" dirty="0" smtClean="0"/>
              <a:t>са разработени въз </a:t>
            </a:r>
            <a:r>
              <a:rPr lang="ru-RU" dirty="0"/>
              <a:t>основа на това, което е известно като проблем с дискретния логаритъм в крайни полета</a:t>
            </a:r>
            <a:r>
              <a:rPr lang="ru-RU" dirty="0" smtClean="0"/>
              <a:t>. Най-популярните </a:t>
            </a:r>
            <a:r>
              <a:rPr lang="ru-RU" dirty="0"/>
              <a:t>примери включват </a:t>
            </a:r>
            <a:r>
              <a:rPr lang="ru-RU" dirty="0" smtClean="0"/>
              <a:t>алгоритмите </a:t>
            </a:r>
            <a:r>
              <a:rPr lang="ru-RU" b="1" dirty="0"/>
              <a:t>Diffie-Hellman</a:t>
            </a:r>
            <a:r>
              <a:rPr lang="ru-RU" b="1" dirty="0" smtClean="0"/>
              <a:t>, Elgamal, алгоритъм </a:t>
            </a:r>
            <a:r>
              <a:rPr lang="ru-RU" b="1" dirty="0"/>
              <a:t>за цифров подпис </a:t>
            </a:r>
            <a:r>
              <a:rPr lang="ru-RU" b="1" dirty="0" smtClean="0"/>
              <a:t>(</a:t>
            </a:r>
            <a:r>
              <a:rPr lang="en-US" b="1" dirty="0" smtClean="0"/>
              <a:t>Digital Signature Algorithm - </a:t>
            </a:r>
            <a:r>
              <a:rPr lang="ru-RU" b="1" dirty="0" smtClean="0"/>
              <a:t>DSA</a:t>
            </a:r>
            <a:r>
              <a:rPr lang="ru-RU" b="1" dirty="0"/>
              <a:t>)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b="1" dirty="0" smtClean="0"/>
              <a:t>	3. Крипто системи, основани </a:t>
            </a:r>
            <a:r>
              <a:rPr lang="ru-RU" b="1" dirty="0"/>
              <a:t>на елиптична </a:t>
            </a:r>
            <a:r>
              <a:rPr lang="ru-RU" b="1" dirty="0" smtClean="0"/>
              <a:t>крива</a:t>
            </a:r>
            <a:r>
              <a:rPr lang="ru-RU" dirty="0" smtClean="0"/>
              <a:t> - Обобщение </a:t>
            </a:r>
            <a:r>
              <a:rPr lang="ru-RU" dirty="0"/>
              <a:t>на дискретния </a:t>
            </a:r>
            <a:r>
              <a:rPr lang="ru-RU" dirty="0" smtClean="0"/>
              <a:t>логаритъм са крипто системите, основани на елиптични криви </a:t>
            </a:r>
            <a:r>
              <a:rPr lang="ru-RU" dirty="0"/>
              <a:t>с публичен ключ. Най-популярните примери включват обмен на ключове на </a:t>
            </a:r>
            <a:r>
              <a:rPr lang="ru-RU" b="1" dirty="0"/>
              <a:t>Diffie-Hellman с </a:t>
            </a:r>
            <a:r>
              <a:rPr lang="ru-RU" b="1" dirty="0" smtClean="0"/>
              <a:t>елиптичн</a:t>
            </a:r>
            <a:r>
              <a:rPr lang="bg-BG" b="1" dirty="0"/>
              <a:t>и</a:t>
            </a:r>
            <a:r>
              <a:rPr lang="ru-RU" b="1" dirty="0" smtClean="0"/>
              <a:t> криви </a:t>
            </a:r>
            <a:r>
              <a:rPr lang="ru-RU" dirty="0" smtClean="0"/>
              <a:t>и </a:t>
            </a:r>
            <a:r>
              <a:rPr lang="ru-RU" b="1" dirty="0" smtClean="0"/>
              <a:t>алгоритъм </a:t>
            </a:r>
            <a:r>
              <a:rPr lang="ru-RU" b="1" dirty="0"/>
              <a:t>за цифров подпис с </a:t>
            </a:r>
            <a:r>
              <a:rPr lang="ru-RU" b="1" dirty="0" smtClean="0"/>
              <a:t>елиптични криви</a:t>
            </a:r>
            <a:r>
              <a:rPr lang="ru-RU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6247191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Асиметрична криптография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0040" y="1923068"/>
            <a:ext cx="11186160" cy="4323049"/>
          </a:xfrm>
        </p:spPr>
        <p:txBody>
          <a:bodyPr>
            <a:normAutofit fontScale="92500" lnSpcReduction="10000"/>
          </a:bodyPr>
          <a:lstStyle/>
          <a:p>
            <a:r>
              <a:rPr lang="ru-RU" b="1" dirty="0" smtClean="0"/>
              <a:t>Дължина на ключа и </a:t>
            </a:r>
            <a:r>
              <a:rPr lang="ru-RU" b="1" dirty="0"/>
              <a:t>нива на сигурност</a:t>
            </a:r>
          </a:p>
          <a:p>
            <a:r>
              <a:rPr lang="ru-RU" dirty="0"/>
              <a:t>И трите </a:t>
            </a:r>
            <a:r>
              <a:rPr lang="ru-RU" dirty="0" smtClean="0"/>
              <a:t>групи алгоритми </a:t>
            </a:r>
            <a:r>
              <a:rPr lang="ru-RU" dirty="0"/>
              <a:t>с публичен ключ се основават на </a:t>
            </a:r>
            <a:r>
              <a:rPr lang="ru-RU" b="1" dirty="0"/>
              <a:t>теоретични функции на числата</a:t>
            </a:r>
            <a:r>
              <a:rPr lang="ru-RU" dirty="0"/>
              <a:t>. Една отличителна черта при тях е, че изискват </a:t>
            </a:r>
            <a:r>
              <a:rPr lang="ru-RU" dirty="0" smtClean="0"/>
              <a:t>математически операции </a:t>
            </a:r>
            <a:r>
              <a:rPr lang="ru-RU" dirty="0"/>
              <a:t>с </a:t>
            </a:r>
            <a:r>
              <a:rPr lang="ru-RU" b="1" dirty="0"/>
              <a:t>много дълги операнди и ключове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b="1" dirty="0" smtClean="0">
                <a:solidFill>
                  <a:srgbClr val="FF0000"/>
                </a:solidFill>
              </a:rPr>
              <a:t>Колкото </a:t>
            </a:r>
            <a:r>
              <a:rPr lang="ru-RU" b="1" dirty="0">
                <a:solidFill>
                  <a:srgbClr val="FF0000"/>
                </a:solidFill>
              </a:rPr>
              <a:t>по-дълги са </a:t>
            </a:r>
            <a:r>
              <a:rPr lang="ru-RU" b="1" dirty="0" smtClean="0">
                <a:solidFill>
                  <a:srgbClr val="FF0000"/>
                </a:solidFill>
              </a:rPr>
              <a:t>операндите и ключовете, </a:t>
            </a:r>
            <a:r>
              <a:rPr lang="ru-RU" b="1" dirty="0">
                <a:solidFill>
                  <a:srgbClr val="FF0000"/>
                </a:solidFill>
              </a:rPr>
              <a:t>толкова по-сигурни </a:t>
            </a:r>
            <a:r>
              <a:rPr lang="ru-RU" b="1" dirty="0" smtClean="0">
                <a:solidFill>
                  <a:srgbClr val="FF0000"/>
                </a:solidFill>
              </a:rPr>
              <a:t>са </a:t>
            </a:r>
            <a:r>
              <a:rPr lang="ru-RU" b="1" dirty="0">
                <a:solidFill>
                  <a:srgbClr val="FF0000"/>
                </a:solidFill>
              </a:rPr>
              <a:t>алгоритмите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За </a:t>
            </a:r>
            <a:r>
              <a:rPr lang="ru-RU" dirty="0"/>
              <a:t>да </a:t>
            </a:r>
            <a:r>
              <a:rPr lang="ru-RU" dirty="0" smtClean="0"/>
              <a:t>се сравняват различни алгоритми</a:t>
            </a:r>
            <a:r>
              <a:rPr lang="ru-RU" dirty="0"/>
              <a:t>, често се взема предвид </a:t>
            </a:r>
            <a:r>
              <a:rPr lang="ru-RU" b="1" dirty="0"/>
              <a:t>нивото на сигурност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b="1" dirty="0" smtClean="0">
                <a:solidFill>
                  <a:schemeClr val="accent4">
                    <a:lumMod val="75000"/>
                  </a:schemeClr>
                </a:solidFill>
              </a:rPr>
              <a:t>Един алгоритъм има „</a:t>
            </a:r>
            <a:r>
              <a:rPr lang="ru-RU" b="1" dirty="0">
                <a:solidFill>
                  <a:schemeClr val="accent4">
                    <a:lumMod val="75000"/>
                  </a:schemeClr>
                </a:solidFill>
              </a:rPr>
              <a:t>ниво на сигурност от n бита“, ако най-известната атака изисква 2n стъпки. </a:t>
            </a:r>
            <a:endParaRPr lang="ru-RU" b="1" dirty="0" smtClean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ru-RU" dirty="0" smtClean="0"/>
              <a:t>Вижда се, че </a:t>
            </a:r>
            <a:r>
              <a:rPr lang="ru-RU" b="1" dirty="0"/>
              <a:t>RSA-подобни</a:t>
            </a:r>
            <a:r>
              <a:rPr lang="ru-RU" dirty="0"/>
              <a:t> </a:t>
            </a:r>
            <a:r>
              <a:rPr lang="ru-RU" dirty="0" smtClean="0"/>
              <a:t>крипто системи </a:t>
            </a:r>
            <a:r>
              <a:rPr lang="ru-RU" dirty="0"/>
              <a:t>и </a:t>
            </a:r>
            <a:r>
              <a:rPr lang="ru-RU" b="1" dirty="0" smtClean="0"/>
              <a:t>крипто системи </a:t>
            </a:r>
            <a:r>
              <a:rPr lang="ru-RU" b="1" dirty="0"/>
              <a:t>с дискретни </a:t>
            </a:r>
            <a:r>
              <a:rPr lang="ru-RU" b="1" dirty="0" smtClean="0"/>
              <a:t>логаритми </a:t>
            </a:r>
            <a:r>
              <a:rPr lang="ru-RU" dirty="0" smtClean="0"/>
              <a:t>изискват </a:t>
            </a:r>
            <a:r>
              <a:rPr lang="ru-RU" b="1" dirty="0"/>
              <a:t>много дълги операнди и ключове</a:t>
            </a:r>
            <a:r>
              <a:rPr lang="ru-RU" dirty="0"/>
              <a:t>. Ключовата дължина на </a:t>
            </a:r>
            <a:r>
              <a:rPr lang="ru-RU" dirty="0" smtClean="0"/>
              <a:t>крипто системите </a:t>
            </a:r>
            <a:r>
              <a:rPr lang="ru-RU" dirty="0"/>
              <a:t>на </a:t>
            </a:r>
            <a:r>
              <a:rPr lang="ru-RU" b="1" dirty="0"/>
              <a:t>елиптичните криви </a:t>
            </a:r>
            <a:r>
              <a:rPr lang="ru-RU" dirty="0" smtClean="0"/>
              <a:t>е </a:t>
            </a:r>
            <a:r>
              <a:rPr lang="ru-RU" b="1" dirty="0" smtClean="0"/>
              <a:t>значително </a:t>
            </a:r>
            <a:r>
              <a:rPr lang="ru-RU" b="1" dirty="0"/>
              <a:t>по-малък</a:t>
            </a:r>
            <a:r>
              <a:rPr lang="ru-RU" dirty="0"/>
              <a:t>, но въпреки това два пъти по-дълъг от симетричните </a:t>
            </a:r>
            <a:r>
              <a:rPr lang="ru-RU" dirty="0" smtClean="0"/>
              <a:t>алгоритми </a:t>
            </a:r>
            <a:r>
              <a:rPr lang="ru-RU" dirty="0"/>
              <a:t>със </a:t>
            </a:r>
            <a:r>
              <a:rPr lang="ru-RU" dirty="0" smtClean="0"/>
              <a:t>същата криптографска </a:t>
            </a:r>
            <a:r>
              <a:rPr lang="ru-RU" dirty="0"/>
              <a:t>сила.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645723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Асиметрична криптография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883665"/>
            <a:ext cx="10820400" cy="521208"/>
          </a:xfrm>
        </p:spPr>
        <p:txBody>
          <a:bodyPr>
            <a:normAutofit fontScale="92500" lnSpcReduction="20000"/>
          </a:bodyPr>
          <a:lstStyle/>
          <a:p>
            <a:r>
              <a:rPr lang="bg-BG" dirty="0" smtClean="0"/>
              <a:t>Дължина на ключовете при асиметричните </a:t>
            </a:r>
            <a:r>
              <a:rPr lang="bg-BG" dirty="0" err="1" smtClean="0"/>
              <a:t>криптографски</a:t>
            </a:r>
            <a:r>
              <a:rPr lang="bg-BG" dirty="0" smtClean="0"/>
              <a:t> алгоритми при различни нива на сигурност 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2534019"/>
              </p:ext>
            </p:extLst>
          </p:nvPr>
        </p:nvGraphicFramePr>
        <p:xfrm>
          <a:off x="457198" y="2862072"/>
          <a:ext cx="11539728" cy="3199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0946">
                  <a:extLst>
                    <a:ext uri="{9D8B030D-6E8A-4147-A177-3AD203B41FA5}">
                      <a16:colId xmlns:a16="http://schemas.microsoft.com/office/drawing/2014/main" val="2495363670"/>
                    </a:ext>
                  </a:extLst>
                </a:gridCol>
                <a:gridCol w="3685032">
                  <a:extLst>
                    <a:ext uri="{9D8B030D-6E8A-4147-A177-3AD203B41FA5}">
                      <a16:colId xmlns:a16="http://schemas.microsoft.com/office/drawing/2014/main" val="3502203746"/>
                    </a:ext>
                  </a:extLst>
                </a:gridCol>
                <a:gridCol w="1216152">
                  <a:extLst>
                    <a:ext uri="{9D8B030D-6E8A-4147-A177-3AD203B41FA5}">
                      <a16:colId xmlns:a16="http://schemas.microsoft.com/office/drawing/2014/main" val="2565076944"/>
                    </a:ext>
                  </a:extLst>
                </a:gridCol>
                <a:gridCol w="1243584">
                  <a:extLst>
                    <a:ext uri="{9D8B030D-6E8A-4147-A177-3AD203B41FA5}">
                      <a16:colId xmlns:a16="http://schemas.microsoft.com/office/drawing/2014/main" val="211284196"/>
                    </a:ext>
                  </a:extLst>
                </a:gridCol>
                <a:gridCol w="1298448">
                  <a:extLst>
                    <a:ext uri="{9D8B030D-6E8A-4147-A177-3AD203B41FA5}">
                      <a16:colId xmlns:a16="http://schemas.microsoft.com/office/drawing/2014/main" val="2176139841"/>
                    </a:ext>
                  </a:extLst>
                </a:gridCol>
                <a:gridCol w="1115566">
                  <a:extLst>
                    <a:ext uri="{9D8B030D-6E8A-4147-A177-3AD203B41FA5}">
                      <a16:colId xmlns:a16="http://schemas.microsoft.com/office/drawing/2014/main" val="2578282028"/>
                    </a:ext>
                  </a:extLst>
                </a:gridCol>
              </a:tblGrid>
              <a:tr h="757136">
                <a:tc rowSpan="2">
                  <a:txBody>
                    <a:bodyPr/>
                    <a:lstStyle/>
                    <a:p>
                      <a:r>
                        <a:rPr lang="bg-BG" dirty="0" smtClean="0"/>
                        <a:t>Група алгоритми</a:t>
                      </a:r>
                      <a:endParaRPr 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bg-BG" dirty="0" err="1" smtClean="0"/>
                        <a:t>Крипто</a:t>
                      </a:r>
                      <a:r>
                        <a:rPr lang="bg-BG" dirty="0" smtClean="0"/>
                        <a:t> системи</a:t>
                      </a:r>
                      <a:endParaRPr 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bg-BG" dirty="0" smtClean="0"/>
                        <a:t>Ниво на сигурност (битове)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5857710"/>
                  </a:ext>
                </a:extLst>
              </a:tr>
              <a:tr h="39500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 smtClean="0"/>
                        <a:t>80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b="1" dirty="0" smtClean="0"/>
                        <a:t>128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 smtClean="0"/>
                        <a:t>192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 smtClean="0"/>
                        <a:t>256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7602667"/>
                  </a:ext>
                </a:extLst>
              </a:tr>
              <a:tr h="383826">
                <a:tc>
                  <a:txBody>
                    <a:bodyPr/>
                    <a:lstStyle/>
                    <a:p>
                      <a:r>
                        <a:rPr lang="bg-BG" dirty="0" smtClean="0"/>
                        <a:t>Целочислена </a:t>
                      </a:r>
                      <a:r>
                        <a:rPr lang="bg-BG" dirty="0" err="1" smtClean="0"/>
                        <a:t>факторизация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RSA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1024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3072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7680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15360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5170990"/>
                  </a:ext>
                </a:extLst>
              </a:tr>
              <a:tr h="383826">
                <a:tc>
                  <a:txBody>
                    <a:bodyPr/>
                    <a:lstStyle/>
                    <a:p>
                      <a:r>
                        <a:rPr lang="bg-BG" dirty="0" smtClean="0"/>
                        <a:t>Дискретни алгоритми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Diffie&amp;Hellman</a:t>
                      </a:r>
                      <a:r>
                        <a:rPr lang="en-US" dirty="0" smtClean="0"/>
                        <a:t>,</a:t>
                      </a:r>
                      <a:r>
                        <a:rPr lang="en-US" baseline="0" dirty="0" smtClean="0"/>
                        <a:t> DSA, </a:t>
                      </a:r>
                      <a:r>
                        <a:rPr lang="en-US" baseline="0" dirty="0" err="1" smtClean="0"/>
                        <a:t>ElGamal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1024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3072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7680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15360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8613632"/>
                  </a:ext>
                </a:extLst>
              </a:tr>
              <a:tr h="383826">
                <a:tc>
                  <a:txBody>
                    <a:bodyPr/>
                    <a:lstStyle/>
                    <a:p>
                      <a:r>
                        <a:rPr lang="bg-BG" dirty="0" smtClean="0"/>
                        <a:t>Елиптични криви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Diffie-Hellman с елиптичн</a:t>
                      </a:r>
                      <a:r>
                        <a:rPr lang="bg-BG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и</a:t>
                      </a:r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криви, </a:t>
                      </a: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DSA </a:t>
                      </a:r>
                      <a:r>
                        <a:rPr lang="bg-BG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с</a:t>
                      </a:r>
                      <a:r>
                        <a:rPr lang="bg-BG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елиптични криви</a:t>
                      </a:r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160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256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384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512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1041814"/>
                  </a:ext>
                </a:extLst>
              </a:tr>
              <a:tr h="383826">
                <a:tc>
                  <a:txBody>
                    <a:bodyPr/>
                    <a:lstStyle/>
                    <a:p>
                      <a:r>
                        <a:rPr lang="bg-BG" dirty="0" smtClean="0"/>
                        <a:t>Симетрични алгоритми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AES, 3DES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80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128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192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256</a:t>
                      </a:r>
                      <a:endParaRPr 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3636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507273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82478" y="179911"/>
            <a:ext cx="8610600" cy="1293028"/>
          </a:xfrm>
        </p:spPr>
        <p:txBody>
          <a:bodyPr/>
          <a:lstStyle/>
          <a:p>
            <a:r>
              <a:rPr lang="bg-BG" dirty="0"/>
              <a:t>Асиметрична криптография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753386"/>
            <a:ext cx="10820400" cy="4465299"/>
          </a:xfrm>
        </p:spPr>
        <p:txBody>
          <a:bodyPr>
            <a:normAutofit fontScale="92500" lnSpcReduction="20000"/>
          </a:bodyPr>
          <a:lstStyle/>
          <a:p>
            <a:r>
              <a:rPr lang="bg-BG" dirty="0"/>
              <a:t>З</a:t>
            </a:r>
            <a:r>
              <a:rPr lang="ru-RU" dirty="0" smtClean="0"/>
              <a:t>а </a:t>
            </a:r>
            <a:r>
              <a:rPr lang="ru-RU" dirty="0"/>
              <a:t>да се </a:t>
            </a:r>
            <a:r>
              <a:rPr lang="ru-RU" dirty="0" smtClean="0"/>
              <a:t>предвиди </a:t>
            </a:r>
            <a:r>
              <a:rPr lang="ru-RU" b="1" dirty="0"/>
              <a:t>дългосрочна сигурност</a:t>
            </a:r>
            <a:r>
              <a:rPr lang="ru-RU" dirty="0"/>
              <a:t>, т.е. сигурност за период от няколко десетилетия</a:t>
            </a:r>
            <a:r>
              <a:rPr lang="ru-RU" dirty="0" smtClean="0"/>
              <a:t>, трябва </a:t>
            </a:r>
            <a:r>
              <a:rPr lang="ru-RU" dirty="0"/>
              <a:t>да се избере </a:t>
            </a:r>
            <a:r>
              <a:rPr lang="ru-RU" b="1" dirty="0"/>
              <a:t>ниво на защита от 128 бита</a:t>
            </a:r>
            <a:r>
              <a:rPr lang="ru-RU" dirty="0"/>
              <a:t>, което изисква доста </a:t>
            </a:r>
            <a:r>
              <a:rPr lang="ru-RU" b="1" dirty="0"/>
              <a:t>дълги ключове </a:t>
            </a:r>
            <a:r>
              <a:rPr lang="ru-RU" dirty="0"/>
              <a:t>за </a:t>
            </a:r>
            <a:r>
              <a:rPr lang="ru-RU" dirty="0" smtClean="0"/>
              <a:t>всички три групи </a:t>
            </a:r>
            <a:r>
              <a:rPr lang="ru-RU" dirty="0"/>
              <a:t>алгоритми.</a:t>
            </a:r>
          </a:p>
          <a:p>
            <a:r>
              <a:rPr lang="ru-RU" dirty="0"/>
              <a:t>Нежелана последица от дългите операнди е, че </a:t>
            </a:r>
            <a:r>
              <a:rPr lang="ru-RU" dirty="0" smtClean="0"/>
              <a:t>крипто системите </a:t>
            </a:r>
            <a:r>
              <a:rPr lang="ru-RU" dirty="0"/>
              <a:t>с публичен ключ </a:t>
            </a:r>
            <a:r>
              <a:rPr lang="ru-RU" dirty="0" smtClean="0"/>
              <a:t>изискват </a:t>
            </a:r>
            <a:r>
              <a:rPr lang="ru-RU" b="1" dirty="0" smtClean="0"/>
              <a:t>много аритметични операции </a:t>
            </a:r>
            <a:r>
              <a:rPr lang="ru-RU" dirty="0" smtClean="0"/>
              <a:t>и </a:t>
            </a:r>
            <a:r>
              <a:rPr lang="ru-RU" b="1" dirty="0" smtClean="0"/>
              <a:t>по-голяма процесорна мощ </a:t>
            </a:r>
            <a:r>
              <a:rPr lang="ru-RU" dirty="0" smtClean="0"/>
              <a:t>(което се извършва и </a:t>
            </a:r>
            <a:r>
              <a:rPr lang="ru-RU" b="1" dirty="0" smtClean="0"/>
              <a:t>по-бавно</a:t>
            </a:r>
            <a:r>
              <a:rPr lang="ru-RU" dirty="0" smtClean="0"/>
              <a:t>). </a:t>
            </a:r>
            <a:endParaRPr lang="ru-RU" dirty="0"/>
          </a:p>
          <a:p>
            <a:r>
              <a:rPr lang="ru-RU" dirty="0" smtClean="0"/>
              <a:t>Една операция при </a:t>
            </a:r>
            <a:r>
              <a:rPr lang="ru-RU" b="1" dirty="0" smtClean="0"/>
              <a:t>асиметричните алгоритми</a:t>
            </a:r>
            <a:r>
              <a:rPr lang="ru-RU" dirty="0" smtClean="0"/>
              <a:t>, </a:t>
            </a:r>
            <a:r>
              <a:rPr lang="ru-RU" dirty="0"/>
              <a:t>да речем цифров подпис, е с </a:t>
            </a:r>
            <a:r>
              <a:rPr lang="ru-RU" b="1" dirty="0"/>
              <a:t>2-3 порядъка </a:t>
            </a:r>
            <a:r>
              <a:rPr lang="ru-RU" b="1" dirty="0" smtClean="0"/>
              <a:t>по-бавна</a:t>
            </a:r>
            <a:r>
              <a:rPr lang="ru-RU" dirty="0" smtClean="0"/>
              <a:t> отколкото </a:t>
            </a:r>
            <a:r>
              <a:rPr lang="ru-RU" dirty="0"/>
              <a:t>криптирането на един блок </a:t>
            </a:r>
            <a:r>
              <a:rPr lang="ru-RU" dirty="0" smtClean="0"/>
              <a:t>при AES </a:t>
            </a:r>
            <a:r>
              <a:rPr lang="ru-RU" dirty="0"/>
              <a:t>или </a:t>
            </a:r>
            <a:r>
              <a:rPr lang="ru-RU" dirty="0" smtClean="0"/>
              <a:t>3DES (симетрична криптография). </a:t>
            </a:r>
          </a:p>
          <a:p>
            <a:r>
              <a:rPr lang="ru-RU" dirty="0" smtClean="0"/>
              <a:t>Освен </a:t>
            </a:r>
            <a:r>
              <a:rPr lang="ru-RU" dirty="0"/>
              <a:t>това </a:t>
            </a:r>
            <a:r>
              <a:rPr lang="ru-RU" dirty="0" smtClean="0"/>
              <a:t>при нарастване на </a:t>
            </a:r>
            <a:r>
              <a:rPr lang="ru-RU" b="1" dirty="0" smtClean="0"/>
              <a:t>изчислителната сложност </a:t>
            </a:r>
            <a:r>
              <a:rPr lang="ru-RU" dirty="0" smtClean="0"/>
              <a:t>при </a:t>
            </a:r>
            <a:r>
              <a:rPr lang="ru-RU" dirty="0"/>
              <a:t>трите </a:t>
            </a:r>
            <a:r>
              <a:rPr lang="ru-RU" dirty="0" smtClean="0"/>
              <a:t>групи алгоритми,  изпълнението на операциите е </a:t>
            </a:r>
            <a:r>
              <a:rPr lang="ru-RU" b="1" dirty="0" smtClean="0"/>
              <a:t>3 пъти по-бавно</a:t>
            </a:r>
            <a:r>
              <a:rPr lang="ru-RU" dirty="0" smtClean="0"/>
              <a:t>.</a:t>
            </a:r>
            <a:endParaRPr lang="ru-RU" dirty="0"/>
          </a:p>
          <a:p>
            <a:r>
              <a:rPr lang="ru-RU" dirty="0"/>
              <a:t>Като пример, увеличаване на дължината на </a:t>
            </a:r>
            <a:r>
              <a:rPr lang="ru-RU" dirty="0" smtClean="0"/>
              <a:t>битова последователност </a:t>
            </a:r>
            <a:r>
              <a:rPr lang="ru-RU" dirty="0"/>
              <a:t>от 1024 на 3076 </a:t>
            </a:r>
            <a:r>
              <a:rPr lang="ru-RU" dirty="0" smtClean="0"/>
              <a:t>при RSA цифрово подписване води </a:t>
            </a:r>
            <a:r>
              <a:rPr lang="ru-RU" dirty="0"/>
              <a:t>до изпълнение, което е 3</a:t>
            </a:r>
            <a:r>
              <a:rPr lang="ru-RU" baseline="30000" dirty="0"/>
              <a:t>3</a:t>
            </a:r>
            <a:r>
              <a:rPr lang="ru-RU" dirty="0"/>
              <a:t> = 27 пъти по-бавно! </a:t>
            </a:r>
            <a:endParaRPr lang="ru-RU" dirty="0" smtClean="0"/>
          </a:p>
          <a:p>
            <a:r>
              <a:rPr lang="ru-RU" dirty="0" smtClean="0"/>
              <a:t>При съвременните компютри</a:t>
            </a:r>
            <a:r>
              <a:rPr lang="ru-RU" dirty="0"/>
              <a:t>, времената за изпълнение </a:t>
            </a:r>
            <a:r>
              <a:rPr lang="ru-RU" dirty="0" smtClean="0"/>
              <a:t>са в </a:t>
            </a:r>
            <a:r>
              <a:rPr lang="ru-RU" dirty="0"/>
              <a:t>диапазона от няколко </a:t>
            </a:r>
            <a:r>
              <a:rPr lang="ru-RU" dirty="0" smtClean="0"/>
              <a:t>десетки</a:t>
            </a:r>
            <a:r>
              <a:rPr lang="ru-RU" dirty="0" smtClean="0"/>
              <a:t> </a:t>
            </a:r>
            <a:r>
              <a:rPr lang="ru-RU" dirty="0"/>
              <a:t>msec до няколко </a:t>
            </a:r>
            <a:r>
              <a:rPr lang="ru-RU" dirty="0" smtClean="0"/>
              <a:t>стотици </a:t>
            </a:r>
            <a:r>
              <a:rPr lang="ru-RU" dirty="0" smtClean="0"/>
              <a:t>msec, което </a:t>
            </a:r>
            <a:r>
              <a:rPr lang="ru-RU" dirty="0"/>
              <a:t>не представлява проблем за много приложения. </a:t>
            </a:r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329383552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Асиметрична криптография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Основна теория на числата </a:t>
            </a:r>
            <a:r>
              <a:rPr lang="ru-RU" dirty="0"/>
              <a:t>за алгоритми с публичен ключ</a:t>
            </a:r>
          </a:p>
          <a:p>
            <a:r>
              <a:rPr lang="ru-RU" dirty="0" smtClean="0"/>
              <a:t>Техники </a:t>
            </a:r>
            <a:r>
              <a:rPr lang="ru-RU" dirty="0"/>
              <a:t>от </a:t>
            </a:r>
            <a:r>
              <a:rPr lang="ru-RU" b="1" dirty="0"/>
              <a:t>теорията на числата</a:t>
            </a:r>
            <a:r>
              <a:rPr lang="ru-RU" dirty="0"/>
              <a:t>, които са от съществено значение </a:t>
            </a:r>
            <a:r>
              <a:rPr lang="ru-RU" dirty="0" smtClean="0"/>
              <a:t>за </a:t>
            </a:r>
            <a:r>
              <a:rPr lang="ru-RU" b="1" dirty="0" smtClean="0">
                <a:solidFill>
                  <a:srgbClr val="FF0000"/>
                </a:solidFill>
              </a:rPr>
              <a:t>криптографията </a:t>
            </a:r>
            <a:r>
              <a:rPr lang="ru-RU" b="1" dirty="0">
                <a:solidFill>
                  <a:srgbClr val="FF0000"/>
                </a:solidFill>
              </a:rPr>
              <a:t>с публичен </a:t>
            </a:r>
            <a:r>
              <a:rPr lang="ru-RU" b="1" dirty="0" smtClean="0">
                <a:solidFill>
                  <a:srgbClr val="FF0000"/>
                </a:solidFill>
              </a:rPr>
              <a:t>ключ</a:t>
            </a:r>
            <a:r>
              <a:rPr lang="ru-RU" dirty="0" smtClean="0"/>
              <a:t>: </a:t>
            </a:r>
          </a:p>
          <a:p>
            <a:pPr lvl="1"/>
            <a:r>
              <a:rPr lang="ru-RU" dirty="0" smtClean="0"/>
              <a:t>Алгоритъм </a:t>
            </a:r>
            <a:r>
              <a:rPr lang="ru-RU" dirty="0"/>
              <a:t>на Евклид, </a:t>
            </a:r>
            <a:endParaRPr lang="ru-RU" dirty="0" smtClean="0"/>
          </a:p>
          <a:p>
            <a:pPr lvl="1"/>
            <a:r>
              <a:rPr lang="en-US" dirty="0" smtClean="0"/>
              <a:t>Phi</a:t>
            </a:r>
            <a:r>
              <a:rPr lang="ru-RU" dirty="0" smtClean="0"/>
              <a:t> функция </a:t>
            </a:r>
            <a:r>
              <a:rPr lang="ru-RU" dirty="0"/>
              <a:t>на Ойлер, </a:t>
            </a:r>
            <a:endParaRPr lang="en-US" dirty="0" smtClean="0"/>
          </a:p>
          <a:p>
            <a:pPr lvl="1"/>
            <a:r>
              <a:rPr lang="ru-RU" dirty="0"/>
              <a:t>М</a:t>
            </a:r>
            <a:r>
              <a:rPr lang="ru-RU" dirty="0" smtClean="0"/>
              <a:t>алка </a:t>
            </a:r>
            <a:r>
              <a:rPr lang="ru-RU" dirty="0"/>
              <a:t>теорема на </a:t>
            </a:r>
            <a:r>
              <a:rPr lang="ru-RU" dirty="0" smtClean="0"/>
              <a:t>Ферм</a:t>
            </a:r>
            <a:r>
              <a:rPr lang="bg-BG" dirty="0" smtClean="0"/>
              <a:t>а</a:t>
            </a:r>
            <a:r>
              <a:rPr lang="en-US" dirty="0" smtClean="0"/>
              <a:t>;</a:t>
            </a:r>
          </a:p>
          <a:p>
            <a:pPr lvl="1"/>
            <a:r>
              <a:rPr lang="en-US" dirty="0" smtClean="0"/>
              <a:t>T</a:t>
            </a:r>
            <a:r>
              <a:rPr lang="ru-RU" dirty="0" smtClean="0"/>
              <a:t>еорема </a:t>
            </a:r>
            <a:r>
              <a:rPr lang="ru-RU" dirty="0"/>
              <a:t>на </a:t>
            </a:r>
            <a:r>
              <a:rPr lang="ru-RU" dirty="0" smtClean="0"/>
              <a:t>Ойлер.</a:t>
            </a:r>
            <a:endParaRPr lang="en-US" dirty="0" smtClean="0"/>
          </a:p>
          <a:p>
            <a:r>
              <a:rPr lang="ru-RU" dirty="0" smtClean="0"/>
              <a:t>Всички </a:t>
            </a:r>
            <a:r>
              <a:rPr lang="ru-RU" dirty="0"/>
              <a:t>са важни </a:t>
            </a:r>
            <a:r>
              <a:rPr lang="ru-RU" dirty="0" smtClean="0"/>
              <a:t>за</a:t>
            </a:r>
            <a:r>
              <a:rPr lang="en-US" dirty="0" smtClean="0"/>
              <a:t> </a:t>
            </a:r>
            <a:r>
              <a:rPr lang="bg-BG" dirty="0" smtClean="0"/>
              <a:t>разбиране и прилагане на </a:t>
            </a:r>
            <a:r>
              <a:rPr lang="ru-RU" dirty="0" smtClean="0"/>
              <a:t>асиметрични </a:t>
            </a:r>
            <a:r>
              <a:rPr lang="ru-RU" dirty="0"/>
              <a:t>алгоритми, особено за разбиране на </a:t>
            </a:r>
            <a:r>
              <a:rPr lang="ru-RU" b="1" dirty="0"/>
              <a:t>RSA</a:t>
            </a:r>
            <a:r>
              <a:rPr lang="ru-RU" dirty="0"/>
              <a:t> крипто </a:t>
            </a:r>
            <a:r>
              <a:rPr lang="ru-RU" dirty="0" smtClean="0"/>
              <a:t>системата.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01364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Асиметрична криптография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979630"/>
            <a:ext cx="10820400" cy="4402316"/>
          </a:xfrm>
        </p:spPr>
        <p:txBody>
          <a:bodyPr>
            <a:normAutofit lnSpcReduction="10000"/>
          </a:bodyPr>
          <a:lstStyle/>
          <a:p>
            <a:r>
              <a:rPr lang="ru-RU" b="1" dirty="0" smtClean="0"/>
              <a:t>Алгоритъм на Евклид</a:t>
            </a:r>
            <a:r>
              <a:rPr lang="en-US" b="1" dirty="0" smtClean="0"/>
              <a:t> </a:t>
            </a:r>
            <a:r>
              <a:rPr lang="en-US" dirty="0" smtClean="0"/>
              <a:t>(</a:t>
            </a:r>
            <a:r>
              <a:rPr lang="bg-BG" b="1" dirty="0" smtClean="0"/>
              <a:t>изчисляване на</a:t>
            </a:r>
            <a:r>
              <a:rPr lang="en-US" b="1" dirty="0" smtClean="0"/>
              <a:t> </a:t>
            </a:r>
            <a:r>
              <a:rPr lang="ru-RU" b="1" dirty="0" smtClean="0"/>
              <a:t>най-голям </a:t>
            </a:r>
            <a:r>
              <a:rPr lang="ru-RU" b="1" dirty="0"/>
              <a:t>общ делител (НОД)</a:t>
            </a:r>
            <a:r>
              <a:rPr lang="ru-RU" dirty="0"/>
              <a:t> на две цели </a:t>
            </a:r>
            <a:r>
              <a:rPr lang="ru-RU" dirty="0" smtClean="0"/>
              <a:t>числа (поне </a:t>
            </a:r>
            <a:r>
              <a:rPr lang="ru-RU" dirty="0"/>
              <a:t>едното </a:t>
            </a:r>
            <a:r>
              <a:rPr lang="ru-RU" dirty="0" smtClean="0"/>
              <a:t>трябва да е </a:t>
            </a:r>
            <a:r>
              <a:rPr lang="ru-RU" dirty="0"/>
              <a:t>различно от </a:t>
            </a:r>
            <a:r>
              <a:rPr lang="ru-RU" dirty="0" smtClean="0"/>
              <a:t>нула) - най-голямото </a:t>
            </a:r>
            <a:r>
              <a:rPr lang="ru-RU" dirty="0"/>
              <a:t>цяло </a:t>
            </a:r>
            <a:r>
              <a:rPr lang="ru-RU" dirty="0" smtClean="0"/>
              <a:t>число </a:t>
            </a:r>
            <a:r>
              <a:rPr lang="ru-RU" dirty="0"/>
              <a:t>дели и двете числа без остатък.</a:t>
            </a:r>
          </a:p>
          <a:p>
            <a:r>
              <a:rPr lang="ru-RU" dirty="0" smtClean="0"/>
              <a:t>Например </a:t>
            </a:r>
            <a:r>
              <a:rPr lang="ru-RU" dirty="0"/>
              <a:t>НОД(12, 18) = 6, НОД(−4, 14) = 2 и НОД(5, 0) = 5. </a:t>
            </a:r>
            <a:endParaRPr lang="ru-RU" dirty="0" smtClean="0"/>
          </a:p>
          <a:p>
            <a:r>
              <a:rPr lang="ru-RU" dirty="0" smtClean="0"/>
              <a:t>Две </a:t>
            </a:r>
            <a:r>
              <a:rPr lang="ru-RU" dirty="0"/>
              <a:t>числа се наричат „</a:t>
            </a:r>
            <a:r>
              <a:rPr lang="ru-RU" b="1" dirty="0"/>
              <a:t>взаимно прости</a:t>
            </a:r>
            <a:r>
              <a:rPr lang="ru-RU" dirty="0"/>
              <a:t>“, ако техният </a:t>
            </a:r>
            <a:r>
              <a:rPr lang="ru-RU" dirty="0" smtClean="0"/>
              <a:t>НОД е </a:t>
            </a:r>
            <a:r>
              <a:rPr lang="ru-RU" dirty="0"/>
              <a:t>1, т.е. нямат общ делител, различен от 1. Например 9 и 28 са взаимно прости</a:t>
            </a:r>
            <a:r>
              <a:rPr lang="ru-RU" dirty="0" smtClean="0"/>
              <a:t>.</a:t>
            </a:r>
          </a:p>
          <a:p>
            <a:r>
              <a:rPr lang="ru-RU" b="1" dirty="0" smtClean="0"/>
              <a:t>Алгоритъм на Евклид за изчисляване на НОД </a:t>
            </a:r>
            <a:r>
              <a:rPr lang="ru-RU" dirty="0" smtClean="0"/>
              <a:t>(Пример НОД(18,84)):</a:t>
            </a:r>
          </a:p>
          <a:p>
            <a:pPr lvl="1"/>
            <a:r>
              <a:rPr lang="ru-RU" dirty="0"/>
              <a:t>За делимо се </a:t>
            </a:r>
            <a:r>
              <a:rPr lang="ru-RU" dirty="0" smtClean="0"/>
              <a:t>взема </a:t>
            </a:r>
            <a:r>
              <a:rPr lang="ru-RU" dirty="0"/>
              <a:t>по-голямото число, а за делител – по-малкото число (84/18 = 4 и остатък 12).</a:t>
            </a:r>
          </a:p>
          <a:p>
            <a:pPr lvl="1"/>
            <a:r>
              <a:rPr lang="ru-RU" dirty="0"/>
              <a:t>Делителят от предишната стъпка се разделя на получения </a:t>
            </a:r>
            <a:r>
              <a:rPr lang="ru-RU" dirty="0" smtClean="0"/>
              <a:t>остатък (</a:t>
            </a:r>
            <a:r>
              <a:rPr lang="ru-RU" dirty="0"/>
              <a:t>18/12 = 1 и остатък 6</a:t>
            </a:r>
            <a:r>
              <a:rPr lang="ru-RU" dirty="0" smtClean="0"/>
              <a:t>).</a:t>
            </a:r>
            <a:endParaRPr lang="ru-RU" dirty="0"/>
          </a:p>
          <a:p>
            <a:pPr lvl="1"/>
            <a:r>
              <a:rPr lang="ru-RU" dirty="0"/>
              <a:t>Това се повтаря дотогава, докато получим остатък </a:t>
            </a:r>
            <a:r>
              <a:rPr lang="ru-RU" dirty="0" smtClean="0"/>
              <a:t>0 (</a:t>
            </a:r>
            <a:r>
              <a:rPr lang="bg-BG" dirty="0"/>
              <a:t>12/</a:t>
            </a:r>
            <a:r>
              <a:rPr lang="bg-BG" b="1" dirty="0"/>
              <a:t>6</a:t>
            </a:r>
            <a:r>
              <a:rPr lang="bg-BG" dirty="0"/>
              <a:t> = 2 без остатък</a:t>
            </a:r>
            <a:r>
              <a:rPr lang="ru-RU" dirty="0" smtClean="0"/>
              <a:t>).</a:t>
            </a:r>
          </a:p>
          <a:p>
            <a:pPr marL="457200" lvl="1" indent="0">
              <a:buNone/>
            </a:pPr>
            <a:r>
              <a:rPr lang="ru-RU" b="1" dirty="0" smtClean="0"/>
              <a:t>Този </a:t>
            </a:r>
            <a:r>
              <a:rPr lang="ru-RU" b="1" dirty="0"/>
              <a:t>делител, при който частното няма остатък, е </a:t>
            </a:r>
            <a:r>
              <a:rPr lang="ru-RU" b="1" dirty="0" smtClean="0"/>
              <a:t>НОД (</a:t>
            </a:r>
            <a:r>
              <a:rPr lang="bg-BG" b="1" dirty="0"/>
              <a:t>НОД(18,84) = 6</a:t>
            </a:r>
            <a:r>
              <a:rPr lang="ru-RU" dirty="0" smtClean="0"/>
              <a:t>).</a:t>
            </a:r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03673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Асиметрична криптография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866508"/>
            <a:ext cx="10820400" cy="4581426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Phi</a:t>
            </a:r>
            <a:r>
              <a:rPr lang="ru-RU" b="1" dirty="0"/>
              <a:t> функция на Ойлер</a:t>
            </a:r>
          </a:p>
          <a:p>
            <a:r>
              <a:rPr lang="bg-BG" dirty="0" smtClean="0"/>
              <a:t>Нека </a:t>
            </a:r>
            <a:r>
              <a:rPr lang="en-US" dirty="0" smtClean="0"/>
              <a:t>Zn</a:t>
            </a:r>
            <a:r>
              <a:rPr lang="bg-BG" dirty="0" smtClean="0"/>
              <a:t> е множество от числата </a:t>
            </a:r>
            <a:r>
              <a:rPr lang="en-US" dirty="0" smtClean="0"/>
              <a:t>{0,1,2,…,n-1}. </a:t>
            </a:r>
          </a:p>
          <a:p>
            <a:r>
              <a:rPr lang="bg-BG" b="1" dirty="0" smtClean="0">
                <a:solidFill>
                  <a:srgbClr val="0070C0"/>
                </a:solidFill>
              </a:rPr>
              <a:t>Колко числа от това множество са относително прости с </a:t>
            </a:r>
            <a:r>
              <a:rPr lang="en-US" b="1" dirty="0" smtClean="0">
                <a:solidFill>
                  <a:srgbClr val="0070C0"/>
                </a:solidFill>
              </a:rPr>
              <a:t>n?</a:t>
            </a:r>
            <a:r>
              <a:rPr lang="en-US" dirty="0" smtClean="0"/>
              <a:t> – </a:t>
            </a:r>
            <a:r>
              <a:rPr lang="bg-BG" dirty="0" smtClean="0"/>
              <a:t>Техният брой се определя от функцията на Ойлер.</a:t>
            </a:r>
          </a:p>
          <a:p>
            <a:r>
              <a:rPr lang="bg-BG" b="1" dirty="0" smtClean="0"/>
              <a:t>Определение</a:t>
            </a:r>
            <a:r>
              <a:rPr lang="bg-BG" dirty="0" smtClean="0"/>
              <a:t>: </a:t>
            </a:r>
            <a:r>
              <a:rPr lang="bg-BG" dirty="0" smtClean="0">
                <a:solidFill>
                  <a:srgbClr val="FF0000"/>
                </a:solidFill>
              </a:rPr>
              <a:t>Функцията </a:t>
            </a:r>
            <a:r>
              <a:rPr lang="bg-BG" dirty="0">
                <a:solidFill>
                  <a:srgbClr val="FF0000"/>
                </a:solidFill>
              </a:rPr>
              <a:t>на </a:t>
            </a:r>
            <a:r>
              <a:rPr lang="bg-BG" b="1" dirty="0">
                <a:solidFill>
                  <a:srgbClr val="FF0000"/>
                </a:solidFill>
              </a:rPr>
              <a:t>Ойлер </a:t>
            </a:r>
            <a:r>
              <a:rPr lang="el-GR" b="1" dirty="0">
                <a:solidFill>
                  <a:srgbClr val="FF0000"/>
                </a:solidFill>
              </a:rPr>
              <a:t>φ</a:t>
            </a:r>
            <a:r>
              <a:rPr lang="bg-BG" b="1" dirty="0">
                <a:solidFill>
                  <a:srgbClr val="FF0000"/>
                </a:solidFill>
              </a:rPr>
              <a:t>(</a:t>
            </a:r>
            <a:r>
              <a:rPr lang="en-US" b="1" dirty="0" smtClean="0">
                <a:solidFill>
                  <a:srgbClr val="FF0000"/>
                </a:solidFill>
              </a:rPr>
              <a:t>n)</a:t>
            </a:r>
            <a:r>
              <a:rPr lang="bg-BG" dirty="0" smtClean="0">
                <a:solidFill>
                  <a:srgbClr val="FF0000"/>
                </a:solidFill>
              </a:rPr>
              <a:t> показва броя на целите числа от множеството </a:t>
            </a:r>
            <a:r>
              <a:rPr lang="en-US" dirty="0" smtClean="0">
                <a:solidFill>
                  <a:srgbClr val="FF0000"/>
                </a:solidFill>
              </a:rPr>
              <a:t>Zn</a:t>
            </a:r>
            <a:r>
              <a:rPr lang="bg-BG" dirty="0" smtClean="0">
                <a:solidFill>
                  <a:srgbClr val="FF0000"/>
                </a:solidFill>
              </a:rPr>
              <a:t>, които са относително прости с </a:t>
            </a:r>
            <a:r>
              <a:rPr lang="en-US" b="1" dirty="0" smtClean="0">
                <a:solidFill>
                  <a:srgbClr val="FF0000"/>
                </a:solidFill>
              </a:rPr>
              <a:t>n.</a:t>
            </a:r>
            <a:endParaRPr lang="bg-BG" dirty="0" smtClean="0">
              <a:solidFill>
                <a:srgbClr val="FF0000"/>
              </a:solidFill>
            </a:endParaRPr>
          </a:p>
          <a:p>
            <a:r>
              <a:rPr lang="bg-BG" b="1" dirty="0" smtClean="0"/>
              <a:t>Пример</a:t>
            </a:r>
            <a:r>
              <a:rPr lang="bg-BG" dirty="0" smtClean="0"/>
              <a:t>: Нека </a:t>
            </a:r>
            <a:r>
              <a:rPr lang="en-US" dirty="0" smtClean="0"/>
              <a:t>n </a:t>
            </a:r>
            <a:r>
              <a:rPr lang="en-US" dirty="0"/>
              <a:t>= 6. </a:t>
            </a:r>
            <a:r>
              <a:rPr lang="bg-BG" dirty="0" smtClean="0"/>
              <a:t>Нека </a:t>
            </a:r>
            <a:r>
              <a:rPr lang="en-US" dirty="0" smtClean="0"/>
              <a:t>Z6 </a:t>
            </a:r>
            <a:r>
              <a:rPr lang="en-US" dirty="0"/>
              <a:t>= {0,1,2,3,4,5}. </a:t>
            </a:r>
            <a:r>
              <a:rPr lang="bg-BG" dirty="0" smtClean="0"/>
              <a:t>НОД</a:t>
            </a:r>
            <a:r>
              <a:rPr lang="en-US" dirty="0" smtClean="0"/>
              <a:t>(0,6</a:t>
            </a:r>
            <a:r>
              <a:rPr lang="en-US" dirty="0"/>
              <a:t>) = </a:t>
            </a:r>
            <a:r>
              <a:rPr lang="en-US" dirty="0" smtClean="0"/>
              <a:t>6</a:t>
            </a:r>
            <a:r>
              <a:rPr lang="bg-BG" dirty="0" smtClean="0"/>
              <a:t>,</a:t>
            </a:r>
            <a:r>
              <a:rPr lang="en-US" dirty="0" smtClean="0"/>
              <a:t> </a:t>
            </a:r>
            <a:r>
              <a:rPr lang="bg-BG" dirty="0" smtClean="0">
                <a:solidFill>
                  <a:srgbClr val="FF0000"/>
                </a:solidFill>
              </a:rPr>
              <a:t>НОД</a:t>
            </a:r>
            <a:r>
              <a:rPr lang="en-US" dirty="0" smtClean="0">
                <a:solidFill>
                  <a:srgbClr val="FF0000"/>
                </a:solidFill>
              </a:rPr>
              <a:t>(1,6</a:t>
            </a:r>
            <a:r>
              <a:rPr lang="en-US" dirty="0">
                <a:solidFill>
                  <a:srgbClr val="FF0000"/>
                </a:solidFill>
              </a:rPr>
              <a:t>) = </a:t>
            </a:r>
            <a:r>
              <a:rPr lang="en-US" dirty="0" smtClean="0">
                <a:solidFill>
                  <a:srgbClr val="FF0000"/>
                </a:solidFill>
              </a:rPr>
              <a:t>1</a:t>
            </a:r>
            <a:r>
              <a:rPr lang="bg-BG" dirty="0" smtClean="0"/>
              <a:t>,</a:t>
            </a:r>
            <a:r>
              <a:rPr lang="en-US" dirty="0" smtClean="0"/>
              <a:t> </a:t>
            </a:r>
            <a:r>
              <a:rPr lang="bg-BG" dirty="0" smtClean="0"/>
              <a:t>НОД</a:t>
            </a:r>
            <a:r>
              <a:rPr lang="en-US" dirty="0" smtClean="0"/>
              <a:t>(2,6</a:t>
            </a:r>
            <a:r>
              <a:rPr lang="en-US" dirty="0"/>
              <a:t>) = </a:t>
            </a:r>
            <a:r>
              <a:rPr lang="en-US" dirty="0" smtClean="0"/>
              <a:t>2</a:t>
            </a:r>
            <a:r>
              <a:rPr lang="bg-BG" dirty="0" smtClean="0"/>
              <a:t>,</a:t>
            </a:r>
            <a:r>
              <a:rPr lang="en-US" dirty="0" smtClean="0"/>
              <a:t> </a:t>
            </a:r>
            <a:r>
              <a:rPr lang="bg-BG" dirty="0" smtClean="0"/>
              <a:t>НОД</a:t>
            </a:r>
            <a:r>
              <a:rPr lang="en-US" dirty="0" smtClean="0"/>
              <a:t>(3,6</a:t>
            </a:r>
            <a:r>
              <a:rPr lang="en-US" dirty="0"/>
              <a:t>) = </a:t>
            </a:r>
            <a:r>
              <a:rPr lang="en-US" dirty="0" smtClean="0"/>
              <a:t>3</a:t>
            </a:r>
            <a:r>
              <a:rPr lang="bg-BG" dirty="0" smtClean="0"/>
              <a:t>,</a:t>
            </a:r>
            <a:r>
              <a:rPr lang="en-US" dirty="0" smtClean="0"/>
              <a:t> </a:t>
            </a:r>
            <a:r>
              <a:rPr lang="bg-BG" dirty="0" smtClean="0"/>
              <a:t>НОД</a:t>
            </a:r>
            <a:r>
              <a:rPr lang="en-US" dirty="0" smtClean="0"/>
              <a:t>(4,6</a:t>
            </a:r>
            <a:r>
              <a:rPr lang="en-US" dirty="0"/>
              <a:t>) = </a:t>
            </a:r>
            <a:r>
              <a:rPr lang="en-US" dirty="0" smtClean="0"/>
              <a:t>2</a:t>
            </a:r>
            <a:r>
              <a:rPr lang="bg-BG" dirty="0" smtClean="0"/>
              <a:t>,</a:t>
            </a:r>
            <a:r>
              <a:rPr lang="en-US" dirty="0" smtClean="0"/>
              <a:t> </a:t>
            </a:r>
            <a:r>
              <a:rPr lang="bg-BG" dirty="0" smtClean="0">
                <a:solidFill>
                  <a:srgbClr val="FF0000"/>
                </a:solidFill>
              </a:rPr>
              <a:t>НОД</a:t>
            </a:r>
            <a:r>
              <a:rPr lang="en-US" dirty="0" smtClean="0">
                <a:solidFill>
                  <a:srgbClr val="FF0000"/>
                </a:solidFill>
              </a:rPr>
              <a:t>(5,6</a:t>
            </a:r>
            <a:r>
              <a:rPr lang="en-US" dirty="0">
                <a:solidFill>
                  <a:srgbClr val="FF0000"/>
                </a:solidFill>
              </a:rPr>
              <a:t>) = </a:t>
            </a:r>
            <a:r>
              <a:rPr lang="en-US" dirty="0" smtClean="0">
                <a:solidFill>
                  <a:srgbClr val="FF0000"/>
                </a:solidFill>
              </a:rPr>
              <a:t>1</a:t>
            </a:r>
            <a:r>
              <a:rPr lang="bg-BG" dirty="0" smtClean="0"/>
              <a:t>.</a:t>
            </a:r>
          </a:p>
          <a:p>
            <a:r>
              <a:rPr lang="bg-BG" dirty="0" smtClean="0"/>
              <a:t>От това множество взаимно прости с 6 са само две числа 1 и 5. Тогава, </a:t>
            </a:r>
            <a:r>
              <a:rPr lang="el-GR" b="1" dirty="0">
                <a:solidFill>
                  <a:srgbClr val="FF0000"/>
                </a:solidFill>
              </a:rPr>
              <a:t>φ</a:t>
            </a:r>
            <a:r>
              <a:rPr lang="bg-BG" b="1" dirty="0" smtClean="0">
                <a:solidFill>
                  <a:srgbClr val="FF0000"/>
                </a:solidFill>
              </a:rPr>
              <a:t>(6</a:t>
            </a:r>
            <a:r>
              <a:rPr lang="en-US" b="1" dirty="0" smtClean="0">
                <a:solidFill>
                  <a:srgbClr val="FF0000"/>
                </a:solidFill>
              </a:rPr>
              <a:t>)</a:t>
            </a:r>
            <a:r>
              <a:rPr lang="bg-BG" b="1" dirty="0" smtClean="0">
                <a:solidFill>
                  <a:srgbClr val="FF0000"/>
                </a:solidFill>
              </a:rPr>
              <a:t>=2</a:t>
            </a:r>
            <a:r>
              <a:rPr lang="en-US" dirty="0" smtClean="0"/>
              <a:t>.</a:t>
            </a:r>
            <a:endParaRPr lang="bg-BG" dirty="0" smtClean="0"/>
          </a:p>
          <a:p>
            <a:r>
              <a:rPr lang="bg-BG" b="1" dirty="0" smtClean="0"/>
              <a:t>Втори пример</a:t>
            </a:r>
            <a:r>
              <a:rPr lang="bg-BG" dirty="0" smtClean="0"/>
              <a:t>: Нека </a:t>
            </a:r>
            <a:r>
              <a:rPr lang="en-US" dirty="0" smtClean="0"/>
              <a:t>n </a:t>
            </a:r>
            <a:r>
              <a:rPr lang="en-US" dirty="0"/>
              <a:t>= </a:t>
            </a:r>
            <a:r>
              <a:rPr lang="en-US" dirty="0" smtClean="0"/>
              <a:t>5, Z5 </a:t>
            </a:r>
            <a:r>
              <a:rPr lang="en-US" dirty="0"/>
              <a:t>= {0,1,2,3,4}. </a:t>
            </a:r>
            <a:r>
              <a:rPr lang="bg-BG" dirty="0" smtClean="0"/>
              <a:t>Тогава, НОД</a:t>
            </a:r>
            <a:r>
              <a:rPr lang="en-US" dirty="0" smtClean="0"/>
              <a:t>(0,5</a:t>
            </a:r>
            <a:r>
              <a:rPr lang="en-US" dirty="0"/>
              <a:t>) = </a:t>
            </a:r>
            <a:r>
              <a:rPr lang="en-US" dirty="0" smtClean="0"/>
              <a:t>5</a:t>
            </a:r>
            <a:r>
              <a:rPr lang="bg-BG" dirty="0" smtClean="0"/>
              <a:t>,</a:t>
            </a:r>
            <a:r>
              <a:rPr lang="en-US" dirty="0" smtClean="0"/>
              <a:t> </a:t>
            </a:r>
            <a:r>
              <a:rPr lang="bg-BG" dirty="0" smtClean="0">
                <a:solidFill>
                  <a:srgbClr val="FF0000"/>
                </a:solidFill>
              </a:rPr>
              <a:t>НОД</a:t>
            </a:r>
            <a:r>
              <a:rPr lang="en-US" dirty="0" smtClean="0">
                <a:solidFill>
                  <a:srgbClr val="FF0000"/>
                </a:solidFill>
              </a:rPr>
              <a:t>(1,5</a:t>
            </a:r>
            <a:r>
              <a:rPr lang="en-US" dirty="0">
                <a:solidFill>
                  <a:srgbClr val="FF0000"/>
                </a:solidFill>
              </a:rPr>
              <a:t>) = </a:t>
            </a:r>
            <a:r>
              <a:rPr lang="en-US" dirty="0" smtClean="0">
                <a:solidFill>
                  <a:srgbClr val="FF0000"/>
                </a:solidFill>
              </a:rPr>
              <a:t>1</a:t>
            </a:r>
            <a:r>
              <a:rPr lang="bg-BG" dirty="0" smtClean="0"/>
              <a:t>,</a:t>
            </a:r>
            <a:r>
              <a:rPr lang="en-US" dirty="0" smtClean="0"/>
              <a:t> </a:t>
            </a:r>
            <a:r>
              <a:rPr lang="bg-BG" dirty="0" smtClean="0">
                <a:solidFill>
                  <a:srgbClr val="FF0000"/>
                </a:solidFill>
              </a:rPr>
              <a:t>НОД</a:t>
            </a:r>
            <a:r>
              <a:rPr lang="en-US" dirty="0" smtClean="0">
                <a:solidFill>
                  <a:srgbClr val="FF0000"/>
                </a:solidFill>
              </a:rPr>
              <a:t>(2,5</a:t>
            </a:r>
            <a:r>
              <a:rPr lang="en-US" dirty="0">
                <a:solidFill>
                  <a:srgbClr val="FF0000"/>
                </a:solidFill>
              </a:rPr>
              <a:t>) = </a:t>
            </a:r>
            <a:r>
              <a:rPr lang="en-US" dirty="0" smtClean="0">
                <a:solidFill>
                  <a:srgbClr val="FF0000"/>
                </a:solidFill>
              </a:rPr>
              <a:t>1</a:t>
            </a:r>
            <a:r>
              <a:rPr lang="bg-BG" dirty="0" smtClean="0"/>
              <a:t>,</a:t>
            </a:r>
            <a:r>
              <a:rPr lang="en-US" dirty="0" smtClean="0"/>
              <a:t> </a:t>
            </a:r>
            <a:r>
              <a:rPr lang="bg-BG" dirty="0" smtClean="0">
                <a:solidFill>
                  <a:srgbClr val="FF0000"/>
                </a:solidFill>
              </a:rPr>
              <a:t>НОД</a:t>
            </a:r>
            <a:r>
              <a:rPr lang="en-US" dirty="0" smtClean="0">
                <a:solidFill>
                  <a:srgbClr val="FF0000"/>
                </a:solidFill>
              </a:rPr>
              <a:t>(3,5</a:t>
            </a:r>
            <a:r>
              <a:rPr lang="en-US" dirty="0">
                <a:solidFill>
                  <a:srgbClr val="FF0000"/>
                </a:solidFill>
              </a:rPr>
              <a:t>) = </a:t>
            </a:r>
            <a:r>
              <a:rPr lang="en-US" dirty="0" smtClean="0">
                <a:solidFill>
                  <a:srgbClr val="FF0000"/>
                </a:solidFill>
              </a:rPr>
              <a:t>1</a:t>
            </a:r>
            <a:r>
              <a:rPr lang="bg-BG" dirty="0" smtClean="0"/>
              <a:t>,</a:t>
            </a:r>
            <a:r>
              <a:rPr lang="en-US" dirty="0" smtClean="0"/>
              <a:t> </a:t>
            </a:r>
            <a:r>
              <a:rPr lang="bg-BG" dirty="0" smtClean="0">
                <a:solidFill>
                  <a:srgbClr val="FF0000"/>
                </a:solidFill>
              </a:rPr>
              <a:t>НОД</a:t>
            </a:r>
            <a:r>
              <a:rPr lang="en-US" dirty="0" smtClean="0">
                <a:solidFill>
                  <a:srgbClr val="FF0000"/>
                </a:solidFill>
              </a:rPr>
              <a:t>(4,5</a:t>
            </a:r>
            <a:r>
              <a:rPr lang="en-US" dirty="0">
                <a:solidFill>
                  <a:srgbClr val="FF0000"/>
                </a:solidFill>
              </a:rPr>
              <a:t>) = </a:t>
            </a:r>
            <a:r>
              <a:rPr lang="en-US" dirty="0" smtClean="0">
                <a:solidFill>
                  <a:srgbClr val="FF0000"/>
                </a:solidFill>
              </a:rPr>
              <a:t>1</a:t>
            </a:r>
            <a:r>
              <a:rPr lang="bg-BG" dirty="0" smtClean="0"/>
              <a:t>.</a:t>
            </a:r>
          </a:p>
          <a:p>
            <a:r>
              <a:rPr lang="en-US" dirty="0" smtClean="0"/>
              <a:t> </a:t>
            </a:r>
            <a:r>
              <a:rPr lang="bg-BG" dirty="0" smtClean="0"/>
              <a:t>Имаме 4 числа взаимно прости с 5 и това са 1,2,3,4. Тогава, </a:t>
            </a:r>
            <a:r>
              <a:rPr lang="el-GR" b="1" dirty="0">
                <a:solidFill>
                  <a:srgbClr val="FF0000"/>
                </a:solidFill>
              </a:rPr>
              <a:t>φ</a:t>
            </a:r>
            <a:r>
              <a:rPr lang="bg-BG" b="1" dirty="0" smtClean="0">
                <a:solidFill>
                  <a:srgbClr val="FF0000"/>
                </a:solidFill>
              </a:rPr>
              <a:t>(5</a:t>
            </a:r>
            <a:r>
              <a:rPr lang="en-US" b="1" dirty="0" smtClean="0">
                <a:solidFill>
                  <a:srgbClr val="FF0000"/>
                </a:solidFill>
              </a:rPr>
              <a:t>)</a:t>
            </a:r>
            <a:r>
              <a:rPr lang="bg-BG" b="1" dirty="0" smtClean="0">
                <a:solidFill>
                  <a:srgbClr val="FF0000"/>
                </a:solidFill>
              </a:rPr>
              <a:t>=4.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878539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Асиметрична криптография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" y="2194560"/>
            <a:ext cx="11494008" cy="4024125"/>
          </a:xfrm>
        </p:spPr>
        <p:txBody>
          <a:bodyPr>
            <a:normAutofit/>
          </a:bodyPr>
          <a:lstStyle/>
          <a:p>
            <a:r>
              <a:rPr lang="bg-BG" b="1" dirty="0" smtClean="0"/>
              <a:t>Малка теорема на Ферма</a:t>
            </a:r>
          </a:p>
          <a:p>
            <a:r>
              <a:rPr lang="bg-BG" dirty="0" smtClean="0">
                <a:solidFill>
                  <a:srgbClr val="FF0000"/>
                </a:solidFill>
              </a:rPr>
              <a:t>Нека </a:t>
            </a:r>
            <a:r>
              <a:rPr lang="en-US" b="1" dirty="0" smtClean="0">
                <a:solidFill>
                  <a:srgbClr val="FF0000"/>
                </a:solidFill>
              </a:rPr>
              <a:t>a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bg-BG" dirty="0" smtClean="0">
                <a:solidFill>
                  <a:srgbClr val="FF0000"/>
                </a:solidFill>
              </a:rPr>
              <a:t>е цяло число и </a:t>
            </a:r>
            <a:r>
              <a:rPr lang="en-US" b="1" dirty="0" smtClean="0">
                <a:solidFill>
                  <a:srgbClr val="FF0000"/>
                </a:solidFill>
              </a:rPr>
              <a:t>p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bg-BG" dirty="0" smtClean="0">
                <a:solidFill>
                  <a:srgbClr val="FF0000"/>
                </a:solidFill>
              </a:rPr>
              <a:t>е просто число</a:t>
            </a:r>
            <a:r>
              <a:rPr lang="en-US" dirty="0" smtClean="0">
                <a:solidFill>
                  <a:srgbClr val="FF0000"/>
                </a:solidFill>
              </a:rPr>
              <a:t>, </a:t>
            </a:r>
            <a:r>
              <a:rPr lang="bg-BG" dirty="0" smtClean="0">
                <a:solidFill>
                  <a:srgbClr val="FF0000"/>
                </a:solidFill>
              </a:rPr>
              <a:t>тогава</a:t>
            </a:r>
            <a:r>
              <a:rPr lang="en-US" dirty="0" smtClean="0">
                <a:solidFill>
                  <a:srgbClr val="FF0000"/>
                </a:solidFill>
              </a:rPr>
              <a:t>: </a:t>
            </a:r>
            <a:r>
              <a:rPr lang="en-US" b="1" dirty="0" err="1">
                <a:solidFill>
                  <a:srgbClr val="FF0000"/>
                </a:solidFill>
              </a:rPr>
              <a:t>a</a:t>
            </a:r>
            <a:r>
              <a:rPr lang="en-US" b="1" baseline="30000" dirty="0" err="1">
                <a:solidFill>
                  <a:srgbClr val="FF0000"/>
                </a:solidFill>
              </a:rPr>
              <a:t>p</a:t>
            </a:r>
            <a:r>
              <a:rPr lang="en-US" b="1" dirty="0">
                <a:solidFill>
                  <a:srgbClr val="FF0000"/>
                </a:solidFill>
              </a:rPr>
              <a:t> ≡ a (mod p</a:t>
            </a:r>
            <a:r>
              <a:rPr lang="en-US" b="1" dirty="0" smtClean="0">
                <a:solidFill>
                  <a:srgbClr val="FF0000"/>
                </a:solidFill>
              </a:rPr>
              <a:t>).</a:t>
            </a:r>
            <a:endParaRPr lang="bg-BG" b="1" dirty="0" smtClean="0">
              <a:solidFill>
                <a:srgbClr val="FF0000"/>
              </a:solidFill>
            </a:endParaRPr>
          </a:p>
          <a:p>
            <a:r>
              <a:rPr lang="bg-BG" b="1" dirty="0" smtClean="0"/>
              <a:t>Пример: </a:t>
            </a:r>
            <a:r>
              <a:rPr lang="bg-BG" dirty="0" smtClean="0"/>
              <a:t>а=2, </a:t>
            </a:r>
            <a:r>
              <a:rPr lang="en-US" dirty="0" smtClean="0"/>
              <a:t>p=7. </a:t>
            </a:r>
            <a:r>
              <a:rPr lang="bg-BG" dirty="0" smtClean="0"/>
              <a:t>Тогава, </a:t>
            </a:r>
            <a:r>
              <a:rPr lang="en-US" dirty="0" smtClean="0"/>
              <a:t>2</a:t>
            </a:r>
            <a:r>
              <a:rPr lang="en-US" baseline="30000" dirty="0" smtClean="0"/>
              <a:t>7</a:t>
            </a:r>
            <a:r>
              <a:rPr lang="en-US" dirty="0" smtClean="0"/>
              <a:t>=128=2mod7</a:t>
            </a:r>
          </a:p>
          <a:p>
            <a:r>
              <a:rPr lang="bg-BG" b="1" dirty="0" smtClean="0"/>
              <a:t>Следствие</a:t>
            </a:r>
            <a:r>
              <a:rPr lang="en-US" b="1" dirty="0" smtClean="0"/>
              <a:t> 1. </a:t>
            </a:r>
            <a:r>
              <a:rPr lang="en-US" dirty="0" smtClean="0"/>
              <a:t>a</a:t>
            </a:r>
            <a:r>
              <a:rPr lang="en-US" baseline="30000" dirty="0" smtClean="0"/>
              <a:t>p-1</a:t>
            </a:r>
            <a:r>
              <a:rPr lang="en-US" dirty="0" smtClean="0"/>
              <a:t>=1modp</a:t>
            </a:r>
            <a:endParaRPr lang="bg-BG" dirty="0" smtClean="0"/>
          </a:p>
          <a:p>
            <a:r>
              <a:rPr lang="bg-BG" b="1" dirty="0" smtClean="0"/>
              <a:t>Следствие 2. </a:t>
            </a:r>
            <a:r>
              <a:rPr lang="en-US" dirty="0" smtClean="0"/>
              <a:t>a</a:t>
            </a:r>
            <a:r>
              <a:rPr lang="en-US" baseline="30000" dirty="0" smtClean="0"/>
              <a:t>-1</a:t>
            </a:r>
            <a:r>
              <a:rPr lang="en-US" dirty="0" smtClean="0"/>
              <a:t>=a</a:t>
            </a:r>
            <a:r>
              <a:rPr lang="en-US" baseline="30000" dirty="0" smtClean="0"/>
              <a:t>p-2</a:t>
            </a:r>
            <a:r>
              <a:rPr lang="en-US" dirty="0" smtClean="0"/>
              <a:t>modp</a:t>
            </a:r>
            <a:endParaRPr lang="bg-BG" dirty="0" smtClean="0"/>
          </a:p>
          <a:p>
            <a:pPr lvl="1"/>
            <a:r>
              <a:rPr lang="bg-BG" b="1" dirty="0" smtClean="0"/>
              <a:t>Доказателство:</a:t>
            </a:r>
            <a:r>
              <a:rPr lang="en-US" b="1" dirty="0" smtClean="0"/>
              <a:t> </a:t>
            </a:r>
            <a:r>
              <a:rPr lang="bg-BG" dirty="0" smtClean="0"/>
              <a:t>Записваме резултата от следствие 1 във вида: </a:t>
            </a:r>
            <a:r>
              <a:rPr lang="en-US" dirty="0" smtClean="0"/>
              <a:t>a.a</a:t>
            </a:r>
            <a:r>
              <a:rPr lang="en-US" baseline="30000" dirty="0" smtClean="0"/>
              <a:t>p-2</a:t>
            </a:r>
            <a:r>
              <a:rPr lang="en-US" dirty="0" smtClean="0"/>
              <a:t>=1modp </a:t>
            </a:r>
            <a:r>
              <a:rPr lang="bg-BG" dirty="0" smtClean="0"/>
              <a:t>и умножаваме двете страни с а</a:t>
            </a:r>
            <a:r>
              <a:rPr lang="bg-BG" baseline="30000" dirty="0" smtClean="0"/>
              <a:t>-1</a:t>
            </a:r>
            <a:r>
              <a:rPr lang="bg-BG" dirty="0" smtClean="0"/>
              <a:t>.</a:t>
            </a:r>
          </a:p>
          <a:p>
            <a:r>
              <a:rPr lang="bg-BG" b="1" dirty="0" smtClean="0"/>
              <a:t>Пример: </a:t>
            </a:r>
            <a:r>
              <a:rPr lang="bg-BG" dirty="0"/>
              <a:t>а=2, </a:t>
            </a:r>
            <a:r>
              <a:rPr lang="en-US" dirty="0"/>
              <a:t>p=7. </a:t>
            </a:r>
            <a:r>
              <a:rPr lang="bg-BG" dirty="0"/>
              <a:t>Тогава, </a:t>
            </a:r>
            <a:r>
              <a:rPr lang="bg-BG" dirty="0" smtClean="0"/>
              <a:t>обратният елемент </a:t>
            </a:r>
            <a:r>
              <a:rPr lang="en-US" dirty="0" smtClean="0"/>
              <a:t>a</a:t>
            </a:r>
            <a:r>
              <a:rPr lang="en-US" baseline="30000" dirty="0" smtClean="0"/>
              <a:t>-1</a:t>
            </a:r>
            <a:r>
              <a:rPr lang="bg-BG" dirty="0" smtClean="0"/>
              <a:t> се намира по начина: </a:t>
            </a:r>
          </a:p>
          <a:p>
            <a:pPr marL="0" indent="0">
              <a:buNone/>
            </a:pPr>
            <a:r>
              <a:rPr lang="en-US" dirty="0" smtClean="0"/>
              <a:t>a</a:t>
            </a:r>
            <a:r>
              <a:rPr lang="en-US" baseline="30000" dirty="0" smtClean="0"/>
              <a:t>p-2</a:t>
            </a:r>
            <a:r>
              <a:rPr lang="en-US" dirty="0" smtClean="0"/>
              <a:t>=2</a:t>
            </a:r>
            <a:r>
              <a:rPr lang="en-US" baseline="30000" dirty="0" smtClean="0"/>
              <a:t>5</a:t>
            </a:r>
            <a:r>
              <a:rPr lang="en-US" dirty="0" smtClean="0"/>
              <a:t>=32=4mod7. </a:t>
            </a:r>
            <a:r>
              <a:rPr lang="bg-BG" dirty="0" smtClean="0"/>
              <a:t>Лесно се проверява, че 2.4=1</a:t>
            </a:r>
            <a:r>
              <a:rPr lang="en-US" dirty="0" smtClean="0"/>
              <a:t>mod</a:t>
            </a:r>
            <a:r>
              <a:rPr lang="bg-BG" dirty="0" smtClean="0"/>
              <a:t>7.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2552581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Асиметрична криптография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837944"/>
            <a:ext cx="10820400" cy="4024125"/>
          </a:xfrm>
        </p:spPr>
        <p:txBody>
          <a:bodyPr>
            <a:normAutofit lnSpcReduction="10000"/>
          </a:bodyPr>
          <a:lstStyle/>
          <a:p>
            <a:r>
              <a:rPr lang="bg-BG" b="1" dirty="0" smtClean="0"/>
              <a:t>Т</a:t>
            </a:r>
            <a:r>
              <a:rPr lang="ru-RU" b="1" dirty="0" smtClean="0"/>
              <a:t>еорема </a:t>
            </a:r>
            <a:r>
              <a:rPr lang="ru-RU" b="1" dirty="0"/>
              <a:t>на </a:t>
            </a:r>
            <a:r>
              <a:rPr lang="bg-BG" b="1" dirty="0" smtClean="0"/>
              <a:t>Ойлер</a:t>
            </a:r>
          </a:p>
          <a:p>
            <a:r>
              <a:rPr lang="bg-BG" b="1" dirty="0" smtClean="0"/>
              <a:t>Теоремата на Ойлер </a:t>
            </a:r>
            <a:r>
              <a:rPr lang="bg-BG" dirty="0" smtClean="0"/>
              <a:t>е едно обобщение на малката теорема на Ферма и може да се прилага за всяко число, не е задължително да е просто. </a:t>
            </a:r>
          </a:p>
          <a:p>
            <a:r>
              <a:rPr lang="bg-BG" b="1" dirty="0" smtClean="0"/>
              <a:t>Теорема на Ойлер</a:t>
            </a:r>
            <a:r>
              <a:rPr lang="bg-BG" dirty="0" smtClean="0"/>
              <a:t>: Нека </a:t>
            </a:r>
            <a:r>
              <a:rPr lang="en-US" b="1" dirty="0" smtClean="0"/>
              <a:t>a</a:t>
            </a:r>
            <a:r>
              <a:rPr lang="en-US" dirty="0" smtClean="0"/>
              <a:t> </a:t>
            </a:r>
            <a:r>
              <a:rPr lang="bg-BG" dirty="0" smtClean="0"/>
              <a:t>и </a:t>
            </a:r>
            <a:r>
              <a:rPr lang="en-US" b="1" dirty="0" smtClean="0"/>
              <a:t>n</a:t>
            </a:r>
            <a:r>
              <a:rPr lang="bg-BG" dirty="0" smtClean="0"/>
              <a:t> са цели числа с НОД</a:t>
            </a:r>
            <a:r>
              <a:rPr lang="en-US" dirty="0" smtClean="0"/>
              <a:t>(</a:t>
            </a:r>
            <a:r>
              <a:rPr lang="en-US" dirty="0" err="1" smtClean="0"/>
              <a:t>a,n</a:t>
            </a:r>
            <a:r>
              <a:rPr lang="en-US" dirty="0" smtClean="0"/>
              <a:t>) </a:t>
            </a:r>
            <a:r>
              <a:rPr lang="en-US" dirty="0"/>
              <a:t>= 1, </a:t>
            </a:r>
            <a:r>
              <a:rPr lang="bg-BG" dirty="0" smtClean="0"/>
              <a:t>тогава</a:t>
            </a:r>
            <a:r>
              <a:rPr lang="en-US" dirty="0" smtClean="0"/>
              <a:t>: </a:t>
            </a:r>
          </a:p>
          <a:p>
            <a:pPr marL="457200" lvl="1" indent="0">
              <a:buNone/>
            </a:pPr>
            <a:r>
              <a:rPr lang="en-US" b="1" dirty="0" smtClean="0"/>
              <a:t>a</a:t>
            </a:r>
            <a:r>
              <a:rPr lang="el-GR" b="1" baseline="30000" dirty="0" smtClean="0"/>
              <a:t>φ</a:t>
            </a:r>
            <a:r>
              <a:rPr lang="en-US" b="1" baseline="30000" dirty="0" smtClean="0"/>
              <a:t>(n) </a:t>
            </a:r>
            <a:r>
              <a:rPr lang="en-US" b="1" dirty="0"/>
              <a:t>≡ </a:t>
            </a:r>
            <a:r>
              <a:rPr lang="en-US" b="1" dirty="0" smtClean="0"/>
              <a:t>1(mod </a:t>
            </a:r>
            <a:r>
              <a:rPr lang="en-US" b="1" dirty="0"/>
              <a:t>n</a:t>
            </a:r>
            <a:r>
              <a:rPr lang="en-US" b="1" dirty="0" smtClean="0"/>
              <a:t>)</a:t>
            </a:r>
            <a:r>
              <a:rPr lang="en-US" dirty="0" smtClean="0"/>
              <a:t>. </a:t>
            </a:r>
          </a:p>
          <a:p>
            <a:r>
              <a:rPr lang="bg-BG" b="1" dirty="0" smtClean="0"/>
              <a:t>Пример:</a:t>
            </a:r>
            <a:r>
              <a:rPr lang="bg-BG" dirty="0" smtClean="0"/>
              <a:t> Нека </a:t>
            </a:r>
            <a:r>
              <a:rPr lang="en-US" dirty="0" smtClean="0"/>
              <a:t>n </a:t>
            </a:r>
            <a:r>
              <a:rPr lang="en-US" dirty="0"/>
              <a:t>= 12 </a:t>
            </a:r>
            <a:r>
              <a:rPr lang="bg-BG" dirty="0" smtClean="0"/>
              <a:t>и</a:t>
            </a:r>
            <a:r>
              <a:rPr lang="en-US" dirty="0" smtClean="0"/>
              <a:t> </a:t>
            </a:r>
            <a:r>
              <a:rPr lang="en-US" dirty="0"/>
              <a:t>a = 5. </a:t>
            </a:r>
            <a:r>
              <a:rPr lang="bg-BG" dirty="0" smtClean="0"/>
              <a:t>Най-напред се изчислява </a:t>
            </a:r>
            <a:r>
              <a:rPr lang="bg-BG" dirty="0" err="1" smtClean="0"/>
              <a:t>ойлеровата</a:t>
            </a:r>
            <a:r>
              <a:rPr lang="bg-BG" dirty="0" smtClean="0"/>
              <a:t> </a:t>
            </a:r>
            <a:r>
              <a:rPr lang="en-US" dirty="0" smtClean="0"/>
              <a:t>phi </a:t>
            </a:r>
            <a:r>
              <a:rPr lang="bg-BG" dirty="0" smtClean="0"/>
              <a:t>функция при </a:t>
            </a:r>
            <a:r>
              <a:rPr lang="en-US" dirty="0" smtClean="0"/>
              <a:t>n: </a:t>
            </a:r>
            <a:endParaRPr lang="bg-BG" dirty="0" smtClean="0"/>
          </a:p>
          <a:p>
            <a:pPr marL="0" indent="0">
              <a:buNone/>
            </a:pPr>
            <a:r>
              <a:rPr lang="bg-BG" dirty="0"/>
              <a:t>	</a:t>
            </a:r>
            <a:r>
              <a:rPr lang="el-GR" b="1" baseline="30000" dirty="0"/>
              <a:t> </a:t>
            </a:r>
            <a:r>
              <a:rPr lang="el-GR" dirty="0" smtClean="0"/>
              <a:t>φ</a:t>
            </a:r>
            <a:r>
              <a:rPr lang="en-US" dirty="0" smtClean="0"/>
              <a:t>(12)</a:t>
            </a:r>
            <a:r>
              <a:rPr lang="el-GR" dirty="0" smtClean="0"/>
              <a:t>= </a:t>
            </a:r>
            <a:r>
              <a:rPr lang="el-GR" dirty="0"/>
              <a:t>φ</a:t>
            </a:r>
            <a:r>
              <a:rPr lang="el-GR" dirty="0" smtClean="0"/>
              <a:t>(2</a:t>
            </a:r>
            <a:r>
              <a:rPr lang="el-GR" baseline="30000" dirty="0" smtClean="0"/>
              <a:t>2</a:t>
            </a:r>
            <a:r>
              <a:rPr lang="el-GR" dirty="0" smtClean="0"/>
              <a:t> </a:t>
            </a:r>
            <a:r>
              <a:rPr lang="el-GR" dirty="0"/>
              <a:t>· 3)=(2</a:t>
            </a:r>
            <a:r>
              <a:rPr lang="el-GR" baseline="30000" dirty="0"/>
              <a:t>2</a:t>
            </a:r>
            <a:r>
              <a:rPr lang="el-GR" dirty="0"/>
              <a:t> −2</a:t>
            </a:r>
            <a:r>
              <a:rPr lang="el-GR" baseline="30000" dirty="0"/>
              <a:t>1</a:t>
            </a:r>
            <a:r>
              <a:rPr lang="el-GR" dirty="0"/>
              <a:t>)(3</a:t>
            </a:r>
            <a:r>
              <a:rPr lang="el-GR" baseline="30000" dirty="0"/>
              <a:t>1</a:t>
            </a:r>
            <a:r>
              <a:rPr lang="el-GR" dirty="0"/>
              <a:t> −3</a:t>
            </a:r>
            <a:r>
              <a:rPr lang="el-GR" baseline="30000" dirty="0"/>
              <a:t>0</a:t>
            </a:r>
            <a:r>
              <a:rPr lang="el-GR" dirty="0"/>
              <a:t>)=(4−2)(3−1) = 4. </a:t>
            </a:r>
            <a:endParaRPr lang="en-US" dirty="0" smtClean="0"/>
          </a:p>
          <a:p>
            <a:pPr marL="0" indent="0">
              <a:buNone/>
            </a:pPr>
            <a:r>
              <a:rPr lang="bg-BG" dirty="0" smtClean="0"/>
              <a:t>Верифициране на Теоремата на Ойлер</a:t>
            </a:r>
            <a:r>
              <a:rPr lang="en-US" dirty="0" smtClean="0"/>
              <a:t>: </a:t>
            </a:r>
            <a:endParaRPr lang="bg-BG" dirty="0" smtClean="0"/>
          </a:p>
          <a:p>
            <a:pPr marL="0" indent="0">
              <a:buNone/>
            </a:pPr>
            <a:r>
              <a:rPr lang="bg-BG" dirty="0"/>
              <a:t>	</a:t>
            </a:r>
            <a:r>
              <a:rPr lang="en-US" dirty="0" smtClean="0"/>
              <a:t>5</a:t>
            </a:r>
            <a:r>
              <a:rPr lang="el-GR" baseline="30000" dirty="0" smtClean="0"/>
              <a:t>φ(12</a:t>
            </a:r>
            <a:r>
              <a:rPr lang="el-GR" baseline="30000" dirty="0"/>
              <a:t>)</a:t>
            </a:r>
            <a:r>
              <a:rPr lang="el-GR" dirty="0"/>
              <a:t> = </a:t>
            </a:r>
            <a:r>
              <a:rPr lang="el-GR" dirty="0" smtClean="0"/>
              <a:t>5</a:t>
            </a:r>
            <a:r>
              <a:rPr lang="el-GR" baseline="30000" dirty="0" smtClean="0"/>
              <a:t>4</a:t>
            </a:r>
            <a:r>
              <a:rPr lang="el-GR" dirty="0" smtClean="0"/>
              <a:t> </a:t>
            </a:r>
            <a:r>
              <a:rPr lang="el-GR" dirty="0"/>
              <a:t>= 25</a:t>
            </a:r>
            <a:r>
              <a:rPr lang="el-GR" baseline="30000" dirty="0"/>
              <a:t>2</a:t>
            </a:r>
            <a:r>
              <a:rPr lang="el-GR" dirty="0"/>
              <a:t> = 625 ≡ 1 </a:t>
            </a:r>
            <a:r>
              <a:rPr lang="en-US" dirty="0"/>
              <a:t>mod 12.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3329" y="4423982"/>
            <a:ext cx="3726752" cy="2347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04435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7851" y="1457961"/>
            <a:ext cx="9782801" cy="514896"/>
          </a:xfrm>
        </p:spPr>
        <p:txBody>
          <a:bodyPr>
            <a:noAutofit/>
          </a:bodyPr>
          <a:lstStyle/>
          <a:p>
            <a:pPr algn="ctr"/>
            <a:r>
              <a:rPr lang="bg-BG" dirty="0"/>
              <a:t>Протокол на </a:t>
            </a:r>
            <a:r>
              <a:rPr lang="bg-BG" dirty="0" err="1" smtClean="0"/>
              <a:t>Дифи</a:t>
            </a:r>
            <a:r>
              <a:rPr lang="bg-BG" dirty="0" smtClean="0"/>
              <a:t> и </a:t>
            </a:r>
            <a:r>
              <a:rPr lang="bg-BG" dirty="0" err="1" smtClean="0"/>
              <a:t>Хелман</a:t>
            </a:r>
            <a:endParaRPr lang="bg-BG" dirty="0"/>
          </a:p>
        </p:txBody>
      </p:sp>
      <p:sp>
        <p:nvSpPr>
          <p:cNvPr id="3" name="TextBox 2"/>
          <p:cNvSpPr txBox="1"/>
          <p:nvPr/>
        </p:nvSpPr>
        <p:spPr>
          <a:xfrm>
            <a:off x="1337851" y="2377440"/>
            <a:ext cx="991841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bg-BG" sz="2400" b="1" dirty="0" smtClean="0"/>
              <a:t>Протоколът за обмен на ключове</a:t>
            </a:r>
            <a:r>
              <a:rPr lang="bg-BG" sz="2400" b="1" dirty="0"/>
              <a:t> </a:t>
            </a:r>
            <a:r>
              <a:rPr lang="bg-BG" sz="2400" dirty="0" smtClean="0"/>
              <a:t>е предложен от </a:t>
            </a:r>
            <a:r>
              <a:rPr lang="bg-BG" sz="2400" dirty="0" err="1" smtClean="0"/>
              <a:t>Уитфйлд</a:t>
            </a:r>
            <a:r>
              <a:rPr lang="bg-BG" sz="2400" dirty="0" smtClean="0"/>
              <a:t> </a:t>
            </a:r>
            <a:r>
              <a:rPr lang="bg-BG" sz="2400" b="1" dirty="0" err="1" smtClean="0"/>
              <a:t>Дифи</a:t>
            </a:r>
            <a:r>
              <a:rPr lang="bg-BG" sz="2400" b="1" dirty="0" smtClean="0"/>
              <a:t> </a:t>
            </a:r>
            <a:r>
              <a:rPr lang="bg-BG" sz="2400" dirty="0" smtClean="0"/>
              <a:t>и Мартин </a:t>
            </a:r>
            <a:r>
              <a:rPr lang="bg-BG" sz="2400" b="1" dirty="0" err="1" smtClean="0"/>
              <a:t>Хелман</a:t>
            </a:r>
            <a:r>
              <a:rPr lang="bg-BG" sz="2400" dirty="0" smtClean="0"/>
              <a:t> през 1976 г. и е първата асиметрична схема, публикувана в литературата.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bg-BG" sz="2400" dirty="0" smtClean="0"/>
              <a:t>Тази основна техника за обмен на ключове се използва в различни съвременни </a:t>
            </a:r>
            <a:r>
              <a:rPr lang="bg-BG" sz="2400" dirty="0" err="1" smtClean="0"/>
              <a:t>криптографски</a:t>
            </a:r>
            <a:r>
              <a:rPr lang="bg-BG" sz="2400" dirty="0" smtClean="0"/>
              <a:t> протоколи: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 smtClean="0"/>
              <a:t>Secure Shell (SSH)</a:t>
            </a:r>
            <a:r>
              <a:rPr lang="bg-BG" sz="2400" b="1" dirty="0" smtClean="0"/>
              <a:t>;</a:t>
            </a:r>
            <a:endParaRPr lang="en-US" sz="2400" b="1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bg-BG" sz="2400" b="1" dirty="0" smtClean="0"/>
              <a:t>Защита на транспортния слой – </a:t>
            </a:r>
            <a:r>
              <a:rPr lang="en-US" sz="2400" b="1" dirty="0" smtClean="0"/>
              <a:t>Transport Layer Security </a:t>
            </a:r>
            <a:r>
              <a:rPr lang="bg-BG" sz="2400" b="1" dirty="0" smtClean="0"/>
              <a:t>(</a:t>
            </a:r>
            <a:r>
              <a:rPr lang="en-US" sz="2400" b="1" dirty="0" smtClean="0"/>
              <a:t>TLS</a:t>
            </a:r>
            <a:r>
              <a:rPr lang="bg-BG" sz="2400" b="1" dirty="0" smtClean="0"/>
              <a:t>);</a:t>
            </a:r>
            <a:endParaRPr lang="en-US" sz="2400" b="1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bg-BG" sz="2400" b="1" dirty="0" smtClean="0"/>
              <a:t>Защита на интернет протокол </a:t>
            </a:r>
            <a:r>
              <a:rPr lang="en-US" sz="2400" b="1" dirty="0" smtClean="0"/>
              <a:t>– Internet Protocol Security </a:t>
            </a:r>
            <a:r>
              <a:rPr lang="bg-BG" sz="2400" b="1" dirty="0" smtClean="0"/>
              <a:t>(</a:t>
            </a:r>
            <a:r>
              <a:rPr lang="en-US" sz="2400" b="1" dirty="0" err="1" smtClean="0"/>
              <a:t>IPSec</a:t>
            </a:r>
            <a:r>
              <a:rPr lang="bg-BG" sz="2400" b="1" dirty="0" smtClean="0"/>
              <a:t>).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725169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1371600" y="128334"/>
            <a:ext cx="10640568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bg-BG" dirty="0" smtClean="0"/>
              <a:t>А</a:t>
            </a:r>
            <a:r>
              <a:rPr lang="en-US" dirty="0" err="1" smtClean="0"/>
              <a:t>лгоритъм</a:t>
            </a:r>
            <a:r>
              <a:rPr lang="bg-BG" dirty="0" smtClean="0"/>
              <a:t> на Дифи и Хелман</a:t>
            </a:r>
            <a:endParaRPr dirty="0"/>
          </a:p>
        </p:txBody>
      </p:sp>
      <p:sp>
        <p:nvSpPr>
          <p:cNvPr id="104" name="Google Shape;104;p16"/>
          <p:cNvSpPr txBox="1">
            <a:spLocks noGrp="1"/>
          </p:cNvSpPr>
          <p:nvPr>
            <p:ph type="body" idx="1"/>
          </p:nvPr>
        </p:nvSpPr>
        <p:spPr>
          <a:xfrm>
            <a:off x="438912" y="996697"/>
            <a:ext cx="11201400" cy="565099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lnSpc>
                <a:spcPct val="80000"/>
              </a:lnSpc>
              <a:spcBef>
                <a:spcPts val="0"/>
              </a:spcBef>
              <a:buClr>
                <a:schemeClr val="dk1"/>
              </a:buClr>
              <a:buSzPts val="1760"/>
            </a:pPr>
            <a:r>
              <a:rPr lang="en-US" sz="2400" dirty="0" err="1"/>
              <a:t>Използва</a:t>
            </a:r>
            <a:r>
              <a:rPr lang="en-US" sz="2400" dirty="0"/>
              <a:t> </a:t>
            </a:r>
            <a:r>
              <a:rPr lang="en-US" sz="2400" dirty="0" err="1"/>
              <a:t>се</a:t>
            </a:r>
            <a:r>
              <a:rPr lang="en-US" sz="2400" dirty="0"/>
              <a:t> </a:t>
            </a:r>
            <a:r>
              <a:rPr lang="en-US" sz="2400" dirty="0" err="1"/>
              <a:t>за</a:t>
            </a:r>
            <a:r>
              <a:rPr lang="en-US" sz="2400" dirty="0"/>
              <a:t> </a:t>
            </a:r>
            <a:r>
              <a:rPr lang="en-US" sz="2400" b="1" dirty="0" err="1"/>
              <a:t>договаряне</a:t>
            </a:r>
            <a:r>
              <a:rPr lang="en-US" sz="2400" b="1" dirty="0"/>
              <a:t> </a:t>
            </a:r>
            <a:r>
              <a:rPr lang="en-US" sz="2400" b="1" dirty="0" err="1"/>
              <a:t>на</a:t>
            </a:r>
            <a:r>
              <a:rPr lang="en-US" sz="2400" b="1" dirty="0"/>
              <a:t> </a:t>
            </a:r>
            <a:r>
              <a:rPr lang="en-US" sz="2400" b="1" dirty="0" err="1"/>
              <a:t>сесиен</a:t>
            </a:r>
            <a:r>
              <a:rPr lang="en-US" sz="2400" b="1" dirty="0"/>
              <a:t> </a:t>
            </a:r>
            <a:r>
              <a:rPr lang="en-US" sz="2400" b="1" dirty="0" err="1"/>
              <a:t>ключ</a:t>
            </a:r>
            <a:r>
              <a:rPr lang="en-US" sz="2400" b="1" dirty="0"/>
              <a:t> </a:t>
            </a:r>
            <a:r>
              <a:rPr lang="en-US" sz="2400" u="sng" dirty="0" err="1"/>
              <a:t>без</a:t>
            </a:r>
            <a:r>
              <a:rPr lang="en-US" sz="2400" u="sng" dirty="0"/>
              <a:t> </a:t>
            </a:r>
            <a:r>
              <a:rPr lang="en-US" sz="2400" u="sng" dirty="0" err="1"/>
              <a:t>да</a:t>
            </a:r>
            <a:r>
              <a:rPr lang="en-US" sz="2400" u="sng" dirty="0"/>
              <a:t> </a:t>
            </a:r>
            <a:r>
              <a:rPr lang="en-US" sz="2400" u="sng" dirty="0" err="1"/>
              <a:t>се</a:t>
            </a:r>
            <a:r>
              <a:rPr lang="en-US" sz="2400" u="sng" dirty="0"/>
              <a:t> </a:t>
            </a:r>
            <a:r>
              <a:rPr lang="en-US" sz="2400" u="sng" dirty="0" err="1"/>
              <a:t>изпраща</a:t>
            </a:r>
            <a:r>
              <a:rPr lang="en-US" sz="2400" u="sng" dirty="0"/>
              <a:t> </a:t>
            </a:r>
            <a:r>
              <a:rPr lang="en-US" sz="2400" u="sng" dirty="0" err="1"/>
              <a:t>по</a:t>
            </a:r>
            <a:r>
              <a:rPr lang="en-US" sz="2400" u="sng" dirty="0"/>
              <a:t> </a:t>
            </a:r>
            <a:r>
              <a:rPr lang="en-US" sz="2400" u="sng" dirty="0" err="1"/>
              <a:t>комуникационен</a:t>
            </a:r>
            <a:r>
              <a:rPr lang="en-US" sz="2400" u="sng" dirty="0"/>
              <a:t> </a:t>
            </a:r>
            <a:r>
              <a:rPr lang="en-US" sz="2400" u="sng" dirty="0" err="1" smtClean="0"/>
              <a:t>канал</a:t>
            </a:r>
            <a:r>
              <a:rPr lang="bg-BG" sz="2400" dirty="0" smtClean="0"/>
              <a:t>.</a:t>
            </a:r>
            <a:endParaRPr sz="2400" dirty="0"/>
          </a:p>
          <a:p>
            <a:pPr marL="514350" indent="-514350">
              <a:lnSpc>
                <a:spcPct val="80000"/>
              </a:lnSpc>
              <a:spcBef>
                <a:spcPts val="352"/>
              </a:spcBef>
              <a:buClr>
                <a:schemeClr val="dk1"/>
              </a:buClr>
              <a:buSzPts val="1760"/>
              <a:buFont typeface="Calibri"/>
              <a:buAutoNum type="arabicPeriod"/>
            </a:pPr>
            <a:r>
              <a:rPr lang="en-US" sz="2400" dirty="0" err="1"/>
              <a:t>Потребител</a:t>
            </a:r>
            <a:r>
              <a:rPr lang="en-US" sz="2400" dirty="0"/>
              <a:t> А и </a:t>
            </a:r>
            <a:r>
              <a:rPr lang="en-US" sz="2400" dirty="0" err="1"/>
              <a:t>потребител</a:t>
            </a:r>
            <a:r>
              <a:rPr lang="en-US" sz="2400" dirty="0"/>
              <a:t> В </a:t>
            </a:r>
            <a:r>
              <a:rPr lang="en-US" sz="2400" dirty="0" err="1"/>
              <a:t>се</a:t>
            </a:r>
            <a:r>
              <a:rPr lang="en-US" sz="2400" dirty="0"/>
              <a:t> </a:t>
            </a:r>
            <a:r>
              <a:rPr lang="en-US" sz="2400" dirty="0" err="1"/>
              <a:t>договарят</a:t>
            </a:r>
            <a:r>
              <a:rPr lang="en-US" sz="2400" dirty="0"/>
              <a:t> </a:t>
            </a:r>
            <a:r>
              <a:rPr lang="en-US" sz="2400" dirty="0" err="1"/>
              <a:t>по</a:t>
            </a:r>
            <a:r>
              <a:rPr lang="en-US" sz="2400" dirty="0"/>
              <a:t> </a:t>
            </a:r>
            <a:r>
              <a:rPr lang="en-US" sz="2400" dirty="0" err="1"/>
              <a:t>между</a:t>
            </a:r>
            <a:r>
              <a:rPr lang="en-US" sz="2400" dirty="0"/>
              <a:t> </a:t>
            </a:r>
            <a:r>
              <a:rPr lang="en-US" sz="2400" dirty="0" err="1"/>
              <a:t>си</a:t>
            </a:r>
            <a:r>
              <a:rPr lang="en-US" sz="2400" dirty="0"/>
              <a:t> </a:t>
            </a:r>
            <a:r>
              <a:rPr lang="en-US" sz="2400" dirty="0" err="1"/>
              <a:t>за</a:t>
            </a:r>
            <a:r>
              <a:rPr lang="en-US" sz="2400" dirty="0"/>
              <a:t> </a:t>
            </a:r>
            <a:r>
              <a:rPr lang="en-US" sz="2400" dirty="0" err="1"/>
              <a:t>две</a:t>
            </a:r>
            <a:r>
              <a:rPr lang="en-US" sz="2400" dirty="0"/>
              <a:t> </a:t>
            </a:r>
            <a:r>
              <a:rPr lang="en-US" sz="2400" dirty="0" err="1"/>
              <a:t>прости</a:t>
            </a:r>
            <a:r>
              <a:rPr lang="en-US" sz="2400" dirty="0"/>
              <a:t> </a:t>
            </a:r>
            <a:r>
              <a:rPr lang="en-US" sz="2400" dirty="0" err="1"/>
              <a:t>числа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B050"/>
                </a:solidFill>
              </a:rPr>
              <a:t>p</a:t>
            </a:r>
            <a:r>
              <a:rPr lang="en-US" sz="2400" dirty="0"/>
              <a:t> и </a:t>
            </a:r>
            <a:r>
              <a:rPr lang="en-US" sz="2400" b="1" dirty="0">
                <a:solidFill>
                  <a:srgbClr val="00B050"/>
                </a:solidFill>
              </a:rPr>
              <a:t>q</a:t>
            </a:r>
            <a:r>
              <a:rPr lang="en-US" sz="2400" dirty="0"/>
              <a:t> (</a:t>
            </a:r>
            <a:r>
              <a:rPr lang="en-US" sz="2400" dirty="0" err="1"/>
              <a:t>например</a:t>
            </a:r>
            <a:r>
              <a:rPr lang="en-US" sz="2400" dirty="0"/>
              <a:t> 23 и 5</a:t>
            </a:r>
            <a:r>
              <a:rPr lang="en-US" sz="2400" dirty="0" smtClean="0"/>
              <a:t>)</a:t>
            </a:r>
            <a:r>
              <a:rPr lang="bg-BG" sz="2400" dirty="0" smtClean="0"/>
              <a:t>.</a:t>
            </a:r>
            <a:endParaRPr sz="2400" dirty="0"/>
          </a:p>
          <a:p>
            <a:pPr marL="514350" indent="-514350">
              <a:lnSpc>
                <a:spcPct val="80000"/>
              </a:lnSpc>
              <a:spcBef>
                <a:spcPts val="352"/>
              </a:spcBef>
              <a:buClr>
                <a:schemeClr val="dk1"/>
              </a:buClr>
              <a:buSzPts val="1760"/>
              <a:buFont typeface="Calibri"/>
              <a:buAutoNum type="arabicPeriod"/>
            </a:pPr>
            <a:r>
              <a:rPr lang="en-US" sz="2400" dirty="0" err="1"/>
              <a:t>Потребител</a:t>
            </a:r>
            <a:r>
              <a:rPr lang="en-US" sz="2400" dirty="0"/>
              <a:t> А </a:t>
            </a:r>
            <a:r>
              <a:rPr lang="en-US" sz="2400" dirty="0" err="1"/>
              <a:t>избира</a:t>
            </a:r>
            <a:r>
              <a:rPr lang="en-US" sz="2400" dirty="0"/>
              <a:t> </a:t>
            </a:r>
            <a:r>
              <a:rPr lang="en-US" sz="2400" dirty="0" err="1"/>
              <a:t>цяло</a:t>
            </a:r>
            <a:r>
              <a:rPr lang="en-US" sz="2400" dirty="0"/>
              <a:t> </a:t>
            </a:r>
            <a:r>
              <a:rPr lang="en-US" sz="2400" dirty="0" err="1"/>
              <a:t>число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FF0000"/>
                </a:solidFill>
              </a:rPr>
              <a:t>а</a:t>
            </a:r>
            <a:r>
              <a:rPr lang="en-US" sz="2400" dirty="0"/>
              <a:t> (6) и </a:t>
            </a:r>
            <a:r>
              <a:rPr lang="en-US" sz="2400" dirty="0" err="1"/>
              <a:t>изчислява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B050"/>
                </a:solidFill>
              </a:rPr>
              <a:t>PKA=</a:t>
            </a:r>
            <a:r>
              <a:rPr lang="en-US" sz="2400" b="1" dirty="0" err="1">
                <a:solidFill>
                  <a:srgbClr val="00B050"/>
                </a:solidFill>
              </a:rPr>
              <a:t>q</a:t>
            </a:r>
            <a:r>
              <a:rPr lang="en-US" sz="2400" b="1" baseline="30000" dirty="0" err="1">
                <a:solidFill>
                  <a:srgbClr val="FF0000"/>
                </a:solidFill>
              </a:rPr>
              <a:t>a</a:t>
            </a:r>
            <a:r>
              <a:rPr lang="en-US" sz="2400" b="1" dirty="0" err="1">
                <a:solidFill>
                  <a:srgbClr val="00B050"/>
                </a:solidFill>
              </a:rPr>
              <a:t>modp</a:t>
            </a:r>
            <a:r>
              <a:rPr lang="en-US" sz="2400" b="1" dirty="0"/>
              <a:t>=5</a:t>
            </a:r>
            <a:r>
              <a:rPr lang="en-US" sz="2400" b="1" baseline="30000" dirty="0"/>
              <a:t>6</a:t>
            </a:r>
            <a:r>
              <a:rPr lang="en-US" sz="2400" b="1" dirty="0"/>
              <a:t>mod23=8</a:t>
            </a:r>
            <a:r>
              <a:rPr lang="en-US" sz="2400" dirty="0"/>
              <a:t>, </a:t>
            </a:r>
            <a:r>
              <a:rPr lang="en-US" sz="2400" dirty="0" err="1"/>
              <a:t>след</a:t>
            </a:r>
            <a:r>
              <a:rPr lang="en-US" sz="2400" dirty="0"/>
              <a:t> </a:t>
            </a:r>
            <a:r>
              <a:rPr lang="en-US" sz="2400" dirty="0" err="1"/>
              <a:t>което</a:t>
            </a:r>
            <a:r>
              <a:rPr lang="en-US" sz="2400" dirty="0"/>
              <a:t> </a:t>
            </a:r>
            <a:r>
              <a:rPr lang="en-US" sz="2400" dirty="0" err="1"/>
              <a:t>изпраща</a:t>
            </a:r>
            <a:r>
              <a:rPr lang="en-US" sz="2400" dirty="0"/>
              <a:t> </a:t>
            </a:r>
            <a:r>
              <a:rPr lang="en-US" sz="2400" dirty="0" err="1"/>
              <a:t>числото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B050"/>
                </a:solidFill>
              </a:rPr>
              <a:t>PKА</a:t>
            </a:r>
            <a:r>
              <a:rPr lang="en-US" sz="2400" dirty="0"/>
              <a:t> </a:t>
            </a:r>
            <a:r>
              <a:rPr lang="en-US" sz="2400" dirty="0" err="1"/>
              <a:t>на</a:t>
            </a:r>
            <a:r>
              <a:rPr lang="en-US" sz="2400" dirty="0"/>
              <a:t> </a:t>
            </a:r>
            <a:r>
              <a:rPr lang="en-US" sz="2400" dirty="0" err="1"/>
              <a:t>потребител</a:t>
            </a:r>
            <a:r>
              <a:rPr lang="en-US" sz="2400" dirty="0"/>
              <a:t> </a:t>
            </a:r>
            <a:r>
              <a:rPr lang="en-US" sz="2400" dirty="0" smtClean="0"/>
              <a:t>В</a:t>
            </a:r>
            <a:r>
              <a:rPr lang="bg-BG" sz="2400" dirty="0" smtClean="0"/>
              <a:t>.</a:t>
            </a:r>
            <a:endParaRPr sz="2400" dirty="0"/>
          </a:p>
          <a:p>
            <a:pPr marL="514350" indent="-514350">
              <a:lnSpc>
                <a:spcPct val="80000"/>
              </a:lnSpc>
              <a:spcBef>
                <a:spcPts val="352"/>
              </a:spcBef>
              <a:buClr>
                <a:schemeClr val="dk1"/>
              </a:buClr>
              <a:buSzPts val="1760"/>
              <a:buFont typeface="Calibri"/>
              <a:buAutoNum type="arabicPeriod"/>
            </a:pPr>
            <a:r>
              <a:rPr lang="en-US" sz="2400" dirty="0" err="1" smtClean="0"/>
              <a:t>Потребител</a:t>
            </a:r>
            <a:r>
              <a:rPr lang="en-US" sz="2400" dirty="0" smtClean="0"/>
              <a:t> </a:t>
            </a:r>
            <a:r>
              <a:rPr lang="en-US" sz="2400" dirty="0"/>
              <a:t>В </a:t>
            </a:r>
            <a:r>
              <a:rPr lang="en-US" sz="2400" dirty="0" err="1"/>
              <a:t>избира</a:t>
            </a:r>
            <a:r>
              <a:rPr lang="en-US" sz="2400" dirty="0"/>
              <a:t> </a:t>
            </a:r>
            <a:r>
              <a:rPr lang="en-US" sz="2400" dirty="0" err="1"/>
              <a:t>цяло</a:t>
            </a:r>
            <a:r>
              <a:rPr lang="en-US" sz="2400" dirty="0"/>
              <a:t> </a:t>
            </a:r>
            <a:r>
              <a:rPr lang="en-US" sz="2400" dirty="0" err="1"/>
              <a:t>число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FF0000"/>
                </a:solidFill>
              </a:rPr>
              <a:t>в</a:t>
            </a:r>
            <a:r>
              <a:rPr lang="en-US" sz="2400" dirty="0"/>
              <a:t> (15) и </a:t>
            </a:r>
            <a:r>
              <a:rPr lang="en-US" sz="2400" dirty="0" err="1" smtClean="0"/>
              <a:t>изчислява</a:t>
            </a:r>
            <a:r>
              <a:rPr lang="en-US" sz="2400" dirty="0" smtClean="0"/>
              <a:t> </a:t>
            </a:r>
            <a:r>
              <a:rPr lang="en-US" sz="2400" b="1" dirty="0" smtClean="0">
                <a:solidFill>
                  <a:srgbClr val="00B050"/>
                </a:solidFill>
              </a:rPr>
              <a:t>PKB=</a:t>
            </a:r>
            <a:r>
              <a:rPr lang="en-US" sz="2400" b="1" dirty="0" err="1" smtClean="0">
                <a:solidFill>
                  <a:srgbClr val="00B050"/>
                </a:solidFill>
              </a:rPr>
              <a:t>q</a:t>
            </a:r>
            <a:r>
              <a:rPr lang="en-US" sz="2400" b="1" baseline="30000" dirty="0" err="1" smtClean="0">
                <a:solidFill>
                  <a:srgbClr val="FF0000"/>
                </a:solidFill>
              </a:rPr>
              <a:t>b</a:t>
            </a:r>
            <a:r>
              <a:rPr lang="en-US" sz="2400" b="1" dirty="0" err="1" smtClean="0">
                <a:solidFill>
                  <a:srgbClr val="00B050"/>
                </a:solidFill>
              </a:rPr>
              <a:t>modp</a:t>
            </a:r>
            <a:r>
              <a:rPr lang="en-US" sz="2400" b="1" dirty="0" smtClean="0"/>
              <a:t>=5</a:t>
            </a:r>
            <a:r>
              <a:rPr lang="en-US" sz="2400" b="1" baseline="30000" dirty="0" smtClean="0"/>
              <a:t>15</a:t>
            </a:r>
            <a:r>
              <a:rPr lang="en-US" sz="2400" b="1" dirty="0" smtClean="0"/>
              <a:t>mod23=19</a:t>
            </a:r>
            <a:r>
              <a:rPr lang="en-US" sz="2400" dirty="0" smtClean="0"/>
              <a:t>, </a:t>
            </a:r>
            <a:r>
              <a:rPr lang="en-US" sz="2400" dirty="0" err="1"/>
              <a:t>след</a:t>
            </a:r>
            <a:r>
              <a:rPr lang="en-US" sz="2400" dirty="0"/>
              <a:t> </a:t>
            </a:r>
            <a:r>
              <a:rPr lang="en-US" sz="2400" dirty="0" err="1"/>
              <a:t>което</a:t>
            </a:r>
            <a:r>
              <a:rPr lang="en-US" sz="2400" dirty="0"/>
              <a:t> </a:t>
            </a:r>
            <a:r>
              <a:rPr lang="en-US" sz="2400" dirty="0" err="1"/>
              <a:t>изпраща</a:t>
            </a:r>
            <a:r>
              <a:rPr lang="en-US" sz="2400" dirty="0"/>
              <a:t> </a:t>
            </a:r>
            <a:r>
              <a:rPr lang="en-US" sz="2400" dirty="0" err="1"/>
              <a:t>числото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B050"/>
                </a:solidFill>
              </a:rPr>
              <a:t>PKB</a:t>
            </a:r>
            <a:r>
              <a:rPr lang="en-US" sz="2400" dirty="0"/>
              <a:t> </a:t>
            </a:r>
            <a:r>
              <a:rPr lang="en-US" sz="2400" dirty="0" err="1"/>
              <a:t>на</a:t>
            </a:r>
            <a:r>
              <a:rPr lang="en-US" sz="2400" dirty="0"/>
              <a:t> </a:t>
            </a:r>
            <a:r>
              <a:rPr lang="en-US" sz="2400" dirty="0" err="1"/>
              <a:t>потребител</a:t>
            </a:r>
            <a:r>
              <a:rPr lang="en-US" sz="2400" dirty="0"/>
              <a:t> </a:t>
            </a:r>
            <a:r>
              <a:rPr lang="en-US" sz="2400" dirty="0" smtClean="0"/>
              <a:t>A</a:t>
            </a:r>
            <a:r>
              <a:rPr lang="bg-BG" sz="2400" dirty="0" smtClean="0"/>
              <a:t>.</a:t>
            </a:r>
            <a:endParaRPr sz="2400" dirty="0"/>
          </a:p>
          <a:p>
            <a:pPr marL="514350" indent="-514350">
              <a:lnSpc>
                <a:spcPct val="80000"/>
              </a:lnSpc>
              <a:spcBef>
                <a:spcPts val="352"/>
              </a:spcBef>
              <a:buClr>
                <a:schemeClr val="dk1"/>
              </a:buClr>
              <a:buSzPts val="1760"/>
              <a:buFont typeface="Calibri"/>
              <a:buAutoNum type="arabicPeriod"/>
            </a:pPr>
            <a:r>
              <a:rPr lang="en-US" sz="2400" dirty="0" err="1"/>
              <a:t>Потребител</a:t>
            </a:r>
            <a:r>
              <a:rPr lang="en-US" sz="2400" dirty="0"/>
              <a:t> А </a:t>
            </a:r>
            <a:r>
              <a:rPr lang="en-US" sz="2400" dirty="0" err="1"/>
              <a:t>изчислява</a:t>
            </a:r>
            <a:r>
              <a:rPr lang="en-US" sz="2400" dirty="0"/>
              <a:t> </a:t>
            </a:r>
            <a:r>
              <a:rPr lang="en-US" sz="2400" dirty="0" err="1"/>
              <a:t>общия</a:t>
            </a:r>
            <a:r>
              <a:rPr lang="en-US" sz="2400" dirty="0"/>
              <a:t> </a:t>
            </a:r>
            <a:r>
              <a:rPr lang="en-US" sz="2400" dirty="0" err="1"/>
              <a:t>секретен</a:t>
            </a:r>
            <a:r>
              <a:rPr lang="en-US" sz="2400" dirty="0"/>
              <a:t> </a:t>
            </a:r>
            <a:r>
              <a:rPr lang="en-US" sz="2400" dirty="0" err="1"/>
              <a:t>ключ</a:t>
            </a:r>
            <a:r>
              <a:rPr lang="en-US" sz="2400" dirty="0"/>
              <a:t> </a:t>
            </a:r>
            <a:r>
              <a:rPr lang="en-US" sz="2400" b="1" dirty="0" smtClean="0">
                <a:solidFill>
                  <a:srgbClr val="FF0000"/>
                </a:solidFill>
              </a:rPr>
              <a:t>SК</a:t>
            </a:r>
            <a:r>
              <a:rPr lang="en-US" sz="2400" b="1" dirty="0" smtClean="0"/>
              <a:t>=</a:t>
            </a:r>
            <a:r>
              <a:rPr lang="en-US" sz="2400" b="1" dirty="0" err="1" smtClean="0">
                <a:solidFill>
                  <a:srgbClr val="00B050"/>
                </a:solidFill>
              </a:rPr>
              <a:t>PKB</a:t>
            </a:r>
            <a:r>
              <a:rPr lang="en-US" sz="2400" b="1" baseline="30000" dirty="0" err="1" smtClean="0">
                <a:solidFill>
                  <a:srgbClr val="FF0000"/>
                </a:solidFill>
              </a:rPr>
              <a:t>a</a:t>
            </a:r>
            <a:r>
              <a:rPr lang="en-US" sz="2400" b="1" dirty="0" err="1" smtClean="0">
                <a:solidFill>
                  <a:srgbClr val="00B050"/>
                </a:solidFill>
              </a:rPr>
              <a:t>modp</a:t>
            </a:r>
            <a:r>
              <a:rPr lang="en-US" sz="2400" b="1" dirty="0" smtClean="0"/>
              <a:t>=19</a:t>
            </a:r>
            <a:r>
              <a:rPr lang="en-US" sz="2400" b="1" baseline="30000" dirty="0" smtClean="0"/>
              <a:t>6</a:t>
            </a:r>
            <a:r>
              <a:rPr lang="en-US" sz="2400" b="1" dirty="0" smtClean="0"/>
              <a:t>mod23=2</a:t>
            </a:r>
            <a:r>
              <a:rPr lang="bg-BG" sz="2400" dirty="0" smtClean="0"/>
              <a:t>.</a:t>
            </a:r>
            <a:endParaRPr sz="2400" dirty="0"/>
          </a:p>
          <a:p>
            <a:pPr marL="514350" indent="-514350">
              <a:lnSpc>
                <a:spcPct val="80000"/>
              </a:lnSpc>
              <a:spcBef>
                <a:spcPts val="352"/>
              </a:spcBef>
              <a:buClr>
                <a:schemeClr val="dk1"/>
              </a:buClr>
              <a:buSzPts val="1760"/>
              <a:buFont typeface="Calibri"/>
              <a:buAutoNum type="arabicPeriod"/>
            </a:pPr>
            <a:r>
              <a:rPr lang="en-US" sz="2400" dirty="0" err="1"/>
              <a:t>Потребител</a:t>
            </a:r>
            <a:r>
              <a:rPr lang="en-US" sz="2400" dirty="0"/>
              <a:t> B </a:t>
            </a:r>
            <a:r>
              <a:rPr lang="en-US" sz="2400" dirty="0" err="1"/>
              <a:t>изчислява</a:t>
            </a:r>
            <a:r>
              <a:rPr lang="en-US" sz="2400" dirty="0"/>
              <a:t> </a:t>
            </a:r>
            <a:r>
              <a:rPr lang="en-US" sz="2400" dirty="0" err="1"/>
              <a:t>общия</a:t>
            </a:r>
            <a:r>
              <a:rPr lang="en-US" sz="2400" dirty="0"/>
              <a:t> </a:t>
            </a:r>
            <a:r>
              <a:rPr lang="en-US" sz="2400" dirty="0" err="1"/>
              <a:t>секретен</a:t>
            </a:r>
            <a:r>
              <a:rPr lang="en-US" sz="2400" dirty="0"/>
              <a:t> </a:t>
            </a:r>
            <a:r>
              <a:rPr lang="en-US" sz="2400" dirty="0" err="1"/>
              <a:t>ключ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FF0000"/>
                </a:solidFill>
              </a:rPr>
              <a:t>SК</a:t>
            </a:r>
            <a:r>
              <a:rPr lang="en-US" sz="2400" b="1" dirty="0"/>
              <a:t>=</a:t>
            </a:r>
            <a:r>
              <a:rPr lang="en-US" sz="2400" b="1" dirty="0" err="1">
                <a:solidFill>
                  <a:srgbClr val="00B050"/>
                </a:solidFill>
              </a:rPr>
              <a:t>PKA</a:t>
            </a:r>
            <a:r>
              <a:rPr lang="en-US" sz="2400" b="1" baseline="30000" dirty="0" err="1">
                <a:solidFill>
                  <a:srgbClr val="FF0000"/>
                </a:solidFill>
              </a:rPr>
              <a:t>b</a:t>
            </a:r>
            <a:r>
              <a:rPr lang="en-US" sz="2400" b="1" dirty="0" err="1">
                <a:solidFill>
                  <a:srgbClr val="00B050"/>
                </a:solidFill>
              </a:rPr>
              <a:t>modp</a:t>
            </a:r>
            <a:r>
              <a:rPr lang="en-US" sz="2400" b="1" dirty="0"/>
              <a:t>=8</a:t>
            </a:r>
            <a:r>
              <a:rPr lang="en-US" sz="2400" b="1" baseline="30000" dirty="0"/>
              <a:t>15</a:t>
            </a:r>
            <a:r>
              <a:rPr lang="en-US" sz="2400" b="1" dirty="0"/>
              <a:t>mod23=2</a:t>
            </a:r>
            <a:endParaRPr sz="2400" b="1" dirty="0"/>
          </a:p>
          <a:p>
            <a:pPr marL="514350" indent="-514350">
              <a:lnSpc>
                <a:spcPct val="80000"/>
              </a:lnSpc>
              <a:spcBef>
                <a:spcPts val="352"/>
              </a:spcBef>
              <a:buClr>
                <a:schemeClr val="dk1"/>
              </a:buClr>
              <a:buSzPts val="1760"/>
              <a:buNone/>
            </a:pPr>
            <a:r>
              <a:rPr lang="en-US" sz="2400" b="1" dirty="0" err="1" smtClean="0">
                <a:solidFill>
                  <a:srgbClr val="00B050"/>
                </a:solidFill>
              </a:rPr>
              <a:t>PKA</a:t>
            </a:r>
            <a:r>
              <a:rPr lang="en-US" sz="2400" b="1" baseline="30000" dirty="0" err="1" smtClean="0">
                <a:solidFill>
                  <a:srgbClr val="FF0000"/>
                </a:solidFill>
              </a:rPr>
              <a:t>b</a:t>
            </a:r>
            <a:r>
              <a:rPr lang="en-US" sz="2400" b="1" dirty="0" err="1" smtClean="0">
                <a:solidFill>
                  <a:srgbClr val="00B050"/>
                </a:solidFill>
              </a:rPr>
              <a:t>modp</a:t>
            </a:r>
            <a:r>
              <a:rPr lang="en-US" sz="2400" b="1" dirty="0" smtClean="0"/>
              <a:t>=</a:t>
            </a:r>
            <a:r>
              <a:rPr lang="en-US" sz="2400" b="1" dirty="0" err="1" smtClean="0"/>
              <a:t>q</a:t>
            </a:r>
            <a:r>
              <a:rPr lang="en-US" sz="2400" b="1" baseline="30000" dirty="0" err="1" smtClean="0"/>
              <a:t>ab</a:t>
            </a:r>
            <a:r>
              <a:rPr lang="en-US" sz="2400" b="1" dirty="0" err="1" smtClean="0"/>
              <a:t>modp</a:t>
            </a:r>
            <a:r>
              <a:rPr lang="en-US" sz="2400" b="1" dirty="0" smtClean="0"/>
              <a:t>=</a:t>
            </a:r>
            <a:r>
              <a:rPr lang="en-US" sz="2400" b="1" dirty="0" err="1" smtClean="0"/>
              <a:t>q</a:t>
            </a:r>
            <a:r>
              <a:rPr lang="en-US" sz="2400" b="1" baseline="30000" dirty="0" err="1" smtClean="0"/>
              <a:t>ba</a:t>
            </a:r>
            <a:r>
              <a:rPr lang="en-US" sz="2400" b="1" dirty="0" err="1" smtClean="0"/>
              <a:t>modp</a:t>
            </a:r>
            <a:r>
              <a:rPr lang="en-US" sz="2400" b="1" dirty="0" smtClean="0"/>
              <a:t>=</a:t>
            </a:r>
            <a:r>
              <a:rPr lang="en-US" sz="2400" b="1" dirty="0" err="1">
                <a:solidFill>
                  <a:srgbClr val="00B050"/>
                </a:solidFill>
              </a:rPr>
              <a:t>PKB</a:t>
            </a:r>
            <a:r>
              <a:rPr lang="en-US" sz="2400" b="1" baseline="30000" dirty="0" err="1">
                <a:solidFill>
                  <a:srgbClr val="FF0000"/>
                </a:solidFill>
              </a:rPr>
              <a:t>a</a:t>
            </a:r>
            <a:r>
              <a:rPr lang="en-US" sz="2400" b="1" dirty="0" err="1">
                <a:solidFill>
                  <a:srgbClr val="00B050"/>
                </a:solidFill>
              </a:rPr>
              <a:t>modp</a:t>
            </a:r>
            <a:r>
              <a:rPr lang="en-US" sz="2400" b="1" dirty="0" smtClean="0"/>
              <a:t>=</a:t>
            </a:r>
            <a:r>
              <a:rPr lang="en-US" sz="2400" b="1" dirty="0" smtClean="0">
                <a:solidFill>
                  <a:srgbClr val="FF0000"/>
                </a:solidFill>
              </a:rPr>
              <a:t>SK</a:t>
            </a:r>
            <a:r>
              <a:rPr lang="bg-BG" sz="2400" dirty="0" smtClean="0"/>
              <a:t>.</a:t>
            </a:r>
            <a:endParaRPr sz="2400" dirty="0"/>
          </a:p>
          <a:p>
            <a:pPr marL="514350" indent="-514350">
              <a:lnSpc>
                <a:spcPct val="80000"/>
              </a:lnSpc>
              <a:spcBef>
                <a:spcPts val="352"/>
              </a:spcBef>
              <a:buClr>
                <a:schemeClr val="dk1"/>
              </a:buClr>
              <a:buSzPts val="1760"/>
              <a:buNone/>
            </a:pPr>
            <a:r>
              <a:rPr lang="en-US" sz="2400" dirty="0" err="1"/>
              <a:t>Потребител</a:t>
            </a:r>
            <a:r>
              <a:rPr lang="en-US" sz="2400" dirty="0"/>
              <a:t> А и </a:t>
            </a:r>
            <a:r>
              <a:rPr lang="en-US" sz="2400" dirty="0" err="1"/>
              <a:t>потребител</a:t>
            </a:r>
            <a:r>
              <a:rPr lang="en-US" sz="2400" dirty="0"/>
              <a:t> В </a:t>
            </a:r>
            <a:r>
              <a:rPr lang="en-US" sz="2400" dirty="0" err="1"/>
              <a:t>са</a:t>
            </a:r>
            <a:r>
              <a:rPr lang="en-US" sz="2400" dirty="0"/>
              <a:t> </a:t>
            </a:r>
            <a:r>
              <a:rPr lang="en-US" sz="2400" dirty="0" err="1"/>
              <a:t>изчислили</a:t>
            </a:r>
            <a:r>
              <a:rPr lang="en-US" sz="2400" dirty="0"/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общия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секретен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ключ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и </a:t>
            </a:r>
            <a:r>
              <a:rPr lang="en-US" sz="2400" dirty="0" err="1"/>
              <a:t>го</a:t>
            </a:r>
            <a:r>
              <a:rPr lang="en-US" sz="2400" dirty="0"/>
              <a:t> </a:t>
            </a:r>
            <a:r>
              <a:rPr lang="en-US" sz="2400" dirty="0" err="1"/>
              <a:t>използват</a:t>
            </a:r>
            <a:r>
              <a:rPr lang="en-US" sz="2400" dirty="0"/>
              <a:t> </a:t>
            </a:r>
            <a:r>
              <a:rPr lang="en-US" sz="2400" dirty="0" err="1"/>
              <a:t>за</a:t>
            </a:r>
            <a:r>
              <a:rPr lang="en-US" sz="2400" dirty="0"/>
              <a:t> </a:t>
            </a:r>
            <a:r>
              <a:rPr lang="en-US" sz="2400" dirty="0" err="1"/>
              <a:t>криптиране</a:t>
            </a:r>
            <a:r>
              <a:rPr lang="en-US" sz="2400" dirty="0"/>
              <a:t> </a:t>
            </a:r>
            <a:r>
              <a:rPr lang="en-US" sz="2400" dirty="0" err="1"/>
              <a:t>на</a:t>
            </a:r>
            <a:r>
              <a:rPr lang="en-US" sz="2400" dirty="0"/>
              <a:t> </a:t>
            </a:r>
            <a:r>
              <a:rPr lang="bg-BG" sz="2400" dirty="0" smtClean="0"/>
              <a:t>сесиен ключ</a:t>
            </a:r>
            <a:r>
              <a:rPr lang="en-US" sz="2400" dirty="0" smtClean="0"/>
              <a:t>, </a:t>
            </a:r>
            <a:r>
              <a:rPr lang="en-US" sz="2400" dirty="0" err="1" smtClean="0"/>
              <a:t>ко</a:t>
            </a:r>
            <a:r>
              <a:rPr lang="bg-BG" sz="2400" dirty="0" smtClean="0"/>
              <a:t>й</a:t>
            </a:r>
            <a:r>
              <a:rPr lang="en-US" sz="2400" dirty="0" err="1" smtClean="0"/>
              <a:t>то</a:t>
            </a:r>
            <a:r>
              <a:rPr lang="en-US" sz="2400" dirty="0" smtClean="0"/>
              <a:t> </a:t>
            </a:r>
            <a:r>
              <a:rPr lang="en-US" sz="2400" dirty="0" err="1" smtClean="0"/>
              <a:t>мо</a:t>
            </a:r>
            <a:r>
              <a:rPr lang="bg-BG" sz="2400" dirty="0" smtClean="0"/>
              <a:t>же</a:t>
            </a:r>
            <a:r>
              <a:rPr lang="en-US" sz="2400" dirty="0" smtClean="0"/>
              <a:t> </a:t>
            </a:r>
            <a:r>
              <a:rPr lang="en-US" sz="2400" dirty="0" err="1"/>
              <a:t>да</a:t>
            </a:r>
            <a:r>
              <a:rPr lang="en-US" sz="2400" dirty="0"/>
              <a:t> </a:t>
            </a:r>
            <a:r>
              <a:rPr lang="en-US" sz="2400" dirty="0" smtClean="0"/>
              <a:t>с</a:t>
            </a:r>
            <a:r>
              <a:rPr lang="bg-BG" sz="2400" dirty="0" smtClean="0"/>
              <a:t>е</a:t>
            </a:r>
            <a:r>
              <a:rPr lang="en-US" sz="2400" dirty="0" smtClean="0"/>
              <a:t> </a:t>
            </a:r>
            <a:r>
              <a:rPr lang="en-US" sz="2400" dirty="0" err="1" smtClean="0"/>
              <a:t>предава</a:t>
            </a:r>
            <a:r>
              <a:rPr lang="en-US" sz="2400" dirty="0" smtClean="0"/>
              <a:t> </a:t>
            </a:r>
            <a:r>
              <a:rPr lang="en-US" sz="2400" dirty="0" err="1"/>
              <a:t>по</a:t>
            </a:r>
            <a:r>
              <a:rPr lang="en-US" sz="2400" dirty="0"/>
              <a:t> </a:t>
            </a:r>
            <a:r>
              <a:rPr lang="en-US" sz="2400" dirty="0" err="1"/>
              <a:t>незащитен</a:t>
            </a:r>
            <a:r>
              <a:rPr lang="en-US" sz="2400" dirty="0"/>
              <a:t> </a:t>
            </a:r>
            <a:r>
              <a:rPr lang="en-US" sz="2400" dirty="0" err="1"/>
              <a:t>комуникационен</a:t>
            </a:r>
            <a:r>
              <a:rPr lang="en-US" sz="2400" dirty="0"/>
              <a:t> </a:t>
            </a:r>
            <a:r>
              <a:rPr lang="en-US" sz="2400" dirty="0" err="1" smtClean="0"/>
              <a:t>канал</a:t>
            </a:r>
            <a:r>
              <a:rPr lang="en-US" sz="2400" dirty="0" smtClean="0"/>
              <a:t>.</a:t>
            </a:r>
            <a:endParaRPr sz="2400" dirty="0"/>
          </a:p>
          <a:p>
            <a:pPr marL="514350" indent="-402590">
              <a:lnSpc>
                <a:spcPct val="80000"/>
              </a:lnSpc>
              <a:spcBef>
                <a:spcPts val="352"/>
              </a:spcBef>
              <a:buClr>
                <a:schemeClr val="dk1"/>
              </a:buClr>
              <a:buSzPts val="1760"/>
              <a:buNone/>
            </a:pPr>
            <a:endParaRPr sz="1760" dirty="0"/>
          </a:p>
          <a:p>
            <a:pPr marL="514350" indent="-402590">
              <a:lnSpc>
                <a:spcPct val="80000"/>
              </a:lnSpc>
              <a:spcBef>
                <a:spcPts val="352"/>
              </a:spcBef>
              <a:buClr>
                <a:schemeClr val="dk1"/>
              </a:buClr>
              <a:buSzPts val="1760"/>
              <a:buNone/>
            </a:pPr>
            <a:endParaRPr sz="1760" dirty="0"/>
          </a:p>
        </p:txBody>
      </p:sp>
    </p:spTree>
    <p:extLst>
      <p:ext uri="{BB962C8B-B14F-4D97-AF65-F5344CB8AC3E}">
        <p14:creationId xmlns:p14="http://schemas.microsoft.com/office/powerpoint/2010/main" val="182152821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А</a:t>
            </a:r>
            <a:r>
              <a:rPr lang="en-US" dirty="0" err="1"/>
              <a:t>лгоритъм</a:t>
            </a:r>
            <a:r>
              <a:rPr lang="bg-BG" dirty="0"/>
              <a:t> на </a:t>
            </a:r>
            <a:r>
              <a:rPr lang="bg-BG" dirty="0" err="1"/>
              <a:t>Дифи</a:t>
            </a:r>
            <a:r>
              <a:rPr lang="bg-BG" dirty="0"/>
              <a:t> и </a:t>
            </a:r>
            <a:r>
              <a:rPr lang="bg-BG" dirty="0" err="1"/>
              <a:t>Хелман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8963" y="2542603"/>
            <a:ext cx="8553450" cy="340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47167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>
            <a:spLocks noGrp="1"/>
          </p:cNvSpPr>
          <p:nvPr>
            <p:ph type="title"/>
          </p:nvPr>
        </p:nvSpPr>
        <p:spPr>
          <a:xfrm>
            <a:off x="3962400" y="36607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bg-BG" dirty="0" smtClean="0"/>
              <a:t>А</a:t>
            </a:r>
            <a:r>
              <a:rPr lang="en-US" dirty="0" err="1" smtClean="0"/>
              <a:t>лгоритъм</a:t>
            </a:r>
            <a:r>
              <a:rPr lang="bg-BG" dirty="0" smtClean="0"/>
              <a:t> на Дифи и Хелман</a:t>
            </a:r>
            <a:endParaRPr dirty="0"/>
          </a:p>
        </p:txBody>
      </p:sp>
      <p:pic>
        <p:nvPicPr>
          <p:cNvPr id="110" name="Google Shape;110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11180" y="1575524"/>
            <a:ext cx="3429024" cy="504434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1157446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190" y="370474"/>
            <a:ext cx="11335432" cy="620688"/>
          </a:xfrm>
        </p:spPr>
        <p:txBody>
          <a:bodyPr>
            <a:noAutofit/>
          </a:bodyPr>
          <a:lstStyle/>
          <a:p>
            <a:pPr lvl="0" algn="ctr"/>
            <a:r>
              <a:rPr lang="bg-BG" sz="3600" dirty="0"/>
              <a:t>Анализ на протокола на </a:t>
            </a:r>
            <a:r>
              <a:rPr lang="bg-BG" sz="3600" dirty="0" err="1" smtClean="0"/>
              <a:t>Дифи</a:t>
            </a:r>
            <a:r>
              <a:rPr lang="bg-BG" sz="3600" dirty="0" smtClean="0"/>
              <a:t> и </a:t>
            </a:r>
            <a:r>
              <a:rPr lang="bg-BG" sz="3600" dirty="0" err="1" smtClean="0"/>
              <a:t>хелман</a:t>
            </a:r>
            <a:endParaRPr lang="bg-BG" sz="3600" dirty="0"/>
          </a:p>
        </p:txBody>
      </p:sp>
      <p:sp>
        <p:nvSpPr>
          <p:cNvPr id="5" name="TextBox 4"/>
          <p:cNvSpPr txBox="1"/>
          <p:nvPr/>
        </p:nvSpPr>
        <p:spPr>
          <a:xfrm>
            <a:off x="1033272" y="1746504"/>
            <a:ext cx="936345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b="1" dirty="0" smtClean="0"/>
              <a:t>Взаимно удостоверяване на субектите </a:t>
            </a:r>
            <a:r>
              <a:rPr lang="bg-BG" dirty="0" smtClean="0"/>
              <a:t>– Протоколът на </a:t>
            </a:r>
            <a:r>
              <a:rPr lang="bg-BG" dirty="0" err="1" smtClean="0"/>
              <a:t>Дифи</a:t>
            </a:r>
            <a:r>
              <a:rPr lang="bg-BG" dirty="0" smtClean="0"/>
              <a:t> и </a:t>
            </a:r>
            <a:r>
              <a:rPr lang="bg-BG" dirty="0" err="1" smtClean="0"/>
              <a:t>Хелман</a:t>
            </a:r>
            <a:r>
              <a:rPr lang="bg-BG" dirty="0" smtClean="0"/>
              <a:t> </a:t>
            </a:r>
            <a:r>
              <a:rPr lang="bg-BG" b="1" dirty="0" smtClean="0"/>
              <a:t>не дава гаранция </a:t>
            </a:r>
            <a:r>
              <a:rPr lang="bg-BG" dirty="0" smtClean="0"/>
              <a:t>на всяка от страните за това </a:t>
            </a:r>
            <a:r>
              <a:rPr lang="bg-BG" b="1" dirty="0" smtClean="0"/>
              <a:t>с кого общуват</a:t>
            </a:r>
            <a:r>
              <a:rPr lang="bg-BG" dirty="0" smtClean="0"/>
              <a:t>. Стойностите на </a:t>
            </a:r>
            <a:r>
              <a:rPr lang="en-US" b="1" dirty="0" smtClean="0">
                <a:solidFill>
                  <a:srgbClr val="FF0000"/>
                </a:solidFill>
              </a:rPr>
              <a:t>a</a:t>
            </a:r>
            <a:r>
              <a:rPr lang="bg-BG" dirty="0" smtClean="0"/>
              <a:t> и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b</a:t>
            </a:r>
            <a:r>
              <a:rPr lang="bg-BG" dirty="0" smtClean="0"/>
              <a:t> са генерирани за този протокол и не могат да бъдат свързани нито с Алис, нито с Боб.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b="1" dirty="0" smtClean="0"/>
              <a:t>Удостоверяване на оригиналния </a:t>
            </a:r>
            <a:r>
              <a:rPr lang="bg-BG" b="1" dirty="0"/>
              <a:t>п</a:t>
            </a:r>
            <a:r>
              <a:rPr lang="bg-BG" b="1" dirty="0" smtClean="0"/>
              <a:t>роизход на данните - </a:t>
            </a:r>
            <a:r>
              <a:rPr lang="bg-BG" dirty="0" smtClean="0"/>
              <a:t>също </a:t>
            </a:r>
            <a:r>
              <a:rPr lang="bg-BG" b="1" dirty="0" smtClean="0"/>
              <a:t>не е предвидено</a:t>
            </a:r>
            <a:r>
              <a:rPr lang="bg-BG" dirty="0" smtClean="0"/>
              <a:t>, поради същия аргумент.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b="1" dirty="0" smtClean="0"/>
              <a:t>Потвърждаване за получаване на публичен ключ </a:t>
            </a:r>
            <a:r>
              <a:rPr lang="bg-BG" dirty="0" smtClean="0"/>
              <a:t>– </a:t>
            </a:r>
            <a:r>
              <a:rPr lang="bg-BG" b="1" dirty="0" smtClean="0"/>
              <a:t>Не е предвидено</a:t>
            </a:r>
            <a:r>
              <a:rPr lang="bg-BG" dirty="0" smtClean="0"/>
              <a:t>, тъй като нито една от страните няма доказателства, че другата страна е получила същата споделена стойност </a:t>
            </a:r>
            <a:r>
              <a:rPr lang="en-US" b="1" dirty="0" smtClean="0"/>
              <a:t>PKA</a:t>
            </a:r>
            <a:r>
              <a:rPr lang="en-US" dirty="0" smtClean="0"/>
              <a:t> </a:t>
            </a:r>
            <a:r>
              <a:rPr lang="bg-BG" dirty="0" smtClean="0"/>
              <a:t>и </a:t>
            </a:r>
            <a:r>
              <a:rPr lang="en-US" b="1" dirty="0" smtClean="0"/>
              <a:t>PKB</a:t>
            </a:r>
            <a:r>
              <a:rPr lang="en-U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b="1" dirty="0" smtClean="0"/>
              <a:t>Създаване на секретен ключ </a:t>
            </a:r>
            <a:r>
              <a:rPr lang="bg-BG" dirty="0" smtClean="0"/>
              <a:t>– Алис и Боб създават секретния ключ в края на протокола.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b="1" dirty="0" smtClean="0"/>
              <a:t>Поверителност на ключа </a:t>
            </a:r>
            <a:r>
              <a:rPr lang="bg-BG" dirty="0" smtClean="0"/>
              <a:t>– споделените стойности </a:t>
            </a:r>
            <a:r>
              <a:rPr lang="en-US" b="1" dirty="0" smtClean="0"/>
              <a:t>PKA</a:t>
            </a:r>
            <a:r>
              <a:rPr lang="en-US" dirty="0" smtClean="0"/>
              <a:t> </a:t>
            </a:r>
            <a:r>
              <a:rPr lang="bg-BG" dirty="0" smtClean="0"/>
              <a:t>и </a:t>
            </a:r>
            <a:r>
              <a:rPr lang="en-US" b="1" dirty="0" smtClean="0"/>
              <a:t>PKB</a:t>
            </a:r>
            <a:r>
              <a:rPr lang="bg-BG" dirty="0" smtClean="0"/>
              <a:t> не могат да бъдат изчислени от никой друг, освен от Алис и Боб.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b="1" dirty="0" smtClean="0"/>
              <a:t>Протоколът на </a:t>
            </a:r>
            <a:r>
              <a:rPr lang="bg-BG" b="1" dirty="0" err="1" smtClean="0"/>
              <a:t>Дифи</a:t>
            </a:r>
            <a:r>
              <a:rPr lang="bg-BG" b="1" dirty="0" smtClean="0"/>
              <a:t> и </a:t>
            </a:r>
            <a:r>
              <a:rPr lang="bg-BG" b="1" dirty="0" err="1" smtClean="0"/>
              <a:t>Хелман</a:t>
            </a:r>
            <a:r>
              <a:rPr lang="bg-BG" b="1" dirty="0" smtClean="0"/>
              <a:t> </a:t>
            </a:r>
            <a:r>
              <a:rPr lang="bg-BG" b="1" dirty="0" smtClean="0">
                <a:solidFill>
                  <a:srgbClr val="0070C0"/>
                </a:solidFill>
              </a:rPr>
              <a:t>изпълнява целите за установяване на ключовете</a:t>
            </a:r>
            <a:r>
              <a:rPr lang="bg-BG" b="1" dirty="0" smtClean="0"/>
              <a:t>, но </a:t>
            </a:r>
            <a:r>
              <a:rPr lang="bg-BG" b="1" dirty="0" smtClean="0">
                <a:solidFill>
                  <a:srgbClr val="C00000"/>
                </a:solidFill>
              </a:rPr>
              <a:t>не и целите, свързани с удостоверяването</a:t>
            </a:r>
            <a:r>
              <a:rPr lang="bg-BG" b="1" dirty="0" smtClean="0"/>
              <a:t>. Затова, на практика този протокол се прилага с допълнителна модификация.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482823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3897" y="893872"/>
            <a:ext cx="9782801" cy="648072"/>
          </a:xfrm>
        </p:spPr>
        <p:txBody>
          <a:bodyPr>
            <a:normAutofit fontScale="90000"/>
          </a:bodyPr>
          <a:lstStyle/>
          <a:p>
            <a:pPr algn="ctr"/>
            <a:r>
              <a:rPr lang="bg-BG" sz="3200" b="1" dirty="0"/>
              <a:t>Атака на посредника (</a:t>
            </a:r>
            <a:r>
              <a:rPr lang="bg-BG" sz="3200" b="1" dirty="0" err="1"/>
              <a:t>man-in-the-middle</a:t>
            </a:r>
            <a:r>
              <a:rPr lang="bg-BG" sz="3200" b="1" dirty="0"/>
              <a:t> </a:t>
            </a:r>
            <a:r>
              <a:rPr lang="bg-BG" sz="3200" b="1" dirty="0" err="1"/>
              <a:t>attack</a:t>
            </a:r>
            <a:r>
              <a:rPr lang="bg-BG" sz="3200" b="1" dirty="0"/>
              <a:t>)</a:t>
            </a:r>
            <a:endParaRPr lang="bg-BG"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1371600" y="1975104"/>
            <a:ext cx="96194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dirty="0" smtClean="0"/>
              <a:t>Атаката </a:t>
            </a:r>
            <a:r>
              <a:rPr lang="bg-BG" b="1" dirty="0" smtClean="0"/>
              <a:t>човек по средата </a:t>
            </a:r>
            <a:r>
              <a:rPr lang="bg-BG" dirty="0" smtClean="0"/>
              <a:t>се извършва, когато нападател (Фред) може да прихваща и променя съобщения, изпратени по комуникационен канал между Алис и Боб.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dirty="0" smtClean="0"/>
              <a:t>Това е най-популярната атака срещу </a:t>
            </a:r>
            <a:r>
              <a:rPr lang="bg-BG" dirty="0" err="1" smtClean="0"/>
              <a:t>криптографски</a:t>
            </a:r>
            <a:r>
              <a:rPr lang="bg-BG" dirty="0" smtClean="0"/>
              <a:t> протокол и дизайнерите на </a:t>
            </a:r>
            <a:r>
              <a:rPr lang="bg-BG" dirty="0" err="1" smtClean="0"/>
              <a:t>крипто</a:t>
            </a:r>
            <a:r>
              <a:rPr lang="bg-BG" dirty="0" smtClean="0"/>
              <a:t> системи трябва да предприемат мерки за предотвратяването й.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9406" y="3708654"/>
            <a:ext cx="7077075" cy="293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948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2244249" y="436672"/>
            <a:ext cx="9782801" cy="648072"/>
          </a:xfrm>
          <a:prstGeom prst="rect">
            <a:avLst/>
          </a:prstGeom>
        </p:spPr>
        <p:txBody>
          <a:bodyPr>
            <a:normAutofit fontScale="82500" lnSpcReduction="10000"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bg-BG" sz="3200" b="1" smtClean="0"/>
              <a:t>Атака на посредника (man-in-the-middle attack)</a:t>
            </a:r>
            <a:endParaRPr lang="bg-BG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685800" y="1084744"/>
            <a:ext cx="1073505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 smtClean="0"/>
              <a:t>Атаката се провежда по следния начин:</a:t>
            </a:r>
          </a:p>
          <a:p>
            <a:pPr marL="342900" indent="-342900">
              <a:buAutoNum type="arabicPeriod"/>
            </a:pPr>
            <a:r>
              <a:rPr lang="bg-BG" dirty="0" smtClean="0"/>
              <a:t>Алис започва нормално изпълнение на протокола, като генерира произволно цяло число </a:t>
            </a:r>
            <a:r>
              <a:rPr lang="en-US" b="1" dirty="0" smtClean="0">
                <a:solidFill>
                  <a:srgbClr val="FF0000"/>
                </a:solidFill>
              </a:rPr>
              <a:t>a</a:t>
            </a:r>
            <a:r>
              <a:rPr lang="bg-BG" dirty="0" smtClean="0"/>
              <a:t> и изчислява </a:t>
            </a:r>
            <a:r>
              <a:rPr lang="en-US" b="1" dirty="0">
                <a:solidFill>
                  <a:srgbClr val="00B050"/>
                </a:solidFill>
              </a:rPr>
              <a:t>PKA=</a:t>
            </a:r>
            <a:r>
              <a:rPr lang="en-US" b="1" dirty="0" err="1">
                <a:solidFill>
                  <a:srgbClr val="00B050"/>
                </a:solidFill>
              </a:rPr>
              <a:t>q</a:t>
            </a:r>
            <a:r>
              <a:rPr lang="en-US" b="1" baseline="30000" dirty="0" err="1">
                <a:solidFill>
                  <a:srgbClr val="FF0000"/>
                </a:solidFill>
              </a:rPr>
              <a:t>a</a:t>
            </a:r>
            <a:r>
              <a:rPr lang="en-US" b="1" dirty="0" err="1">
                <a:solidFill>
                  <a:srgbClr val="00B050"/>
                </a:solidFill>
              </a:rPr>
              <a:t>modp</a:t>
            </a:r>
            <a:r>
              <a:rPr lang="en-US" dirty="0" smtClean="0"/>
              <a:t>.</a:t>
            </a:r>
            <a:r>
              <a:rPr lang="bg-BG" dirty="0" smtClean="0"/>
              <a:t> Алис изпраща </a:t>
            </a:r>
            <a:r>
              <a:rPr lang="en-US" b="1" dirty="0">
                <a:solidFill>
                  <a:srgbClr val="00B050"/>
                </a:solidFill>
              </a:rPr>
              <a:t>PKA=</a:t>
            </a:r>
            <a:r>
              <a:rPr lang="en-US" b="1" dirty="0" err="1">
                <a:solidFill>
                  <a:srgbClr val="00B050"/>
                </a:solidFill>
              </a:rPr>
              <a:t>q</a:t>
            </a:r>
            <a:r>
              <a:rPr lang="en-US" b="1" baseline="30000" dirty="0" err="1">
                <a:solidFill>
                  <a:srgbClr val="FF0000"/>
                </a:solidFill>
              </a:rPr>
              <a:t>a</a:t>
            </a:r>
            <a:r>
              <a:rPr lang="en-US" b="1" dirty="0" err="1">
                <a:solidFill>
                  <a:srgbClr val="00B050"/>
                </a:solidFill>
              </a:rPr>
              <a:t>modp</a:t>
            </a:r>
            <a:r>
              <a:rPr lang="en-US" dirty="0" smtClean="0"/>
              <a:t> </a:t>
            </a:r>
            <a:r>
              <a:rPr lang="bg-BG" dirty="0" smtClean="0"/>
              <a:t> на Боб.</a:t>
            </a:r>
          </a:p>
          <a:p>
            <a:pPr marL="342900" indent="-342900">
              <a:buAutoNum type="arabicPeriod"/>
            </a:pPr>
            <a:r>
              <a:rPr lang="bg-BG" dirty="0" smtClean="0"/>
              <a:t>Фред прихваща този ключ преди да достигне то Боб. Фред генерира собствено цяло число </a:t>
            </a:r>
            <a:r>
              <a:rPr lang="en-US" b="1" dirty="0" smtClean="0">
                <a:solidFill>
                  <a:srgbClr val="0070C0"/>
                </a:solidFill>
              </a:rPr>
              <a:t>f</a:t>
            </a:r>
            <a:r>
              <a:rPr lang="bg-BG" b="1" dirty="0" smtClean="0"/>
              <a:t> </a:t>
            </a:r>
            <a:r>
              <a:rPr lang="bg-BG" dirty="0" smtClean="0"/>
              <a:t>и чрез него изчислява публичния ключ на Алис </a:t>
            </a:r>
            <a:r>
              <a:rPr lang="en-US" b="1" dirty="0" smtClean="0">
                <a:solidFill>
                  <a:srgbClr val="00B050"/>
                </a:solidFill>
              </a:rPr>
              <a:t>PKA=</a:t>
            </a:r>
            <a:r>
              <a:rPr lang="en-US" b="1" dirty="0" err="1" smtClean="0">
                <a:solidFill>
                  <a:srgbClr val="00B050"/>
                </a:solidFill>
              </a:rPr>
              <a:t>q</a:t>
            </a:r>
            <a:r>
              <a:rPr lang="en-US" b="1" baseline="30000" dirty="0" err="1" smtClean="0">
                <a:solidFill>
                  <a:srgbClr val="FF0000"/>
                </a:solidFill>
              </a:rPr>
              <a:t>f</a:t>
            </a:r>
            <a:r>
              <a:rPr lang="en-US" b="1" dirty="0" err="1" smtClean="0">
                <a:solidFill>
                  <a:srgbClr val="00B050"/>
                </a:solidFill>
              </a:rPr>
              <a:t>modp</a:t>
            </a:r>
            <a:r>
              <a:rPr lang="bg-BG" dirty="0" smtClean="0"/>
              <a:t>. След това, Фред твърди, че е Алис и изпраща собствено генерирания публичен ключ на Боб</a:t>
            </a:r>
            <a:r>
              <a:rPr lang="en-US" dirty="0" smtClean="0"/>
              <a:t> </a:t>
            </a:r>
            <a:r>
              <a:rPr lang="en-US" b="1" dirty="0">
                <a:solidFill>
                  <a:srgbClr val="00B050"/>
                </a:solidFill>
              </a:rPr>
              <a:t>PKA=</a:t>
            </a:r>
            <a:r>
              <a:rPr lang="en-US" b="1" dirty="0" err="1">
                <a:solidFill>
                  <a:srgbClr val="00B050"/>
                </a:solidFill>
              </a:rPr>
              <a:t>q</a:t>
            </a:r>
            <a:r>
              <a:rPr lang="en-US" b="1" baseline="30000" dirty="0" err="1">
                <a:solidFill>
                  <a:srgbClr val="FF0000"/>
                </a:solidFill>
              </a:rPr>
              <a:t>f</a:t>
            </a:r>
            <a:r>
              <a:rPr lang="en-US" b="1" dirty="0" err="1">
                <a:solidFill>
                  <a:srgbClr val="00B050"/>
                </a:solidFill>
              </a:rPr>
              <a:t>modp</a:t>
            </a:r>
            <a:r>
              <a:rPr lang="bg-BG" dirty="0" smtClean="0"/>
              <a:t>.</a:t>
            </a:r>
          </a:p>
          <a:p>
            <a:pPr marL="342900" indent="-342900">
              <a:buAutoNum type="arabicPeriod"/>
            </a:pPr>
            <a:r>
              <a:rPr lang="bg-BG" dirty="0" smtClean="0"/>
              <a:t>Боб продължава протокола без да подозира, че изпратеният публичен ключ </a:t>
            </a:r>
            <a:r>
              <a:rPr lang="en-US" b="1" dirty="0">
                <a:solidFill>
                  <a:srgbClr val="00B050"/>
                </a:solidFill>
              </a:rPr>
              <a:t>PKA=</a:t>
            </a:r>
            <a:r>
              <a:rPr lang="en-US" b="1" dirty="0" err="1">
                <a:solidFill>
                  <a:srgbClr val="00B050"/>
                </a:solidFill>
              </a:rPr>
              <a:t>q</a:t>
            </a:r>
            <a:r>
              <a:rPr lang="en-US" b="1" baseline="30000" dirty="0" err="1">
                <a:solidFill>
                  <a:srgbClr val="FF0000"/>
                </a:solidFill>
              </a:rPr>
              <a:t>f</a:t>
            </a:r>
            <a:r>
              <a:rPr lang="en-US" b="1" dirty="0" err="1">
                <a:solidFill>
                  <a:srgbClr val="00B050"/>
                </a:solidFill>
              </a:rPr>
              <a:t>modp</a:t>
            </a:r>
            <a:r>
              <a:rPr lang="en-US" b="1" dirty="0">
                <a:solidFill>
                  <a:srgbClr val="00B050"/>
                </a:solidFill>
              </a:rPr>
              <a:t> </a:t>
            </a:r>
            <a:r>
              <a:rPr lang="bg-BG" dirty="0" smtClean="0"/>
              <a:t>не е на Алис, а е изчислен от Фред. Боб на случаен принцип генерира положително цяло число </a:t>
            </a:r>
            <a:r>
              <a:rPr lang="en-US" b="1" dirty="0" smtClean="0">
                <a:solidFill>
                  <a:srgbClr val="FF0000"/>
                </a:solidFill>
              </a:rPr>
              <a:t>b</a:t>
            </a:r>
            <a:r>
              <a:rPr lang="en-US" dirty="0" smtClean="0"/>
              <a:t> </a:t>
            </a:r>
            <a:r>
              <a:rPr lang="bg-BG" dirty="0" smtClean="0"/>
              <a:t>и изчислява </a:t>
            </a:r>
            <a:r>
              <a:rPr lang="en-US" b="1" dirty="0">
                <a:solidFill>
                  <a:srgbClr val="00B050"/>
                </a:solidFill>
              </a:rPr>
              <a:t>PKB=</a:t>
            </a:r>
            <a:r>
              <a:rPr lang="en-US" b="1" dirty="0" err="1">
                <a:solidFill>
                  <a:srgbClr val="00B050"/>
                </a:solidFill>
              </a:rPr>
              <a:t>q</a:t>
            </a:r>
            <a:r>
              <a:rPr lang="en-US" b="1" baseline="30000" dirty="0" err="1">
                <a:solidFill>
                  <a:srgbClr val="FF0000"/>
                </a:solidFill>
              </a:rPr>
              <a:t>b</a:t>
            </a:r>
            <a:r>
              <a:rPr lang="en-US" b="1" dirty="0" err="1">
                <a:solidFill>
                  <a:srgbClr val="00B050"/>
                </a:solidFill>
              </a:rPr>
              <a:t>modp</a:t>
            </a:r>
            <a:r>
              <a:rPr lang="bg-BG" dirty="0" smtClean="0"/>
              <a:t>, който си мисли, че изпраща на Алис.</a:t>
            </a:r>
          </a:p>
          <a:p>
            <a:pPr marL="342900" indent="-342900">
              <a:buAutoNum type="arabicPeriod"/>
            </a:pPr>
            <a:r>
              <a:rPr lang="bg-BG" dirty="0" smtClean="0"/>
              <a:t>Фред прихваща публичния ключ на Боб </a:t>
            </a:r>
            <a:r>
              <a:rPr lang="en-US" b="1" dirty="0" smtClean="0">
                <a:solidFill>
                  <a:srgbClr val="00B050"/>
                </a:solidFill>
              </a:rPr>
              <a:t>PKB=</a:t>
            </a:r>
            <a:r>
              <a:rPr lang="en-US" b="1" dirty="0" err="1" smtClean="0">
                <a:solidFill>
                  <a:srgbClr val="00B050"/>
                </a:solidFill>
              </a:rPr>
              <a:t>q</a:t>
            </a:r>
            <a:r>
              <a:rPr lang="en-US" b="1" baseline="30000" dirty="0" err="1" smtClean="0">
                <a:solidFill>
                  <a:srgbClr val="FF0000"/>
                </a:solidFill>
              </a:rPr>
              <a:t>b</a:t>
            </a:r>
            <a:r>
              <a:rPr lang="en-US" b="1" dirty="0" err="1" smtClean="0">
                <a:solidFill>
                  <a:srgbClr val="00B050"/>
                </a:solidFill>
              </a:rPr>
              <a:t>modp</a:t>
            </a:r>
            <a:r>
              <a:rPr lang="en-US" b="1" dirty="0" smtClean="0">
                <a:solidFill>
                  <a:srgbClr val="00B050"/>
                </a:solidFill>
              </a:rPr>
              <a:t> </a:t>
            </a:r>
            <a:r>
              <a:rPr lang="bg-BG" dirty="0" smtClean="0"/>
              <a:t>преди да достигне до Алис. След това изпраща собствено генерирания публичен ключ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00B050"/>
                </a:solidFill>
              </a:rPr>
              <a:t>PKB=</a:t>
            </a:r>
            <a:r>
              <a:rPr lang="en-US" b="1" dirty="0" err="1" smtClean="0">
                <a:solidFill>
                  <a:srgbClr val="00B050"/>
                </a:solidFill>
              </a:rPr>
              <a:t>q</a:t>
            </a:r>
            <a:r>
              <a:rPr lang="en-US" b="1" baseline="30000" dirty="0" err="1" smtClean="0">
                <a:solidFill>
                  <a:srgbClr val="FF0000"/>
                </a:solidFill>
              </a:rPr>
              <a:t>f</a:t>
            </a:r>
            <a:r>
              <a:rPr lang="en-US" b="1" dirty="0" err="1" smtClean="0">
                <a:solidFill>
                  <a:srgbClr val="00B050"/>
                </a:solidFill>
              </a:rPr>
              <a:t>modp</a:t>
            </a:r>
            <a:r>
              <a:rPr lang="bg-BG" dirty="0" smtClean="0"/>
              <a:t>, като твърди пред Алис, че е Боб.</a:t>
            </a:r>
          </a:p>
          <a:p>
            <a:pPr marL="342900" indent="-342900">
              <a:buAutoNum type="arabicPeriod"/>
            </a:pPr>
            <a:r>
              <a:rPr lang="bg-BG" dirty="0" smtClean="0"/>
              <a:t>Алис смята, че протоколът е завършил успешно и използва публичния ключ</a:t>
            </a:r>
            <a:r>
              <a:rPr lang="en-US" dirty="0" smtClean="0"/>
              <a:t> </a:t>
            </a:r>
            <a:r>
              <a:rPr lang="en-US" b="1" dirty="0">
                <a:solidFill>
                  <a:srgbClr val="00B050"/>
                </a:solidFill>
              </a:rPr>
              <a:t>PKB=</a:t>
            </a:r>
            <a:r>
              <a:rPr lang="en-US" b="1" dirty="0" err="1">
                <a:solidFill>
                  <a:srgbClr val="00B050"/>
                </a:solidFill>
              </a:rPr>
              <a:t>q</a:t>
            </a:r>
            <a:r>
              <a:rPr lang="en-US" b="1" baseline="30000" dirty="0" err="1">
                <a:solidFill>
                  <a:srgbClr val="FF0000"/>
                </a:solidFill>
              </a:rPr>
              <a:t>f</a:t>
            </a:r>
            <a:r>
              <a:rPr lang="en-US" b="1" dirty="0" err="1">
                <a:solidFill>
                  <a:srgbClr val="00B050"/>
                </a:solidFill>
              </a:rPr>
              <a:t>modp</a:t>
            </a:r>
            <a:r>
              <a:rPr lang="bg-BG" dirty="0" smtClean="0"/>
              <a:t>, изпратен от </a:t>
            </a:r>
            <a:r>
              <a:rPr lang="bg-BG" dirty="0"/>
              <a:t>Ф</a:t>
            </a:r>
            <a:r>
              <a:rPr lang="bg-BG" dirty="0" smtClean="0"/>
              <a:t>ред и числото </a:t>
            </a:r>
            <a:r>
              <a:rPr lang="bg-BG" b="1" dirty="0" smtClean="0">
                <a:solidFill>
                  <a:srgbClr val="FF0000"/>
                </a:solidFill>
              </a:rPr>
              <a:t>а</a:t>
            </a:r>
            <a:r>
              <a:rPr lang="bg-BG" dirty="0" smtClean="0"/>
              <a:t>, за изчисляване на секретния ключ.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SК</a:t>
            </a:r>
            <a:r>
              <a:rPr lang="en-US" b="1" dirty="0" smtClean="0"/>
              <a:t>=</a:t>
            </a:r>
            <a:r>
              <a:rPr lang="en-US" b="1" dirty="0" err="1" smtClean="0">
                <a:solidFill>
                  <a:srgbClr val="00B050"/>
                </a:solidFill>
              </a:rPr>
              <a:t>PKB</a:t>
            </a:r>
            <a:r>
              <a:rPr lang="en-US" b="1" baseline="30000" dirty="0" err="1" smtClean="0">
                <a:solidFill>
                  <a:srgbClr val="FF0000"/>
                </a:solidFill>
              </a:rPr>
              <a:t>f</a:t>
            </a:r>
            <a:r>
              <a:rPr lang="en-US" b="1" dirty="0" err="1" smtClean="0">
                <a:solidFill>
                  <a:srgbClr val="00B050"/>
                </a:solidFill>
              </a:rPr>
              <a:t>modp</a:t>
            </a:r>
            <a:endParaRPr lang="bg-BG" dirty="0" smtClean="0"/>
          </a:p>
          <a:p>
            <a:pPr marL="342900" indent="-342900">
              <a:buFontTx/>
              <a:buAutoNum type="arabicPeriod"/>
            </a:pPr>
            <a:r>
              <a:rPr lang="bg-BG" dirty="0" smtClean="0"/>
              <a:t>Боб си мисли същото и използва изпратения му от Фред публичен ключ </a:t>
            </a:r>
            <a:r>
              <a:rPr lang="en-US" b="1" dirty="0">
                <a:solidFill>
                  <a:srgbClr val="00B050"/>
                </a:solidFill>
              </a:rPr>
              <a:t>PKB=</a:t>
            </a:r>
            <a:r>
              <a:rPr lang="en-US" b="1" dirty="0" err="1">
                <a:solidFill>
                  <a:srgbClr val="00B050"/>
                </a:solidFill>
              </a:rPr>
              <a:t>q</a:t>
            </a:r>
            <a:r>
              <a:rPr lang="en-US" b="1" baseline="30000" dirty="0" err="1">
                <a:solidFill>
                  <a:srgbClr val="FF0000"/>
                </a:solidFill>
              </a:rPr>
              <a:t>f</a:t>
            </a:r>
            <a:r>
              <a:rPr lang="en-US" b="1" dirty="0" err="1">
                <a:solidFill>
                  <a:srgbClr val="00B050"/>
                </a:solidFill>
              </a:rPr>
              <a:t>modp</a:t>
            </a:r>
            <a:r>
              <a:rPr lang="en-US" b="1" dirty="0">
                <a:solidFill>
                  <a:srgbClr val="00B050"/>
                </a:solidFill>
              </a:rPr>
              <a:t> </a:t>
            </a:r>
            <a:r>
              <a:rPr lang="bg-BG" dirty="0" smtClean="0"/>
              <a:t>и използва числото </a:t>
            </a:r>
            <a:r>
              <a:rPr lang="en-US" b="1" dirty="0" smtClean="0">
                <a:solidFill>
                  <a:srgbClr val="FF0000"/>
                </a:solidFill>
              </a:rPr>
              <a:t>b</a:t>
            </a:r>
            <a:r>
              <a:rPr lang="en-US" dirty="0" smtClean="0"/>
              <a:t>, </a:t>
            </a:r>
            <a:r>
              <a:rPr lang="bg-BG" dirty="0" smtClean="0"/>
              <a:t>за да изчисли секретния ключ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SК</a:t>
            </a:r>
            <a:r>
              <a:rPr lang="en-US" b="1" dirty="0" smtClean="0"/>
              <a:t>=</a:t>
            </a:r>
            <a:r>
              <a:rPr lang="en-US" b="1" dirty="0" err="1" smtClean="0">
                <a:solidFill>
                  <a:srgbClr val="00B050"/>
                </a:solidFill>
              </a:rPr>
              <a:t>PKA</a:t>
            </a:r>
            <a:r>
              <a:rPr lang="en-US" b="1" baseline="30000" dirty="0" err="1" smtClean="0">
                <a:solidFill>
                  <a:srgbClr val="FF0000"/>
                </a:solidFill>
              </a:rPr>
              <a:t>f</a:t>
            </a:r>
            <a:r>
              <a:rPr lang="en-US" b="1" dirty="0" err="1" smtClean="0">
                <a:solidFill>
                  <a:srgbClr val="00B050"/>
                </a:solidFill>
              </a:rPr>
              <a:t>modp</a:t>
            </a:r>
            <a:endParaRPr lang="bg-BG" dirty="0"/>
          </a:p>
          <a:p>
            <a:pPr marL="342900" indent="-342900">
              <a:buAutoNum type="arabicPeriod"/>
            </a:pPr>
            <a:r>
              <a:rPr lang="bg-BG" dirty="0" smtClean="0"/>
              <a:t>Фред също изчислява секретния ключ</a:t>
            </a:r>
            <a:r>
              <a:rPr lang="en-US" dirty="0"/>
              <a:t>.</a:t>
            </a:r>
            <a:r>
              <a:rPr lang="en-US" dirty="0" smtClean="0"/>
              <a:t> </a:t>
            </a:r>
            <a:endParaRPr lang="bg-BG" dirty="0" smtClean="0"/>
          </a:p>
          <a:p>
            <a:pPr marL="342900" indent="-34290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3862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4003</TotalTime>
  <Words>3479</Words>
  <Application>Microsoft Office PowerPoint</Application>
  <PresentationFormat>Widescreen</PresentationFormat>
  <Paragraphs>242</Paragraphs>
  <Slides>31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Century Gothic</vt:lpstr>
      <vt:lpstr>Vapor Trail</vt:lpstr>
      <vt:lpstr>АСиметрична криптография  (публична криптография)</vt:lpstr>
      <vt:lpstr>Симетрична криптография – Свойства </vt:lpstr>
      <vt:lpstr>Симетрична криптография - недостатъци</vt:lpstr>
      <vt:lpstr>Симетрична криптография - недостатъци</vt:lpstr>
      <vt:lpstr>Симетрична криптография - недостатъци</vt:lpstr>
      <vt:lpstr>Асиметрична криптография</vt:lpstr>
      <vt:lpstr>Асиметрична криптография</vt:lpstr>
      <vt:lpstr>Асиметрична криптография</vt:lpstr>
      <vt:lpstr>Асиметрична криптография</vt:lpstr>
      <vt:lpstr>Асиметрична криптография</vt:lpstr>
      <vt:lpstr>Асиметрична криптография</vt:lpstr>
      <vt:lpstr>Асиметрична криптография</vt:lpstr>
      <vt:lpstr>Асиметрична криптография</vt:lpstr>
      <vt:lpstr>Асиметрична криптография</vt:lpstr>
      <vt:lpstr>Асиметрична криптография</vt:lpstr>
      <vt:lpstr>Асиметрична криптография</vt:lpstr>
      <vt:lpstr>Асиметрична криптография</vt:lpstr>
      <vt:lpstr>Асиметрична криптография</vt:lpstr>
      <vt:lpstr>Асиметрична криптография</vt:lpstr>
      <vt:lpstr>Асиметрична криптография</vt:lpstr>
      <vt:lpstr>Асиметрична криптография</vt:lpstr>
      <vt:lpstr>Асиметрична криптография</vt:lpstr>
      <vt:lpstr>Асиметрична криптография</vt:lpstr>
      <vt:lpstr>Асиметрична криптография</vt:lpstr>
      <vt:lpstr>Протокол на Дифи и Хелман</vt:lpstr>
      <vt:lpstr>Алгоритъм на Дифи и Хелман</vt:lpstr>
      <vt:lpstr>Алгоритъм на Дифи и Хелман</vt:lpstr>
      <vt:lpstr>Алгоритъм на Дифи и Хелман</vt:lpstr>
      <vt:lpstr>Анализ на протокола на Дифи и хелман</vt:lpstr>
      <vt:lpstr>Атака на посредника (man-in-the-middle attack)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Въведение в класическата и съвременната криптография</dc:title>
  <dc:creator>Malinka Ivanova</dc:creator>
  <cp:lastModifiedBy>Malinka Ivanova</cp:lastModifiedBy>
  <cp:revision>373</cp:revision>
  <dcterms:created xsi:type="dcterms:W3CDTF">2022-09-25T16:18:08Z</dcterms:created>
  <dcterms:modified xsi:type="dcterms:W3CDTF">2025-10-22T10:28:40Z</dcterms:modified>
</cp:coreProperties>
</file>