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1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7D68F-0E77-4B72-86FC-2E050D93422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AF38-D7E5-4112-9208-2260DD505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906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235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7682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8883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5379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4736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91483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389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3685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0075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5996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964388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0314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5820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2306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5367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13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3BAC-C9C3-4373-BB02-09DD2C2C590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randomBar dir="vert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4764" y="471055"/>
            <a:ext cx="6765636" cy="3157446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>Симетрична криптография </a:t>
            </a:r>
            <a:br>
              <a:rPr lang="bg-BG" dirty="0" smtClean="0"/>
            </a:br>
            <a:r>
              <a:rPr lang="bg-BG" dirty="0" smtClean="0"/>
              <a:t>Блокови алгоритми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6945" y="3628501"/>
            <a:ext cx="5703455" cy="685800"/>
          </a:xfrm>
        </p:spPr>
        <p:txBody>
          <a:bodyPr/>
          <a:lstStyle/>
          <a:p>
            <a:r>
              <a:rPr lang="bg-BG" dirty="0" smtClean="0"/>
              <a:t>Доц. Малинка Иванова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58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7312" y="471765"/>
            <a:ext cx="8610600" cy="1293028"/>
          </a:xfrm>
        </p:spPr>
        <p:txBody>
          <a:bodyPr/>
          <a:lstStyle/>
          <a:p>
            <a:r>
              <a:rPr lang="bg-BG" dirty="0" smtClean="0"/>
              <a:t>Модел на блоков алгоритъм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76" y="1685390"/>
            <a:ext cx="11219688" cy="3154680"/>
          </a:xfrm>
        </p:spPr>
        <p:txBody>
          <a:bodyPr>
            <a:normAutofit fontScale="85000" lnSpcReduction="20000"/>
          </a:bodyPr>
          <a:lstStyle/>
          <a:p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Входът е блок от явното съобщение и ключ</a:t>
            </a:r>
            <a:r>
              <a:rPr lang="bg-BG" dirty="0" smtClean="0"/>
              <a:t>, а </a:t>
            </a:r>
            <a:r>
              <a:rPr lang="bg-BG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изходът е блок от криптограмата.</a:t>
            </a:r>
          </a:p>
          <a:p>
            <a:r>
              <a:rPr lang="bg-BG" dirty="0" smtClean="0"/>
              <a:t>Обикновено размерът на блок</a:t>
            </a:r>
            <a:r>
              <a:rPr lang="en-US" dirty="0" smtClean="0"/>
              <a:t> </a:t>
            </a:r>
            <a:r>
              <a:rPr lang="bg-BG" dirty="0" smtClean="0"/>
              <a:t>от явното съобщение е равен на размера на блока на криптограмата.</a:t>
            </a:r>
          </a:p>
          <a:p>
            <a:r>
              <a:rPr lang="bg-BG" dirty="0" smtClean="0"/>
              <a:t>Поставят се следните </a:t>
            </a:r>
            <a:r>
              <a:rPr lang="bg-BG" b="1" dirty="0" smtClean="0"/>
              <a:t>изисквания към размера на блока:</a:t>
            </a:r>
          </a:p>
          <a:p>
            <a:pPr lvl="1"/>
            <a:r>
              <a:rPr lang="bg-BG" dirty="0" smtClean="0"/>
              <a:t>Ако блокът е </a:t>
            </a:r>
            <a:r>
              <a:rPr lang="bg-BG" b="1" dirty="0" smtClean="0"/>
              <a:t>твърде малък</a:t>
            </a:r>
            <a:r>
              <a:rPr lang="bg-BG" dirty="0" smtClean="0"/>
              <a:t>, </a:t>
            </a:r>
            <a:r>
              <a:rPr lang="bg-BG" b="1" dirty="0" smtClean="0"/>
              <a:t>атакуващият е значително улеснен</a:t>
            </a:r>
            <a:r>
              <a:rPr lang="bg-BG" dirty="0" smtClean="0"/>
              <a:t>, защото ще му е необходим по-малък речник за провеждане на атака с груба сила (използване на речник).</a:t>
            </a:r>
            <a:endParaRPr lang="bg-BG" dirty="0"/>
          </a:p>
          <a:p>
            <a:pPr lvl="1"/>
            <a:r>
              <a:rPr lang="bg-BG" dirty="0" smtClean="0"/>
              <a:t>Ако блокът е </a:t>
            </a:r>
            <a:r>
              <a:rPr lang="bg-BG" b="1" dirty="0" smtClean="0"/>
              <a:t>твърде голям</a:t>
            </a:r>
            <a:r>
              <a:rPr lang="bg-BG" dirty="0" smtClean="0"/>
              <a:t>, тогава блоковият алгоритъм става </a:t>
            </a:r>
            <a:r>
              <a:rPr lang="bg-BG" b="1" dirty="0" smtClean="0"/>
              <a:t>неефективен</a:t>
            </a:r>
            <a:r>
              <a:rPr lang="bg-BG" dirty="0" smtClean="0"/>
              <a:t> за явно съобщение, което е по-кратко от размера на блока (добавят се излишни битове). </a:t>
            </a:r>
          </a:p>
          <a:p>
            <a:pPr lvl="1"/>
            <a:r>
              <a:rPr lang="bg-BG" dirty="0" smtClean="0"/>
              <a:t>Препоръчва се, </a:t>
            </a:r>
            <a:r>
              <a:rPr lang="bg-BG" b="1" dirty="0" smtClean="0"/>
              <a:t>размерът на блока да е кратен на 8 </a:t>
            </a:r>
            <a:r>
              <a:rPr lang="en-US" dirty="0" smtClean="0"/>
              <a:t>(</a:t>
            </a:r>
            <a:r>
              <a:rPr lang="bg-BG" dirty="0" smtClean="0"/>
              <a:t>и по-добре на </a:t>
            </a:r>
            <a:r>
              <a:rPr lang="en-US" b="1" dirty="0" smtClean="0"/>
              <a:t>16</a:t>
            </a:r>
            <a:r>
              <a:rPr lang="en-US" b="1" dirty="0"/>
              <a:t>, </a:t>
            </a:r>
            <a:r>
              <a:rPr lang="en-US" b="1" dirty="0" smtClean="0"/>
              <a:t>32 </a:t>
            </a:r>
            <a:r>
              <a:rPr lang="bg-BG" dirty="0" smtClean="0"/>
              <a:t>или</a:t>
            </a:r>
            <a:r>
              <a:rPr lang="en-US" b="1" dirty="0" smtClean="0"/>
              <a:t> </a:t>
            </a:r>
            <a:r>
              <a:rPr lang="en-US" b="1" dirty="0"/>
              <a:t>64</a:t>
            </a:r>
            <a:r>
              <a:rPr lang="en-US" dirty="0" smtClean="0"/>
              <a:t>)</a:t>
            </a:r>
            <a:r>
              <a:rPr lang="bg-BG" dirty="0" smtClean="0"/>
              <a:t>, защото това са дължини, обработвани от съвременните процесори.</a:t>
            </a:r>
          </a:p>
          <a:p>
            <a:r>
              <a:rPr lang="bg-BG" dirty="0" smtClean="0"/>
              <a:t>Следователно, изборът на </a:t>
            </a:r>
            <a:r>
              <a:rPr lang="bg-BG" b="1" dirty="0" smtClean="0"/>
              <a:t>дължина на блока </a:t>
            </a:r>
            <a:r>
              <a:rPr lang="bg-BG" dirty="0" smtClean="0"/>
              <a:t>е </a:t>
            </a:r>
            <a:r>
              <a:rPr lang="bg-BG" b="1" dirty="0" smtClean="0"/>
              <a:t>компромис между сигурност и ефективност</a:t>
            </a:r>
            <a:r>
              <a:rPr lang="bg-BG" dirty="0" smtClean="0"/>
              <a:t> -  </a:t>
            </a:r>
            <a:r>
              <a:rPr lang="en-US" dirty="0" smtClean="0"/>
              <a:t>DES </a:t>
            </a:r>
            <a:r>
              <a:rPr lang="bg-BG" dirty="0" smtClean="0"/>
              <a:t>има размер на блока </a:t>
            </a:r>
            <a:r>
              <a:rPr lang="en-US" dirty="0" smtClean="0"/>
              <a:t>64</a:t>
            </a:r>
            <a:r>
              <a:rPr lang="bg-BG" dirty="0" smtClean="0"/>
              <a:t> бита, а </a:t>
            </a:r>
            <a:r>
              <a:rPr lang="en-US" dirty="0" smtClean="0"/>
              <a:t> AES 128, 256, 512</a:t>
            </a:r>
            <a:r>
              <a:rPr lang="bg-BG" dirty="0" smtClean="0"/>
              <a:t> бита.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37176" y="5486401"/>
            <a:ext cx="2066544" cy="1024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 err="1" smtClean="0"/>
              <a:t>Криптографски</a:t>
            </a:r>
            <a:r>
              <a:rPr lang="bg-BG" dirty="0" smtClean="0"/>
              <a:t> алгоритъм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32888" y="5605273"/>
            <a:ext cx="189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Блок от явното съобщение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15200" y="5605273"/>
            <a:ext cx="224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Блок от криптограмата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00700" y="4754203"/>
            <a:ext cx="1001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Ключ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4247388" y="5893308"/>
            <a:ext cx="384048" cy="210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6990588" y="5887291"/>
            <a:ext cx="384048" cy="210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5400000">
            <a:off x="5724142" y="5189221"/>
            <a:ext cx="384048" cy="2103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946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Свойства на блоковите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51349"/>
            <a:ext cx="10820400" cy="477939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За разлика от поточните </a:t>
            </a:r>
            <a:r>
              <a:rPr lang="ru-RU" dirty="0" smtClean="0"/>
              <a:t>алгоритми, </a:t>
            </a:r>
            <a:r>
              <a:rPr lang="ru-RU" dirty="0"/>
              <a:t>блоковите </a:t>
            </a:r>
            <a:r>
              <a:rPr lang="ru-RU" dirty="0" smtClean="0"/>
              <a:t>алгоритми </a:t>
            </a:r>
            <a:r>
              <a:rPr lang="ru-RU" dirty="0"/>
              <a:t>обикновено не се свързват с общи </a:t>
            </a:r>
            <a:r>
              <a:rPr lang="ru-RU" dirty="0" smtClean="0"/>
              <a:t>свойства, тъй като те се </a:t>
            </a:r>
            <a:r>
              <a:rPr lang="ru-RU" dirty="0"/>
              <a:t>различават </a:t>
            </a:r>
            <a:r>
              <a:rPr lang="ru-RU" dirty="0" smtClean="0"/>
              <a:t>по </a:t>
            </a:r>
            <a:r>
              <a:rPr lang="ru-RU" dirty="0"/>
              <a:t>своя технически </a:t>
            </a:r>
            <a:r>
              <a:rPr lang="ru-RU" dirty="0" smtClean="0"/>
              <a:t>дизайн.</a:t>
            </a:r>
          </a:p>
          <a:p>
            <a:r>
              <a:rPr lang="ru-RU" dirty="0" smtClean="0"/>
              <a:t>Въпреки </a:t>
            </a:r>
            <a:r>
              <a:rPr lang="ru-RU" dirty="0"/>
              <a:t>това, </a:t>
            </a:r>
            <a:r>
              <a:rPr lang="ru-RU" b="1" dirty="0" smtClean="0"/>
              <a:t>блоковите алгоритми </a:t>
            </a:r>
            <a:r>
              <a:rPr lang="ru-RU" dirty="0" smtClean="0"/>
              <a:t>се характеризират </a:t>
            </a:r>
            <a:r>
              <a:rPr lang="ru-RU" dirty="0"/>
              <a:t>с:</a:t>
            </a:r>
          </a:p>
          <a:p>
            <a:pPr lvl="1"/>
            <a:r>
              <a:rPr lang="ru-RU" b="1" dirty="0" smtClean="0"/>
              <a:t>Универсалност</a:t>
            </a:r>
            <a:r>
              <a:rPr lang="ru-RU" dirty="0" smtClean="0"/>
              <a:t> - </a:t>
            </a:r>
            <a:r>
              <a:rPr lang="ru-RU" dirty="0"/>
              <a:t>Блоковите </a:t>
            </a:r>
            <a:r>
              <a:rPr lang="ru-RU" dirty="0" smtClean="0"/>
              <a:t>алгоритми </a:t>
            </a:r>
            <a:r>
              <a:rPr lang="ru-RU" dirty="0"/>
              <a:t>не се използват само за </a:t>
            </a:r>
            <a:r>
              <a:rPr lang="ru-RU" b="1" dirty="0"/>
              <a:t>криптиране</a:t>
            </a:r>
            <a:r>
              <a:rPr lang="ru-RU" dirty="0"/>
              <a:t>, но и като компоненти на </a:t>
            </a:r>
            <a:r>
              <a:rPr lang="ru-RU" dirty="0" smtClean="0"/>
              <a:t>други криптографски </a:t>
            </a:r>
            <a:r>
              <a:rPr lang="ru-RU" dirty="0"/>
              <a:t>примитиви като </a:t>
            </a:r>
            <a:r>
              <a:rPr lang="ru-RU" b="1" dirty="0" smtClean="0"/>
              <a:t>MAC</a:t>
            </a:r>
            <a:r>
              <a:rPr lang="en-US" b="1" dirty="0" smtClean="0"/>
              <a:t> (</a:t>
            </a:r>
            <a:r>
              <a:rPr lang="en-US" dirty="0"/>
              <a:t>message authentication code</a:t>
            </a:r>
            <a:r>
              <a:rPr lang="en-US" b="1" dirty="0" smtClean="0"/>
              <a:t>)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b="1" dirty="0"/>
              <a:t>хеш </a:t>
            </a:r>
            <a:r>
              <a:rPr lang="ru-RU" b="1" dirty="0" smtClean="0"/>
              <a:t>функции.</a:t>
            </a:r>
            <a:endParaRPr lang="ru-RU" b="1" dirty="0"/>
          </a:p>
          <a:p>
            <a:pPr lvl="1"/>
            <a:r>
              <a:rPr lang="ru-RU" b="1" dirty="0" smtClean="0"/>
              <a:t>Съвместимост</a:t>
            </a:r>
            <a:r>
              <a:rPr lang="ru-RU" dirty="0" smtClean="0"/>
              <a:t> - Блокови алгоритми </a:t>
            </a:r>
            <a:r>
              <a:rPr lang="ru-RU" dirty="0"/>
              <a:t>като AES са </a:t>
            </a:r>
            <a:r>
              <a:rPr lang="ru-RU" dirty="0" smtClean="0"/>
              <a:t>широко прилагани, </a:t>
            </a:r>
            <a:r>
              <a:rPr lang="ru-RU" dirty="0"/>
              <a:t>в резултат на което те се превръщат в </a:t>
            </a:r>
            <a:r>
              <a:rPr lang="ru-RU" b="1" dirty="0"/>
              <a:t>избор по подразбиране на алгоритъм за криптиране </a:t>
            </a:r>
            <a:r>
              <a:rPr lang="ru-RU" dirty="0"/>
              <a:t>за </a:t>
            </a:r>
            <a:r>
              <a:rPr lang="ru-RU" dirty="0" smtClean="0"/>
              <a:t>много приложения, което </a:t>
            </a:r>
            <a:r>
              <a:rPr lang="ru-RU" b="1" dirty="0" smtClean="0"/>
              <a:t>подпомага съвместимостта.</a:t>
            </a:r>
            <a:endParaRPr lang="ru-RU" b="1" dirty="0"/>
          </a:p>
          <a:p>
            <a:pPr lvl="1"/>
            <a:r>
              <a:rPr lang="ru-RU" b="1" dirty="0" smtClean="0"/>
              <a:t>Адаптивност</a:t>
            </a:r>
            <a:r>
              <a:rPr lang="ru-RU" dirty="0" smtClean="0"/>
              <a:t> - </a:t>
            </a:r>
            <a:r>
              <a:rPr lang="ru-RU" dirty="0"/>
              <a:t>Блоковите </a:t>
            </a:r>
            <a:r>
              <a:rPr lang="ru-RU" dirty="0" smtClean="0"/>
              <a:t>алгоритми </a:t>
            </a:r>
            <a:r>
              <a:rPr lang="ru-RU" dirty="0"/>
              <a:t>могат да бъдат реализирани в различни режими на работа </a:t>
            </a:r>
            <a:r>
              <a:rPr lang="ru-RU" dirty="0" smtClean="0"/>
              <a:t>за </a:t>
            </a:r>
            <a:r>
              <a:rPr lang="ru-RU" dirty="0"/>
              <a:t>постигане на различни </a:t>
            </a:r>
            <a:r>
              <a:rPr lang="ru-RU" dirty="0" smtClean="0"/>
              <a:t>свойства.</a:t>
            </a:r>
            <a:endParaRPr lang="ru-RU" dirty="0"/>
          </a:p>
          <a:p>
            <a:r>
              <a:rPr lang="ru-RU" dirty="0" smtClean="0"/>
              <a:t>Дискутират се два </a:t>
            </a:r>
            <a:r>
              <a:rPr lang="ru-RU" dirty="0"/>
              <a:t>аспекта на блоковите </a:t>
            </a:r>
            <a:r>
              <a:rPr lang="ru-RU" dirty="0" smtClean="0"/>
              <a:t>алгоритми, </a:t>
            </a:r>
            <a:r>
              <a:rPr lang="ru-RU" dirty="0"/>
              <a:t>които </a:t>
            </a:r>
            <a:r>
              <a:rPr lang="ru-RU" b="1" u="sng" dirty="0">
                <a:solidFill>
                  <a:srgbClr val="C00000"/>
                </a:solidFill>
              </a:rPr>
              <a:t>не винаги са </a:t>
            </a:r>
            <a:r>
              <a:rPr lang="ru-RU" b="1" u="sng" dirty="0" smtClean="0">
                <a:solidFill>
                  <a:srgbClr val="C00000"/>
                </a:solidFill>
              </a:rPr>
              <a:t>желателни</a:t>
            </a:r>
            <a:r>
              <a:rPr lang="ru-RU" u="sng" dirty="0" smtClean="0"/>
              <a:t>:</a:t>
            </a:r>
            <a:endParaRPr lang="ru-RU" u="sng" dirty="0"/>
          </a:p>
          <a:p>
            <a:pPr lvl="1"/>
            <a:r>
              <a:rPr lang="ru-RU" b="1" dirty="0"/>
              <a:t>Разпространение на </a:t>
            </a:r>
            <a:r>
              <a:rPr lang="ru-RU" b="1" dirty="0" smtClean="0"/>
              <a:t>грешката </a:t>
            </a:r>
            <a:r>
              <a:rPr lang="ru-RU" dirty="0" smtClean="0"/>
              <a:t>- Например</a:t>
            </a:r>
            <a:r>
              <a:rPr lang="ru-RU" dirty="0"/>
              <a:t>, 1-битова грешка при предаване променя само един бит от блок </a:t>
            </a:r>
            <a:r>
              <a:rPr lang="ru-RU" dirty="0" smtClean="0"/>
              <a:t>криптиран </a:t>
            </a:r>
            <a:r>
              <a:rPr lang="ru-RU" dirty="0"/>
              <a:t>текст, </a:t>
            </a:r>
            <a:r>
              <a:rPr lang="ru-RU" dirty="0" smtClean="0"/>
              <a:t>но резултатът </a:t>
            </a:r>
            <a:r>
              <a:rPr lang="ru-RU" dirty="0"/>
              <a:t>от декриптирането на този грешен блок </a:t>
            </a:r>
            <a:r>
              <a:rPr lang="ru-RU" dirty="0" smtClean="0"/>
              <a:t>ще </a:t>
            </a:r>
            <a:r>
              <a:rPr lang="ru-RU" dirty="0"/>
              <a:t>бъде блок с обикновен текст със </a:t>
            </a:r>
            <a:r>
              <a:rPr lang="ru-RU" dirty="0" smtClean="0"/>
              <a:t>средно половината </a:t>
            </a:r>
            <a:r>
              <a:rPr lang="ru-RU" dirty="0"/>
              <a:t>от битовете </a:t>
            </a:r>
            <a:r>
              <a:rPr lang="ru-RU" dirty="0" smtClean="0"/>
              <a:t>неправилни.</a:t>
            </a:r>
          </a:p>
          <a:p>
            <a:pPr lvl="1"/>
            <a:r>
              <a:rPr lang="ru-RU" b="1" dirty="0" smtClean="0"/>
              <a:t>Допълване на къс блок</a:t>
            </a:r>
            <a:r>
              <a:rPr lang="en-US" b="1" dirty="0" smtClean="0"/>
              <a:t>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/>
              <a:t>Блоковите </a:t>
            </a:r>
            <a:r>
              <a:rPr lang="bg-BG" dirty="0" smtClean="0"/>
              <a:t>алгоритми</a:t>
            </a:r>
            <a:r>
              <a:rPr lang="ru-RU" dirty="0" smtClean="0"/>
              <a:t> </a:t>
            </a:r>
            <a:r>
              <a:rPr lang="ru-RU" dirty="0"/>
              <a:t>работят с фиксирани размери на блокове (като 128 бита), но дължината </a:t>
            </a:r>
            <a:r>
              <a:rPr lang="ru-RU" dirty="0" smtClean="0"/>
              <a:t>на повечето </a:t>
            </a:r>
            <a:r>
              <a:rPr lang="ru-RU" dirty="0"/>
              <a:t>обикновени текстове не са кратни на размера на </a:t>
            </a:r>
            <a:r>
              <a:rPr lang="ru-RU" dirty="0" smtClean="0"/>
              <a:t>блока; </a:t>
            </a:r>
            <a:r>
              <a:rPr lang="ru-RU" dirty="0"/>
              <a:t>Например 400-битов обикновен текст запълва три </a:t>
            </a:r>
            <a:r>
              <a:rPr lang="ru-RU" dirty="0" smtClean="0"/>
              <a:t>128-битови блока, и къс блок от 16 бита, който се допълва със 112 «излишни» бита (400-3.128=400-384=16).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073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Субституционно-пермутационни</a:t>
            </a:r>
            <a:r>
              <a:rPr lang="bg-BG" dirty="0" smtClean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2194560"/>
            <a:ext cx="10937449" cy="4024125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Предизвикателство </a:t>
            </a:r>
            <a:r>
              <a:rPr lang="ru-RU" dirty="0"/>
              <a:t>при </a:t>
            </a:r>
            <a:r>
              <a:rPr lang="ru-RU" dirty="0" smtClean="0"/>
              <a:t>проектиране </a:t>
            </a:r>
            <a:r>
              <a:rPr lang="ru-RU" dirty="0"/>
              <a:t>на </a:t>
            </a:r>
            <a:r>
              <a:rPr lang="ru-RU" dirty="0" smtClean="0"/>
              <a:t>блокови алгоритми </a:t>
            </a:r>
            <a:r>
              <a:rPr lang="ru-RU" dirty="0"/>
              <a:t>е </a:t>
            </a:r>
            <a:r>
              <a:rPr lang="ru-RU" dirty="0" smtClean="0"/>
              <a:t>да се конструира </a:t>
            </a:r>
            <a:r>
              <a:rPr lang="ru-RU" b="1" dirty="0" smtClean="0"/>
              <a:t>набор от (малки) пермутации </a:t>
            </a:r>
            <a:r>
              <a:rPr lang="ru-RU" dirty="0" smtClean="0"/>
              <a:t>(с малък ключ), които произвеждат поведение на случайна изходна пермутация.</a:t>
            </a:r>
            <a:endParaRPr lang="ru-RU" dirty="0"/>
          </a:p>
          <a:p>
            <a:r>
              <a:rPr lang="ru-RU" dirty="0"/>
              <a:t>В допълнение към работата си върху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перфектната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секретност</a:t>
            </a:r>
            <a:r>
              <a:rPr lang="ru-RU" dirty="0" smtClean="0"/>
              <a:t>, </a:t>
            </a:r>
            <a:r>
              <a:rPr lang="ru-RU" b="1" dirty="0"/>
              <a:t>Шанън</a:t>
            </a:r>
            <a:r>
              <a:rPr lang="ru-RU" dirty="0"/>
              <a:t> </a:t>
            </a:r>
            <a:r>
              <a:rPr lang="ru-RU" dirty="0" smtClean="0"/>
              <a:t>въвежда и основната </a:t>
            </a:r>
            <a:r>
              <a:rPr lang="ru-RU" b="1" dirty="0" smtClean="0"/>
              <a:t>парадигма объркване-дифузия</a:t>
            </a:r>
            <a:r>
              <a:rPr lang="ru-RU" dirty="0" smtClean="0"/>
              <a:t>, свързана с </a:t>
            </a:r>
            <a:r>
              <a:rPr lang="ru-RU" dirty="0"/>
              <a:t>конструиране на </a:t>
            </a:r>
            <a:r>
              <a:rPr lang="ru-RU" dirty="0" smtClean="0"/>
              <a:t>малки, произволно </a:t>
            </a:r>
            <a:r>
              <a:rPr lang="ru-RU" dirty="0"/>
              <a:t>изглеждащи </a:t>
            </a:r>
            <a:r>
              <a:rPr lang="ru-RU" dirty="0" smtClean="0"/>
              <a:t>пермутации.</a:t>
            </a:r>
          </a:p>
          <a:p>
            <a:r>
              <a:rPr lang="ru-RU" dirty="0" smtClean="0"/>
              <a:t>Основната </a:t>
            </a:r>
            <a:r>
              <a:rPr lang="ru-RU" dirty="0"/>
              <a:t>идея е да се конструира </a:t>
            </a:r>
            <a:r>
              <a:rPr lang="ru-RU" b="1" dirty="0"/>
              <a:t>произволно изглеждаща пермутация F </a:t>
            </a:r>
            <a:r>
              <a:rPr lang="ru-RU" dirty="0"/>
              <a:t>с </a:t>
            </a:r>
            <a:r>
              <a:rPr lang="ru-RU" dirty="0">
                <a:solidFill>
                  <a:srgbClr val="FF0000"/>
                </a:solidFill>
              </a:rPr>
              <a:t>голяма дължина на блока </a:t>
            </a:r>
            <a:r>
              <a:rPr lang="ru-RU" dirty="0"/>
              <a:t>от 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множество по-малки 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случайни (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или произволно изглеждащи) пермутации 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f</a:t>
            </a:r>
            <a:r>
              <a:rPr lang="ru-RU" b="1" baseline="-25000" dirty="0" smtClean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ru-RU" dirty="0" smtClean="0"/>
          </a:p>
          <a:p>
            <a:r>
              <a:rPr lang="ru-RU" dirty="0" smtClean="0"/>
              <a:t>Да </a:t>
            </a:r>
            <a:r>
              <a:rPr lang="ru-RU" dirty="0"/>
              <a:t>кажем, че искаме </a:t>
            </a:r>
            <a:r>
              <a:rPr lang="ru-RU" b="1" dirty="0"/>
              <a:t>F</a:t>
            </a:r>
            <a:r>
              <a:rPr lang="ru-RU" dirty="0"/>
              <a:t> да има дължина на </a:t>
            </a:r>
            <a:r>
              <a:rPr lang="ru-RU" dirty="0" smtClean="0"/>
              <a:t>блока от </a:t>
            </a:r>
            <a:r>
              <a:rPr lang="ru-RU" b="1" dirty="0"/>
              <a:t>128 бита</a:t>
            </a:r>
            <a:r>
              <a:rPr lang="ru-RU" dirty="0"/>
              <a:t>. Можем да дефинираме </a:t>
            </a:r>
            <a:r>
              <a:rPr lang="ru-RU" b="1" dirty="0"/>
              <a:t>F</a:t>
            </a:r>
            <a:r>
              <a:rPr lang="ru-RU" dirty="0"/>
              <a:t> по следния начин: ключът </a:t>
            </a:r>
            <a:r>
              <a:rPr lang="ru-RU" b="1" dirty="0"/>
              <a:t>k</a:t>
            </a:r>
            <a:r>
              <a:rPr lang="ru-RU" dirty="0"/>
              <a:t> за </a:t>
            </a:r>
            <a:r>
              <a:rPr lang="ru-RU" b="1" dirty="0"/>
              <a:t>F</a:t>
            </a:r>
            <a:r>
              <a:rPr lang="ru-RU" dirty="0"/>
              <a:t> ще </a:t>
            </a:r>
            <a:r>
              <a:rPr lang="ru-RU" dirty="0" smtClean="0"/>
              <a:t>дефинира </a:t>
            </a:r>
            <a:r>
              <a:rPr lang="ru-RU" b="1" dirty="0"/>
              <a:t>16 </a:t>
            </a:r>
            <a:r>
              <a:rPr lang="ru-RU" b="1" dirty="0" smtClean="0"/>
              <a:t>пермутации: </a:t>
            </a:r>
            <a:r>
              <a:rPr lang="ru-RU" dirty="0" smtClean="0"/>
              <a:t>f</a:t>
            </a:r>
            <a:r>
              <a:rPr lang="ru-RU" baseline="-25000" dirty="0" smtClean="0"/>
              <a:t>1</a:t>
            </a:r>
            <a:r>
              <a:rPr lang="ru-RU" dirty="0"/>
              <a:t>, . . . , f</a:t>
            </a:r>
            <a:r>
              <a:rPr lang="ru-RU" baseline="-25000" dirty="0"/>
              <a:t>16</a:t>
            </a:r>
            <a:r>
              <a:rPr lang="ru-RU" dirty="0"/>
              <a:t>, </a:t>
            </a:r>
            <a:r>
              <a:rPr lang="ru-RU" dirty="0" smtClean="0"/>
              <a:t>вс</a:t>
            </a:r>
            <a:r>
              <a:rPr lang="bg-BG" dirty="0"/>
              <a:t>я</a:t>
            </a:r>
            <a:r>
              <a:rPr lang="ru-RU" dirty="0" smtClean="0"/>
              <a:t>ка </a:t>
            </a:r>
            <a:r>
              <a:rPr lang="ru-RU" dirty="0"/>
              <a:t>от които има </a:t>
            </a:r>
            <a:r>
              <a:rPr lang="ru-RU" b="1" dirty="0"/>
              <a:t>8-битова</a:t>
            </a:r>
            <a:r>
              <a:rPr lang="ru-RU" dirty="0"/>
              <a:t> (1-байтова) дължина на блока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Входът </a:t>
            </a:r>
            <a:r>
              <a:rPr lang="ru-RU" dirty="0"/>
              <a:t>x ∈ {0, </a:t>
            </a:r>
            <a:r>
              <a:rPr lang="ru-RU" dirty="0" smtClean="0"/>
              <a:t>1}</a:t>
            </a:r>
            <a:r>
              <a:rPr lang="ru-RU" baseline="30000" dirty="0" smtClean="0"/>
              <a:t>128</a:t>
            </a:r>
            <a:r>
              <a:rPr lang="ru-RU" dirty="0"/>
              <a:t>, </a:t>
            </a:r>
            <a:r>
              <a:rPr lang="ru-RU" dirty="0" smtClean="0"/>
              <a:t>анализира се </a:t>
            </a:r>
            <a:r>
              <a:rPr lang="ru-RU" dirty="0"/>
              <a:t>като 16 байта x</a:t>
            </a:r>
            <a:r>
              <a:rPr lang="ru-RU" baseline="-25000" dirty="0"/>
              <a:t>1</a:t>
            </a:r>
            <a:r>
              <a:rPr lang="ru-RU" dirty="0"/>
              <a:t> · · · x</a:t>
            </a:r>
            <a:r>
              <a:rPr lang="ru-RU" baseline="-25000" dirty="0"/>
              <a:t>16</a:t>
            </a:r>
            <a:r>
              <a:rPr lang="ru-RU" dirty="0"/>
              <a:t> и след това </a:t>
            </a:r>
            <a:r>
              <a:rPr lang="ru-RU" dirty="0" smtClean="0"/>
              <a:t>се задава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            </a:t>
            </a:r>
            <a:r>
              <a:rPr lang="ru-RU" b="1" dirty="0" smtClean="0"/>
              <a:t>F</a:t>
            </a:r>
            <a:r>
              <a:rPr lang="ru-RU" b="1" baseline="-25000" dirty="0" smtClean="0"/>
              <a:t>k</a:t>
            </a:r>
            <a:r>
              <a:rPr lang="ru-RU" b="1" dirty="0" smtClean="0"/>
              <a:t>(x</a:t>
            </a:r>
            <a:r>
              <a:rPr lang="ru-RU" b="1" dirty="0"/>
              <a:t>) = f</a:t>
            </a:r>
            <a:r>
              <a:rPr lang="ru-RU" b="1" baseline="-25000" dirty="0"/>
              <a:t>1</a:t>
            </a:r>
            <a:r>
              <a:rPr lang="ru-RU" b="1" dirty="0"/>
              <a:t>(x</a:t>
            </a:r>
            <a:r>
              <a:rPr lang="ru-RU" b="1" baseline="-25000" dirty="0"/>
              <a:t>1</a:t>
            </a:r>
            <a:r>
              <a:rPr lang="ru-RU" b="1" dirty="0" smtClean="0"/>
              <a:t>) </a:t>
            </a:r>
            <a:r>
              <a:rPr lang="ru-RU" b="1" dirty="0"/>
              <a:t>· · · </a:t>
            </a:r>
            <a:r>
              <a:rPr lang="ru-RU" b="1" dirty="0" smtClean="0"/>
              <a:t>f</a:t>
            </a:r>
            <a:r>
              <a:rPr lang="ru-RU" b="1" baseline="-25000" dirty="0" smtClean="0"/>
              <a:t>16</a:t>
            </a:r>
            <a:r>
              <a:rPr lang="ru-RU" b="1" dirty="0" smtClean="0"/>
              <a:t>(x</a:t>
            </a:r>
            <a:r>
              <a:rPr lang="ru-RU" b="1" baseline="-25000" dirty="0" smtClean="0"/>
              <a:t>16</a:t>
            </a:r>
            <a:r>
              <a:rPr lang="ru-RU" b="1" dirty="0" smtClean="0"/>
              <a:t>)</a:t>
            </a:r>
            <a:endParaRPr lang="ru-RU" b="1" dirty="0"/>
          </a:p>
          <a:p>
            <a:r>
              <a:rPr lang="bg-BG" dirty="0" smtClean="0"/>
              <a:t>Ф</a:t>
            </a:r>
            <a:r>
              <a:rPr lang="ru-RU" dirty="0" smtClean="0"/>
              <a:t>ункциите 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f</a:t>
            </a:r>
            <a:r>
              <a:rPr lang="ru-RU" b="1" baseline="-25000" dirty="0" smtClean="0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ru-RU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ru-RU" dirty="0"/>
              <a:t>въвеждат </a:t>
            </a:r>
            <a:r>
              <a:rPr lang="ru-RU" b="1" dirty="0" smtClean="0"/>
              <a:t>объркването</a:t>
            </a:r>
            <a:r>
              <a:rPr lang="ru-RU" dirty="0" smtClean="0"/>
              <a:t> (разбъркването) във </a:t>
            </a:r>
            <a:r>
              <a:rPr lang="ru-RU" b="1" dirty="0" smtClean="0"/>
              <a:t>F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6304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Ясно е обаче</a:t>
            </a:r>
            <a:r>
              <a:rPr lang="ru-RU" dirty="0"/>
              <a:t>, че </a:t>
            </a:r>
            <a:r>
              <a:rPr lang="ru-RU" b="1" dirty="0"/>
              <a:t>F</a:t>
            </a:r>
            <a:r>
              <a:rPr lang="ru-RU" dirty="0"/>
              <a:t>, както е дефинирано по-горе, </a:t>
            </a:r>
            <a:r>
              <a:rPr lang="ru-RU" u="sng" dirty="0" smtClean="0"/>
              <a:t>няма да бъде псевдослучайна </a:t>
            </a:r>
            <a:r>
              <a:rPr lang="ru-RU" dirty="0" smtClean="0"/>
              <a:t>пермутация. </a:t>
            </a:r>
            <a:r>
              <a:rPr lang="ru-RU" dirty="0"/>
              <a:t>По-конкретно, ако x и </a:t>
            </a:r>
            <a:r>
              <a:rPr lang="ru-RU" dirty="0" smtClean="0"/>
              <a:t>x</a:t>
            </a:r>
            <a:r>
              <a:rPr lang="ru-RU" baseline="-25000" dirty="0" smtClean="0"/>
              <a:t>0</a:t>
            </a:r>
            <a:r>
              <a:rPr lang="ru-RU" dirty="0" smtClean="0"/>
              <a:t> </a:t>
            </a:r>
            <a:r>
              <a:rPr lang="ru-RU" dirty="0"/>
              <a:t>се различават само в първия си бит, тогава </a:t>
            </a:r>
            <a:r>
              <a:rPr lang="ru-RU" b="1" dirty="0"/>
              <a:t>F</a:t>
            </a:r>
            <a:r>
              <a:rPr lang="ru-RU" b="1" baseline="-25000" dirty="0"/>
              <a:t>k</a:t>
            </a:r>
            <a:r>
              <a:rPr lang="ru-RU" b="1" dirty="0"/>
              <a:t>(x)</a:t>
            </a:r>
            <a:r>
              <a:rPr lang="ru-RU" dirty="0"/>
              <a:t> и </a:t>
            </a:r>
            <a:r>
              <a:rPr lang="ru-RU" b="1" dirty="0" smtClean="0"/>
              <a:t>F</a:t>
            </a:r>
            <a:r>
              <a:rPr lang="ru-RU" b="1" baseline="-25000" dirty="0" smtClean="0"/>
              <a:t>k</a:t>
            </a:r>
            <a:r>
              <a:rPr lang="ru-RU" b="1" dirty="0" smtClean="0"/>
              <a:t>(x</a:t>
            </a:r>
            <a:r>
              <a:rPr lang="ru-RU" b="1" baseline="-25000" dirty="0" smtClean="0"/>
              <a:t>0</a:t>
            </a:r>
            <a:r>
              <a:rPr lang="ru-RU" b="1" dirty="0" smtClean="0"/>
              <a:t>)</a:t>
            </a:r>
            <a:r>
              <a:rPr lang="ru-RU" dirty="0" smtClean="0"/>
              <a:t> </a:t>
            </a:r>
            <a:r>
              <a:rPr lang="ru-RU" dirty="0"/>
              <a:t>ще се различават само в първия си байт (независимо от ключа k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За </a:t>
            </a:r>
            <a:r>
              <a:rPr lang="ru-RU" dirty="0"/>
              <a:t>разлика от това, ако </a:t>
            </a:r>
            <a:r>
              <a:rPr lang="ru-RU" b="1" dirty="0"/>
              <a:t>F</a:t>
            </a:r>
            <a:r>
              <a:rPr lang="ru-RU" dirty="0"/>
              <a:t> беше наистина </a:t>
            </a:r>
            <a:r>
              <a:rPr lang="ru-RU" u="sng" dirty="0" smtClean="0"/>
              <a:t>произволна (случайна) </a:t>
            </a:r>
            <a:r>
              <a:rPr lang="ru-RU" u="sng" dirty="0"/>
              <a:t>пермутация</a:t>
            </a:r>
            <a:r>
              <a:rPr lang="ru-RU" dirty="0"/>
              <a:t>, тогава промяната на първия бит на входа би се очаквало да засегне всички байтове на </a:t>
            </a:r>
            <a:r>
              <a:rPr lang="ru-RU" dirty="0" smtClean="0"/>
              <a:t>изхода.</a:t>
            </a:r>
          </a:p>
          <a:p>
            <a:r>
              <a:rPr lang="ru-RU" dirty="0" smtClean="0"/>
              <a:t>Поради </a:t>
            </a:r>
            <a:r>
              <a:rPr lang="ru-RU" dirty="0"/>
              <a:t>тази причина се въвежда стъпка на </a:t>
            </a:r>
            <a:r>
              <a:rPr lang="ru-RU" b="1" dirty="0" smtClean="0"/>
              <a:t>дифузия (смесване)</a:t>
            </a:r>
            <a:r>
              <a:rPr lang="ru-RU" dirty="0" smtClean="0"/>
              <a:t>, </a:t>
            </a:r>
            <a:r>
              <a:rPr lang="ru-RU" dirty="0"/>
              <a:t>при която битовете на изхода се пермутират или „смесват“, като се използва </a:t>
            </a:r>
            <a:r>
              <a:rPr lang="ru-RU" b="1" dirty="0"/>
              <a:t>пермутация на </a:t>
            </a:r>
            <a:r>
              <a:rPr lang="ru-RU" b="1" dirty="0" smtClean="0"/>
              <a:t>смесване</a:t>
            </a:r>
            <a:r>
              <a:rPr lang="ru-RU" dirty="0" smtClean="0"/>
              <a:t>; </a:t>
            </a:r>
            <a:r>
              <a:rPr lang="ru-RU" dirty="0"/>
              <a:t>Това има ефект на разпространение на локална промяна (например промяна в първия байт) в целия </a:t>
            </a:r>
            <a:r>
              <a:rPr lang="ru-RU" dirty="0" smtClean="0"/>
              <a:t>блок.</a:t>
            </a:r>
          </a:p>
          <a:p>
            <a:r>
              <a:rPr lang="ru-RU" dirty="0" smtClean="0"/>
              <a:t>Стъпките </a:t>
            </a:r>
            <a:r>
              <a:rPr lang="ru-RU" dirty="0"/>
              <a:t>на </a:t>
            </a:r>
            <a:r>
              <a:rPr lang="ru-RU" b="1" dirty="0"/>
              <a:t>объркване/дифузия</a:t>
            </a:r>
            <a:r>
              <a:rPr lang="ru-RU" dirty="0"/>
              <a:t> – заедно </a:t>
            </a:r>
            <a:r>
              <a:rPr lang="ru-RU" dirty="0" smtClean="0"/>
              <a:t>образуват един </a:t>
            </a:r>
            <a:r>
              <a:rPr lang="ru-RU" b="1" dirty="0" smtClean="0"/>
              <a:t>цикъл </a:t>
            </a:r>
            <a:r>
              <a:rPr lang="en-US" b="1" dirty="0" smtClean="0"/>
              <a:t>(</a:t>
            </a:r>
            <a:r>
              <a:rPr lang="bg-BG" b="1" dirty="0" smtClean="0"/>
              <a:t>рунд (</a:t>
            </a:r>
            <a:r>
              <a:rPr lang="en-US" b="1" dirty="0" smtClean="0"/>
              <a:t>round</a:t>
            </a:r>
            <a:r>
              <a:rPr lang="bg-BG" b="1" dirty="0" smtClean="0"/>
              <a:t>)</a:t>
            </a:r>
            <a:r>
              <a:rPr lang="en-US" b="1" dirty="0" smtClean="0"/>
              <a:t>) </a:t>
            </a:r>
            <a:r>
              <a:rPr lang="ru-RU" dirty="0" smtClean="0"/>
              <a:t>–повтарят се многократно</a:t>
            </a:r>
            <a:r>
              <a:rPr lang="ru-RU" dirty="0" smtClean="0"/>
              <a:t>. </a:t>
            </a:r>
            <a:r>
              <a:rPr lang="ru-RU" dirty="0"/>
              <a:t>Това помага да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се гарантира, че промяната на един бит на входа ще засегне всички битове на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изхода.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001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736" y="764373"/>
            <a:ext cx="5617464" cy="1293028"/>
          </a:xfrm>
        </p:spPr>
        <p:txBody>
          <a:bodyPr>
            <a:normAutofit fontScale="90000"/>
          </a:bodyPr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8624" y="2898648"/>
            <a:ext cx="3026664" cy="2267711"/>
          </a:xfrm>
        </p:spPr>
        <p:txBody>
          <a:bodyPr>
            <a:normAutofit fontScale="92500" lnSpcReduction="20000"/>
          </a:bodyPr>
          <a:lstStyle/>
          <a:p>
            <a:r>
              <a:rPr lang="bg-BG" dirty="0" smtClean="0"/>
              <a:t>Един цикъл в </a:t>
            </a:r>
            <a:r>
              <a:rPr lang="bg-BG" dirty="0" err="1" smtClean="0"/>
              <a:t>субституционно-пермутационна</a:t>
            </a:r>
            <a:r>
              <a:rPr lang="bg-BG" dirty="0" smtClean="0"/>
              <a:t> мрежа</a:t>
            </a:r>
          </a:p>
          <a:p>
            <a:r>
              <a:rPr lang="bg-BG" dirty="0" smtClean="0"/>
              <a:t>Показано е криптиране само на един блок от явното съобщение от 64 входни бита.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" y="858203"/>
            <a:ext cx="5145156" cy="555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979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94776"/>
          </a:xfrm>
        </p:spPr>
        <p:txBody>
          <a:bodyPr>
            <a:normAutofit fontScale="85000" lnSpcReduction="20000"/>
          </a:bodyPr>
          <a:lstStyle/>
          <a:p>
            <a:r>
              <a:rPr lang="bg-BG" dirty="0" smtClean="0"/>
              <a:t>Нека имаме </a:t>
            </a:r>
            <a:r>
              <a:rPr lang="bg-BG" b="1" dirty="0" err="1" smtClean="0"/>
              <a:t>субституционно-пермутационна</a:t>
            </a:r>
            <a:r>
              <a:rPr lang="bg-BG" b="1" dirty="0" smtClean="0"/>
              <a:t> мрежа </a:t>
            </a:r>
            <a:r>
              <a:rPr lang="bg-BG" dirty="0" err="1" smtClean="0"/>
              <a:t>съ</a:t>
            </a:r>
            <a:r>
              <a:rPr lang="ru-RU" dirty="0" smtClean="0"/>
              <a:t>с </a:t>
            </a:r>
            <a:r>
              <a:rPr lang="ru-RU" b="1" dirty="0"/>
              <a:t>64-битова дължина на </a:t>
            </a:r>
            <a:r>
              <a:rPr lang="ru-RU" b="1" dirty="0" smtClean="0"/>
              <a:t>блока</a:t>
            </a:r>
            <a:r>
              <a:rPr lang="ru-RU" dirty="0" smtClean="0"/>
              <a:t>, основана </a:t>
            </a:r>
            <a:r>
              <a:rPr lang="ru-RU" dirty="0"/>
              <a:t>на </a:t>
            </a:r>
            <a:r>
              <a:rPr lang="ru-RU" dirty="0" smtClean="0"/>
              <a:t>набор </a:t>
            </a:r>
            <a:r>
              <a:rPr lang="ru-RU" dirty="0"/>
              <a:t>от </a:t>
            </a:r>
            <a:r>
              <a:rPr lang="ru-RU" b="1" dirty="0">
                <a:solidFill>
                  <a:schemeClr val="accent4">
                    <a:lumMod val="75000"/>
                  </a:schemeClr>
                </a:solidFill>
              </a:rPr>
              <a:t>8-битови (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1-байт) S-кутии</a:t>
            </a:r>
            <a:r>
              <a:rPr lang="ru-RU" dirty="0" smtClean="0"/>
              <a:t>: </a:t>
            </a:r>
            <a:r>
              <a:rPr lang="ru-RU" dirty="0"/>
              <a:t>S</a:t>
            </a:r>
            <a:r>
              <a:rPr lang="ru-RU" baseline="-25000" dirty="0"/>
              <a:t>1</a:t>
            </a:r>
            <a:r>
              <a:rPr lang="ru-RU" dirty="0"/>
              <a:t>, . . . , </a:t>
            </a:r>
            <a:r>
              <a:rPr lang="ru-RU" dirty="0" smtClean="0"/>
              <a:t>S</a:t>
            </a:r>
            <a:r>
              <a:rPr lang="ru-RU" baseline="-25000" dirty="0" smtClean="0"/>
              <a:t>8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 smtClean="0"/>
              <a:t>Изпълнението </a:t>
            </a:r>
            <a:r>
              <a:rPr lang="ru-RU" dirty="0"/>
              <a:t>на </a:t>
            </a:r>
            <a:r>
              <a:rPr lang="ru-RU" dirty="0" smtClean="0"/>
              <a:t>алгоритъма </a:t>
            </a:r>
            <a:r>
              <a:rPr lang="ru-RU" dirty="0"/>
              <a:t>протича в поредица от </a:t>
            </a:r>
            <a:r>
              <a:rPr lang="ru-RU" dirty="0" smtClean="0"/>
              <a:t>цикли, </a:t>
            </a:r>
            <a:r>
              <a:rPr lang="ru-RU" dirty="0"/>
              <a:t>където във всеки </a:t>
            </a:r>
            <a:r>
              <a:rPr lang="ru-RU" dirty="0" smtClean="0"/>
              <a:t>цикъл се прилага </a:t>
            </a:r>
            <a:r>
              <a:rPr lang="ru-RU" dirty="0"/>
              <a:t>следната последователност от операции към 64-битовия </a:t>
            </a:r>
            <a:r>
              <a:rPr lang="ru-RU" dirty="0" smtClean="0"/>
              <a:t>вход: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	1</a:t>
            </a:r>
            <a:r>
              <a:rPr lang="ru-RU" dirty="0"/>
              <a:t>. </a:t>
            </a:r>
            <a:r>
              <a:rPr lang="ru-RU" b="1" dirty="0"/>
              <a:t>Смесване на </a:t>
            </a:r>
            <a:r>
              <a:rPr lang="ru-RU" b="1" dirty="0" smtClean="0"/>
              <a:t>ключ и входа</a:t>
            </a:r>
            <a:r>
              <a:rPr lang="ru-RU" dirty="0" smtClean="0"/>
              <a:t>: Задава се </a:t>
            </a:r>
            <a:r>
              <a:rPr lang="ru-RU" b="1" dirty="0"/>
              <a:t>x := x ⊕ k</a:t>
            </a:r>
            <a:r>
              <a:rPr lang="ru-RU" dirty="0"/>
              <a:t>, където k е текущият подключ;</a:t>
            </a:r>
          </a:p>
          <a:p>
            <a:pPr marL="0" indent="0">
              <a:buNone/>
            </a:pPr>
            <a:r>
              <a:rPr lang="ru-RU" dirty="0" smtClean="0"/>
              <a:t>	2</a:t>
            </a:r>
            <a:r>
              <a:rPr lang="ru-RU" dirty="0"/>
              <a:t>. </a:t>
            </a:r>
            <a:r>
              <a:rPr lang="ru-RU" b="1" dirty="0" smtClean="0"/>
              <a:t>Задаване</a:t>
            </a:r>
            <a:r>
              <a:rPr lang="ru-RU" dirty="0" smtClean="0"/>
              <a:t>: </a:t>
            </a:r>
            <a:r>
              <a:rPr lang="ru-RU" dirty="0" smtClean="0"/>
              <a:t>Задаване на </a:t>
            </a:r>
            <a:r>
              <a:rPr lang="ru-RU" b="1" dirty="0"/>
              <a:t>x := S</a:t>
            </a:r>
            <a:r>
              <a:rPr lang="ru-RU" b="1" baseline="-25000" dirty="0"/>
              <a:t>1</a:t>
            </a:r>
            <a:r>
              <a:rPr lang="ru-RU" b="1" dirty="0"/>
              <a:t>(x</a:t>
            </a:r>
            <a:r>
              <a:rPr lang="ru-RU" b="1" baseline="-25000" dirty="0"/>
              <a:t>1</a:t>
            </a:r>
            <a:r>
              <a:rPr lang="ru-RU" b="1" dirty="0" smtClean="0"/>
              <a:t>) </a:t>
            </a:r>
            <a:r>
              <a:rPr lang="ru-RU" b="1" dirty="0"/>
              <a:t>· · · </a:t>
            </a:r>
            <a:r>
              <a:rPr lang="ru-RU" b="1" dirty="0" smtClean="0"/>
              <a:t>S</a:t>
            </a:r>
            <a:r>
              <a:rPr lang="ru-RU" b="1" baseline="-25000" dirty="0" smtClean="0"/>
              <a:t>8</a:t>
            </a:r>
            <a:r>
              <a:rPr lang="ru-RU" b="1" dirty="0" smtClean="0"/>
              <a:t>(x</a:t>
            </a:r>
            <a:r>
              <a:rPr lang="ru-RU" b="1" baseline="-25000" dirty="0" smtClean="0"/>
              <a:t>8</a:t>
            </a:r>
            <a:r>
              <a:rPr lang="ru-RU" b="1" dirty="0"/>
              <a:t>), </a:t>
            </a:r>
            <a:r>
              <a:rPr lang="ru-RU" dirty="0"/>
              <a:t>където </a:t>
            </a:r>
            <a:r>
              <a:rPr lang="ru-RU" dirty="0" smtClean="0"/>
              <a:t>x</a:t>
            </a:r>
            <a:r>
              <a:rPr lang="ru-RU" baseline="-25000" dirty="0" smtClean="0"/>
              <a:t>i </a:t>
            </a:r>
            <a:r>
              <a:rPr lang="ru-RU" dirty="0" smtClean="0"/>
              <a:t>е </a:t>
            </a:r>
            <a:r>
              <a:rPr lang="ru-RU" dirty="0"/>
              <a:t>i-тият байт от x;</a:t>
            </a:r>
          </a:p>
          <a:p>
            <a:pPr marL="0" indent="0">
              <a:buNone/>
            </a:pPr>
            <a:r>
              <a:rPr lang="ru-RU" dirty="0" smtClean="0"/>
              <a:t>	3</a:t>
            </a:r>
            <a:r>
              <a:rPr lang="ru-RU" dirty="0"/>
              <a:t>. </a:t>
            </a:r>
            <a:r>
              <a:rPr lang="ru-RU" b="1" dirty="0"/>
              <a:t>Пермутация</a:t>
            </a:r>
            <a:r>
              <a:rPr lang="ru-RU" dirty="0"/>
              <a:t>: </a:t>
            </a:r>
            <a:r>
              <a:rPr lang="ru-RU" dirty="0" smtClean="0"/>
              <a:t>Пермутират се </a:t>
            </a:r>
            <a:r>
              <a:rPr lang="ru-RU" dirty="0"/>
              <a:t>битовете на x, за да </a:t>
            </a:r>
            <a:r>
              <a:rPr lang="ru-RU" dirty="0" smtClean="0"/>
              <a:t>се получи резултатът от цикъла.</a:t>
            </a:r>
            <a:endParaRPr lang="ru-RU" dirty="0"/>
          </a:p>
          <a:p>
            <a:r>
              <a:rPr lang="ru-RU" dirty="0"/>
              <a:t>Резултатът от всеки </a:t>
            </a:r>
            <a:r>
              <a:rPr lang="ru-RU" dirty="0" smtClean="0"/>
              <a:t>цикъл </a:t>
            </a:r>
            <a:r>
              <a:rPr lang="ru-RU" dirty="0"/>
              <a:t>се подава като вход към следващия </a:t>
            </a:r>
            <a:r>
              <a:rPr lang="ru-RU" dirty="0" smtClean="0"/>
              <a:t>цикъл. </a:t>
            </a:r>
          </a:p>
          <a:p>
            <a:r>
              <a:rPr lang="ru-RU" dirty="0" smtClean="0"/>
              <a:t>След последния цикъл </a:t>
            </a:r>
            <a:r>
              <a:rPr lang="ru-RU" dirty="0"/>
              <a:t>има </a:t>
            </a:r>
            <a:r>
              <a:rPr lang="ru-RU" b="1" dirty="0" smtClean="0"/>
              <a:t>още една последна </a:t>
            </a:r>
            <a:r>
              <a:rPr lang="ru-RU" b="1" dirty="0"/>
              <a:t>стъпка на смесване на </a:t>
            </a:r>
            <a:r>
              <a:rPr lang="ru-RU" b="1" dirty="0" smtClean="0"/>
              <a:t>битове</a:t>
            </a:r>
            <a:r>
              <a:rPr lang="ru-RU" dirty="0" smtClean="0"/>
              <a:t> </a:t>
            </a:r>
            <a:r>
              <a:rPr lang="ru-RU" dirty="0"/>
              <a:t>и резултатът е изходът </a:t>
            </a:r>
            <a:r>
              <a:rPr lang="ru-RU" dirty="0" smtClean="0"/>
              <a:t>на алгоритъма (По </a:t>
            </a:r>
            <a:r>
              <a:rPr lang="ru-RU" dirty="0"/>
              <a:t>принципа на </a:t>
            </a:r>
            <a:r>
              <a:rPr lang="bg-BG" b="1" dirty="0" err="1"/>
              <a:t>Къркхофс</a:t>
            </a:r>
            <a:r>
              <a:rPr lang="ru-RU" dirty="0" smtClean="0"/>
              <a:t> </a:t>
            </a:r>
            <a:r>
              <a:rPr lang="ru-RU" dirty="0"/>
              <a:t>приемаме, че S-кутиите и смесването на </a:t>
            </a:r>
            <a:r>
              <a:rPr lang="ru-RU" dirty="0" smtClean="0"/>
              <a:t>пермутации </a:t>
            </a:r>
            <a:r>
              <a:rPr lang="ru-RU" dirty="0"/>
              <a:t>са публични и известни на всеки </a:t>
            </a:r>
            <a:r>
              <a:rPr lang="ru-RU" dirty="0" smtClean="0"/>
              <a:t>нападател). </a:t>
            </a:r>
          </a:p>
          <a:p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Това </a:t>
            </a:r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означава, че </a:t>
            </a:r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без последната </a:t>
            </a:r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стъпка на смесване на </a:t>
            </a:r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битове, предпоследните </a:t>
            </a:r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стъпки </a:t>
            </a:r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на </a:t>
            </a:r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заместване и пермутация </a:t>
            </a:r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не биха предложили допълнителна </a:t>
            </a:r>
            <a:r>
              <a:rPr lang="ru-RU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сигурност, тъй като те не зависят от </a:t>
            </a:r>
            <a:r>
              <a:rPr lang="ru-RU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ключа.</a:t>
            </a:r>
            <a:endParaRPr lang="en-US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0208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 smtClean="0"/>
              <a:t>Ключове и график на ключове</a:t>
            </a:r>
          </a:p>
          <a:p>
            <a:r>
              <a:rPr lang="ru-RU" dirty="0" smtClean="0"/>
              <a:t>Във </a:t>
            </a:r>
            <a:r>
              <a:rPr lang="ru-RU" b="1" dirty="0"/>
              <a:t>всеки </a:t>
            </a:r>
            <a:r>
              <a:rPr lang="ru-RU" b="1" dirty="0" smtClean="0"/>
              <a:t>цикъл </a:t>
            </a:r>
            <a:r>
              <a:rPr lang="ru-RU" dirty="0"/>
              <a:t>се използват </a:t>
            </a:r>
            <a:r>
              <a:rPr lang="ru-RU" b="1" dirty="0"/>
              <a:t>различни </a:t>
            </a:r>
            <a:r>
              <a:rPr lang="ru-RU" b="1" dirty="0" smtClean="0"/>
              <a:t>подключове.</a:t>
            </a:r>
          </a:p>
          <a:p>
            <a:r>
              <a:rPr lang="ru-RU" dirty="0" smtClean="0"/>
              <a:t>Действителният ключ на </a:t>
            </a:r>
            <a:r>
              <a:rPr lang="ru-RU" dirty="0"/>
              <a:t>блоковия </a:t>
            </a:r>
            <a:r>
              <a:rPr lang="bg-BG" dirty="0" smtClean="0"/>
              <a:t>алгоритъм</a:t>
            </a:r>
            <a:r>
              <a:rPr lang="ru-RU" dirty="0" smtClean="0"/>
              <a:t> </a:t>
            </a:r>
            <a:r>
              <a:rPr lang="ru-RU" dirty="0"/>
              <a:t>понякога се нарича </a:t>
            </a:r>
            <a:r>
              <a:rPr lang="ru-RU" b="1" dirty="0"/>
              <a:t>главен </a:t>
            </a:r>
            <a:r>
              <a:rPr lang="ru-RU" b="1" dirty="0" smtClean="0"/>
              <a:t>ключ.</a:t>
            </a:r>
          </a:p>
          <a:p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Подключовете за един цикъл се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извличат от главния ключ съгласно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схема (график)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за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генериране на ключове.</a:t>
            </a:r>
          </a:p>
          <a:p>
            <a:r>
              <a:rPr lang="ru-RU" b="1" dirty="0" smtClean="0"/>
              <a:t>Ключовият график </a:t>
            </a:r>
            <a:r>
              <a:rPr lang="ru-RU" dirty="0" smtClean="0"/>
              <a:t>често </a:t>
            </a:r>
            <a:r>
              <a:rPr lang="ru-RU" dirty="0"/>
              <a:t>е </a:t>
            </a:r>
            <a:r>
              <a:rPr lang="ru-RU" dirty="0" smtClean="0"/>
              <a:t>прост </a:t>
            </a:r>
            <a:r>
              <a:rPr lang="ru-RU" dirty="0"/>
              <a:t>и може да работи, като просто </a:t>
            </a:r>
            <a:r>
              <a:rPr lang="ru-RU" dirty="0" smtClean="0"/>
              <a:t>взем</a:t>
            </a:r>
            <a:r>
              <a:rPr lang="bg-BG" dirty="0" smtClean="0"/>
              <a:t>а</a:t>
            </a:r>
            <a:r>
              <a:rPr lang="ru-RU" dirty="0" smtClean="0"/>
              <a:t> </a:t>
            </a:r>
            <a:r>
              <a:rPr lang="ru-RU" dirty="0"/>
              <a:t>различни подмножества от битовете </a:t>
            </a:r>
            <a:r>
              <a:rPr lang="ru-RU" dirty="0" smtClean="0"/>
              <a:t>на главниия </a:t>
            </a:r>
            <a:r>
              <a:rPr lang="ru-RU" dirty="0"/>
              <a:t>ключ, въпреки че могат да се дефинират и по-сложни </a:t>
            </a:r>
            <a:r>
              <a:rPr lang="ru-RU" dirty="0" smtClean="0"/>
              <a:t>графици. </a:t>
            </a:r>
          </a:p>
          <a:p>
            <a:r>
              <a:rPr lang="ru-RU" dirty="0" smtClean="0"/>
              <a:t>Субституционно-пермутационна мрежа с</a:t>
            </a:r>
            <a:r>
              <a:rPr lang="en-US" dirty="0" smtClean="0"/>
              <a:t> r</a:t>
            </a:r>
            <a:r>
              <a:rPr lang="ru-RU" dirty="0" smtClean="0"/>
              <a:t>-</a:t>
            </a:r>
            <a:r>
              <a:rPr lang="bg-BG" dirty="0" smtClean="0"/>
              <a:t>цикли </a:t>
            </a:r>
            <a:r>
              <a:rPr lang="ru-RU" dirty="0" smtClean="0"/>
              <a:t>има </a:t>
            </a:r>
            <a:r>
              <a:rPr lang="ru-RU" dirty="0"/>
              <a:t>r (пълни) </a:t>
            </a:r>
            <a:r>
              <a:rPr lang="ru-RU" dirty="0" smtClean="0"/>
              <a:t>цикъла </a:t>
            </a:r>
            <a:r>
              <a:rPr lang="ru-RU" dirty="0"/>
              <a:t>на смесване на ключове, заместване на </a:t>
            </a:r>
            <a:r>
              <a:rPr lang="ru-RU" dirty="0" smtClean="0"/>
              <a:t>S-кутии </a:t>
            </a:r>
            <a:r>
              <a:rPr lang="ru-RU" dirty="0"/>
              <a:t>и прилагане </a:t>
            </a:r>
            <a:r>
              <a:rPr lang="ru-RU" dirty="0" smtClean="0"/>
              <a:t>на пермутация </a:t>
            </a:r>
            <a:r>
              <a:rPr lang="ru-RU" dirty="0"/>
              <a:t>на смесване, последвана от последна стъпка на смесване на </a:t>
            </a:r>
            <a:r>
              <a:rPr lang="ru-RU" dirty="0" smtClean="0"/>
              <a:t>ключове </a:t>
            </a:r>
            <a:r>
              <a:rPr lang="ru-RU" dirty="0"/>
              <a:t>(Това означава, </a:t>
            </a:r>
            <a:r>
              <a:rPr lang="ru-RU" dirty="0" smtClean="0"/>
              <a:t>че при r-цикъла се </a:t>
            </a:r>
            <a:r>
              <a:rPr lang="ru-RU" dirty="0"/>
              <a:t>използват r + 1 </a:t>
            </a:r>
            <a:r>
              <a:rPr lang="ru-RU" dirty="0" smtClean="0"/>
              <a:t>подключ</a:t>
            </a:r>
            <a:r>
              <a:rPr lang="en-US" dirty="0" smtClean="0"/>
              <a:t>a</a:t>
            </a:r>
            <a:r>
              <a:rPr lang="ru-RU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9571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8888" y="764373"/>
            <a:ext cx="6687312" cy="1293028"/>
          </a:xfrm>
        </p:spPr>
        <p:txBody>
          <a:bodyPr>
            <a:normAutofit fontScale="90000"/>
          </a:bodyPr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7032" y="2194560"/>
            <a:ext cx="3249168" cy="4024125"/>
          </a:xfrm>
        </p:spPr>
        <p:txBody>
          <a:bodyPr/>
          <a:lstStyle/>
          <a:p>
            <a:r>
              <a:rPr lang="bg-BG" dirty="0" smtClean="0"/>
              <a:t>Пример на </a:t>
            </a:r>
            <a:r>
              <a:rPr lang="bg-BG" dirty="0" err="1" smtClean="0"/>
              <a:t>субституционно-пермутационна</a:t>
            </a:r>
            <a:r>
              <a:rPr lang="bg-BG" dirty="0" smtClean="0"/>
              <a:t> мрежа с 3 цикъла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347472"/>
            <a:ext cx="4645019" cy="627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553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Субституционно-пермутационни</a:t>
            </a:r>
            <a:r>
              <a:rPr lang="bg-BG" dirty="0"/>
              <a:t> мрежи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b="1" dirty="0" smtClean="0"/>
              <a:t>Лавинен ефект</a:t>
            </a:r>
          </a:p>
          <a:p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Важно свойство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на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блоковите алгоритми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е малка промяна във входа трябва да окаже влияние върху всеки бит в изхода – това се нарича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лавинен ефект. </a:t>
            </a:r>
          </a:p>
          <a:p>
            <a:r>
              <a:rPr lang="bg-BG" dirty="0" smtClean="0"/>
              <a:t>Един начин за предизвикване на лавинен ефект в </a:t>
            </a:r>
            <a:r>
              <a:rPr lang="bg-BG" dirty="0" err="1" smtClean="0"/>
              <a:t>субстиционно-пермутационна</a:t>
            </a:r>
            <a:r>
              <a:rPr lang="bg-BG" dirty="0" smtClean="0"/>
              <a:t> мрежа е да се осигури изпълнението на следните две свойства (и използване на достатъчен брой цикли):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1</a:t>
            </a:r>
            <a:r>
              <a:rPr lang="en-US" dirty="0"/>
              <a:t>. </a:t>
            </a:r>
            <a:r>
              <a:rPr lang="en-US" b="1" dirty="0" smtClean="0"/>
              <a:t>S-</a:t>
            </a:r>
            <a:r>
              <a:rPr lang="bg-BG" b="1" dirty="0" err="1" smtClean="0"/>
              <a:t>кутийте</a:t>
            </a:r>
            <a:r>
              <a:rPr lang="bg-BG" b="1" dirty="0" smtClean="0"/>
              <a:t> </a:t>
            </a:r>
            <a:r>
              <a:rPr lang="bg-BG" dirty="0" smtClean="0"/>
              <a:t>са проектирани така, че </a:t>
            </a:r>
            <a:r>
              <a:rPr lang="bg-BG" b="1" dirty="0" smtClean="0"/>
              <a:t>променяйки един бит във входа </a:t>
            </a:r>
            <a:r>
              <a:rPr lang="bg-BG" dirty="0" smtClean="0"/>
              <a:t>на една </a:t>
            </a:r>
            <a:r>
              <a:rPr lang="en-US" dirty="0" smtClean="0"/>
              <a:t>S-</a:t>
            </a:r>
            <a:r>
              <a:rPr lang="bg-BG" dirty="0" smtClean="0"/>
              <a:t>кутия да води до </a:t>
            </a:r>
            <a:r>
              <a:rPr lang="bg-BG" b="1" dirty="0" smtClean="0"/>
              <a:t>промяна най-малко на два бита в изхода </a:t>
            </a:r>
            <a:r>
              <a:rPr lang="bg-BG" dirty="0" smtClean="0"/>
              <a:t>на тази </a:t>
            </a:r>
            <a:r>
              <a:rPr lang="en-US" dirty="0" smtClean="0"/>
              <a:t> S-</a:t>
            </a:r>
            <a:r>
              <a:rPr lang="bg-BG" dirty="0" smtClean="0"/>
              <a:t>кутия.</a:t>
            </a:r>
            <a:r>
              <a:rPr lang="en-US" dirty="0" smtClean="0"/>
              <a:t> </a:t>
            </a:r>
            <a:endParaRPr lang="bg-BG" dirty="0" smtClean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bg-BG" b="1" dirty="0" smtClean="0"/>
              <a:t>Смесването на пермутации </a:t>
            </a:r>
            <a:r>
              <a:rPr lang="bg-BG" dirty="0" smtClean="0"/>
              <a:t>е проектирано така, че </a:t>
            </a:r>
            <a:r>
              <a:rPr lang="bg-BG" b="1" dirty="0" smtClean="0"/>
              <a:t>изходните битове от всяка </a:t>
            </a:r>
            <a:r>
              <a:rPr lang="en-US" b="1" dirty="0" smtClean="0"/>
              <a:t>S-</a:t>
            </a:r>
            <a:r>
              <a:rPr lang="bg-BG" b="1" dirty="0" smtClean="0"/>
              <a:t>кутия да се използват като вход за множество </a:t>
            </a:r>
            <a:r>
              <a:rPr lang="en-US" b="1" dirty="0" smtClean="0"/>
              <a:t>S-</a:t>
            </a:r>
            <a:r>
              <a:rPr lang="bg-BG" b="1" dirty="0" smtClean="0"/>
              <a:t>кутии</a:t>
            </a:r>
            <a:r>
              <a:rPr lang="en-US" b="1" dirty="0" smtClean="0"/>
              <a:t> </a:t>
            </a:r>
            <a:r>
              <a:rPr lang="bg-BG" b="1" dirty="0" smtClean="0"/>
              <a:t>в следващия цикъл</a:t>
            </a:r>
            <a:r>
              <a:rPr lang="bg-BG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980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Мрежи на </a:t>
            </a:r>
            <a:r>
              <a:rPr lang="bg-BG" dirty="0" err="1"/>
              <a:t>Фейстел</a:t>
            </a:r>
            <a:r>
              <a:rPr lang="bg-BG" dirty="0"/>
              <a:t> (</a:t>
            </a:r>
            <a:r>
              <a:rPr lang="en-US" dirty="0" err="1"/>
              <a:t>Feistel</a:t>
            </a:r>
            <a:r>
              <a:rPr lang="bg-BG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bg-BG" dirty="0" smtClean="0"/>
                  <a:t>В </a:t>
                </a:r>
                <a:r>
                  <a:rPr lang="bg-BG" b="1" dirty="0" smtClean="0"/>
                  <a:t>балансирана мрежа на </a:t>
                </a:r>
                <a:r>
                  <a:rPr lang="en-US" b="1" dirty="0" err="1" smtClean="0"/>
                  <a:t>Feistel</a:t>
                </a:r>
                <a:r>
                  <a:rPr lang="en-US" dirty="0" smtClean="0"/>
                  <a:t>, </a:t>
                </a:r>
                <a:r>
                  <a:rPr lang="bg-BG" dirty="0" smtClean="0"/>
                  <a:t>функцията в </a:t>
                </a:r>
                <a:r>
                  <a:rPr lang="en-US" dirty="0" err="1" smtClean="0"/>
                  <a:t>i</a:t>
                </a:r>
                <a:r>
                  <a:rPr lang="bg-BG" dirty="0" smtClean="0"/>
                  <a:t>-тия</a:t>
                </a:r>
                <a:r>
                  <a:rPr lang="en-US" dirty="0" smtClean="0"/>
                  <a:t> </a:t>
                </a:r>
                <a:r>
                  <a:rPr lang="bg-BG" dirty="0" smtClean="0"/>
                  <a:t>цикъл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bg-B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bg-BG" dirty="0" smtClean="0"/>
                  <a:t> има като </a:t>
                </a:r>
                <a:r>
                  <a:rPr lang="bg-BG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вход </a:t>
                </a:r>
                <a:r>
                  <a:rPr lang="bg-BG" b="1" dirty="0" err="1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подключ</a:t>
                </a:r>
                <a:r>
                  <a:rPr lang="bg-BG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 err="1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k</a:t>
                </a:r>
                <a:r>
                  <a:rPr lang="en-US" b="1" baseline="-25000" dirty="0" err="1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b="1" baseline="-250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bg-BG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и</a:t>
                </a:r>
                <a:r>
                  <a:rPr lang="en-US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l/2-</a:t>
                </a:r>
                <a:r>
                  <a:rPr lang="bg-BG" b="1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бита низ </a:t>
                </a:r>
                <a:r>
                  <a:rPr lang="bg-BG" dirty="0" smtClean="0"/>
                  <a:t>и </a:t>
                </a:r>
                <a:r>
                  <a:rPr lang="bg-BG" b="1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изход </a:t>
                </a:r>
                <a:r>
                  <a:rPr lang="en-US" b="1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l/2-</a:t>
                </a:r>
                <a:r>
                  <a:rPr lang="bg-BG" b="1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бита низ</a:t>
                </a:r>
                <a:r>
                  <a:rPr lang="bg-BG" dirty="0" smtClean="0"/>
                  <a:t>.</a:t>
                </a:r>
                <a:endParaRPr lang="bg-BG" dirty="0"/>
              </a:p>
              <a:p>
                <a:r>
                  <a:rPr lang="bg-BG" b="1" dirty="0" smtClean="0"/>
                  <a:t>Главният ключ </a:t>
                </a:r>
                <a:r>
                  <a:rPr lang="en-US" b="1" dirty="0" smtClean="0"/>
                  <a:t>k </a:t>
                </a:r>
                <a:r>
                  <a:rPr lang="bg-BG" dirty="0" smtClean="0"/>
                  <a:t>се използва, за да се генерират </a:t>
                </a:r>
                <a:r>
                  <a:rPr lang="bg-BG" dirty="0" err="1" smtClean="0"/>
                  <a:t>подключовете</a:t>
                </a:r>
                <a:r>
                  <a:rPr lang="bg-BG" dirty="0" smtClean="0"/>
                  <a:t> за всеки цикъл (както при </a:t>
                </a:r>
                <a:r>
                  <a:rPr lang="bg-BG" dirty="0" err="1" smtClean="0"/>
                  <a:t>субституционно-пермутационните</a:t>
                </a:r>
                <a:r>
                  <a:rPr lang="bg-BG" dirty="0" smtClean="0"/>
                  <a:t> мрежи).</a:t>
                </a:r>
                <a:r>
                  <a:rPr lang="en-US" dirty="0" smtClean="0"/>
                  <a:t> </a:t>
                </a:r>
                <a:endParaRPr lang="bg-BG" dirty="0" smtClean="0"/>
              </a:p>
              <a:p>
                <a:r>
                  <a:rPr lang="bg-BG" dirty="0" smtClean="0"/>
                  <a:t>Функциите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bg-BG" dirty="0" smtClean="0"/>
                  <a:t>от всеки цикъл са фиксирани и публично известни, но </a:t>
                </a:r>
                <a:r>
                  <a:rPr lang="en-US" dirty="0" smtClean="0"/>
                  <a:t>f</a:t>
                </a:r>
                <a:r>
                  <a:rPr lang="en-US" baseline="-25000" dirty="0" smtClean="0"/>
                  <a:t>i</a:t>
                </a:r>
                <a:r>
                  <a:rPr lang="en-US" dirty="0" smtClean="0"/>
                  <a:t> </a:t>
                </a:r>
                <a:r>
                  <a:rPr lang="bg-BG" dirty="0" smtClean="0"/>
                  <a:t>зависи от </a:t>
                </a:r>
                <a:r>
                  <a:rPr lang="bg-BG" dirty="0" smtClean="0">
                    <a:solidFill>
                      <a:schemeClr val="accent1"/>
                    </a:solidFill>
                  </a:rPr>
                  <a:t>главния ключ, който не се знае от атакуващия</a:t>
                </a:r>
                <a:r>
                  <a:rPr lang="bg-BG" dirty="0" smtClean="0"/>
                  <a:t>.</a:t>
                </a:r>
              </a:p>
              <a:p>
                <a:r>
                  <a:rPr lang="bg-BG" dirty="0" smtClean="0"/>
                  <a:t>В </a:t>
                </a:r>
                <a:r>
                  <a:rPr lang="en-US" dirty="0" err="1" smtClean="0"/>
                  <a:t>i</a:t>
                </a:r>
                <a:r>
                  <a:rPr lang="bg-BG" dirty="0" smtClean="0"/>
                  <a:t>-тия цикъл мрежата на </a:t>
                </a:r>
                <a:r>
                  <a:rPr lang="en-US" dirty="0" err="1" smtClean="0"/>
                  <a:t>Feistel</a:t>
                </a:r>
                <a:r>
                  <a:rPr lang="en-US" dirty="0" smtClean="0"/>
                  <a:t> </a:t>
                </a:r>
                <a:r>
                  <a:rPr lang="bg-BG" dirty="0" smtClean="0"/>
                  <a:t>работи по следния начин:</a:t>
                </a:r>
              </a:p>
              <a:p>
                <a:pPr lvl="1"/>
                <a:r>
                  <a:rPr lang="bg-BG" dirty="0" smtClean="0"/>
                  <a:t>Входът за този цикъл се разделя на две части </a:t>
                </a:r>
                <a:r>
                  <a:rPr lang="en-US" dirty="0" smtClean="0"/>
                  <a:t>L</a:t>
                </a:r>
                <a:r>
                  <a:rPr lang="en-US" baseline="-25000" dirty="0" smtClean="0"/>
                  <a:t>i</a:t>
                </a:r>
                <a:r>
                  <a:rPr lang="en-US" baseline="-25000" dirty="0"/>
                  <a:t>−1 </a:t>
                </a:r>
                <a:r>
                  <a:rPr lang="bg-BG" dirty="0" smtClean="0"/>
                  <a:t>и</a:t>
                </a:r>
                <a:r>
                  <a:rPr lang="en-US" dirty="0" smtClean="0"/>
                  <a:t> </a:t>
                </a:r>
                <a:r>
                  <a:rPr lang="en-US" dirty="0"/>
                  <a:t>R</a:t>
                </a:r>
                <a:r>
                  <a:rPr lang="en-US" baseline="-25000" dirty="0"/>
                  <a:t>i−1 </a:t>
                </a:r>
                <a:r>
                  <a:rPr lang="en-US" dirty="0" smtClean="0"/>
                  <a:t>(</a:t>
                </a:r>
                <a:r>
                  <a:rPr lang="bg-BG" dirty="0" smtClean="0"/>
                  <a:t>лява и дясна част</a:t>
                </a:r>
                <a:r>
                  <a:rPr lang="en-US" dirty="0" smtClean="0"/>
                  <a:t>). </a:t>
                </a:r>
                <a:endParaRPr lang="bg-BG" dirty="0" smtClean="0"/>
              </a:p>
              <a:p>
                <a:pPr lvl="1"/>
                <a:r>
                  <a:rPr lang="bg-BG" dirty="0" smtClean="0"/>
                  <a:t>Ако дължината на блока е </a:t>
                </a:r>
                <a:r>
                  <a:rPr lang="en-US" dirty="0" smtClean="0"/>
                  <a:t>l </a:t>
                </a:r>
                <a:r>
                  <a:rPr lang="bg-BG" dirty="0" smtClean="0"/>
                  <a:t>бита</a:t>
                </a:r>
                <a:r>
                  <a:rPr lang="en-US" dirty="0" smtClean="0"/>
                  <a:t>, </a:t>
                </a:r>
                <a:r>
                  <a:rPr lang="bg-BG" dirty="0" smtClean="0"/>
                  <a:t>тогава</a:t>
                </a:r>
                <a:r>
                  <a:rPr lang="en-US" dirty="0" smtClean="0"/>
                  <a:t> </a:t>
                </a:r>
                <a:r>
                  <a:rPr lang="en-US" dirty="0"/>
                  <a:t>L</a:t>
                </a:r>
                <a:r>
                  <a:rPr lang="en-US" baseline="-25000" dirty="0"/>
                  <a:t>i−1 </a:t>
                </a:r>
                <a:r>
                  <a:rPr lang="bg-BG" dirty="0"/>
                  <a:t>и</a:t>
                </a:r>
                <a:r>
                  <a:rPr lang="en-US" dirty="0"/>
                  <a:t> R</a:t>
                </a:r>
                <a:r>
                  <a:rPr lang="en-US" baseline="-25000" dirty="0"/>
                  <a:t>i−1 </a:t>
                </a:r>
                <a:r>
                  <a:rPr lang="bg-BG" dirty="0" smtClean="0"/>
                  <a:t>ще имат дължина </a:t>
                </a:r>
                <a:r>
                  <a:rPr lang="en-US" dirty="0"/>
                  <a:t>l</a:t>
                </a:r>
                <a:r>
                  <a:rPr lang="en-US" dirty="0" smtClean="0"/>
                  <a:t>/2</a:t>
                </a:r>
                <a:r>
                  <a:rPr lang="en-US" dirty="0"/>
                  <a:t>. </a:t>
                </a:r>
                <a:endParaRPr lang="bg-BG" dirty="0" smtClean="0"/>
              </a:p>
              <a:p>
                <a:pPr lvl="1"/>
                <a:r>
                  <a:rPr lang="bg-BG" dirty="0" smtClean="0"/>
                  <a:t>Изходът </a:t>
                </a:r>
                <a:r>
                  <a:rPr lang="en-US" dirty="0" smtClean="0"/>
                  <a:t>(</a:t>
                </a:r>
                <a:r>
                  <a:rPr lang="en-US" dirty="0"/>
                  <a:t>L</a:t>
                </a:r>
                <a:r>
                  <a:rPr lang="en-US" baseline="-25000" dirty="0"/>
                  <a:t>i </a:t>
                </a:r>
                <a:r>
                  <a:rPr lang="en-US" dirty="0"/>
                  <a:t>,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i</a:t>
                </a:r>
                <a:r>
                  <a:rPr lang="en-US" dirty="0"/>
                  <a:t>) </a:t>
                </a:r>
                <a:r>
                  <a:rPr lang="bg-BG" dirty="0" smtClean="0"/>
                  <a:t>от този цикъл е </a:t>
                </a:r>
                <a:r>
                  <a:rPr lang="en-US" b="1" dirty="0" smtClean="0"/>
                  <a:t>L</a:t>
                </a:r>
                <a:r>
                  <a:rPr lang="en-US" b="1" baseline="-25000" dirty="0" smtClean="0"/>
                  <a:t>i</a:t>
                </a:r>
                <a:r>
                  <a:rPr lang="en-US" b="1" dirty="0" smtClean="0"/>
                  <a:t> </a:t>
                </a:r>
                <a:r>
                  <a:rPr lang="en-US" b="1" dirty="0"/>
                  <a:t>:= R</a:t>
                </a:r>
                <a:r>
                  <a:rPr lang="en-US" b="1" baseline="-25000" dirty="0"/>
                  <a:t>i−1</a:t>
                </a:r>
                <a:r>
                  <a:rPr lang="en-US" b="1" dirty="0" smtClean="0"/>
                  <a:t> </a:t>
                </a:r>
                <a:r>
                  <a:rPr lang="bg-BG" dirty="0" smtClean="0"/>
                  <a:t>и</a:t>
                </a:r>
                <a:r>
                  <a:rPr lang="en-US" dirty="0" smtClean="0"/>
                  <a:t> </a:t>
                </a:r>
                <a:r>
                  <a:rPr lang="en-US" b="1" dirty="0" err="1"/>
                  <a:t>R</a:t>
                </a:r>
                <a:r>
                  <a:rPr lang="en-US" b="1" baseline="-25000" dirty="0" err="1"/>
                  <a:t>i</a:t>
                </a:r>
                <a:r>
                  <a:rPr lang="en-US" b="1" dirty="0"/>
                  <a:t> := L</a:t>
                </a:r>
                <a:r>
                  <a:rPr lang="en-US" b="1" baseline="-25000" dirty="0"/>
                  <a:t>i−1</a:t>
                </a:r>
                <a:r>
                  <a:rPr lang="en-US" b="1" dirty="0" smtClean="0"/>
                  <a:t> </a:t>
                </a:r>
                <a:r>
                  <a:rPr lang="en-US" b="1" dirty="0"/>
                  <a:t>⊕ </a:t>
                </a:r>
                <a:r>
                  <a:rPr lang="en-US" b="1" dirty="0" smtClean="0"/>
                  <a:t>f</a:t>
                </a:r>
                <a:r>
                  <a:rPr lang="en-US" b="1" baseline="-25000" dirty="0" smtClean="0"/>
                  <a:t>i</a:t>
                </a:r>
                <a:r>
                  <a:rPr lang="en-US" b="1" dirty="0" smtClean="0"/>
                  <a:t>(</a:t>
                </a:r>
                <a:r>
                  <a:rPr lang="en-US" b="1" dirty="0"/>
                  <a:t>R</a:t>
                </a:r>
                <a:r>
                  <a:rPr lang="en-US" b="1" baseline="-25000" dirty="0"/>
                  <a:t>i−1</a:t>
                </a:r>
                <a:r>
                  <a:rPr lang="en-US" b="1" dirty="0" smtClean="0"/>
                  <a:t>). </a:t>
                </a:r>
                <a:endParaRPr lang="bg-BG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6" t="-1515" r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691592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496" y="764373"/>
            <a:ext cx="5251704" cy="1293028"/>
          </a:xfrm>
        </p:spPr>
        <p:txBody>
          <a:bodyPr/>
          <a:lstStyle/>
          <a:p>
            <a:r>
              <a:rPr lang="bg-BG" dirty="0"/>
              <a:t>Мрежи на </a:t>
            </a:r>
            <a:r>
              <a:rPr lang="bg-BG" dirty="0" err="1"/>
              <a:t>Фейстел</a:t>
            </a:r>
            <a:r>
              <a:rPr lang="bg-BG" dirty="0"/>
              <a:t> (</a:t>
            </a:r>
            <a:r>
              <a:rPr lang="en-US" dirty="0" err="1"/>
              <a:t>Feistel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2824" y="2880361"/>
            <a:ext cx="4913376" cy="987552"/>
          </a:xfrm>
        </p:spPr>
        <p:txBody>
          <a:bodyPr/>
          <a:lstStyle/>
          <a:p>
            <a:r>
              <a:rPr lang="bg-BG" dirty="0" smtClean="0"/>
              <a:t>Мрежа на </a:t>
            </a:r>
            <a:r>
              <a:rPr lang="bg-BG" dirty="0" err="1" smtClean="0"/>
              <a:t>Фейстел</a:t>
            </a:r>
            <a:r>
              <a:rPr lang="bg-BG" dirty="0" smtClean="0"/>
              <a:t> с три цикъла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" y="653796"/>
            <a:ext cx="61341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27833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874520"/>
            <a:ext cx="96926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b="1" dirty="0" smtClean="0"/>
              <a:t>Стъпки в мрежата на </a:t>
            </a:r>
            <a:r>
              <a:rPr lang="bg-BG" sz="2000" b="1" dirty="0" err="1" smtClean="0"/>
              <a:t>Фейстел</a:t>
            </a:r>
            <a:r>
              <a:rPr lang="bg-BG" sz="2000" b="1" dirty="0" smtClean="0"/>
              <a:t>:</a:t>
            </a:r>
          </a:p>
          <a:p>
            <a:pPr marL="342900" indent="-342900">
              <a:buAutoNum type="arabicPeriod"/>
            </a:pPr>
            <a:r>
              <a:rPr lang="bg-BG" sz="2000" dirty="0" smtClean="0"/>
              <a:t>Разделят се 64-те бита на блок от явното съобщение на два 32 битови </a:t>
            </a:r>
            <a:r>
              <a:rPr lang="bg-BG" sz="2000" dirty="0" err="1" smtClean="0"/>
              <a:t>подблока</a:t>
            </a:r>
            <a:r>
              <a:rPr lang="bg-BG" sz="2000" dirty="0" smtClean="0"/>
              <a:t>: </a:t>
            </a:r>
            <a:r>
              <a:rPr lang="en-US" sz="2000" dirty="0" smtClean="0"/>
              <a:t>L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 </a:t>
            </a:r>
            <a:r>
              <a:rPr lang="bg-BG" sz="2000" dirty="0" smtClean="0"/>
              <a:t>– ляв </a:t>
            </a:r>
            <a:r>
              <a:rPr lang="bg-BG" sz="2000" dirty="0" err="1" smtClean="0"/>
              <a:t>подблок</a:t>
            </a:r>
            <a:r>
              <a:rPr lang="bg-BG" sz="2000" dirty="0" smtClean="0"/>
              <a:t> и </a:t>
            </a:r>
            <a:r>
              <a:rPr lang="en-US" sz="2000" dirty="0" smtClean="0"/>
              <a:t>R</a:t>
            </a:r>
            <a:r>
              <a:rPr lang="en-US" sz="2000" baseline="-25000" dirty="0" smtClean="0"/>
              <a:t>0</a:t>
            </a:r>
            <a:r>
              <a:rPr lang="bg-BG" sz="2000" dirty="0" smtClean="0"/>
              <a:t> – десен </a:t>
            </a:r>
            <a:r>
              <a:rPr lang="bg-BG" sz="2000" dirty="0" err="1" smtClean="0"/>
              <a:t>подблок</a:t>
            </a:r>
            <a:r>
              <a:rPr lang="bg-BG" sz="2000" dirty="0" smtClean="0"/>
              <a:t>.</a:t>
            </a:r>
          </a:p>
          <a:p>
            <a:pPr marL="342900" indent="-342900">
              <a:buAutoNum type="arabicPeriod"/>
            </a:pPr>
            <a:r>
              <a:rPr lang="bg-BG" sz="2000" dirty="0" smtClean="0"/>
              <a:t>Прилага се избрана математическа функция </a:t>
            </a:r>
            <a:r>
              <a:rPr lang="en-US" sz="2000" dirty="0" smtClean="0"/>
              <a:t>f</a:t>
            </a:r>
            <a:r>
              <a:rPr lang="en-US" sz="2000" baseline="-25000" dirty="0" smtClean="0"/>
              <a:t>i</a:t>
            </a:r>
            <a:r>
              <a:rPr lang="bg-BG" sz="2000" dirty="0" smtClean="0"/>
              <a:t>, която приема като вход ключа</a:t>
            </a:r>
            <a:r>
              <a:rPr lang="en-US" sz="2000" dirty="0" smtClean="0"/>
              <a:t> k </a:t>
            </a:r>
            <a:r>
              <a:rPr lang="bg-BG" sz="2000" dirty="0" smtClean="0"/>
              <a:t>и </a:t>
            </a:r>
            <a:r>
              <a:rPr lang="en-US" sz="2000" dirty="0" smtClean="0"/>
              <a:t>R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 </a:t>
            </a:r>
            <a:r>
              <a:rPr lang="bg-BG" sz="2000" dirty="0" smtClean="0"/>
              <a:t>и се изчислява </a:t>
            </a:r>
            <a:r>
              <a:rPr lang="bg-BG" sz="2000" dirty="0" smtClean="0"/>
              <a:t>изходът </a:t>
            </a:r>
            <a:r>
              <a:rPr lang="en-US" sz="2000" dirty="0" smtClean="0"/>
              <a:t>f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(R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,k).</a:t>
            </a:r>
          </a:p>
          <a:p>
            <a:pPr marL="342900" indent="-342900">
              <a:buAutoNum type="arabicPeriod"/>
            </a:pPr>
            <a:r>
              <a:rPr lang="bg-BG" sz="2000" dirty="0" smtClean="0"/>
              <a:t>Към </a:t>
            </a:r>
            <a:r>
              <a:rPr lang="en-US" sz="2000" dirty="0"/>
              <a:t>f</a:t>
            </a:r>
            <a:r>
              <a:rPr lang="en-US" sz="2000" baseline="-25000" dirty="0"/>
              <a:t>i</a:t>
            </a:r>
            <a:r>
              <a:rPr lang="en-US" sz="2000" dirty="0"/>
              <a:t>(R</a:t>
            </a:r>
            <a:r>
              <a:rPr lang="en-US" sz="2000" baseline="-25000" dirty="0"/>
              <a:t>0</a:t>
            </a:r>
            <a:r>
              <a:rPr lang="en-US" sz="2000" dirty="0"/>
              <a:t>,k) </a:t>
            </a:r>
            <a:r>
              <a:rPr lang="bg-BG" sz="2000" dirty="0" smtClean="0"/>
              <a:t>и</a:t>
            </a:r>
            <a:r>
              <a:rPr lang="en-US" sz="2000" dirty="0" smtClean="0"/>
              <a:t> </a:t>
            </a:r>
            <a:r>
              <a:rPr lang="en-US" sz="2000" dirty="0"/>
              <a:t>R</a:t>
            </a:r>
            <a:r>
              <a:rPr lang="en-US" sz="2000" baseline="-25000" dirty="0"/>
              <a:t>0</a:t>
            </a:r>
            <a:r>
              <a:rPr lang="bg-BG" sz="2000" dirty="0" smtClean="0"/>
              <a:t> </a:t>
            </a:r>
            <a:r>
              <a:rPr lang="bg-BG" sz="2000" dirty="0" smtClean="0"/>
              <a:t>се прилага </a:t>
            </a:r>
            <a:r>
              <a:rPr lang="en-US" sz="2000" dirty="0" smtClean="0"/>
              <a:t>XOR </a:t>
            </a:r>
            <a:r>
              <a:rPr lang="bg-BG" sz="2000" dirty="0" smtClean="0"/>
              <a:t>за получаване на 32-битов низ: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X </a:t>
            </a:r>
            <a:r>
              <a:rPr lang="en-US" sz="2000" dirty="0"/>
              <a:t>:= </a:t>
            </a:r>
            <a:r>
              <a:rPr lang="en-US" sz="2000" dirty="0" smtClean="0"/>
              <a:t>L</a:t>
            </a:r>
            <a:r>
              <a:rPr lang="en-US" sz="2000" baseline="-25000" dirty="0"/>
              <a:t>0</a:t>
            </a:r>
            <a:r>
              <a:rPr lang="en-US" sz="2000" dirty="0" smtClean="0"/>
              <a:t> </a:t>
            </a:r>
            <a:r>
              <a:rPr lang="en-US" sz="2000" dirty="0"/>
              <a:t>⊕ </a:t>
            </a:r>
            <a:r>
              <a:rPr lang="en-US" sz="2000" dirty="0"/>
              <a:t>f</a:t>
            </a:r>
            <a:r>
              <a:rPr lang="en-US" sz="2000" baseline="-25000" dirty="0"/>
              <a:t>i</a:t>
            </a:r>
            <a:r>
              <a:rPr lang="en-US" sz="2000" dirty="0"/>
              <a:t>(R</a:t>
            </a:r>
            <a:r>
              <a:rPr lang="en-US" sz="2000" baseline="-25000" dirty="0"/>
              <a:t>0</a:t>
            </a:r>
            <a:r>
              <a:rPr lang="en-US" sz="2000" dirty="0"/>
              <a:t>,k</a:t>
            </a:r>
            <a:r>
              <a:rPr lang="en-US" sz="2000" dirty="0" smtClean="0"/>
              <a:t>)</a:t>
            </a:r>
            <a:r>
              <a:rPr lang="bg-BG" sz="2000" dirty="0" smtClean="0"/>
              <a:t>.</a:t>
            </a:r>
            <a:endParaRPr lang="en-US" sz="2000" dirty="0" smtClean="0"/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 smtClean="0"/>
              <a:t>X </a:t>
            </a:r>
            <a:r>
              <a:rPr lang="bg-BG" sz="2000" dirty="0" smtClean="0"/>
              <a:t>представляват новите десни 32 бита </a:t>
            </a:r>
            <a:r>
              <a:rPr lang="en-US" sz="2000" dirty="0" smtClean="0"/>
              <a:t>R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.</a:t>
            </a:r>
          </a:p>
          <a:p>
            <a:pPr marL="342900" indent="-342900">
              <a:buAutoNum type="arabicPeriod" startAt="4"/>
            </a:pPr>
            <a:r>
              <a:rPr lang="bg-BG" sz="2000" dirty="0" smtClean="0"/>
              <a:t>Новите леви 32 бита </a:t>
            </a:r>
            <a:r>
              <a:rPr lang="en-US" sz="2000" dirty="0" smtClean="0"/>
              <a:t>L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bg-BG" sz="2000" dirty="0" smtClean="0"/>
              <a:t>са предишните десни 32 бита </a:t>
            </a:r>
            <a:r>
              <a:rPr lang="en-US" sz="2000" dirty="0" smtClean="0"/>
              <a:t>R</a:t>
            </a:r>
            <a:r>
              <a:rPr lang="en-US" sz="2000" baseline="-25000" dirty="0" smtClean="0"/>
              <a:t>0</a:t>
            </a:r>
            <a:r>
              <a:rPr lang="bg-BG" sz="2000" dirty="0" smtClean="0"/>
              <a:t>.</a:t>
            </a:r>
          </a:p>
          <a:p>
            <a:pPr marL="342900" indent="-342900">
              <a:buAutoNum type="arabicPeriod" startAt="4"/>
            </a:pPr>
            <a:r>
              <a:rPr lang="bg-BG" sz="2000" dirty="0" smtClean="0"/>
              <a:t>Стъпките 2-5 се повтарят и образуват цикъл на блоковия алгоритъм.</a:t>
            </a:r>
          </a:p>
          <a:p>
            <a:pPr marL="342900" indent="-342900">
              <a:buAutoNum type="arabicPeriod" startAt="4"/>
            </a:pPr>
            <a:r>
              <a:rPr lang="bg-BG" sz="2000" dirty="0" smtClean="0"/>
              <a:t>Стъпка 6 се повтаря за толкова цикъла, колкото се изисква от дизайна на алгоритъма. След последния цикъл, последните леви 32 бита се свързват с последните десни 32 бита, за да се образува 64 битов криптиран блок.</a:t>
            </a:r>
            <a:r>
              <a:rPr lang="en-US" sz="2000" dirty="0" smtClean="0"/>
              <a:t> </a:t>
            </a:r>
            <a:r>
              <a:rPr lang="bg-BG" sz="2000" dirty="0" smtClean="0"/>
              <a:t> </a:t>
            </a:r>
            <a:endParaRPr lang="en-US" sz="2000" dirty="0" smtClean="0"/>
          </a:p>
          <a:p>
            <a:pPr marL="342900" indent="-342900">
              <a:buAutoNum type="arabicPeriod" startAt="4"/>
            </a:pPr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191256" y="764373"/>
            <a:ext cx="8314944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mtClean="0"/>
              <a:t>Мрежи на Фейстел (</a:t>
            </a:r>
            <a:r>
              <a:rPr lang="en-US" smtClean="0"/>
              <a:t>Feistel</a:t>
            </a:r>
            <a:r>
              <a:rPr lang="bg-BG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Мрежи на </a:t>
            </a:r>
            <a:r>
              <a:rPr lang="bg-BG" dirty="0" err="1"/>
              <a:t>Фейстел</a:t>
            </a:r>
            <a:r>
              <a:rPr lang="bg-BG" dirty="0"/>
              <a:t> (</a:t>
            </a:r>
            <a:r>
              <a:rPr lang="en-US" dirty="0" err="1"/>
              <a:t>Feistel</a:t>
            </a:r>
            <a:r>
              <a:rPr lang="bg-BG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2194560"/>
                <a:ext cx="10820400" cy="4262801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 smtClean="0"/>
                  <a:t>Мрежата </a:t>
                </a:r>
                <a:r>
                  <a:rPr lang="ru-RU" b="1" dirty="0"/>
                  <a:t>на Feistel е обратима </a:t>
                </a:r>
                <a:r>
                  <a:rPr lang="ru-RU" b="1" dirty="0" smtClean="0"/>
                  <a:t>(важно за декриптирането) </a:t>
                </a:r>
                <a:r>
                  <a:rPr lang="ru-RU" dirty="0" smtClean="0"/>
                  <a:t>независимо от функцията f</a:t>
                </a:r>
                <a:r>
                  <a:rPr lang="ru-RU" baseline="-25000" dirty="0" smtClean="0"/>
                  <a:t>i</a:t>
                </a:r>
                <a:r>
                  <a:rPr lang="ru-RU" dirty="0" smtClean="0"/>
                  <a:t> </a:t>
                </a:r>
                <a:r>
                  <a:rPr lang="ru-RU" dirty="0"/>
                  <a:t>(и по този начин независимо от </a:t>
                </a:r>
                <a:r>
                  <a:rPr lang="ru-RU" dirty="0" smtClean="0"/>
                  <a:t>функциите във всеки цикъл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 smtClean="0"/>
                  <a:t>). </a:t>
                </a:r>
              </a:p>
              <a:p>
                <a:r>
                  <a:rPr lang="ru-RU" dirty="0" smtClean="0"/>
                  <a:t>За </a:t>
                </a:r>
                <a:r>
                  <a:rPr lang="ru-RU" dirty="0"/>
                  <a:t>да </a:t>
                </a:r>
                <a:r>
                  <a:rPr lang="ru-RU" dirty="0" smtClean="0"/>
                  <a:t>се покаже това, трябва </a:t>
                </a:r>
                <a:r>
                  <a:rPr lang="ru-RU" dirty="0"/>
                  <a:t>само да </a:t>
                </a:r>
                <a:r>
                  <a:rPr lang="ru-RU" dirty="0" smtClean="0"/>
                  <a:t>се докаже, </a:t>
                </a:r>
                <a:r>
                  <a:rPr lang="ru-RU" dirty="0"/>
                  <a:t>че всеки </a:t>
                </a:r>
                <a:r>
                  <a:rPr lang="ru-RU" dirty="0" smtClean="0"/>
                  <a:t>цикъл </a:t>
                </a:r>
                <a:r>
                  <a:rPr lang="ru-RU" dirty="0"/>
                  <a:t>от мрежата може да бъде обърнат, ако </a:t>
                </a:r>
                <a:r>
                  <a:rPr lang="ru-RU" dirty="0" smtClean="0"/>
                  <a:t>f</a:t>
                </a:r>
                <a:r>
                  <a:rPr lang="ru-RU" baseline="-25000" dirty="0" smtClean="0"/>
                  <a:t>i </a:t>
                </a:r>
                <a:r>
                  <a:rPr lang="ru-RU" dirty="0" smtClean="0"/>
                  <a:t>са известни. </a:t>
                </a:r>
              </a:p>
              <a:p>
                <a:r>
                  <a:rPr lang="ru-RU" dirty="0" smtClean="0"/>
                  <a:t>Като </a:t>
                </a:r>
                <a:r>
                  <a:rPr lang="ru-RU" dirty="0"/>
                  <a:t>се има предвид резултатът (</a:t>
                </a:r>
                <a:r>
                  <a:rPr lang="ru-RU" dirty="0" smtClean="0"/>
                  <a:t>L</a:t>
                </a:r>
                <a:r>
                  <a:rPr lang="ru-RU" baseline="-25000" dirty="0" smtClean="0"/>
                  <a:t>i</a:t>
                </a:r>
                <a:r>
                  <a:rPr lang="ru-RU" dirty="0" smtClean="0"/>
                  <a:t>, </a:t>
                </a:r>
                <a:r>
                  <a:rPr lang="ru-RU" dirty="0"/>
                  <a:t>R</a:t>
                </a:r>
                <a:r>
                  <a:rPr lang="ru-RU" baseline="-25000" dirty="0"/>
                  <a:t>i</a:t>
                </a:r>
                <a:r>
                  <a:rPr lang="ru-RU" dirty="0"/>
                  <a:t>) от i-тия </a:t>
                </a:r>
                <a:r>
                  <a:rPr lang="bg-BG" dirty="0" smtClean="0"/>
                  <a:t>цикъл</a:t>
                </a:r>
                <a:r>
                  <a:rPr lang="ru-RU" dirty="0" smtClean="0"/>
                  <a:t>, </a:t>
                </a:r>
                <a:r>
                  <a:rPr lang="ru-RU" dirty="0"/>
                  <a:t>можем да </a:t>
                </a:r>
                <a:r>
                  <a:rPr lang="ru-RU" dirty="0" smtClean="0"/>
                  <a:t>изчислим (</a:t>
                </a:r>
                <a:r>
                  <a:rPr lang="ru-RU" dirty="0"/>
                  <a:t>L</a:t>
                </a:r>
                <a:r>
                  <a:rPr lang="ru-RU" baseline="-25000" dirty="0"/>
                  <a:t>i−1</a:t>
                </a:r>
                <a:r>
                  <a:rPr lang="ru-RU" dirty="0"/>
                  <a:t>, R</a:t>
                </a:r>
                <a:r>
                  <a:rPr lang="ru-RU" baseline="-25000" dirty="0"/>
                  <a:t>i−1</a:t>
                </a:r>
                <a:r>
                  <a:rPr lang="ru-RU" dirty="0"/>
                  <a:t>) както следва: </a:t>
                </a:r>
                <a:r>
                  <a:rPr lang="ru-RU" dirty="0" smtClean="0"/>
                  <a:t>първо се задава </a:t>
                </a:r>
                <a:r>
                  <a:rPr lang="ru-RU" b="1" dirty="0"/>
                  <a:t>R</a:t>
                </a:r>
                <a:r>
                  <a:rPr lang="ru-RU" b="1" baseline="-25000" dirty="0"/>
                  <a:t>i−1 </a:t>
                </a:r>
                <a:r>
                  <a:rPr lang="ru-RU" b="1" dirty="0"/>
                  <a:t>:= </a:t>
                </a:r>
                <a:r>
                  <a:rPr lang="ru-RU" b="1" dirty="0" smtClean="0"/>
                  <a:t>L</a:t>
                </a:r>
                <a:r>
                  <a:rPr lang="ru-RU" b="1" baseline="-25000" dirty="0" smtClean="0"/>
                  <a:t>i </a:t>
                </a:r>
                <a:r>
                  <a:rPr lang="ru-RU" dirty="0" smtClean="0"/>
                  <a:t>и след това се изчислява </a:t>
                </a:r>
                <a:r>
                  <a:rPr lang="ru-RU" b="1" dirty="0" smtClean="0"/>
                  <a:t>L</a:t>
                </a:r>
                <a:r>
                  <a:rPr lang="ru-RU" b="1" baseline="-25000" dirty="0" smtClean="0"/>
                  <a:t>i</a:t>
                </a:r>
                <a:r>
                  <a:rPr lang="ru-RU" b="1" baseline="-25000" dirty="0"/>
                  <a:t>−1 </a:t>
                </a:r>
                <a:r>
                  <a:rPr lang="ru-RU" b="1" dirty="0"/>
                  <a:t>:= R</a:t>
                </a:r>
                <a:r>
                  <a:rPr lang="ru-RU" b="1" baseline="-25000" dirty="0"/>
                  <a:t>i</a:t>
                </a:r>
                <a:r>
                  <a:rPr lang="ru-RU" b="1" dirty="0"/>
                  <a:t> ⊕ f</a:t>
                </a:r>
                <a:r>
                  <a:rPr lang="ru-RU" b="1" baseline="-25000" dirty="0"/>
                  <a:t>i</a:t>
                </a:r>
                <a:r>
                  <a:rPr lang="ru-RU" b="1" dirty="0"/>
                  <a:t>(R</a:t>
                </a:r>
                <a:r>
                  <a:rPr lang="ru-RU" b="1" baseline="-25000" dirty="0"/>
                  <a:t>i−1</a:t>
                </a:r>
                <a:r>
                  <a:rPr lang="ru-RU" b="1" dirty="0"/>
                  <a:t>).</a:t>
                </a:r>
              </a:p>
              <a:p>
                <a:r>
                  <a:rPr lang="ru-RU" dirty="0" smtClean="0"/>
                  <a:t>Така се получава стойността </a:t>
                </a:r>
                <a:r>
                  <a:rPr lang="ru-RU" dirty="0"/>
                  <a:t>(L</a:t>
                </a:r>
                <a:r>
                  <a:rPr lang="ru-RU" baseline="-25000" dirty="0"/>
                  <a:t>i−1</a:t>
                </a:r>
                <a:r>
                  <a:rPr lang="ru-RU" dirty="0"/>
                  <a:t>, R</a:t>
                </a:r>
                <a:r>
                  <a:rPr lang="ru-RU" baseline="-25000" dirty="0"/>
                  <a:t>i−1</a:t>
                </a:r>
                <a:r>
                  <a:rPr lang="ru-RU" dirty="0"/>
                  <a:t>), която беше входът на този </a:t>
                </a:r>
                <a:r>
                  <a:rPr lang="ru-RU" dirty="0" smtClean="0"/>
                  <a:t>цикъл </a:t>
                </a:r>
                <a:r>
                  <a:rPr lang="ru-RU" dirty="0"/>
                  <a:t>(т.е</a:t>
                </a:r>
                <a:r>
                  <a:rPr lang="ru-RU" dirty="0" smtClean="0"/>
                  <a:t>. изчислява се обратното </a:t>
                </a:r>
                <a:r>
                  <a:rPr lang="ru-RU" dirty="0"/>
                  <a:t>на уравнение </a:t>
                </a:r>
                <a:r>
                  <a:rPr lang="en-US" b="1" dirty="0"/>
                  <a:t>L</a:t>
                </a:r>
                <a:r>
                  <a:rPr lang="en-US" b="1" baseline="-25000" dirty="0"/>
                  <a:t>i</a:t>
                </a:r>
                <a:r>
                  <a:rPr lang="en-US" b="1" dirty="0"/>
                  <a:t> := R</a:t>
                </a:r>
                <a:r>
                  <a:rPr lang="en-US" b="1" baseline="-25000" dirty="0"/>
                  <a:t>i−1</a:t>
                </a:r>
                <a:r>
                  <a:rPr lang="en-US" b="1" dirty="0"/>
                  <a:t> </a:t>
                </a:r>
                <a:r>
                  <a:rPr lang="bg-BG" dirty="0"/>
                  <a:t>и</a:t>
                </a:r>
                <a:r>
                  <a:rPr lang="en-US" dirty="0"/>
                  <a:t> </a:t>
                </a:r>
                <a:r>
                  <a:rPr lang="en-US" b="1" dirty="0" err="1"/>
                  <a:t>R</a:t>
                </a:r>
                <a:r>
                  <a:rPr lang="en-US" b="1" baseline="-25000" dirty="0" err="1"/>
                  <a:t>i</a:t>
                </a:r>
                <a:r>
                  <a:rPr lang="en-US" b="1" dirty="0"/>
                  <a:t> := L</a:t>
                </a:r>
                <a:r>
                  <a:rPr lang="en-US" b="1" baseline="-25000" dirty="0"/>
                  <a:t>i−1</a:t>
                </a:r>
                <a:r>
                  <a:rPr lang="en-US" b="1" dirty="0"/>
                  <a:t> ⊕ f</a:t>
                </a:r>
                <a:r>
                  <a:rPr lang="en-US" b="1" baseline="-25000" dirty="0"/>
                  <a:t>i</a:t>
                </a:r>
                <a:r>
                  <a:rPr lang="en-US" b="1" dirty="0"/>
                  <a:t>(R</a:t>
                </a:r>
                <a:r>
                  <a:rPr lang="en-US" b="1" baseline="-25000" dirty="0"/>
                  <a:t>i−1</a:t>
                </a:r>
                <a:r>
                  <a:rPr lang="en-US" b="1" dirty="0" smtClean="0"/>
                  <a:t>) </a:t>
                </a:r>
                <a:r>
                  <a:rPr lang="ru-RU" dirty="0" smtClean="0"/>
                  <a:t>). </a:t>
                </a:r>
              </a:p>
              <a:p>
                <a:r>
                  <a:rPr lang="ru-RU" dirty="0" smtClean="0"/>
                  <a:t>Имайте </a:t>
                </a:r>
                <a:r>
                  <a:rPr lang="ru-RU" dirty="0"/>
                  <a:t>предвид, че </a:t>
                </a:r>
                <a:r>
                  <a:rPr lang="ru-RU" dirty="0" smtClean="0"/>
                  <a:t>f</a:t>
                </a:r>
                <a:r>
                  <a:rPr lang="ru-RU" baseline="-25000" dirty="0" smtClean="0"/>
                  <a:t>i</a:t>
                </a:r>
                <a:r>
                  <a:rPr lang="ru-RU" dirty="0" smtClean="0"/>
                  <a:t> се </a:t>
                </a:r>
                <a:r>
                  <a:rPr lang="ru-RU" dirty="0"/>
                  <a:t>оценява само </a:t>
                </a:r>
                <a:r>
                  <a:rPr lang="ru-RU" dirty="0" smtClean="0"/>
                  <a:t>в посока </a:t>
                </a:r>
                <a:r>
                  <a:rPr lang="ru-RU" dirty="0"/>
                  <a:t>напред, така че не е необходимо да бъде </a:t>
                </a:r>
                <a:r>
                  <a:rPr lang="ru-RU" dirty="0" smtClean="0"/>
                  <a:t>обратима.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194560"/>
                <a:ext cx="10820400" cy="4262801"/>
              </a:xfrm>
              <a:blipFill>
                <a:blip r:embed="rId2"/>
                <a:stretch>
                  <a:fillRect l="-676" t="-1860" r="-958" b="-2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263385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Мрежи на </a:t>
            </a:r>
            <a:r>
              <a:rPr lang="bg-BG" dirty="0" err="1"/>
              <a:t>Фейстел</a:t>
            </a:r>
            <a:r>
              <a:rPr lang="bg-BG" dirty="0"/>
              <a:t> (</a:t>
            </a:r>
            <a:r>
              <a:rPr lang="en-US" dirty="0" err="1"/>
              <a:t>Feistel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654" y="2057401"/>
            <a:ext cx="10735056" cy="45644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bg-BG" b="1" dirty="0" smtClean="0"/>
              <a:t>Декриптиране</a:t>
            </a:r>
          </a:p>
          <a:p>
            <a:r>
              <a:rPr lang="bg-BG" b="1" dirty="0" smtClean="0"/>
              <a:t>Декриптирането</a:t>
            </a:r>
            <a:r>
              <a:rPr lang="bg-BG" dirty="0" smtClean="0"/>
              <a:t> се извършва по </a:t>
            </a:r>
            <a:r>
              <a:rPr lang="bg-BG" b="1" dirty="0" smtClean="0"/>
              <a:t>същия начин като криптирането</a:t>
            </a:r>
            <a:r>
              <a:rPr lang="bg-BG" dirty="0" smtClean="0"/>
              <a:t>, независимо от математическата функция </a:t>
            </a:r>
            <a:r>
              <a:rPr lang="en-US" b="1" dirty="0" smtClean="0"/>
              <a:t>f</a:t>
            </a:r>
            <a:r>
              <a:rPr lang="en-US" b="1" baseline="-25000" dirty="0"/>
              <a:t>i</a:t>
            </a:r>
            <a:r>
              <a:rPr lang="bg-BG" dirty="0" smtClean="0"/>
              <a:t>.</a:t>
            </a:r>
          </a:p>
          <a:p>
            <a:r>
              <a:rPr lang="bg-BG" dirty="0" smtClean="0"/>
              <a:t>При декриптиране на </a:t>
            </a:r>
            <a:r>
              <a:rPr lang="bg-BG" b="1" dirty="0" smtClean="0"/>
              <a:t>входа се подава 64 бита блок от криптограмата </a:t>
            </a:r>
            <a:r>
              <a:rPr lang="bg-BG" dirty="0" smtClean="0"/>
              <a:t>и след това се обработва по същия начин както при криптирането.</a:t>
            </a:r>
          </a:p>
          <a:p>
            <a:r>
              <a:rPr lang="bg-BG" dirty="0" smtClean="0">
                <a:solidFill>
                  <a:schemeClr val="accent1"/>
                </a:solidFill>
              </a:rPr>
              <a:t>Крайният резултат е 64 битов блок от явното съобщение</a:t>
            </a:r>
            <a:r>
              <a:rPr lang="bg-BG" dirty="0" smtClean="0"/>
              <a:t>.</a:t>
            </a:r>
          </a:p>
          <a:p>
            <a:r>
              <a:rPr lang="bg-BG" dirty="0" smtClean="0"/>
              <a:t>Това значително улеснява реализирането на мрежата на </a:t>
            </a:r>
            <a:r>
              <a:rPr lang="bg-BG" dirty="0" err="1" smtClean="0"/>
              <a:t>Фейстел</a:t>
            </a:r>
            <a:r>
              <a:rPr lang="bg-BG" dirty="0" smtClean="0"/>
              <a:t>, защото се </a:t>
            </a:r>
            <a:r>
              <a:rPr lang="bg-BG" dirty="0" smtClean="0">
                <a:solidFill>
                  <a:srgbClr val="0070C0"/>
                </a:solidFill>
              </a:rPr>
              <a:t>използва почти един и същ алгоритъм при криптиране и декриптиране</a:t>
            </a:r>
            <a:r>
              <a:rPr lang="bg-BG" dirty="0" smtClean="0"/>
              <a:t>.</a:t>
            </a:r>
          </a:p>
          <a:p>
            <a:r>
              <a:rPr lang="bg-BG" dirty="0" smtClean="0"/>
              <a:t>Казва се почти същия алгоритъм, защото при реализация на мрежата на </a:t>
            </a:r>
            <a:r>
              <a:rPr lang="bg-BG" dirty="0" err="1" smtClean="0"/>
              <a:t>Фейстел</a:t>
            </a:r>
            <a:r>
              <a:rPr lang="bg-BG" dirty="0" smtClean="0"/>
              <a:t>, като например </a:t>
            </a:r>
            <a:r>
              <a:rPr lang="en-US" dirty="0" smtClean="0"/>
              <a:t>DES</a:t>
            </a:r>
            <a:r>
              <a:rPr lang="bg-BG" dirty="0" smtClean="0"/>
              <a:t> алгоритъмът вместо да се използва целият ключ за криптиране през всеки цикъл, при криптирането се извлича </a:t>
            </a:r>
            <a:r>
              <a:rPr lang="bg-BG" dirty="0" err="1" smtClean="0"/>
              <a:t>подключ</a:t>
            </a:r>
            <a:r>
              <a:rPr lang="bg-BG" dirty="0" smtClean="0"/>
              <a:t> за </a:t>
            </a:r>
            <a:r>
              <a:rPr lang="bg-BG" dirty="0" smtClean="0"/>
              <a:t>всеки отделен </a:t>
            </a:r>
            <a:r>
              <a:rPr lang="bg-BG" dirty="0" smtClean="0"/>
              <a:t>цикъл.</a:t>
            </a:r>
            <a:endParaRPr lang="bg-BG" dirty="0" smtClean="0"/>
          </a:p>
          <a:p>
            <a:r>
              <a:rPr lang="bg-BG" dirty="0" smtClean="0"/>
              <a:t>Това означава, че </a:t>
            </a:r>
            <a:r>
              <a:rPr lang="bg-BG" b="1" dirty="0" smtClean="0"/>
              <a:t>всеки цикъл използва различен ключ</a:t>
            </a:r>
            <a:r>
              <a:rPr lang="bg-BG" dirty="0" smtClean="0"/>
              <a:t>, въпреки че тези </a:t>
            </a:r>
            <a:r>
              <a:rPr lang="bg-BG" dirty="0" err="1" smtClean="0"/>
              <a:t>подключове</a:t>
            </a:r>
            <a:r>
              <a:rPr lang="bg-BG" dirty="0" smtClean="0"/>
              <a:t> са </a:t>
            </a:r>
            <a:r>
              <a:rPr lang="bg-BG" dirty="0" err="1" smtClean="0"/>
              <a:t>свърани</a:t>
            </a:r>
            <a:r>
              <a:rPr lang="bg-BG" dirty="0" smtClean="0"/>
              <a:t> с главния ключ.</a:t>
            </a:r>
          </a:p>
          <a:p>
            <a:r>
              <a:rPr lang="bg-BG" dirty="0" smtClean="0">
                <a:solidFill>
                  <a:schemeClr val="accent1"/>
                </a:solidFill>
              </a:rPr>
              <a:t>При декриптиране разликата е, че </a:t>
            </a:r>
            <a:r>
              <a:rPr lang="bg-BG" dirty="0" err="1" smtClean="0">
                <a:solidFill>
                  <a:schemeClr val="accent1"/>
                </a:solidFill>
              </a:rPr>
              <a:t>подключовете</a:t>
            </a:r>
            <a:r>
              <a:rPr lang="bg-BG" dirty="0" smtClean="0">
                <a:solidFill>
                  <a:schemeClr val="accent1"/>
                </a:solidFill>
              </a:rPr>
              <a:t> трябва да се използват в обратен ред</a:t>
            </a:r>
            <a:r>
              <a:rPr lang="bg-BG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273329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Алгоритъм </a:t>
            </a:r>
            <a:r>
              <a:rPr lang="en-US" dirty="0" smtClean="0"/>
              <a:t>DES </a:t>
            </a:r>
            <a:r>
              <a:rPr lang="en-US" dirty="0"/>
              <a:t>(</a:t>
            </a:r>
            <a:r>
              <a:rPr lang="en-US" dirty="0" smtClean="0"/>
              <a:t>Data </a:t>
            </a:r>
            <a:r>
              <a:rPr lang="en-US" dirty="0"/>
              <a:t>Encryption </a:t>
            </a:r>
            <a:r>
              <a:rPr lang="en-US" dirty="0" smtClean="0"/>
              <a:t>Standard)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2"/>
            <a:ext cx="10820400" cy="4522508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Стандартът за криптиране на данни </a:t>
            </a:r>
            <a:r>
              <a:rPr lang="ru-RU" dirty="0"/>
              <a:t>или </a:t>
            </a:r>
            <a:r>
              <a:rPr lang="ru-RU" b="1" dirty="0"/>
              <a:t>DES</a:t>
            </a:r>
            <a:r>
              <a:rPr lang="ru-RU" dirty="0"/>
              <a:t> е разработен през 70-те години на миналия век </a:t>
            </a:r>
            <a:r>
              <a:rPr lang="ru-RU" dirty="0" smtClean="0"/>
              <a:t>от</a:t>
            </a:r>
            <a:r>
              <a:rPr lang="en-US" dirty="0" smtClean="0"/>
              <a:t> </a:t>
            </a:r>
            <a:r>
              <a:rPr lang="ru-RU" dirty="0" smtClean="0"/>
              <a:t>IBM </a:t>
            </a:r>
            <a:r>
              <a:rPr lang="ru-RU" dirty="0"/>
              <a:t>(с помощта на Агенцията за национална </a:t>
            </a:r>
            <a:r>
              <a:rPr lang="ru-RU" dirty="0" smtClean="0"/>
              <a:t>сигурност</a:t>
            </a:r>
            <a:r>
              <a:rPr lang="en-US" dirty="0" smtClean="0"/>
              <a:t> </a:t>
            </a:r>
            <a:r>
              <a:rPr lang="bg-BG" dirty="0" smtClean="0"/>
              <a:t>на САЩ</a:t>
            </a:r>
            <a:r>
              <a:rPr lang="ru-RU" dirty="0" smtClean="0"/>
              <a:t>) </a:t>
            </a:r>
            <a:r>
              <a:rPr lang="ru-RU" dirty="0"/>
              <a:t>и приет през 1977 г. </a:t>
            </a:r>
            <a:r>
              <a:rPr lang="bg-BG" dirty="0"/>
              <a:t>к</a:t>
            </a:r>
            <a:r>
              <a:rPr lang="ru-RU" dirty="0" smtClean="0"/>
              <a:t>ато</a:t>
            </a:r>
            <a:r>
              <a:rPr lang="en-US" dirty="0" smtClean="0"/>
              <a:t> </a:t>
            </a:r>
            <a:r>
              <a:rPr lang="ru-RU" dirty="0" smtClean="0"/>
              <a:t>федерален </a:t>
            </a:r>
            <a:r>
              <a:rPr lang="ru-RU" dirty="0"/>
              <a:t>стандарт за обработка на информация за САЩ. </a:t>
            </a:r>
            <a:endParaRPr lang="ru-RU" dirty="0" smtClean="0"/>
          </a:p>
          <a:p>
            <a:r>
              <a:rPr lang="ru-RU" dirty="0" smtClean="0"/>
              <a:t>Понастоящем </a:t>
            </a:r>
            <a:r>
              <a:rPr lang="ru-RU" b="1" dirty="0" smtClean="0"/>
              <a:t>DES</a:t>
            </a:r>
            <a:r>
              <a:rPr lang="ru-RU" dirty="0" smtClean="0"/>
              <a:t> вече </a:t>
            </a:r>
            <a:r>
              <a:rPr lang="ru-RU" u="sng" dirty="0"/>
              <a:t>не се счита за </a:t>
            </a:r>
            <a:r>
              <a:rPr lang="ru-RU" u="sng" dirty="0" smtClean="0"/>
              <a:t>сигурен</a:t>
            </a:r>
            <a:r>
              <a:rPr lang="ru-RU" dirty="0" smtClean="0"/>
              <a:t>, </a:t>
            </a:r>
            <a:r>
              <a:rPr lang="ru-RU" dirty="0"/>
              <a:t>поради </a:t>
            </a:r>
            <a:r>
              <a:rPr lang="ru-RU" b="1" dirty="0"/>
              <a:t>късата дължина на ключа</a:t>
            </a:r>
            <a:r>
              <a:rPr lang="ru-RU" dirty="0"/>
              <a:t> от </a:t>
            </a:r>
            <a:r>
              <a:rPr lang="ru-RU" b="1" dirty="0"/>
              <a:t>56 бита</a:t>
            </a:r>
            <a:r>
              <a:rPr lang="ru-RU" dirty="0"/>
              <a:t>, </a:t>
            </a:r>
            <a:r>
              <a:rPr lang="ru-RU" dirty="0" smtClean="0"/>
              <a:t>което го </a:t>
            </a:r>
            <a:r>
              <a:rPr lang="ru-RU" dirty="0"/>
              <a:t>прави уязвим за атаки с груба сила. </a:t>
            </a:r>
            <a:endParaRPr lang="ru-RU" dirty="0" smtClean="0"/>
          </a:p>
          <a:p>
            <a:r>
              <a:rPr lang="ru-RU" dirty="0" smtClean="0"/>
              <a:t>Въпреки това, продължава понякога да се използва и днес </a:t>
            </a:r>
            <a:r>
              <a:rPr lang="ru-RU" dirty="0"/>
              <a:t>в </a:t>
            </a:r>
            <a:r>
              <a:rPr lang="ru-RU" dirty="0" smtClean="0"/>
              <a:t>по-сигурна</a:t>
            </a:r>
            <a:r>
              <a:rPr lang="bg-BG" dirty="0" smtClean="0"/>
              <a:t>та</a:t>
            </a:r>
            <a:r>
              <a:rPr lang="ru-RU" dirty="0" smtClean="0"/>
              <a:t> </a:t>
            </a:r>
            <a:r>
              <a:rPr lang="ru-RU" dirty="0"/>
              <a:t>форма на </a:t>
            </a:r>
            <a:r>
              <a:rPr lang="ru-RU" b="1" dirty="0"/>
              <a:t>троен </a:t>
            </a:r>
            <a:r>
              <a:rPr lang="ru-RU" b="1" dirty="0" smtClean="0"/>
              <a:t>DES</a:t>
            </a:r>
            <a:r>
              <a:rPr lang="ru-RU" dirty="0"/>
              <a:t>.</a:t>
            </a:r>
          </a:p>
          <a:p>
            <a:r>
              <a:rPr lang="ru-RU" dirty="0"/>
              <a:t>DES е от голямо историческо значение. Той е подложен на интензивна </a:t>
            </a:r>
            <a:r>
              <a:rPr lang="ru-RU" dirty="0" smtClean="0"/>
              <a:t>проверка в </a:t>
            </a:r>
            <a:r>
              <a:rPr lang="ru-RU" dirty="0"/>
              <a:t>рамките на криптографската общност, може би повече от всеки друг криптографски алгоритъм в историята. </a:t>
            </a:r>
            <a:endParaRPr lang="ru-RU" dirty="0" smtClean="0"/>
          </a:p>
          <a:p>
            <a:r>
              <a:rPr lang="ru-RU" dirty="0" smtClean="0"/>
              <a:t>Общият </a:t>
            </a:r>
            <a:r>
              <a:rPr lang="ru-RU" dirty="0"/>
              <a:t>консенсус е, че освен </a:t>
            </a:r>
            <a:r>
              <a:rPr lang="ru-RU" dirty="0" smtClean="0"/>
              <a:t>дължината </a:t>
            </a:r>
            <a:r>
              <a:rPr lang="ru-RU" dirty="0"/>
              <a:t>на ключа, DES е изключително добре проектиран </a:t>
            </a:r>
            <a:r>
              <a:rPr lang="ru-RU" dirty="0" smtClean="0"/>
              <a:t>алгоритъм - дори </a:t>
            </a:r>
            <a:r>
              <a:rPr lang="ru-RU" dirty="0"/>
              <a:t>след </a:t>
            </a:r>
            <a:r>
              <a:rPr lang="ru-RU" dirty="0" smtClean="0"/>
              <a:t>много години</a:t>
            </a:r>
            <a:r>
              <a:rPr lang="ru-RU" dirty="0"/>
              <a:t>, </a:t>
            </a:r>
            <a:r>
              <a:rPr lang="ru-RU" b="1" dirty="0"/>
              <a:t>най-известната атака </a:t>
            </a:r>
            <a:r>
              <a:rPr lang="ru-RU" dirty="0"/>
              <a:t>срещу DES на практика е </a:t>
            </a:r>
            <a:r>
              <a:rPr lang="ru-RU" b="1" dirty="0"/>
              <a:t>изчерпателно </a:t>
            </a:r>
            <a:r>
              <a:rPr lang="ru-RU" b="1" dirty="0" smtClean="0"/>
              <a:t>търсене из всичките </a:t>
            </a:r>
            <a:r>
              <a:rPr lang="ru-RU" b="1" dirty="0"/>
              <a:t>256 възможни ключа</a:t>
            </a:r>
            <a:r>
              <a:rPr lang="ru-RU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600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Алгоритъм </a:t>
            </a:r>
            <a:r>
              <a:rPr lang="en-US" dirty="0"/>
              <a:t>DES (Data Encryption Standard)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84247"/>
                <a:ext cx="10820400" cy="464279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 smtClean="0"/>
                  <a:t>DES</a:t>
                </a:r>
                <a:r>
                  <a:rPr lang="en-US" dirty="0" smtClean="0"/>
                  <a:t> </a:t>
                </a:r>
                <a:r>
                  <a:rPr lang="bg-BG" dirty="0" smtClean="0"/>
                  <a:t>е </a:t>
                </a:r>
                <a:r>
                  <a:rPr lang="bg-BG" b="1" dirty="0" smtClean="0"/>
                  <a:t>блоков алгоритъм</a:t>
                </a:r>
                <a:r>
                  <a:rPr lang="bg-BG" dirty="0" smtClean="0"/>
                  <a:t>, реализиран в </a:t>
                </a:r>
                <a:r>
                  <a:rPr lang="en-US" b="1" dirty="0" smtClean="0"/>
                  <a:t>16-</a:t>
                </a:r>
                <a:r>
                  <a:rPr lang="bg-BG" b="1" dirty="0" smtClean="0"/>
                  <a:t>цикъла </a:t>
                </a:r>
                <a:r>
                  <a:rPr lang="bg-BG" dirty="0" smtClean="0"/>
                  <a:t>чрез </a:t>
                </a:r>
                <a:r>
                  <a:rPr lang="bg-BG" b="1" dirty="0" smtClean="0"/>
                  <a:t>мрежата на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Feistel</a:t>
                </a:r>
                <a:r>
                  <a:rPr lang="bg-BG" b="1" dirty="0" smtClean="0"/>
                  <a:t> </a:t>
                </a:r>
                <a:r>
                  <a:rPr lang="bg-BG" dirty="0" smtClean="0"/>
                  <a:t>– дължината на </a:t>
                </a:r>
                <a:r>
                  <a:rPr lang="bg-BG" b="1" dirty="0" smtClean="0"/>
                  <a:t>блока е</a:t>
                </a:r>
                <a:r>
                  <a:rPr lang="bg-BG" dirty="0" smtClean="0"/>
                  <a:t> </a:t>
                </a:r>
                <a:r>
                  <a:rPr lang="en-US" b="1" dirty="0" smtClean="0"/>
                  <a:t>64 </a:t>
                </a:r>
                <a:r>
                  <a:rPr lang="bg-BG" b="1" dirty="0" smtClean="0"/>
                  <a:t>бита</a:t>
                </a:r>
                <a:r>
                  <a:rPr lang="bg-BG" dirty="0" smtClean="0"/>
                  <a:t>, а дължината на </a:t>
                </a:r>
                <a:r>
                  <a:rPr lang="bg-BG" b="1" dirty="0" smtClean="0"/>
                  <a:t>главния</a:t>
                </a:r>
                <a:r>
                  <a:rPr lang="bg-BG" dirty="0" smtClean="0"/>
                  <a:t> </a:t>
                </a:r>
                <a:r>
                  <a:rPr lang="bg-BG" b="1" dirty="0" smtClean="0"/>
                  <a:t>ключ е</a:t>
                </a:r>
                <a:r>
                  <a:rPr lang="en-US" b="1" dirty="0" smtClean="0"/>
                  <a:t> </a:t>
                </a:r>
                <a:r>
                  <a:rPr lang="en-US" b="1" dirty="0"/>
                  <a:t>56 </a:t>
                </a:r>
                <a:r>
                  <a:rPr lang="bg-BG" b="1" dirty="0" smtClean="0"/>
                  <a:t>бита (останалите 8 бита са контролни)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b="1" dirty="0" smtClean="0"/>
                  <a:t>Една и съща функция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bg-BG" dirty="0" smtClean="0"/>
                  <a:t>се използва във всеки един от </a:t>
                </a:r>
                <a:r>
                  <a:rPr lang="en-US" dirty="0" smtClean="0"/>
                  <a:t>16</a:t>
                </a:r>
                <a:r>
                  <a:rPr lang="bg-BG" dirty="0" smtClean="0"/>
                  <a:t>-те цикъла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dirty="0" smtClean="0"/>
                  <a:t>Функцията в един цикъл работи с </a:t>
                </a:r>
                <a:r>
                  <a:rPr lang="en-US" b="1" dirty="0" smtClean="0"/>
                  <a:t>48-</a:t>
                </a:r>
                <a:r>
                  <a:rPr lang="bg-BG" b="1" dirty="0" smtClean="0"/>
                  <a:t>битов </a:t>
                </a:r>
                <a:r>
                  <a:rPr lang="bg-BG" b="1" dirty="0" err="1" smtClean="0"/>
                  <a:t>подключ</a:t>
                </a:r>
                <a:r>
                  <a:rPr lang="bg-BG" b="1" dirty="0" smtClean="0"/>
                  <a:t> </a:t>
                </a:r>
                <a:r>
                  <a:rPr lang="bg-BG" dirty="0" smtClean="0"/>
                  <a:t>и </a:t>
                </a:r>
                <a:r>
                  <a:rPr lang="bg-BG" b="1" dirty="0" smtClean="0"/>
                  <a:t>32-битов вход </a:t>
                </a:r>
                <a:r>
                  <a:rPr lang="bg-BG" dirty="0" smtClean="0"/>
                  <a:t>(половин блок-имаме балансирана мрежа на </a:t>
                </a:r>
                <a:r>
                  <a:rPr lang="bg-BG" dirty="0" err="1" smtClean="0"/>
                  <a:t>Фейстел</a:t>
                </a:r>
                <a:r>
                  <a:rPr lang="bg-BG" dirty="0" smtClean="0"/>
                  <a:t>).</a:t>
                </a:r>
                <a:r>
                  <a:rPr lang="en-US" dirty="0" smtClean="0"/>
                  <a:t> </a:t>
                </a:r>
                <a:endParaRPr lang="bg-BG" dirty="0" smtClean="0"/>
              </a:p>
              <a:p>
                <a:r>
                  <a:rPr lang="bg-BG" dirty="0" smtClean="0"/>
                  <a:t>Чрез </a:t>
                </a:r>
                <a:r>
                  <a:rPr lang="bg-BG" b="1" dirty="0" smtClean="0"/>
                  <a:t>график на ключове </a:t>
                </a:r>
                <a:r>
                  <a:rPr lang="bg-BG" dirty="0" smtClean="0"/>
                  <a:t>се генерира </a:t>
                </a:r>
                <a:r>
                  <a:rPr lang="bg-BG" b="1" dirty="0" smtClean="0"/>
                  <a:t>последователност от </a:t>
                </a:r>
                <a:r>
                  <a:rPr lang="en-US" b="1" dirty="0" smtClean="0"/>
                  <a:t>48-</a:t>
                </a:r>
                <a:r>
                  <a:rPr lang="bg-BG" b="1" dirty="0" smtClean="0"/>
                  <a:t>битови </a:t>
                </a:r>
                <a:r>
                  <a:rPr lang="bg-BG" b="1" dirty="0" err="1" smtClean="0"/>
                  <a:t>подключа</a:t>
                </a:r>
                <a:r>
                  <a:rPr lang="en-US" b="1" dirty="0" smtClean="0"/>
                  <a:t> </a:t>
                </a:r>
                <a:r>
                  <a:rPr lang="en-US" dirty="0" smtClean="0"/>
                  <a:t>k</a:t>
                </a:r>
                <a:r>
                  <a:rPr lang="en-US" baseline="-25000" dirty="0" smtClean="0"/>
                  <a:t>1</a:t>
                </a:r>
                <a:r>
                  <a:rPr lang="en-US" dirty="0"/>
                  <a:t>, . . . , k</a:t>
                </a:r>
                <a:r>
                  <a:rPr lang="en-US" baseline="-25000" dirty="0"/>
                  <a:t>16</a:t>
                </a:r>
                <a:r>
                  <a:rPr lang="en-US" dirty="0"/>
                  <a:t> </a:t>
                </a:r>
                <a:r>
                  <a:rPr lang="bg-BG" dirty="0" smtClean="0"/>
                  <a:t>от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56-</a:t>
                </a:r>
                <a:r>
                  <a:rPr lang="bg-BG" b="1" dirty="0" smtClean="0"/>
                  <a:t>битовия</a:t>
                </a:r>
                <a:r>
                  <a:rPr lang="en-US" b="1" dirty="0" smtClean="0"/>
                  <a:t> </a:t>
                </a:r>
                <a:r>
                  <a:rPr lang="bg-BG" b="1" dirty="0" smtClean="0"/>
                  <a:t>главен ключ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dirty="0" smtClean="0"/>
                  <a:t>Графикът на </a:t>
                </a:r>
                <a:r>
                  <a:rPr lang="en-US" dirty="0" smtClean="0"/>
                  <a:t>DES </a:t>
                </a:r>
                <a:r>
                  <a:rPr lang="bg-BG" dirty="0" smtClean="0"/>
                  <a:t>е сравнително прост – всеки </a:t>
                </a:r>
                <a:r>
                  <a:rPr lang="bg-BG" dirty="0" err="1" smtClean="0"/>
                  <a:t>подключ</a:t>
                </a:r>
                <a:r>
                  <a:rPr lang="bg-BG" dirty="0" smtClean="0"/>
                  <a:t> </a:t>
                </a:r>
                <a:r>
                  <a:rPr lang="en-US" b="1" dirty="0" err="1" smtClean="0"/>
                  <a:t>k</a:t>
                </a:r>
                <a:r>
                  <a:rPr lang="en-US" b="1" baseline="-25000" dirty="0" err="1" smtClean="0"/>
                  <a:t>i</a:t>
                </a:r>
                <a:r>
                  <a:rPr lang="en-US" b="1" dirty="0" smtClean="0"/>
                  <a:t> </a:t>
                </a:r>
                <a:r>
                  <a:rPr lang="bg-BG" dirty="0" smtClean="0"/>
                  <a:t>е </a:t>
                </a:r>
                <a:r>
                  <a:rPr lang="bg-BG" dirty="0" err="1" smtClean="0"/>
                  <a:t>пермутационен</a:t>
                </a:r>
                <a:r>
                  <a:rPr lang="bg-BG" dirty="0" smtClean="0"/>
                  <a:t> набор от </a:t>
                </a:r>
                <a:r>
                  <a:rPr lang="en-US" dirty="0" smtClean="0"/>
                  <a:t>48</a:t>
                </a:r>
                <a:r>
                  <a:rPr lang="bg-BG" dirty="0" smtClean="0"/>
                  <a:t>-те бита на главния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dirty="0" smtClean="0"/>
                  <a:t>За тази цел, </a:t>
                </a:r>
                <a:r>
                  <a:rPr lang="en-US" dirty="0" smtClean="0"/>
                  <a:t>56</a:t>
                </a:r>
                <a:r>
                  <a:rPr lang="bg-BG" dirty="0" smtClean="0"/>
                  <a:t>-те бита на главния ключ </a:t>
                </a:r>
                <a:r>
                  <a:rPr lang="en-US" dirty="0" smtClean="0"/>
                  <a:t> </a:t>
                </a:r>
                <a:r>
                  <a:rPr lang="bg-BG" dirty="0" smtClean="0"/>
                  <a:t>се разделя на две части – „лява“ и „дясна“, всяка от по </a:t>
                </a:r>
                <a:r>
                  <a:rPr lang="en-US" dirty="0" smtClean="0"/>
                  <a:t>28 </a:t>
                </a:r>
                <a:r>
                  <a:rPr lang="bg-BG" dirty="0" smtClean="0"/>
                  <a:t>бита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dirty="0" smtClean="0"/>
                  <a:t>Във всеки цикъл, левите </a:t>
                </a:r>
                <a:r>
                  <a:rPr lang="en-US" dirty="0" smtClean="0"/>
                  <a:t>24 </a:t>
                </a:r>
                <a:r>
                  <a:rPr lang="bg-BG" dirty="0" smtClean="0"/>
                  <a:t>бита от </a:t>
                </a:r>
                <a:r>
                  <a:rPr lang="bg-BG" dirty="0" err="1" smtClean="0"/>
                  <a:t>подключа</a:t>
                </a:r>
                <a:r>
                  <a:rPr lang="bg-BG" dirty="0" smtClean="0"/>
                  <a:t> представляват </a:t>
                </a:r>
                <a:r>
                  <a:rPr lang="bg-BG" dirty="0" err="1" smtClean="0"/>
                  <a:t>поднабор</a:t>
                </a:r>
                <a:r>
                  <a:rPr lang="bg-BG" dirty="0" smtClean="0"/>
                  <a:t> от левите </a:t>
                </a:r>
                <a:r>
                  <a:rPr lang="en-US" dirty="0" smtClean="0"/>
                  <a:t>28 </a:t>
                </a:r>
                <a:r>
                  <a:rPr lang="bg-BG" dirty="0" smtClean="0"/>
                  <a:t>бита на главния ключ.; Десните </a:t>
                </a:r>
                <a:r>
                  <a:rPr lang="en-US" dirty="0" smtClean="0"/>
                  <a:t>24 </a:t>
                </a:r>
                <a:r>
                  <a:rPr lang="bg-BG" dirty="0" smtClean="0"/>
                  <a:t>бита на </a:t>
                </a:r>
                <a:r>
                  <a:rPr lang="bg-BG" dirty="0" err="1" smtClean="0"/>
                  <a:t>подключа</a:t>
                </a:r>
                <a:r>
                  <a:rPr lang="bg-BG" dirty="0" smtClean="0"/>
                  <a:t> в цикъла са </a:t>
                </a:r>
                <a:r>
                  <a:rPr lang="bg-BG" dirty="0" err="1" smtClean="0"/>
                  <a:t>поднабор</a:t>
                </a:r>
                <a:r>
                  <a:rPr lang="bg-BG" dirty="0" smtClean="0"/>
                  <a:t> от 28-те бита на главния ключ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r>
                  <a:rPr lang="bg-BG" dirty="0" smtClean="0"/>
                  <a:t>Да се отбележи, че </a:t>
                </a:r>
                <a:r>
                  <a:rPr lang="bg-BG" u="sng" dirty="0" smtClean="0"/>
                  <a:t>целият график на ключове </a:t>
                </a:r>
                <a:r>
                  <a:rPr lang="bg-BG" dirty="0" smtClean="0"/>
                  <a:t>(разделянето на леви и десни части и кои битове формират всеки </a:t>
                </a:r>
                <a:r>
                  <a:rPr lang="bg-BG" dirty="0" err="1" smtClean="0"/>
                  <a:t>подключ</a:t>
                </a:r>
                <a:r>
                  <a:rPr lang="bg-BG" dirty="0" smtClean="0"/>
                  <a:t> </a:t>
                </a:r>
                <a:r>
                  <a:rPr lang="en-US" b="1" dirty="0" err="1" smtClean="0"/>
                  <a:t>k</a:t>
                </a:r>
                <a:r>
                  <a:rPr lang="en-US" b="1" baseline="-25000" dirty="0" err="1" smtClean="0"/>
                  <a:t>i</a:t>
                </a:r>
                <a:r>
                  <a:rPr lang="en-US" dirty="0"/>
                  <a:t>) </a:t>
                </a:r>
                <a:r>
                  <a:rPr lang="bg-BG" dirty="0" smtClean="0"/>
                  <a:t>е </a:t>
                </a:r>
                <a:r>
                  <a:rPr lang="bg-BG" u="sng" dirty="0" smtClean="0"/>
                  <a:t>фиксиран и публичен</a:t>
                </a:r>
                <a:r>
                  <a:rPr lang="bg-BG" dirty="0" smtClean="0"/>
                  <a:t>. </a:t>
                </a:r>
                <a:r>
                  <a:rPr lang="bg-BG" b="1" dirty="0" smtClean="0">
                    <a:solidFill>
                      <a:srgbClr val="FF0000"/>
                    </a:solidFill>
                  </a:rPr>
                  <a:t>Само секретен е главният ключ (Принцип на </a:t>
                </a:r>
                <a:r>
                  <a:rPr lang="bg-BG" b="1" dirty="0" err="1"/>
                  <a:t>Къркхофс</a:t>
                </a:r>
                <a:r>
                  <a:rPr lang="bg-BG" b="1" dirty="0" smtClean="0">
                    <a:solidFill>
                      <a:srgbClr val="FF0000"/>
                    </a:solidFill>
                  </a:rPr>
                  <a:t>!).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4247"/>
                <a:ext cx="10820400" cy="4642795"/>
              </a:xfrm>
              <a:blipFill>
                <a:blip r:embed="rId2"/>
                <a:stretch>
                  <a:fillRect l="-451" t="-2362" r="-845" b="-2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81369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6792" y="288885"/>
            <a:ext cx="5590032" cy="1293028"/>
          </a:xfrm>
        </p:spPr>
        <p:txBody>
          <a:bodyPr>
            <a:normAutofit fontScale="90000"/>
          </a:bodyPr>
          <a:lstStyle/>
          <a:p>
            <a:r>
              <a:rPr lang="bg-BG" dirty="0"/>
              <a:t>Алгоритъм </a:t>
            </a:r>
            <a:r>
              <a:rPr lang="en-US" dirty="0"/>
              <a:t>DES (Data Encryption Standard)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05856" y="1792224"/>
                <a:ext cx="6089904" cy="500176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bg-BG" b="1" dirty="0" smtClean="0"/>
                  <a:t>Функция в цикъла</a:t>
                </a:r>
              </a:p>
              <a:p>
                <a:r>
                  <a:rPr lang="bg-BG" dirty="0" smtClean="0"/>
                  <a:t>Изчисляването на функцията в цикъла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bg-BG" dirty="0" smtClean="0"/>
                  <a:t>с </a:t>
                </a:r>
                <a:r>
                  <a:rPr lang="en-US" dirty="0" smtClean="0"/>
                  <a:t>48</a:t>
                </a:r>
                <a:r>
                  <a:rPr lang="bg-BG" dirty="0" smtClean="0"/>
                  <a:t> битов </a:t>
                </a:r>
                <a:r>
                  <a:rPr lang="bg-BG" dirty="0" err="1" smtClean="0"/>
                  <a:t>подключ</a:t>
                </a:r>
                <a:r>
                  <a:rPr lang="en-US" dirty="0" smtClean="0"/>
                  <a:t> </a:t>
                </a:r>
                <a:r>
                  <a:rPr lang="bg-BG" dirty="0" smtClean="0"/>
                  <a:t>и половин десен </a:t>
                </a:r>
                <a:r>
                  <a:rPr lang="en-US" dirty="0" smtClean="0"/>
                  <a:t>32 </a:t>
                </a:r>
                <a:r>
                  <a:rPr lang="bg-BG" dirty="0" smtClean="0"/>
                  <a:t>битов блок </a:t>
                </a:r>
                <a:r>
                  <a:rPr lang="en-US" dirty="0"/>
                  <a:t>R </a:t>
                </a:r>
                <a:r>
                  <a:rPr lang="bg-BG" dirty="0" smtClean="0"/>
                  <a:t>се извършва по начина: </a:t>
                </a:r>
              </a:p>
              <a:p>
                <a:pPr marL="457200" indent="-457200">
                  <a:buAutoNum type="arabicPeriod"/>
                </a:pPr>
                <a:r>
                  <a:rPr lang="bg-BG" b="1" dirty="0" smtClean="0"/>
                  <a:t>Блокът </a:t>
                </a:r>
                <a:r>
                  <a:rPr lang="en-US" b="1" dirty="0" smtClean="0"/>
                  <a:t>R </a:t>
                </a:r>
                <a:r>
                  <a:rPr lang="bg-BG" b="1" dirty="0" smtClean="0"/>
                  <a:t>се разширява до </a:t>
                </a:r>
                <a:r>
                  <a:rPr lang="en-US" b="1" dirty="0" smtClean="0"/>
                  <a:t>48</a:t>
                </a:r>
                <a:r>
                  <a:rPr lang="bg-BG" b="1" dirty="0" smtClean="0"/>
                  <a:t> бита </a:t>
                </a:r>
                <a:r>
                  <a:rPr lang="bg-BG" dirty="0" smtClean="0"/>
                  <a:t>(получава се</a:t>
                </a:r>
                <a:r>
                  <a:rPr lang="en-US" dirty="0" smtClean="0"/>
                  <a:t> R</a:t>
                </a:r>
                <a:r>
                  <a:rPr lang="en-US" baseline="-25000" dirty="0" smtClean="0"/>
                  <a:t>0</a:t>
                </a:r>
                <a:r>
                  <a:rPr lang="bg-BG" dirty="0" smtClean="0"/>
                  <a:t>)</a:t>
                </a:r>
                <a:r>
                  <a:rPr lang="en-US" dirty="0" smtClean="0"/>
                  <a:t> </a:t>
                </a:r>
                <a:r>
                  <a:rPr lang="bg-BG" dirty="0" smtClean="0"/>
                  <a:t>– получава се чрез дублиране на половината от битовете в </a:t>
                </a:r>
                <a:r>
                  <a:rPr lang="en-US" dirty="0" smtClean="0"/>
                  <a:t>R</a:t>
                </a:r>
                <a:r>
                  <a:rPr lang="bg-BG" dirty="0" smtClean="0"/>
                  <a:t>, т.е. </a:t>
                </a:r>
                <a:r>
                  <a:rPr lang="en-US" dirty="0" smtClean="0"/>
                  <a:t>R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 </a:t>
                </a:r>
                <a:r>
                  <a:rPr lang="en-US" dirty="0"/>
                  <a:t>:= E(R</a:t>
                </a:r>
                <a:r>
                  <a:rPr lang="en-US" dirty="0" smtClean="0"/>
                  <a:t>)</a:t>
                </a:r>
                <a:r>
                  <a:rPr lang="bg-BG" dirty="0" smtClean="0"/>
                  <a:t>, </a:t>
                </a:r>
                <a:r>
                  <a:rPr lang="en-US" b="1" dirty="0" smtClean="0"/>
                  <a:t>E </a:t>
                </a:r>
                <a:r>
                  <a:rPr lang="bg-BG" b="1" dirty="0" smtClean="0"/>
                  <a:t>се нарича функция на разширяване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pPr marL="457200" indent="-457200">
                  <a:buAutoNum type="arabicPeriod"/>
                </a:pPr>
                <a:r>
                  <a:rPr lang="bg-BG" dirty="0" smtClean="0"/>
                  <a:t>Към разширената стойност </a:t>
                </a:r>
                <a:r>
                  <a:rPr lang="en-US" dirty="0" smtClean="0"/>
                  <a:t>R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 </a:t>
                </a:r>
                <a:r>
                  <a:rPr lang="bg-BG" dirty="0"/>
                  <a:t>и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</a:t>
                </a:r>
                <a:r>
                  <a:rPr lang="en-US" baseline="-25000" dirty="0" err="1" smtClean="0"/>
                  <a:t>i</a:t>
                </a:r>
                <a:r>
                  <a:rPr lang="bg-BG" dirty="0" smtClean="0"/>
                  <a:t> се прилага </a:t>
                </a:r>
                <a:r>
                  <a:rPr lang="en-US" dirty="0" smtClean="0"/>
                  <a:t>XOR</a:t>
                </a:r>
                <a:r>
                  <a:rPr lang="bg-BG" dirty="0" smtClean="0"/>
                  <a:t> и се получава </a:t>
                </a:r>
                <a:r>
                  <a:rPr lang="en-US" dirty="0" smtClean="0"/>
                  <a:t>48 </a:t>
                </a:r>
                <a:r>
                  <a:rPr lang="bg-BG" dirty="0" smtClean="0"/>
                  <a:t>битов низ</a:t>
                </a:r>
                <a:r>
                  <a:rPr lang="en-US" dirty="0" smtClean="0"/>
                  <a:t>, </a:t>
                </a:r>
                <a:r>
                  <a:rPr lang="bg-BG" dirty="0" smtClean="0"/>
                  <a:t>който се разделя на </a:t>
                </a:r>
                <a:r>
                  <a:rPr lang="en-US" dirty="0" smtClean="0"/>
                  <a:t>8 </a:t>
                </a:r>
                <a:r>
                  <a:rPr lang="bg-BG" dirty="0" smtClean="0"/>
                  <a:t>блока от по </a:t>
                </a:r>
                <a:r>
                  <a:rPr lang="en-US" dirty="0" smtClean="0"/>
                  <a:t>6 </a:t>
                </a:r>
                <a:r>
                  <a:rPr lang="bg-BG" dirty="0" smtClean="0"/>
                  <a:t>бита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pPr marL="457200" indent="-457200">
                  <a:buAutoNum type="arabicPeriod"/>
                </a:pPr>
                <a:r>
                  <a:rPr lang="bg-BG" dirty="0" smtClean="0"/>
                  <a:t>Всеки блок преминава през </a:t>
                </a:r>
                <a:r>
                  <a:rPr lang="en-US" b="1" dirty="0" smtClean="0"/>
                  <a:t>S-</a:t>
                </a:r>
                <a:r>
                  <a:rPr lang="bg-BG" b="1" dirty="0" smtClean="0"/>
                  <a:t>кутия </a:t>
                </a:r>
                <a:r>
                  <a:rPr lang="bg-BG" b="1" dirty="0" smtClean="0"/>
                  <a:t>със </a:t>
                </a:r>
                <a:r>
                  <a:rPr lang="en-US" b="1" dirty="0" smtClean="0"/>
                  <a:t>6-</a:t>
                </a:r>
                <a:r>
                  <a:rPr lang="bg-BG" b="1" dirty="0" smtClean="0"/>
                  <a:t>битов </a:t>
                </a:r>
                <a:r>
                  <a:rPr lang="bg-BG" b="1" dirty="0" smtClean="0"/>
                  <a:t>вход и </a:t>
                </a:r>
                <a:r>
                  <a:rPr lang="en-US" b="1" dirty="0" smtClean="0"/>
                  <a:t>4-</a:t>
                </a:r>
                <a:r>
                  <a:rPr lang="bg-BG" b="1" dirty="0" smtClean="0"/>
                  <a:t>битов </a:t>
                </a:r>
                <a:r>
                  <a:rPr lang="bg-BG" b="1" dirty="0" smtClean="0"/>
                  <a:t>изход</a:t>
                </a:r>
                <a:r>
                  <a:rPr lang="en-US" dirty="0" smtClean="0"/>
                  <a:t>; </a:t>
                </a:r>
                <a:endParaRPr lang="bg-BG" dirty="0" smtClean="0"/>
              </a:p>
              <a:p>
                <a:pPr marL="457200" indent="-457200">
                  <a:buAutoNum type="arabicPeriod"/>
                </a:pPr>
                <a:r>
                  <a:rPr lang="bg-BG" dirty="0" smtClean="0"/>
                  <a:t>Обединяването на изходите на </a:t>
                </a:r>
                <a:r>
                  <a:rPr lang="en-US" dirty="0" smtClean="0"/>
                  <a:t>8</a:t>
                </a:r>
                <a:r>
                  <a:rPr lang="bg-BG" dirty="0" smtClean="0"/>
                  <a:t>-те</a:t>
                </a:r>
                <a:r>
                  <a:rPr lang="en-US" dirty="0" smtClean="0"/>
                  <a:t> S-</a:t>
                </a:r>
                <a:r>
                  <a:rPr lang="bg-BG" dirty="0" smtClean="0"/>
                  <a:t>кутии води до получаване на </a:t>
                </a:r>
                <a:r>
                  <a:rPr lang="en-US" dirty="0" smtClean="0"/>
                  <a:t>32-</a:t>
                </a:r>
                <a:r>
                  <a:rPr lang="bg-BG" dirty="0" smtClean="0"/>
                  <a:t>битов междинен резултат</a:t>
                </a:r>
                <a:r>
                  <a:rPr lang="en-US" dirty="0" smtClean="0"/>
                  <a:t>. </a:t>
                </a:r>
                <a:endParaRPr lang="bg-BG" dirty="0" smtClean="0"/>
              </a:p>
              <a:p>
                <a:pPr marL="457200" indent="-457200">
                  <a:buAutoNum type="arabicPeriod"/>
                </a:pPr>
                <a:r>
                  <a:rPr lang="bg-BG" dirty="0" smtClean="0"/>
                  <a:t>Междинният резултат се разбърква (създава се пермутация), при което се получава крайният резултат. </a:t>
                </a:r>
              </a:p>
              <a:p>
                <a:r>
                  <a:rPr lang="en-US" u="sng" dirty="0" smtClean="0">
                    <a:solidFill>
                      <a:srgbClr val="FF0000"/>
                    </a:solidFill>
                  </a:rPr>
                  <a:t>S-</a:t>
                </a:r>
                <a:r>
                  <a:rPr lang="bg-BG" u="sng" dirty="0" smtClean="0">
                    <a:solidFill>
                      <a:srgbClr val="FF0000"/>
                    </a:solidFill>
                  </a:rPr>
                  <a:t>кутиите тук не са обратими</a:t>
                </a:r>
                <a:r>
                  <a:rPr lang="bg-BG" dirty="0" smtClean="0">
                    <a:solidFill>
                      <a:srgbClr val="FF0000"/>
                    </a:solidFill>
                  </a:rPr>
                  <a:t>, тъй като имат по-голям вход и по-малък изход (в сравнение с </a:t>
                </a:r>
                <a:r>
                  <a:rPr lang="bg-BG" dirty="0" err="1" smtClean="0">
                    <a:solidFill>
                      <a:srgbClr val="FF0000"/>
                    </a:solidFill>
                  </a:rPr>
                  <a:t>субстицуионно-пермутационните</a:t>
                </a:r>
                <a:r>
                  <a:rPr lang="bg-BG" dirty="0" smtClean="0">
                    <a:solidFill>
                      <a:srgbClr val="FF0000"/>
                    </a:solidFill>
                  </a:rPr>
                  <a:t> мрежи))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!!!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5856" y="1792224"/>
                <a:ext cx="6089904" cy="5001768"/>
              </a:xfrm>
              <a:blipFill>
                <a:blip r:embed="rId2"/>
                <a:stretch>
                  <a:fillRect l="-701" t="-1827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165735"/>
            <a:ext cx="557784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852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04" y="554061"/>
            <a:ext cx="9988296" cy="1293028"/>
          </a:xfrm>
        </p:spPr>
        <p:txBody>
          <a:bodyPr/>
          <a:lstStyle/>
          <a:p>
            <a:r>
              <a:rPr lang="bg-BG" dirty="0"/>
              <a:t>Алгоритъм </a:t>
            </a:r>
            <a:r>
              <a:rPr lang="en-US" dirty="0"/>
              <a:t>DES (Data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29384"/>
            <a:ext cx="10820400" cy="232257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S-</a:t>
            </a:r>
            <a:r>
              <a:rPr lang="bg-BG" b="1" dirty="0" smtClean="0"/>
              <a:t>кутиите</a:t>
            </a:r>
            <a:r>
              <a:rPr lang="en-US" b="1" dirty="0" smtClean="0"/>
              <a:t> – 6 </a:t>
            </a:r>
            <a:r>
              <a:rPr lang="bg-BG" b="1" dirty="0" smtClean="0"/>
              <a:t>бита вход и 4 бита изход</a:t>
            </a:r>
          </a:p>
          <a:p>
            <a:r>
              <a:rPr lang="bg-BG" b="1" dirty="0" smtClean="0"/>
              <a:t>Пример</a:t>
            </a:r>
            <a:r>
              <a:rPr lang="bg-BG" dirty="0" smtClean="0"/>
              <a:t> – Ако входните 6 бита са: </a:t>
            </a:r>
            <a:r>
              <a:rPr lang="en-US" b="1" dirty="0" smtClean="0"/>
              <a:t>0</a:t>
            </a:r>
            <a:r>
              <a:rPr lang="en-US" dirty="0" smtClean="0"/>
              <a:t>1101</a:t>
            </a:r>
            <a:r>
              <a:rPr lang="en-US" b="1" dirty="0" smtClean="0"/>
              <a:t>1</a:t>
            </a:r>
            <a:r>
              <a:rPr lang="bg-BG" b="1" dirty="0" smtClean="0"/>
              <a:t>, тогава първия и последния са 01 (крайни битове -</a:t>
            </a:r>
            <a:r>
              <a:rPr lang="en-US" b="1" dirty="0" smtClean="0"/>
              <a:t>outer bits</a:t>
            </a:r>
            <a:r>
              <a:rPr lang="bg-BG" b="1" dirty="0" smtClean="0"/>
              <a:t>)</a:t>
            </a:r>
            <a:r>
              <a:rPr lang="en-US" b="1" dirty="0" smtClean="0"/>
              <a:t>,</a:t>
            </a:r>
            <a:r>
              <a:rPr lang="bg-BG" b="1" dirty="0" smtClean="0"/>
              <a:t> а вътрешните битове са </a:t>
            </a:r>
            <a:r>
              <a:rPr lang="en-US" dirty="0" smtClean="0"/>
              <a:t>1101</a:t>
            </a:r>
            <a:r>
              <a:rPr lang="bg-BG" dirty="0" smtClean="0"/>
              <a:t> (</a:t>
            </a:r>
            <a:r>
              <a:rPr lang="en-US" b="1" dirty="0" smtClean="0"/>
              <a:t>middle bits</a:t>
            </a:r>
            <a:r>
              <a:rPr lang="bg-BG" dirty="0" smtClean="0"/>
              <a:t>)</a:t>
            </a:r>
            <a:r>
              <a:rPr lang="en-US" dirty="0" smtClean="0"/>
              <a:t>. </a:t>
            </a:r>
            <a:r>
              <a:rPr lang="bg-BG" dirty="0" smtClean="0"/>
              <a:t>Изходните 4 бита се намират в клетката, която е пресечна за реда, започващ с 01 и колоната, започваща с 1101.</a:t>
            </a:r>
          </a:p>
          <a:p>
            <a:r>
              <a:rPr lang="bg-BG" b="1" dirty="0" smtClean="0"/>
              <a:t>Свойства на </a:t>
            </a:r>
            <a:r>
              <a:rPr lang="en-US" b="1" dirty="0" smtClean="0"/>
              <a:t>DES S-</a:t>
            </a:r>
            <a:r>
              <a:rPr lang="bg-BG" b="1" dirty="0" smtClean="0"/>
              <a:t>кутиите</a:t>
            </a:r>
            <a:r>
              <a:rPr lang="bg-BG" dirty="0" smtClean="0"/>
              <a:t>:</a:t>
            </a:r>
          </a:p>
          <a:p>
            <a:pPr marL="0" indent="0">
              <a:buNone/>
            </a:pPr>
            <a:r>
              <a:rPr lang="bg-BG" dirty="0" smtClean="0"/>
              <a:t>	1. Всяка</a:t>
            </a:r>
            <a:r>
              <a:rPr lang="en-US" dirty="0" smtClean="0"/>
              <a:t> S-</a:t>
            </a:r>
            <a:r>
              <a:rPr lang="bg-BG" dirty="0" smtClean="0"/>
              <a:t>кутия е функция</a:t>
            </a:r>
            <a:r>
              <a:rPr lang="en-US" dirty="0" smtClean="0"/>
              <a:t> 4-</a:t>
            </a:r>
            <a:r>
              <a:rPr lang="bg-BG" dirty="0" smtClean="0"/>
              <a:t>към</a:t>
            </a:r>
            <a:r>
              <a:rPr lang="en-US" dirty="0" smtClean="0"/>
              <a:t>-1</a:t>
            </a:r>
            <a:r>
              <a:rPr lang="bg-BG" dirty="0" smtClean="0"/>
              <a:t> (16:4)</a:t>
            </a:r>
            <a:r>
              <a:rPr lang="en-US" dirty="0" smtClean="0"/>
              <a:t>. 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bg-BG" dirty="0" smtClean="0"/>
              <a:t>Всеки ред в таблицата съдържа само по веднъж всички </a:t>
            </a:r>
            <a:r>
              <a:rPr lang="en-US" dirty="0" smtClean="0"/>
              <a:t>16 </a:t>
            </a:r>
            <a:r>
              <a:rPr lang="bg-BG" dirty="0" smtClean="0"/>
              <a:t>възможни</a:t>
            </a:r>
            <a:r>
              <a:rPr lang="en-US" dirty="0" smtClean="0"/>
              <a:t> 4-</a:t>
            </a:r>
            <a:r>
              <a:rPr lang="bg-BG" dirty="0" smtClean="0"/>
              <a:t>битови низа. </a:t>
            </a:r>
          </a:p>
          <a:p>
            <a:pPr marL="0" indent="0">
              <a:buNone/>
            </a:pPr>
            <a:r>
              <a:rPr lang="bg-BG" dirty="0" smtClean="0"/>
              <a:t>	</a:t>
            </a: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bg-BG" dirty="0" smtClean="0"/>
              <a:t>Промяната на 1 бит във входа на </a:t>
            </a:r>
            <a:r>
              <a:rPr lang="en-US" dirty="0" smtClean="0"/>
              <a:t>S-</a:t>
            </a:r>
            <a:r>
              <a:rPr lang="bg-BG" dirty="0" smtClean="0"/>
              <a:t>кутията винаги променя най-малко 2 изходни бита.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22" y="4145280"/>
            <a:ext cx="10082022" cy="22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61783"/>
      </p:ext>
    </p:extLst>
  </p:cSld>
  <p:clrMapOvr>
    <a:masterClrMapping/>
  </p:clrMapOvr>
  <p:transition spd="slow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245899"/>
            <a:ext cx="8610600" cy="1293028"/>
          </a:xfrm>
        </p:spPr>
        <p:txBody>
          <a:bodyPr/>
          <a:lstStyle/>
          <a:p>
            <a:r>
              <a:rPr lang="bg-BG" dirty="0"/>
              <a:t>Алгоритъм </a:t>
            </a:r>
            <a:r>
              <a:rPr lang="en-US" dirty="0"/>
              <a:t>DES (Data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9692"/>
            <a:ext cx="10820400" cy="5147034"/>
          </a:xfrm>
        </p:spPr>
        <p:txBody>
          <a:bodyPr>
            <a:normAutofit fontScale="85000" lnSpcReduction="20000"/>
          </a:bodyPr>
          <a:lstStyle/>
          <a:p>
            <a:r>
              <a:rPr lang="bg-BG" b="1" dirty="0" smtClean="0"/>
              <a:t>Атаки срещу </a:t>
            </a:r>
            <a:r>
              <a:rPr lang="en-US" b="1" dirty="0" smtClean="0"/>
              <a:t>DES</a:t>
            </a:r>
            <a:r>
              <a:rPr lang="en-US" dirty="0" smtClean="0"/>
              <a:t>, </a:t>
            </a:r>
            <a:r>
              <a:rPr lang="bg-BG" dirty="0" smtClean="0"/>
              <a:t>когато е проектиран с определен брой цикли</a:t>
            </a:r>
          </a:p>
          <a:p>
            <a:r>
              <a:rPr lang="bg-BG" b="1" dirty="0" smtClean="0"/>
              <a:t>При </a:t>
            </a:r>
            <a:r>
              <a:rPr lang="en-US" b="1" dirty="0" smtClean="0"/>
              <a:t>DES</a:t>
            </a:r>
            <a:r>
              <a:rPr lang="bg-BG" b="1" dirty="0" smtClean="0"/>
              <a:t>, състоящ се от 1 цикъл</a:t>
            </a:r>
          </a:p>
          <a:p>
            <a:r>
              <a:rPr lang="bg-BG" dirty="0" smtClean="0"/>
              <a:t>Нека атакуващият разполага с една входно/изходната двойка </a:t>
            </a:r>
            <a:r>
              <a:rPr lang="en-US" dirty="0" smtClean="0"/>
              <a:t>(</a:t>
            </a:r>
            <a:r>
              <a:rPr lang="en-US" dirty="0"/>
              <a:t>x, y). </a:t>
            </a:r>
            <a:endParaRPr lang="bg-BG" dirty="0" smtClean="0"/>
          </a:p>
          <a:p>
            <a:r>
              <a:rPr lang="bg-BG" dirty="0" smtClean="0"/>
              <a:t>Тогава, </a:t>
            </a:r>
            <a:r>
              <a:rPr lang="en-US" dirty="0" smtClean="0"/>
              <a:t>y </a:t>
            </a:r>
            <a:r>
              <a:rPr lang="en-US" dirty="0"/>
              <a:t>= (L</a:t>
            </a:r>
            <a:r>
              <a:rPr lang="en-US" baseline="-25000" dirty="0"/>
              <a:t>1</a:t>
            </a:r>
            <a:r>
              <a:rPr lang="en-US" dirty="0"/>
              <a:t>, R</a:t>
            </a:r>
            <a:r>
              <a:rPr lang="en-US" baseline="-25000" dirty="0"/>
              <a:t>1</a:t>
            </a:r>
            <a:r>
              <a:rPr lang="en-US" dirty="0"/>
              <a:t>), </a:t>
            </a:r>
            <a:r>
              <a:rPr lang="bg-BG" dirty="0" smtClean="0"/>
              <a:t>където</a:t>
            </a:r>
            <a:r>
              <a:rPr lang="en-US" dirty="0" smtClean="0"/>
              <a:t> </a:t>
            </a:r>
            <a:r>
              <a:rPr lang="en-US" dirty="0"/>
              <a:t>L</a:t>
            </a:r>
            <a:r>
              <a:rPr lang="en-US" baseline="-25000" dirty="0"/>
              <a:t>1</a:t>
            </a:r>
            <a:r>
              <a:rPr lang="en-US" dirty="0"/>
              <a:t> = R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= L</a:t>
            </a:r>
            <a:r>
              <a:rPr lang="en-US" baseline="-25000" dirty="0"/>
              <a:t>0</a:t>
            </a:r>
            <a:r>
              <a:rPr lang="en-US" dirty="0"/>
              <a:t> ⊕ f</a:t>
            </a:r>
            <a:r>
              <a:rPr lang="en-US" baseline="-25000" dirty="0"/>
              <a:t>1</a:t>
            </a:r>
            <a:r>
              <a:rPr lang="en-US" dirty="0"/>
              <a:t>(R</a:t>
            </a:r>
            <a:r>
              <a:rPr lang="en-US" baseline="-25000" dirty="0"/>
              <a:t>0</a:t>
            </a:r>
            <a:r>
              <a:rPr lang="en-US" dirty="0"/>
              <a:t>). </a:t>
            </a:r>
            <a:endParaRPr lang="bg-BG" dirty="0" smtClean="0"/>
          </a:p>
          <a:p>
            <a:r>
              <a:rPr lang="bg-BG" dirty="0" smtClean="0"/>
              <a:t>Следователно, атакуващият знае входно/изходната двойка за една </a:t>
            </a:r>
            <a:r>
              <a:rPr lang="en-US" dirty="0" smtClean="0"/>
              <a:t>f</a:t>
            </a:r>
            <a:r>
              <a:rPr lang="en-US" baseline="-25000" dirty="0" smtClean="0"/>
              <a:t>1</a:t>
            </a:r>
            <a:r>
              <a:rPr lang="bg-BG" dirty="0" smtClean="0"/>
              <a:t>, т.е. </a:t>
            </a:r>
          </a:p>
          <a:p>
            <a:pPr marL="0" indent="0">
              <a:buNone/>
            </a:pPr>
            <a:r>
              <a:rPr lang="bg-BG" dirty="0"/>
              <a:t> </a:t>
            </a:r>
            <a:r>
              <a:rPr lang="bg-BG" dirty="0" smtClean="0"/>
              <a:t>   </a:t>
            </a:r>
            <a:r>
              <a:rPr lang="en-US" dirty="0" smtClean="0"/>
              <a:t>f</a:t>
            </a:r>
            <a:r>
              <a:rPr lang="en-US" baseline="-25000" dirty="0" smtClean="0"/>
              <a:t>1</a:t>
            </a:r>
            <a:r>
              <a:rPr lang="en-US" dirty="0" smtClean="0"/>
              <a:t>(R</a:t>
            </a:r>
            <a:r>
              <a:rPr lang="en-US" baseline="-25000" dirty="0" smtClean="0"/>
              <a:t>0</a:t>
            </a:r>
            <a:r>
              <a:rPr lang="en-US" dirty="0"/>
              <a:t>) = R</a:t>
            </a:r>
            <a:r>
              <a:rPr lang="en-US" baseline="-25000" dirty="0"/>
              <a:t>1</a:t>
            </a:r>
            <a:r>
              <a:rPr lang="en-US" dirty="0"/>
              <a:t> ⊕ L</a:t>
            </a:r>
            <a:r>
              <a:rPr lang="en-US" baseline="-25000" dirty="0"/>
              <a:t>0</a:t>
            </a:r>
            <a:r>
              <a:rPr lang="en-US" dirty="0"/>
              <a:t>. </a:t>
            </a:r>
            <a:endParaRPr lang="bg-BG" dirty="0" smtClean="0"/>
          </a:p>
          <a:p>
            <a:r>
              <a:rPr lang="bg-BG" dirty="0" smtClean="0"/>
              <a:t>При прилагане на обръщане на пермутацията към </a:t>
            </a:r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⊕ L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bg-BG" dirty="0" smtClean="0"/>
              <a:t>ще се получи междинната стойност, състояща се от изходите на всички </a:t>
            </a:r>
            <a:r>
              <a:rPr lang="en-US" dirty="0" smtClean="0"/>
              <a:t>S-</a:t>
            </a:r>
            <a:r>
              <a:rPr lang="bg-BG" dirty="0" smtClean="0"/>
              <a:t>кутии</a:t>
            </a:r>
            <a:r>
              <a:rPr lang="en-US" dirty="0" smtClean="0"/>
              <a:t>, </a:t>
            </a:r>
            <a:r>
              <a:rPr lang="bg-BG" dirty="0" smtClean="0"/>
              <a:t>където първите </a:t>
            </a:r>
            <a:r>
              <a:rPr lang="en-US" dirty="0" smtClean="0"/>
              <a:t>4 </a:t>
            </a:r>
            <a:r>
              <a:rPr lang="bg-BG" dirty="0" smtClean="0"/>
              <a:t>бита са изхода от първата </a:t>
            </a:r>
            <a:r>
              <a:rPr lang="en-US" dirty="0" smtClean="0"/>
              <a:t>S-</a:t>
            </a:r>
            <a:r>
              <a:rPr lang="bg-BG" dirty="0" smtClean="0"/>
              <a:t>кутия</a:t>
            </a:r>
            <a:r>
              <a:rPr lang="en-US" dirty="0" smtClean="0"/>
              <a:t>, </a:t>
            </a:r>
            <a:r>
              <a:rPr lang="bg-BG" dirty="0" smtClean="0"/>
              <a:t>следващите </a:t>
            </a:r>
            <a:r>
              <a:rPr lang="en-US" dirty="0" smtClean="0"/>
              <a:t>4 </a:t>
            </a:r>
            <a:r>
              <a:rPr lang="bg-BG" dirty="0" smtClean="0"/>
              <a:t>бита са изхода от втората </a:t>
            </a:r>
            <a:r>
              <a:rPr lang="en-US" dirty="0" smtClean="0"/>
              <a:t>S-</a:t>
            </a:r>
            <a:r>
              <a:rPr lang="bg-BG" dirty="0" smtClean="0"/>
              <a:t>кутия и т. н</a:t>
            </a:r>
            <a:r>
              <a:rPr lang="en-US" dirty="0" smtClean="0"/>
              <a:t>. </a:t>
            </a:r>
            <a:endParaRPr lang="bg-BG" dirty="0" smtClean="0"/>
          </a:p>
          <a:p>
            <a:r>
              <a:rPr lang="bg-BG" dirty="0" smtClean="0"/>
              <a:t>Нека атакуващият знае 4-те бита от изхода на първата </a:t>
            </a:r>
            <a:r>
              <a:rPr lang="en-US" dirty="0" smtClean="0"/>
              <a:t>S-</a:t>
            </a:r>
            <a:r>
              <a:rPr lang="bg-BG" dirty="0" smtClean="0"/>
              <a:t>кутия</a:t>
            </a:r>
            <a:r>
              <a:rPr lang="en-US" dirty="0" smtClean="0"/>
              <a:t>. </a:t>
            </a:r>
            <a:r>
              <a:rPr lang="bg-BG" dirty="0" smtClean="0"/>
              <a:t>След като всяка </a:t>
            </a:r>
            <a:r>
              <a:rPr lang="en-US" dirty="0" smtClean="0"/>
              <a:t>S-</a:t>
            </a:r>
            <a:r>
              <a:rPr lang="bg-BG" dirty="0" smtClean="0"/>
              <a:t>кутия е</a:t>
            </a:r>
            <a:r>
              <a:rPr lang="en-US" dirty="0" smtClean="0"/>
              <a:t> 4-</a:t>
            </a:r>
            <a:r>
              <a:rPr lang="bg-BG" dirty="0" smtClean="0"/>
              <a:t>към</a:t>
            </a:r>
            <a:r>
              <a:rPr lang="en-US" dirty="0" smtClean="0"/>
              <a:t>-1 </a:t>
            </a:r>
            <a:r>
              <a:rPr lang="bg-BG" dirty="0"/>
              <a:t>ф</a:t>
            </a:r>
            <a:r>
              <a:rPr lang="bg-BG" dirty="0" smtClean="0"/>
              <a:t>ункция</a:t>
            </a:r>
            <a:r>
              <a:rPr lang="en-US" dirty="0" smtClean="0"/>
              <a:t>, </a:t>
            </a:r>
            <a:r>
              <a:rPr lang="bg-BG" dirty="0" smtClean="0"/>
              <a:t>означава че има точно 4 възможни изхода от </a:t>
            </a:r>
            <a:r>
              <a:rPr lang="en-US" dirty="0" smtClean="0"/>
              <a:t>S-</a:t>
            </a:r>
            <a:r>
              <a:rPr lang="bg-BG" dirty="0" smtClean="0"/>
              <a:t>кутията.</a:t>
            </a:r>
            <a:r>
              <a:rPr lang="en-US" dirty="0" smtClean="0"/>
              <a:t> </a:t>
            </a:r>
            <a:endParaRPr lang="bg-BG" dirty="0" smtClean="0"/>
          </a:p>
          <a:p>
            <a:r>
              <a:rPr lang="bg-BG" dirty="0" smtClean="0"/>
              <a:t>Входът на </a:t>
            </a:r>
            <a:r>
              <a:rPr lang="en-US" dirty="0" smtClean="0"/>
              <a:t>S-</a:t>
            </a:r>
            <a:r>
              <a:rPr lang="bg-BG" dirty="0" smtClean="0"/>
              <a:t>кутиите е </a:t>
            </a:r>
            <a:r>
              <a:rPr lang="en-US" dirty="0" smtClean="0"/>
              <a:t> XOR </a:t>
            </a:r>
            <a:r>
              <a:rPr lang="bg-BG" dirty="0" smtClean="0"/>
              <a:t>на</a:t>
            </a:r>
            <a:r>
              <a:rPr lang="en-US" dirty="0" smtClean="0"/>
              <a:t> </a:t>
            </a:r>
            <a:r>
              <a:rPr lang="en-US" dirty="0"/>
              <a:t>E(R</a:t>
            </a:r>
            <a:r>
              <a:rPr lang="en-US" baseline="-25000" dirty="0"/>
              <a:t>0</a:t>
            </a:r>
            <a:r>
              <a:rPr lang="en-US" dirty="0"/>
              <a:t>) </a:t>
            </a:r>
            <a:r>
              <a:rPr lang="bg-BG" dirty="0" smtClean="0"/>
              <a:t>и </a:t>
            </a:r>
            <a:r>
              <a:rPr lang="bg-BG" dirty="0" err="1" smtClean="0"/>
              <a:t>подключа</a:t>
            </a:r>
            <a:r>
              <a:rPr lang="bg-BG" dirty="0" smtClean="0"/>
              <a:t> </a:t>
            </a:r>
            <a:r>
              <a:rPr lang="en-US" dirty="0" smtClean="0"/>
              <a:t>k</a:t>
            </a:r>
            <a:r>
              <a:rPr lang="en-US" baseline="-25000" dirty="0" smtClean="0"/>
              <a:t>1</a:t>
            </a:r>
            <a:r>
              <a:rPr lang="en-US" dirty="0"/>
              <a:t>. </a:t>
            </a:r>
            <a:r>
              <a:rPr lang="bg-BG" dirty="0" smtClean="0"/>
              <a:t>След като </a:t>
            </a:r>
            <a:r>
              <a:rPr lang="en-US" dirty="0" smtClean="0"/>
              <a:t>R</a:t>
            </a:r>
            <a:r>
              <a:rPr lang="en-US" baseline="-25000" dirty="0" smtClean="0"/>
              <a:t>0</a:t>
            </a:r>
            <a:r>
              <a:rPr lang="en-US" dirty="0"/>
              <a:t>, </a:t>
            </a:r>
            <a:r>
              <a:rPr lang="bg-BG" dirty="0" smtClean="0"/>
              <a:t>и следователно </a:t>
            </a:r>
            <a:r>
              <a:rPr lang="en-US" dirty="0" smtClean="0"/>
              <a:t>E(R</a:t>
            </a:r>
            <a:r>
              <a:rPr lang="en-US" baseline="-25000" dirty="0" smtClean="0"/>
              <a:t>0</a:t>
            </a:r>
            <a:r>
              <a:rPr lang="en-US" dirty="0" smtClean="0"/>
              <a:t>) </a:t>
            </a:r>
            <a:r>
              <a:rPr lang="bg-BG" dirty="0" smtClean="0"/>
              <a:t>е известно</a:t>
            </a:r>
            <a:r>
              <a:rPr lang="en-US" dirty="0" smtClean="0"/>
              <a:t>, </a:t>
            </a:r>
            <a:r>
              <a:rPr lang="bg-BG" dirty="0" smtClean="0"/>
              <a:t>може да се изчисли набор от 4 възможни стойности за всяка </a:t>
            </a:r>
            <a:r>
              <a:rPr lang="en-US" dirty="0" smtClean="0"/>
              <a:t>6-</a:t>
            </a:r>
            <a:r>
              <a:rPr lang="bg-BG" dirty="0" smtClean="0"/>
              <a:t>битова част от</a:t>
            </a:r>
            <a:r>
              <a:rPr lang="en-US" dirty="0" smtClean="0"/>
              <a:t> </a:t>
            </a:r>
            <a:r>
              <a:rPr lang="en-US" dirty="0"/>
              <a:t>k</a:t>
            </a:r>
            <a:r>
              <a:rPr lang="en-US" baseline="-25000" dirty="0"/>
              <a:t>1</a:t>
            </a:r>
            <a:r>
              <a:rPr lang="en-US" dirty="0"/>
              <a:t>. </a:t>
            </a:r>
            <a:endParaRPr lang="bg-BG" dirty="0" smtClean="0"/>
          </a:p>
          <a:p>
            <a:r>
              <a:rPr lang="bg-BG" dirty="0" smtClean="0"/>
              <a:t>Това означава, че е намален броят на възможните ключове </a:t>
            </a:r>
            <a:r>
              <a:rPr lang="en-US" dirty="0" smtClean="0"/>
              <a:t>k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bg-BG" dirty="0" smtClean="0"/>
              <a:t>от</a:t>
            </a:r>
            <a:r>
              <a:rPr lang="en-US" dirty="0" smtClean="0"/>
              <a:t> </a:t>
            </a:r>
            <a:r>
              <a:rPr lang="en-US" dirty="0"/>
              <a:t>248 </a:t>
            </a:r>
            <a:r>
              <a:rPr lang="bg-BG" dirty="0" smtClean="0"/>
              <a:t>на</a:t>
            </a:r>
            <a:r>
              <a:rPr lang="en-US" dirty="0" smtClean="0"/>
              <a:t> </a:t>
            </a:r>
            <a:r>
              <a:rPr lang="en-US" dirty="0"/>
              <a:t>448/6 = 48 = 216 </a:t>
            </a:r>
            <a:r>
              <a:rPr lang="en-US" dirty="0" smtClean="0"/>
              <a:t>(</a:t>
            </a:r>
            <a:r>
              <a:rPr lang="bg-BG" dirty="0" smtClean="0"/>
              <a:t>след като има 4 възможности за всеки от 8-те 6-битови части </a:t>
            </a:r>
            <a:r>
              <a:rPr lang="en-US" dirty="0" smtClean="0"/>
              <a:t> </a:t>
            </a:r>
            <a:r>
              <a:rPr lang="bg-BG" dirty="0" smtClean="0"/>
              <a:t>на</a:t>
            </a:r>
            <a:r>
              <a:rPr lang="en-US" dirty="0" smtClean="0"/>
              <a:t> </a:t>
            </a:r>
            <a:r>
              <a:rPr lang="en-US" dirty="0"/>
              <a:t>k</a:t>
            </a:r>
            <a:r>
              <a:rPr lang="en-US" baseline="-25000" dirty="0"/>
              <a:t>1</a:t>
            </a:r>
            <a:r>
              <a:rPr lang="en-US" dirty="0"/>
              <a:t>). </a:t>
            </a:r>
            <a:r>
              <a:rPr lang="bg-BG" dirty="0" smtClean="0"/>
              <a:t>Това е по-малък брой на ключовете и чрез груба сила може да се намери правилният ключ.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42200"/>
      </p:ext>
    </p:extLst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Алгоритъм </a:t>
            </a:r>
            <a:r>
              <a:rPr lang="en-US" dirty="0"/>
              <a:t>DES (Data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70191"/>
          </a:xfrm>
        </p:spPr>
        <p:txBody>
          <a:bodyPr>
            <a:normAutofit fontScale="92500" lnSpcReduction="20000"/>
          </a:bodyPr>
          <a:lstStyle/>
          <a:p>
            <a:r>
              <a:rPr lang="bg-BG" dirty="0" smtClean="0"/>
              <a:t>След 30-годишно изучаване на </a:t>
            </a:r>
            <a:r>
              <a:rPr lang="en-US" b="1" dirty="0" smtClean="0"/>
              <a:t>DES</a:t>
            </a:r>
            <a:r>
              <a:rPr lang="bg-BG" dirty="0" smtClean="0"/>
              <a:t>, </a:t>
            </a:r>
            <a:r>
              <a:rPr lang="bg-BG" b="1" dirty="0" smtClean="0"/>
              <a:t>най-популярната атака е атаката търсене в пространството на ключовете</a:t>
            </a:r>
            <a:r>
              <a:rPr lang="bg-BG" dirty="0" smtClean="0"/>
              <a:t>.</a:t>
            </a:r>
            <a:r>
              <a:rPr lang="en-US" dirty="0" smtClean="0"/>
              <a:t> </a:t>
            </a:r>
            <a:endParaRPr lang="bg-BG" dirty="0" smtClean="0"/>
          </a:p>
          <a:p>
            <a:r>
              <a:rPr lang="bg-BG" dirty="0" smtClean="0"/>
              <a:t>Тази атака изисква </a:t>
            </a:r>
            <a:r>
              <a:rPr lang="bg-BG" b="1" dirty="0" smtClean="0"/>
              <a:t>голям брой водно/изходни двойки</a:t>
            </a:r>
            <a:r>
              <a:rPr lang="bg-BG" dirty="0" smtClean="0"/>
              <a:t>, което е трудното при тази атака.</a:t>
            </a:r>
          </a:p>
          <a:p>
            <a:r>
              <a:rPr lang="bg-BG" dirty="0" smtClean="0"/>
              <a:t>За съжаление, </a:t>
            </a:r>
            <a:r>
              <a:rPr lang="en-US" b="1" dirty="0" smtClean="0"/>
              <a:t>56-</a:t>
            </a:r>
            <a:r>
              <a:rPr lang="bg-BG" b="1" dirty="0" smtClean="0"/>
              <a:t>битовия ключ на</a:t>
            </a:r>
            <a:r>
              <a:rPr lang="en-US" b="1" dirty="0" smtClean="0"/>
              <a:t> </a:t>
            </a:r>
            <a:r>
              <a:rPr lang="en-US" b="1" dirty="0"/>
              <a:t>DES </a:t>
            </a:r>
            <a:r>
              <a:rPr lang="bg-BG" b="1" dirty="0" smtClean="0"/>
              <a:t>е малък</a:t>
            </a:r>
            <a:r>
              <a:rPr lang="bg-BG" dirty="0" smtClean="0"/>
              <a:t>, с което </a:t>
            </a:r>
            <a:r>
              <a:rPr lang="bg-BG" b="1" dirty="0" smtClean="0"/>
              <a:t>атаката</a:t>
            </a:r>
            <a:r>
              <a:rPr lang="bg-BG" dirty="0" smtClean="0"/>
              <a:t> </a:t>
            </a:r>
            <a:r>
              <a:rPr lang="bg-BG" dirty="0"/>
              <a:t>търсене в пространството на ключовете </a:t>
            </a:r>
            <a:r>
              <a:rPr lang="bg-BG" b="1" dirty="0" smtClean="0"/>
              <a:t>се улеснява </a:t>
            </a:r>
            <a:r>
              <a:rPr lang="bg-BG" dirty="0" smtClean="0"/>
              <a:t>(256 ключа). </a:t>
            </a:r>
          </a:p>
          <a:p>
            <a:r>
              <a:rPr lang="bg-BG" b="1" dirty="0" smtClean="0"/>
              <a:t>1997 г.</a:t>
            </a:r>
            <a:r>
              <a:rPr lang="bg-BG" dirty="0" smtClean="0"/>
              <a:t> - демонстрирана е атаката груба сила съгласно проекта </a:t>
            </a:r>
            <a:r>
              <a:rPr lang="en-US" dirty="0" smtClean="0"/>
              <a:t>DESCHALL</a:t>
            </a:r>
            <a:r>
              <a:rPr lang="bg-BG" dirty="0" smtClean="0"/>
              <a:t>, при което са използвани хиляди компютри, координирани през  Интернет и изчисленията са отнели </a:t>
            </a:r>
            <a:r>
              <a:rPr lang="en-US" b="1" dirty="0" smtClean="0"/>
              <a:t>96</a:t>
            </a:r>
            <a:r>
              <a:rPr lang="bg-BG" b="1" dirty="0" smtClean="0"/>
              <a:t> дни</a:t>
            </a:r>
            <a:r>
              <a:rPr lang="en-US" dirty="0" smtClean="0"/>
              <a:t>; </a:t>
            </a:r>
            <a:endParaRPr lang="bg-BG" dirty="0" smtClean="0"/>
          </a:p>
          <a:p>
            <a:r>
              <a:rPr lang="bg-BG" b="1" dirty="0" smtClean="0"/>
              <a:t>1998 г.</a:t>
            </a:r>
            <a:r>
              <a:rPr lang="bg-BG" dirty="0" smtClean="0"/>
              <a:t> – изчисленията са извършени за </a:t>
            </a:r>
            <a:r>
              <a:rPr lang="bg-BG" b="1" dirty="0" smtClean="0"/>
              <a:t>41 дни </a:t>
            </a:r>
            <a:r>
              <a:rPr lang="bg-BG" dirty="0" smtClean="0"/>
              <a:t>съгласно проекта </a:t>
            </a:r>
            <a:r>
              <a:rPr lang="en-US" dirty="0" smtClean="0"/>
              <a:t>distributed.net </a:t>
            </a:r>
            <a:endParaRPr lang="bg-BG" dirty="0" smtClean="0"/>
          </a:p>
          <a:p>
            <a:r>
              <a:rPr lang="bg-BG" b="1" dirty="0" smtClean="0"/>
              <a:t>1998 г.</a:t>
            </a:r>
            <a:r>
              <a:rPr lang="bg-BG" dirty="0" smtClean="0"/>
              <a:t> – изчисленията са извършени за </a:t>
            </a:r>
            <a:r>
              <a:rPr lang="bg-BG" b="1" dirty="0" smtClean="0"/>
              <a:t>56 часа </a:t>
            </a:r>
            <a:r>
              <a:rPr lang="bg-BG" dirty="0" smtClean="0"/>
              <a:t>чрез специална </a:t>
            </a:r>
            <a:r>
              <a:rPr lang="bg-BG" b="1" dirty="0" smtClean="0"/>
              <a:t>машина</a:t>
            </a:r>
            <a:r>
              <a:rPr lang="bg-BG" dirty="0" smtClean="0"/>
              <a:t> за разбиване на кода, наречена </a:t>
            </a:r>
            <a:r>
              <a:rPr lang="en-US" dirty="0" smtClean="0"/>
              <a:t>Deep Crack</a:t>
            </a:r>
            <a:r>
              <a:rPr lang="bg-BG" dirty="0" smtClean="0"/>
              <a:t>, изградена от </a:t>
            </a:r>
            <a:r>
              <a:rPr lang="en-US" dirty="0" smtClean="0"/>
              <a:t> Electronic </a:t>
            </a:r>
            <a:r>
              <a:rPr lang="en-US" dirty="0"/>
              <a:t>Frontier Foundation </a:t>
            </a:r>
            <a:r>
              <a:rPr lang="bg-BG" dirty="0" smtClean="0"/>
              <a:t>на стойност </a:t>
            </a:r>
            <a:r>
              <a:rPr lang="en-US" dirty="0" smtClean="0"/>
              <a:t>$250,000</a:t>
            </a:r>
            <a:r>
              <a:rPr lang="en-US" dirty="0"/>
              <a:t>. </a:t>
            </a:r>
            <a:endParaRPr lang="bg-BG" dirty="0" smtClean="0"/>
          </a:p>
          <a:p>
            <a:r>
              <a:rPr lang="bg-BG" b="1" dirty="0" smtClean="0"/>
              <a:t>1</a:t>
            </a:r>
            <a:r>
              <a:rPr lang="en-US" b="1" dirty="0" smtClean="0"/>
              <a:t>999</a:t>
            </a:r>
            <a:r>
              <a:rPr lang="bg-BG" b="1" dirty="0" smtClean="0"/>
              <a:t> г. </a:t>
            </a:r>
            <a:r>
              <a:rPr lang="bg-BG" dirty="0" smtClean="0"/>
              <a:t>- </a:t>
            </a:r>
            <a:r>
              <a:rPr lang="en-US" dirty="0" smtClean="0"/>
              <a:t> </a:t>
            </a:r>
            <a:r>
              <a:rPr lang="en-US" b="1" dirty="0" smtClean="0"/>
              <a:t>22 </a:t>
            </a:r>
            <a:r>
              <a:rPr lang="bg-BG" b="1" dirty="0" smtClean="0"/>
              <a:t>часа </a:t>
            </a:r>
            <a:r>
              <a:rPr lang="bg-BG" dirty="0" smtClean="0"/>
              <a:t>са отнели на комбинацията от </a:t>
            </a:r>
            <a:r>
              <a:rPr lang="en-US" dirty="0" smtClean="0"/>
              <a:t> </a:t>
            </a:r>
            <a:r>
              <a:rPr lang="en-US" dirty="0"/>
              <a:t>Deep Crack </a:t>
            </a:r>
            <a:r>
              <a:rPr lang="bg-BG" dirty="0" smtClean="0"/>
              <a:t>машината и</a:t>
            </a:r>
            <a:r>
              <a:rPr lang="en-US" dirty="0" smtClean="0"/>
              <a:t> </a:t>
            </a:r>
            <a:r>
              <a:rPr lang="en-US" dirty="0"/>
              <a:t>distributed.net. </a:t>
            </a:r>
          </a:p>
        </p:txBody>
      </p:sp>
    </p:spTree>
    <p:extLst>
      <p:ext uri="{BB962C8B-B14F-4D97-AF65-F5344CB8AC3E}">
        <p14:creationId xmlns:p14="http://schemas.microsoft.com/office/powerpoint/2010/main" val="2489118916"/>
      </p:ext>
    </p:extLst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Triple-DES (</a:t>
            </a:r>
            <a:r>
              <a:rPr lang="en-US" dirty="0" smtClean="0"/>
              <a:t>3DES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7095744" cy="4024125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Triple-DES (3DES</a:t>
            </a:r>
            <a:r>
              <a:rPr lang="en-US" b="1" dirty="0">
                <a:solidFill>
                  <a:srgbClr val="0070C0"/>
                </a:solidFill>
              </a:rPr>
              <a:t>) </a:t>
            </a:r>
            <a:r>
              <a:rPr lang="bg-BG" dirty="0" smtClean="0"/>
              <a:t>включва три </a:t>
            </a:r>
            <a:r>
              <a:rPr lang="en-US" dirty="0" smtClean="0"/>
              <a:t>DES </a:t>
            </a:r>
            <a:r>
              <a:rPr lang="bg-BG" dirty="0" smtClean="0"/>
              <a:t>алгоритъма и два или три ключа</a:t>
            </a:r>
            <a:r>
              <a:rPr lang="en-US" dirty="0" smtClean="0"/>
              <a:t> </a:t>
            </a:r>
            <a:r>
              <a:rPr lang="bg-BG" dirty="0" smtClean="0"/>
              <a:t>по 56 бита (3.56=168 бита)</a:t>
            </a:r>
            <a:r>
              <a:rPr lang="en-US" dirty="0" smtClean="0"/>
              <a:t>.</a:t>
            </a:r>
          </a:p>
          <a:p>
            <a:r>
              <a:rPr lang="en-US" dirty="0" smtClean="0"/>
              <a:t>3DES </a:t>
            </a:r>
            <a:r>
              <a:rPr lang="bg-BG" dirty="0" smtClean="0"/>
              <a:t>е стандартизиран през </a:t>
            </a:r>
            <a:r>
              <a:rPr lang="en-US" dirty="0" smtClean="0"/>
              <a:t>1999</a:t>
            </a:r>
            <a:r>
              <a:rPr lang="bg-BG" dirty="0" smtClean="0"/>
              <a:t> г</a:t>
            </a:r>
            <a:r>
              <a:rPr lang="en-US" dirty="0" smtClean="0"/>
              <a:t>.</a:t>
            </a:r>
            <a:endParaRPr lang="bg-BG" dirty="0" smtClean="0"/>
          </a:p>
          <a:p>
            <a:r>
              <a:rPr lang="bg-BG" b="1" dirty="0" smtClean="0"/>
              <a:t>Недостатъци</a:t>
            </a:r>
            <a:r>
              <a:rPr lang="bg-BG" dirty="0" smtClean="0"/>
              <a:t> –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малка дължина на блока </a:t>
            </a:r>
            <a:r>
              <a:rPr lang="bg-BG" dirty="0" smtClean="0"/>
              <a:t>и работи </a:t>
            </a:r>
            <a:r>
              <a:rPr lang="bg-B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сравнително бавно</a:t>
            </a:r>
            <a:r>
              <a:rPr lang="bg-BG" dirty="0" smtClean="0"/>
              <a:t>, защото трябва да повтори операциите на </a:t>
            </a:r>
            <a:r>
              <a:rPr lang="en-US" dirty="0" smtClean="0"/>
              <a:t>DES </a:t>
            </a:r>
            <a:r>
              <a:rPr lang="bg-BG" dirty="0" smtClean="0"/>
              <a:t>три пъти</a:t>
            </a:r>
            <a:r>
              <a:rPr lang="en-US" dirty="0" smtClean="0"/>
              <a:t>.</a:t>
            </a:r>
            <a:endParaRPr lang="bg-BG" dirty="0" smtClean="0"/>
          </a:p>
          <a:p>
            <a:r>
              <a:rPr lang="bg-BG" dirty="0" smtClean="0"/>
              <a:t>Понастоящем</a:t>
            </a:r>
            <a:r>
              <a:rPr lang="en-US" dirty="0" smtClean="0"/>
              <a:t>,</a:t>
            </a:r>
            <a:r>
              <a:rPr lang="bg-BG" dirty="0" smtClean="0"/>
              <a:t> </a:t>
            </a:r>
            <a:r>
              <a:rPr lang="bg-BG" b="1" dirty="0" smtClean="0"/>
              <a:t>минималната препоръчителна дължина за ключа е </a:t>
            </a:r>
            <a:r>
              <a:rPr lang="en-US" b="1" dirty="0" smtClean="0"/>
              <a:t>128 </a:t>
            </a:r>
            <a:r>
              <a:rPr lang="bg-BG" b="1" dirty="0" smtClean="0"/>
              <a:t>бита</a:t>
            </a:r>
            <a:r>
              <a:rPr lang="en-US" dirty="0" smtClean="0"/>
              <a:t>, </a:t>
            </a:r>
            <a:r>
              <a:rPr lang="bg-BG" dirty="0" smtClean="0"/>
              <a:t>и затова </a:t>
            </a:r>
            <a:r>
              <a:rPr lang="en-US" u="sng" dirty="0" smtClean="0"/>
              <a:t>3DES </a:t>
            </a:r>
            <a:r>
              <a:rPr lang="bg-BG" u="sng" dirty="0" smtClean="0"/>
              <a:t>с два ключа не се използва</a:t>
            </a:r>
            <a:r>
              <a:rPr lang="bg-BG" dirty="0" smtClean="0"/>
              <a:t> </a:t>
            </a:r>
            <a:r>
              <a:rPr lang="en-US" dirty="0" smtClean="0"/>
              <a:t>(112 </a:t>
            </a:r>
            <a:r>
              <a:rPr lang="bg-BG" dirty="0" smtClean="0"/>
              <a:t>бита</a:t>
            </a:r>
            <a:r>
              <a:rPr lang="en-US" dirty="0" smtClean="0"/>
              <a:t>).</a:t>
            </a:r>
            <a:endParaRPr lang="bg-BG" dirty="0" smtClean="0"/>
          </a:p>
          <a:p>
            <a:r>
              <a:rPr lang="bg-BG" dirty="0" smtClean="0"/>
              <a:t>Тези недостатъци водят до замяната на </a:t>
            </a:r>
            <a:r>
              <a:rPr lang="en-US" dirty="0" smtClean="0"/>
              <a:t> DES/triple-DES </a:t>
            </a:r>
            <a:r>
              <a:rPr lang="bg-BG" dirty="0" smtClean="0"/>
              <a:t>от АЕ</a:t>
            </a:r>
            <a:r>
              <a:rPr lang="en-US" dirty="0" smtClean="0"/>
              <a:t>S (Advanced </a:t>
            </a:r>
            <a:r>
              <a:rPr lang="en-US" dirty="0"/>
              <a:t>Encryption </a:t>
            </a:r>
            <a:r>
              <a:rPr lang="en-US" dirty="0" smtClean="0"/>
              <a:t>Standard).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331721"/>
            <a:ext cx="4034948" cy="355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04875"/>
      </p:ext>
    </p:extLst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Triple-DES (3DES)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6601968" cy="4024125"/>
          </a:xfrm>
        </p:spPr>
        <p:txBody>
          <a:bodyPr>
            <a:normAutofit fontScale="92500" lnSpcReduction="10000"/>
          </a:bodyPr>
          <a:lstStyle/>
          <a:p>
            <a:r>
              <a:rPr lang="bg-BG" b="1" dirty="0" smtClean="0"/>
              <a:t>Криптиране</a:t>
            </a:r>
            <a:r>
              <a:rPr lang="bg-BG" dirty="0" smtClean="0"/>
              <a:t> на 64 битов блок от явното съобщение – извършва се </a:t>
            </a:r>
            <a:r>
              <a:rPr lang="bg-BG" dirty="0"/>
              <a:t>ч</a:t>
            </a:r>
            <a:r>
              <a:rPr lang="bg-BG" dirty="0" smtClean="0"/>
              <a:t>рез следните три етапа:</a:t>
            </a:r>
          </a:p>
          <a:p>
            <a:pPr marL="457200" indent="-457200">
              <a:buAutoNum type="arabicPeriod"/>
            </a:pPr>
            <a:r>
              <a:rPr lang="bg-BG" dirty="0" smtClean="0"/>
              <a:t>Криптиране на явния текст чрез </a:t>
            </a:r>
            <a:r>
              <a:rPr lang="en-US" dirty="0" smtClean="0"/>
              <a:t>K1;</a:t>
            </a:r>
          </a:p>
          <a:p>
            <a:pPr marL="457200" indent="-457200">
              <a:buAutoNum type="arabicPeriod"/>
            </a:pPr>
            <a:r>
              <a:rPr lang="bg-BG" dirty="0" smtClean="0"/>
              <a:t>Декриптиране на резултата, получен на етап 1 чрез ключа </a:t>
            </a:r>
            <a:r>
              <a:rPr lang="en-US" dirty="0" smtClean="0"/>
              <a:t>K2;</a:t>
            </a:r>
          </a:p>
          <a:p>
            <a:pPr marL="457200" indent="-457200">
              <a:buAutoNum type="arabicPeriod"/>
            </a:pPr>
            <a:r>
              <a:rPr lang="bg-BG" dirty="0" smtClean="0"/>
              <a:t>Криптиране на резултата от етап 2 чрез ключа К3, което е и видът на криптограмата.</a:t>
            </a:r>
          </a:p>
          <a:p>
            <a:r>
              <a:rPr lang="bg-BG" b="1" dirty="0" smtClean="0"/>
              <a:t>Декриптиране</a:t>
            </a:r>
            <a:r>
              <a:rPr lang="bg-BG" dirty="0" smtClean="0"/>
              <a:t> – обратно на криптирането:</a:t>
            </a:r>
          </a:p>
          <a:p>
            <a:pPr marL="457200" indent="-457200">
              <a:buAutoNum type="arabicPeriod"/>
            </a:pPr>
            <a:r>
              <a:rPr lang="bg-BG" dirty="0" smtClean="0"/>
              <a:t>Декриптиране чрез К3;</a:t>
            </a:r>
          </a:p>
          <a:p>
            <a:pPr marL="457200" indent="-457200">
              <a:buAutoNum type="arabicPeriod"/>
            </a:pPr>
            <a:r>
              <a:rPr lang="bg-BG" dirty="0" smtClean="0"/>
              <a:t>Криптиране с К2;</a:t>
            </a:r>
          </a:p>
          <a:p>
            <a:pPr marL="457200" indent="-457200">
              <a:buAutoNum type="arabicPeriod"/>
            </a:pPr>
            <a:r>
              <a:rPr lang="bg-BG" dirty="0" smtClean="0"/>
              <a:t>Декриптиране с К1.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331721"/>
            <a:ext cx="4034948" cy="355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08792"/>
      </p:ext>
    </p:extLst>
  </p:cSld>
  <p:clrMapOvr>
    <a:masterClrMapping/>
  </p:clrMapOvr>
  <p:transition spd="slow"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11887"/>
            <a:ext cx="8610600" cy="1293028"/>
          </a:xfrm>
        </p:spPr>
        <p:txBody>
          <a:bodyPr/>
          <a:lstStyle/>
          <a:p>
            <a:r>
              <a:rPr lang="en-US" dirty="0"/>
              <a:t>AES </a:t>
            </a:r>
            <a:r>
              <a:rPr lang="en-US" dirty="0" smtClean="0"/>
              <a:t>(Advanced </a:t>
            </a:r>
            <a:r>
              <a:rPr lang="en-US" dirty="0"/>
              <a:t>Encryption </a:t>
            </a:r>
            <a:r>
              <a:rPr lang="en-US" dirty="0" smtClean="0"/>
              <a:t>Standard)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4915"/>
            <a:ext cx="10820400" cy="505041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През януари </a:t>
            </a:r>
            <a:r>
              <a:rPr lang="ru-RU" b="1" dirty="0"/>
              <a:t>1997 г. </a:t>
            </a:r>
            <a:r>
              <a:rPr lang="en-US" dirty="0"/>
              <a:t>United States National Institute of Standards and Technology</a:t>
            </a:r>
            <a:r>
              <a:rPr lang="ru-RU" dirty="0" smtClean="0"/>
              <a:t>(NIST</a:t>
            </a:r>
            <a:r>
              <a:rPr lang="ru-RU" dirty="0"/>
              <a:t>) </a:t>
            </a:r>
            <a:r>
              <a:rPr lang="ru-RU" dirty="0" smtClean="0"/>
              <a:t>обявява, </a:t>
            </a:r>
            <a:r>
              <a:rPr lang="ru-RU" dirty="0"/>
              <a:t>че ще проведе </a:t>
            </a:r>
            <a:r>
              <a:rPr lang="ru-RU" b="1" dirty="0" smtClean="0"/>
              <a:t>състезание </a:t>
            </a:r>
            <a:r>
              <a:rPr lang="ru-RU" b="1" dirty="0"/>
              <a:t>за избор </a:t>
            </a:r>
            <a:r>
              <a:rPr lang="ru-RU" b="1" dirty="0" smtClean="0"/>
              <a:t>на</a:t>
            </a:r>
            <a:r>
              <a:rPr lang="en-US" b="1" dirty="0" smtClean="0"/>
              <a:t> </a:t>
            </a:r>
            <a:r>
              <a:rPr lang="ru-RU" b="1" dirty="0" smtClean="0"/>
              <a:t>нов </a:t>
            </a:r>
            <a:r>
              <a:rPr lang="ru-RU" b="1" dirty="0"/>
              <a:t>блоков </a:t>
            </a:r>
            <a:r>
              <a:rPr lang="bg-BG" b="1" dirty="0" smtClean="0"/>
              <a:t>алгоритъм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ru-RU" dirty="0"/>
              <a:t>който ще бъде наречен </a:t>
            </a:r>
            <a:r>
              <a:rPr lang="ru-RU" b="1" dirty="0"/>
              <a:t>Advanced Encryption Standard </a:t>
            </a:r>
            <a:r>
              <a:rPr lang="ru-RU" dirty="0"/>
              <a:t>или </a:t>
            </a:r>
            <a:r>
              <a:rPr lang="ru-RU" b="1" dirty="0"/>
              <a:t>AES</a:t>
            </a:r>
            <a:r>
              <a:rPr lang="ru-RU" dirty="0"/>
              <a:t> </a:t>
            </a:r>
            <a:r>
              <a:rPr lang="ru-RU" dirty="0" smtClean="0"/>
              <a:t>и ще</a:t>
            </a:r>
            <a:r>
              <a:rPr lang="en-US" dirty="0" smtClean="0"/>
              <a:t> </a:t>
            </a:r>
            <a:r>
              <a:rPr lang="ru-RU" dirty="0" smtClean="0"/>
              <a:t>замени </a:t>
            </a:r>
            <a:r>
              <a:rPr lang="ru-RU" dirty="0"/>
              <a:t>DES. </a:t>
            </a:r>
            <a:endParaRPr lang="ru-RU" dirty="0" smtClean="0"/>
          </a:p>
          <a:p>
            <a:r>
              <a:rPr lang="ru-RU" dirty="0" smtClean="0"/>
              <a:t>Състезанието започва </a:t>
            </a:r>
            <a:r>
              <a:rPr lang="ru-RU" dirty="0"/>
              <a:t>с отворена покана за </a:t>
            </a:r>
            <a:r>
              <a:rPr lang="ru-RU" dirty="0" smtClean="0"/>
              <a:t>представяне </a:t>
            </a:r>
            <a:r>
              <a:rPr lang="ru-RU" dirty="0"/>
              <a:t>на </a:t>
            </a:r>
            <a:r>
              <a:rPr lang="ru-RU" dirty="0" smtClean="0"/>
              <a:t>отбори</a:t>
            </a:r>
            <a:r>
              <a:rPr lang="en-US" dirty="0" smtClean="0"/>
              <a:t> </a:t>
            </a:r>
            <a:r>
              <a:rPr lang="ru-RU" dirty="0" smtClean="0"/>
              <a:t>кандидати -  общо </a:t>
            </a:r>
            <a:r>
              <a:rPr lang="ru-RU" b="1" dirty="0"/>
              <a:t>15 различни </a:t>
            </a:r>
            <a:r>
              <a:rPr lang="ru-RU" b="1" dirty="0" smtClean="0"/>
              <a:t>алгоритъма</a:t>
            </a:r>
            <a:r>
              <a:rPr lang="ru-RU" dirty="0" smtClean="0"/>
              <a:t> са </a:t>
            </a:r>
            <a:r>
              <a:rPr lang="ru-RU" dirty="0"/>
              <a:t>изпратени от цял ​​</a:t>
            </a:r>
            <a:r>
              <a:rPr lang="ru-RU" dirty="0" smtClean="0"/>
              <a:t>свят. </a:t>
            </a:r>
          </a:p>
          <a:p>
            <a:r>
              <a:rPr lang="ru-RU" dirty="0" smtClean="0"/>
              <a:t>Алгоритъмът </a:t>
            </a:r>
            <a:r>
              <a:rPr lang="ru-RU" dirty="0"/>
              <a:t>на </a:t>
            </a:r>
            <a:r>
              <a:rPr lang="ru-RU" dirty="0" smtClean="0"/>
              <a:t>всеки отбор е </a:t>
            </a:r>
            <a:r>
              <a:rPr lang="ru-RU" dirty="0"/>
              <a:t>интензивно анализиран от членове на NIST, обществеността и (особено</a:t>
            </a:r>
            <a:r>
              <a:rPr lang="ru-RU" dirty="0" smtClean="0"/>
              <a:t>)</a:t>
            </a:r>
            <a:r>
              <a:rPr lang="en-US" dirty="0" smtClean="0"/>
              <a:t> </a:t>
            </a:r>
            <a:r>
              <a:rPr lang="bg-BG" dirty="0" smtClean="0"/>
              <a:t>от </a:t>
            </a:r>
            <a:r>
              <a:rPr lang="ru-RU" dirty="0" smtClean="0"/>
              <a:t>другите </a:t>
            </a:r>
            <a:r>
              <a:rPr lang="ru-RU" dirty="0"/>
              <a:t>отбори. </a:t>
            </a:r>
            <a:endParaRPr lang="ru-RU" dirty="0" smtClean="0"/>
          </a:p>
          <a:p>
            <a:r>
              <a:rPr lang="ru-RU" dirty="0" smtClean="0"/>
              <a:t>Проведени са два </a:t>
            </a:r>
            <a:r>
              <a:rPr lang="ru-RU" dirty="0"/>
              <a:t>семинара, един през 1998 г. и един през 1999 </a:t>
            </a:r>
            <a:r>
              <a:rPr lang="ru-RU" dirty="0" smtClean="0"/>
              <a:t>г.</a:t>
            </a:r>
            <a:r>
              <a:rPr lang="en-US" dirty="0" smtClean="0"/>
              <a:t> </a:t>
            </a:r>
            <a:r>
              <a:rPr lang="bg-BG" dirty="0" smtClean="0"/>
              <a:t>за </a:t>
            </a:r>
            <a:r>
              <a:rPr lang="ru-RU" dirty="0" smtClean="0"/>
              <a:t>обсъждане </a:t>
            </a:r>
            <a:r>
              <a:rPr lang="ru-RU" dirty="0"/>
              <a:t>и </a:t>
            </a:r>
            <a:r>
              <a:rPr lang="ru-RU" dirty="0" smtClean="0"/>
              <a:t>анализиране на алгоритмите. </a:t>
            </a:r>
          </a:p>
          <a:p>
            <a:r>
              <a:rPr lang="ru-RU" dirty="0" smtClean="0"/>
              <a:t>След </a:t>
            </a:r>
            <a:r>
              <a:rPr lang="ru-RU" dirty="0"/>
              <a:t>втория семинар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NIST оставя </a:t>
            </a:r>
            <a:r>
              <a:rPr lang="ru-RU" b="1" dirty="0" smtClean="0"/>
              <a:t>5 </a:t>
            </a:r>
            <a:r>
              <a:rPr lang="ru-RU" b="1" dirty="0"/>
              <a:t>„финалисти“ </a:t>
            </a:r>
            <a:r>
              <a:rPr lang="ru-RU" dirty="0"/>
              <a:t>и </a:t>
            </a:r>
            <a:r>
              <a:rPr lang="ru-RU" dirty="0" smtClean="0"/>
              <a:t>започна вторият </a:t>
            </a:r>
            <a:r>
              <a:rPr lang="ru-RU" dirty="0"/>
              <a:t>кръг </a:t>
            </a:r>
            <a:r>
              <a:rPr lang="ru-RU" dirty="0" smtClean="0"/>
              <a:t>на</a:t>
            </a:r>
            <a:r>
              <a:rPr lang="en-US" dirty="0" smtClean="0"/>
              <a:t> </a:t>
            </a:r>
            <a:r>
              <a:rPr lang="ru-RU" dirty="0" smtClean="0"/>
              <a:t>състезанието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През </a:t>
            </a:r>
            <a:r>
              <a:rPr lang="ru-RU" b="1" dirty="0"/>
              <a:t>април 2000 г. </a:t>
            </a:r>
            <a:r>
              <a:rPr lang="ru-RU" dirty="0"/>
              <a:t>се </a:t>
            </a:r>
            <a:r>
              <a:rPr lang="ru-RU" dirty="0" smtClean="0"/>
              <a:t>провежда </a:t>
            </a:r>
            <a:r>
              <a:rPr lang="ru-RU" dirty="0"/>
              <a:t>трети </a:t>
            </a:r>
            <a:r>
              <a:rPr lang="ru-RU" dirty="0" smtClean="0"/>
              <a:t>семинар, </a:t>
            </a:r>
            <a:r>
              <a:rPr lang="ru-RU" dirty="0"/>
              <a:t>който </a:t>
            </a:r>
            <a:r>
              <a:rPr lang="ru-RU" dirty="0" smtClean="0"/>
              <a:t>прави</a:t>
            </a:r>
            <a:r>
              <a:rPr lang="en-US" dirty="0" smtClean="0"/>
              <a:t> </a:t>
            </a:r>
            <a:r>
              <a:rPr lang="ru-RU" dirty="0" smtClean="0"/>
              <a:t>допълнителен </a:t>
            </a:r>
            <a:r>
              <a:rPr lang="ru-RU" dirty="0"/>
              <a:t>преглед на петимата финалисти. През </a:t>
            </a:r>
            <a:r>
              <a:rPr lang="ru-RU" b="1" dirty="0"/>
              <a:t>октомври 2000 г. </a:t>
            </a:r>
            <a:r>
              <a:rPr lang="ru-RU" dirty="0"/>
              <a:t>NIST </a:t>
            </a:r>
            <a:r>
              <a:rPr lang="ru-RU" dirty="0" smtClean="0"/>
              <a:t>обявява,</a:t>
            </a:r>
            <a:r>
              <a:rPr lang="en-US" dirty="0" smtClean="0"/>
              <a:t> </a:t>
            </a:r>
            <a:r>
              <a:rPr lang="ru-RU" dirty="0" smtClean="0"/>
              <a:t>че </a:t>
            </a:r>
            <a:r>
              <a:rPr lang="ru-RU" dirty="0"/>
              <a:t>печелившият алгоритъм е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Rijndael </a:t>
            </a:r>
            <a:r>
              <a:rPr lang="ru-RU" dirty="0"/>
              <a:t>(блоков </a:t>
            </a:r>
            <a:r>
              <a:rPr lang="ru-RU" dirty="0" smtClean="0"/>
              <a:t>алгоритъм, </a:t>
            </a:r>
            <a:r>
              <a:rPr lang="ru-RU" dirty="0"/>
              <a:t>проектиран </a:t>
            </a:r>
            <a:r>
              <a:rPr lang="ru-RU" dirty="0" smtClean="0"/>
              <a:t>от</a:t>
            </a:r>
            <a:r>
              <a:rPr lang="en-US" dirty="0" smtClean="0"/>
              <a:t> </a:t>
            </a:r>
            <a:r>
              <a:rPr lang="ru-RU" dirty="0" smtClean="0"/>
              <a:t>белгийските </a:t>
            </a:r>
            <a:r>
              <a:rPr lang="ru-RU" dirty="0"/>
              <a:t>криптографи </a:t>
            </a:r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Vincent Rijmen и Joan </a:t>
            </a:r>
            <a:r>
              <a:rPr lang="ru-RU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Daemen </a:t>
            </a:r>
            <a:r>
              <a:rPr lang="ru-RU" dirty="0" smtClean="0"/>
              <a:t>и както става известен като </a:t>
            </a:r>
            <a:r>
              <a:rPr lang="en-US" b="1" dirty="0" smtClean="0"/>
              <a:t>AES</a:t>
            </a:r>
            <a:r>
              <a:rPr lang="ru-RU" b="1" dirty="0" smtClean="0"/>
              <a:t> </a:t>
            </a:r>
            <a:r>
              <a:rPr lang="ru-RU" dirty="0" smtClean="0"/>
              <a:t>), </a:t>
            </a:r>
            <a:r>
              <a:rPr lang="ru-RU" dirty="0"/>
              <a:t>въпреки че </a:t>
            </a:r>
            <a:r>
              <a:rPr lang="ru-RU" dirty="0" smtClean="0"/>
              <a:t>NIST признава, </a:t>
            </a:r>
            <a:r>
              <a:rPr lang="ru-RU" dirty="0"/>
              <a:t>че всеки от 5-те финалисти </a:t>
            </a:r>
            <a:r>
              <a:rPr lang="ru-RU" dirty="0" smtClean="0"/>
              <a:t>са отлични алгорирми, за които не </a:t>
            </a:r>
            <a:r>
              <a:rPr lang="ru-RU" dirty="0"/>
              <a:t>са открити сериозни пропуски в сигурността </a:t>
            </a:r>
            <a:r>
              <a:rPr lang="bg-BG" dirty="0" smtClean="0"/>
              <a:t>.</a:t>
            </a:r>
          </a:p>
          <a:p>
            <a:r>
              <a:rPr lang="ru-RU" dirty="0" smtClean="0"/>
              <a:t>Изборът </a:t>
            </a:r>
            <a:r>
              <a:rPr lang="ru-RU" dirty="0"/>
              <a:t>на „победител“ се </a:t>
            </a:r>
            <a:r>
              <a:rPr lang="ru-RU" dirty="0" smtClean="0"/>
              <a:t>основава </a:t>
            </a:r>
            <a:r>
              <a:rPr lang="ru-RU" dirty="0"/>
              <a:t>отчасти на такива </a:t>
            </a:r>
            <a:r>
              <a:rPr lang="ru-RU" dirty="0" smtClean="0"/>
              <a:t>свойства като </a:t>
            </a:r>
            <a:r>
              <a:rPr lang="ru-RU" b="1" dirty="0"/>
              <a:t>ефективност, хардуерна производителност, гъвкавост </a:t>
            </a:r>
            <a:r>
              <a:rPr lang="ru-RU" dirty="0"/>
              <a:t>и др.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12136"/>
      </p:ext>
    </p:extLst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7513" y="709226"/>
            <a:ext cx="8610600" cy="1293028"/>
          </a:xfrm>
        </p:spPr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AES</a:t>
            </a:r>
            <a:r>
              <a:rPr lang="ru-RU" dirty="0"/>
              <a:t> блоковият </a:t>
            </a:r>
            <a:r>
              <a:rPr lang="ru-RU" dirty="0" smtClean="0"/>
              <a:t>алгоритъм </a:t>
            </a:r>
            <a:r>
              <a:rPr lang="ru-RU" dirty="0"/>
              <a:t>има </a:t>
            </a:r>
            <a:r>
              <a:rPr lang="ru-RU" b="1" dirty="0"/>
              <a:t>128-битова дължина на блока </a:t>
            </a:r>
            <a:r>
              <a:rPr lang="ru-RU" dirty="0"/>
              <a:t>и може да използва </a:t>
            </a:r>
            <a:r>
              <a:rPr lang="ru-RU" dirty="0" smtClean="0"/>
              <a:t>128- (10 цикъла), </a:t>
            </a:r>
            <a:r>
              <a:rPr lang="ru-RU" dirty="0"/>
              <a:t>192- </a:t>
            </a:r>
            <a:r>
              <a:rPr lang="ru-RU" dirty="0" smtClean="0"/>
              <a:t>(12 цикъла) или 256- (14 цикъла) битови </a:t>
            </a:r>
            <a:r>
              <a:rPr lang="ru-RU" dirty="0"/>
              <a:t>ключове. </a:t>
            </a:r>
            <a:endParaRPr lang="ru-RU" dirty="0" smtClean="0"/>
          </a:p>
          <a:p>
            <a:r>
              <a:rPr lang="ru-RU" b="1" dirty="0" smtClean="0"/>
              <a:t>Дължината </a:t>
            </a:r>
            <a:r>
              <a:rPr lang="ru-RU" b="1" dirty="0"/>
              <a:t>на ключа влияе върху графика на ключовете </a:t>
            </a:r>
            <a:r>
              <a:rPr lang="ru-RU" dirty="0"/>
              <a:t>(т.е. </a:t>
            </a:r>
            <a:r>
              <a:rPr lang="ru-RU" dirty="0" smtClean="0"/>
              <a:t>на подключа, който </a:t>
            </a:r>
            <a:r>
              <a:rPr lang="ru-RU" dirty="0"/>
              <a:t>се използва във всеки </a:t>
            </a:r>
            <a:r>
              <a:rPr lang="ru-RU" dirty="0" smtClean="0"/>
              <a:t>цикъл), </a:t>
            </a:r>
            <a:r>
              <a:rPr lang="ru-RU" dirty="0"/>
              <a:t>както и </a:t>
            </a:r>
            <a:r>
              <a:rPr lang="ru-RU" dirty="0" smtClean="0"/>
              <a:t>на броя </a:t>
            </a:r>
            <a:r>
              <a:rPr lang="ru-RU" dirty="0"/>
              <a:t>на </a:t>
            </a:r>
            <a:r>
              <a:rPr lang="ru-RU" dirty="0" smtClean="0"/>
              <a:t>циклите, </a:t>
            </a:r>
            <a:r>
              <a:rPr lang="ru-RU" dirty="0"/>
              <a:t>но </a:t>
            </a:r>
            <a:r>
              <a:rPr lang="ru-RU" u="sng" dirty="0" smtClean="0"/>
              <a:t>не влияе </a:t>
            </a:r>
            <a:r>
              <a:rPr lang="ru-RU" u="sng" dirty="0"/>
              <a:t>върху структурата на високо ниво на всеки </a:t>
            </a:r>
            <a:r>
              <a:rPr lang="ru-RU" u="sng" dirty="0" smtClean="0"/>
              <a:t>цикъл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u="sng" dirty="0"/>
              <a:t>За разлика от </a:t>
            </a:r>
            <a:r>
              <a:rPr lang="ru-RU" b="1" u="sng" dirty="0">
                <a:solidFill>
                  <a:schemeClr val="accent4">
                    <a:lumMod val="75000"/>
                  </a:schemeClr>
                </a:solidFill>
              </a:rPr>
              <a:t>DES</a:t>
            </a:r>
            <a:r>
              <a:rPr lang="ru-RU" u="sng" dirty="0"/>
              <a:t>, който използва </a:t>
            </a:r>
            <a:r>
              <a:rPr lang="ru-RU" b="1" u="sng" dirty="0" smtClean="0">
                <a:solidFill>
                  <a:schemeClr val="accent4">
                    <a:lumMod val="75000"/>
                  </a:schemeClr>
                </a:solidFill>
              </a:rPr>
              <a:t>мрежата </a:t>
            </a:r>
            <a:r>
              <a:rPr lang="ru-RU" b="1" u="sng" dirty="0">
                <a:solidFill>
                  <a:schemeClr val="accent4">
                    <a:lumMod val="75000"/>
                  </a:schemeClr>
                </a:solidFill>
              </a:rPr>
              <a:t>на Feistel</a:t>
            </a:r>
            <a:r>
              <a:rPr lang="ru-RU" u="sng" dirty="0"/>
              <a:t>, </a:t>
            </a:r>
            <a:r>
              <a:rPr lang="ru-RU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AES</a:t>
            </a:r>
            <a:r>
              <a:rPr lang="ru-RU" u="sng" dirty="0"/>
              <a:t> </a:t>
            </a:r>
            <a:r>
              <a:rPr lang="ru-RU" u="sng" dirty="0" smtClean="0"/>
              <a:t>използва </a:t>
            </a:r>
            <a:r>
              <a:rPr lang="ru-RU" b="1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субституционно-пермутационна </a:t>
            </a:r>
            <a:r>
              <a:rPr lang="ru-RU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мрежа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време на изчислението на алгоритъма AES, масив от байтове 4 </a:t>
            </a:r>
            <a:r>
              <a:rPr lang="ru-RU" dirty="0" smtClean="0"/>
              <a:t>по </a:t>
            </a:r>
            <a:r>
              <a:rPr lang="ru-RU" dirty="0"/>
              <a:t>4, наречен </a:t>
            </a:r>
            <a:r>
              <a:rPr lang="ru-RU" b="1" i="1" dirty="0" smtClean="0">
                <a:solidFill>
                  <a:srgbClr val="FF0000"/>
                </a:solidFill>
              </a:rPr>
              <a:t>състояние (</a:t>
            </a:r>
            <a:r>
              <a:rPr lang="en-US" b="1" i="1" dirty="0" smtClean="0">
                <a:solidFill>
                  <a:srgbClr val="FF0000"/>
                </a:solidFill>
              </a:rPr>
              <a:t>state</a:t>
            </a:r>
            <a:r>
              <a:rPr lang="ru-RU" b="1" i="1" dirty="0" smtClean="0">
                <a:solidFill>
                  <a:srgbClr val="FF0000"/>
                </a:solidFill>
              </a:rPr>
              <a:t>)</a:t>
            </a:r>
            <a:r>
              <a:rPr lang="ru-RU" b="1" dirty="0" smtClean="0">
                <a:solidFill>
                  <a:srgbClr val="FF0000"/>
                </a:solidFill>
              </a:rPr>
              <a:t>, </a:t>
            </a:r>
            <a:r>
              <a:rPr lang="ru-RU" dirty="0"/>
              <a:t>се модифицира в </a:t>
            </a:r>
            <a:r>
              <a:rPr lang="ru-RU" dirty="0" smtClean="0"/>
              <a:t>поредицата </a:t>
            </a:r>
            <a:r>
              <a:rPr lang="ru-RU" dirty="0"/>
              <a:t>от </a:t>
            </a:r>
            <a:r>
              <a:rPr lang="ru-RU" dirty="0" smtClean="0"/>
              <a:t>цикли.</a:t>
            </a:r>
            <a:endParaRPr lang="ru-RU" dirty="0"/>
          </a:p>
          <a:p>
            <a:r>
              <a:rPr lang="ru-RU" dirty="0"/>
              <a:t>Първоначално </a:t>
            </a:r>
            <a:r>
              <a:rPr lang="ru-RU" b="1" i="1" dirty="0">
                <a:solidFill>
                  <a:srgbClr val="FF0000"/>
                </a:solidFill>
              </a:rPr>
              <a:t>състоянието</a:t>
            </a:r>
            <a:r>
              <a:rPr lang="ru-RU" dirty="0"/>
              <a:t> е равно на входа </a:t>
            </a:r>
            <a:r>
              <a:rPr lang="ru-RU" dirty="0" smtClean="0"/>
              <a:t>на алгоритъма (128 </a:t>
            </a:r>
            <a:r>
              <a:rPr lang="ru-RU" dirty="0"/>
              <a:t>бита, което е точно 16 байта). </a:t>
            </a:r>
            <a:endParaRPr lang="ru-RU" dirty="0" smtClean="0"/>
          </a:p>
          <a:p>
            <a:r>
              <a:rPr lang="ru-RU" dirty="0" smtClean="0"/>
              <a:t>Тогава, се прилагат следните операции към </a:t>
            </a:r>
            <a:r>
              <a:rPr lang="ru-RU" b="1" i="1" dirty="0" smtClean="0">
                <a:solidFill>
                  <a:srgbClr val="FF0000"/>
                </a:solidFill>
              </a:rPr>
              <a:t>състоянието</a:t>
            </a:r>
            <a:r>
              <a:rPr lang="ru-RU" dirty="0" smtClean="0"/>
              <a:t> като последователност от </a:t>
            </a:r>
            <a:r>
              <a:rPr lang="ru-RU" b="1" dirty="0"/>
              <a:t>четири </a:t>
            </a:r>
            <a:r>
              <a:rPr lang="ru-RU" b="1" dirty="0" smtClean="0"/>
              <a:t>етапа</a:t>
            </a:r>
            <a:r>
              <a:rPr lang="ru-RU" dirty="0" smtClean="0"/>
              <a:t>, характерни за </a:t>
            </a:r>
            <a:r>
              <a:rPr lang="ru-RU" b="1" dirty="0" smtClean="0"/>
              <a:t>всеки цикъл</a:t>
            </a:r>
            <a:r>
              <a:rPr lang="ru-RU" dirty="0" smtClean="0"/>
              <a:t>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649"/>
            <a:ext cx="4067812" cy="14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18692"/>
      </p:ext>
    </p:extLst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97445"/>
            <a:ext cx="8610600" cy="1293028"/>
          </a:xfrm>
        </p:spPr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3632" y="1490473"/>
            <a:ext cx="7926434" cy="5129783"/>
          </a:xfrm>
        </p:spPr>
        <p:txBody>
          <a:bodyPr>
            <a:normAutofit fontScale="85000" lnSpcReduction="20000"/>
          </a:bodyPr>
          <a:lstStyle/>
          <a:p>
            <a:r>
              <a:rPr lang="bg-BG" b="1" dirty="0" smtClean="0"/>
              <a:t>Етап</a:t>
            </a:r>
            <a:r>
              <a:rPr lang="en-US" b="1" dirty="0" smtClean="0"/>
              <a:t> 1</a:t>
            </a:r>
            <a:r>
              <a:rPr lang="bg-BG" b="1" dirty="0" smtClean="0"/>
              <a:t>: Добавяне ключ на цикъла</a:t>
            </a:r>
            <a:r>
              <a:rPr lang="en-US" b="1" dirty="0" smtClean="0"/>
              <a:t> </a:t>
            </a:r>
            <a:r>
              <a:rPr lang="bg-BG" b="1" dirty="0" smtClean="0"/>
              <a:t>(</a:t>
            </a:r>
            <a:r>
              <a:rPr lang="en-US" b="1" dirty="0" smtClean="0"/>
              <a:t>Add</a:t>
            </a:r>
            <a:r>
              <a:rPr lang="bg-BG" b="1" dirty="0" smtClean="0"/>
              <a:t> </a:t>
            </a:r>
            <a:r>
              <a:rPr lang="en-US" b="1" dirty="0" smtClean="0"/>
              <a:t>Round</a:t>
            </a:r>
            <a:r>
              <a:rPr lang="bg-BG" b="1" dirty="0" smtClean="0"/>
              <a:t> </a:t>
            </a:r>
            <a:r>
              <a:rPr lang="en-US" b="1" dirty="0" smtClean="0"/>
              <a:t>Key</a:t>
            </a:r>
            <a:r>
              <a:rPr lang="bg-BG" b="1" dirty="0" smtClean="0"/>
              <a:t>) </a:t>
            </a:r>
            <a:r>
              <a:rPr lang="bg-BG" dirty="0" smtClean="0"/>
              <a:t>-</a:t>
            </a:r>
            <a:r>
              <a:rPr lang="en-US" dirty="0" smtClean="0"/>
              <a:t> </a:t>
            </a:r>
            <a:r>
              <a:rPr lang="bg-BG" dirty="0" smtClean="0"/>
              <a:t>Във всеки цикъл се генерира </a:t>
            </a:r>
            <a:r>
              <a:rPr lang="en-US" b="1" dirty="0" smtClean="0"/>
              <a:t>128-</a:t>
            </a:r>
            <a:r>
              <a:rPr lang="bg-BG" b="1" dirty="0" smtClean="0"/>
              <a:t>битов</a:t>
            </a:r>
            <a:r>
              <a:rPr lang="en-US" b="1" dirty="0" smtClean="0"/>
              <a:t> </a:t>
            </a:r>
            <a:r>
              <a:rPr lang="bg-BG" b="1" dirty="0" err="1" smtClean="0"/>
              <a:t>подключ</a:t>
            </a:r>
            <a:r>
              <a:rPr lang="bg-BG" b="1" dirty="0" smtClean="0"/>
              <a:t> </a:t>
            </a:r>
            <a:r>
              <a:rPr lang="bg-BG" dirty="0" smtClean="0"/>
              <a:t>от главния и той се разглежда като масив </a:t>
            </a:r>
            <a:r>
              <a:rPr lang="en-US" dirty="0" smtClean="0"/>
              <a:t>4-</a:t>
            </a:r>
            <a:r>
              <a:rPr lang="bg-BG" dirty="0" smtClean="0"/>
              <a:t>по</a:t>
            </a:r>
            <a:r>
              <a:rPr lang="en-US" dirty="0" smtClean="0"/>
              <a:t>-4 </a:t>
            </a:r>
            <a:r>
              <a:rPr lang="bg-BG" dirty="0" smtClean="0"/>
              <a:t>бита</a:t>
            </a:r>
            <a:r>
              <a:rPr lang="en-US" dirty="0" smtClean="0"/>
              <a:t>. </a:t>
            </a:r>
            <a:r>
              <a:rPr lang="bg-BG" dirty="0" smtClean="0"/>
              <a:t>Масивът на състоянието се обновява чрез </a:t>
            </a:r>
            <a:r>
              <a:rPr lang="en-US" dirty="0" smtClean="0"/>
              <a:t>XOR</a:t>
            </a:r>
            <a:r>
              <a:rPr lang="bg-BG" dirty="0" smtClean="0"/>
              <a:t> с </a:t>
            </a:r>
            <a:r>
              <a:rPr lang="bg-BG" dirty="0" err="1" smtClean="0"/>
              <a:t>подключа</a:t>
            </a:r>
            <a:r>
              <a:rPr lang="en-US" dirty="0" smtClean="0"/>
              <a:t>. </a:t>
            </a:r>
            <a:endParaRPr lang="bg-BG" dirty="0" smtClean="0"/>
          </a:p>
          <a:p>
            <a:r>
              <a:rPr lang="bg-BG" b="1" dirty="0" smtClean="0"/>
              <a:t>Етап</a:t>
            </a:r>
            <a:r>
              <a:rPr lang="en-US" b="1" dirty="0" smtClean="0"/>
              <a:t> 2</a:t>
            </a:r>
            <a:r>
              <a:rPr lang="bg-BG" b="1" dirty="0" smtClean="0"/>
              <a:t>: Замяна на един байт с друг байт</a:t>
            </a:r>
            <a:r>
              <a:rPr lang="en-US" b="1" dirty="0" smtClean="0"/>
              <a:t> </a:t>
            </a:r>
            <a:r>
              <a:rPr lang="bg-BG" b="1" dirty="0"/>
              <a:t>(</a:t>
            </a:r>
            <a:r>
              <a:rPr lang="en-US" b="1" dirty="0" err="1" smtClean="0"/>
              <a:t>SubBytes</a:t>
            </a:r>
            <a:r>
              <a:rPr lang="bg-BG" b="1" dirty="0" smtClean="0"/>
              <a:t>) </a:t>
            </a:r>
            <a:r>
              <a:rPr lang="bg-BG" dirty="0" smtClean="0"/>
              <a:t>–</a:t>
            </a:r>
            <a:r>
              <a:rPr lang="en-US" dirty="0" smtClean="0"/>
              <a:t> </a:t>
            </a:r>
            <a:r>
              <a:rPr lang="bg-BG" dirty="0" smtClean="0"/>
              <a:t>Всеки байт от масива на състоянието се заменя от друг байт съгласно фиксирана таблица</a:t>
            </a:r>
            <a:r>
              <a:rPr lang="en-US" dirty="0" smtClean="0"/>
              <a:t> S (S-</a:t>
            </a:r>
            <a:r>
              <a:rPr lang="bg-BG" dirty="0" smtClean="0"/>
              <a:t>кутия</a:t>
            </a:r>
            <a:r>
              <a:rPr lang="en-US" dirty="0" smtClean="0"/>
              <a:t>). </a:t>
            </a:r>
            <a:endParaRPr lang="bg-BG" dirty="0" smtClean="0"/>
          </a:p>
          <a:p>
            <a:r>
              <a:rPr lang="bg-BG" b="1" dirty="0" smtClean="0"/>
              <a:t>Етап</a:t>
            </a:r>
            <a:r>
              <a:rPr lang="en-US" b="1" dirty="0" smtClean="0"/>
              <a:t> 3</a:t>
            </a:r>
            <a:r>
              <a:rPr lang="bg-BG" b="1" dirty="0" smtClean="0"/>
              <a:t>: Изместване на редове</a:t>
            </a:r>
            <a:r>
              <a:rPr lang="en-US" b="1" dirty="0" smtClean="0"/>
              <a:t> </a:t>
            </a:r>
            <a:r>
              <a:rPr lang="bg-BG" b="1" dirty="0"/>
              <a:t>(</a:t>
            </a:r>
            <a:r>
              <a:rPr lang="en-US" b="1" dirty="0" err="1" smtClean="0"/>
              <a:t>ShiftRows</a:t>
            </a:r>
            <a:r>
              <a:rPr lang="bg-BG" b="1" dirty="0" smtClean="0"/>
              <a:t>) </a:t>
            </a:r>
            <a:r>
              <a:rPr lang="bg-BG" dirty="0" smtClean="0"/>
              <a:t>- </a:t>
            </a:r>
            <a:r>
              <a:rPr lang="en-US" dirty="0" smtClean="0"/>
              <a:t> </a:t>
            </a:r>
            <a:r>
              <a:rPr lang="bg-BG" dirty="0" smtClean="0"/>
              <a:t>Байтовете във всеки ред на масива на състоянието са изместени наляво по начина</a:t>
            </a:r>
            <a:r>
              <a:rPr lang="en-US" dirty="0" smtClean="0"/>
              <a:t>: </a:t>
            </a:r>
            <a:r>
              <a:rPr lang="bg-BG" dirty="0" smtClean="0"/>
              <a:t>първият ред на масива не се променя, вторият ред се измества с едно място наляво, третият ред се измества с две места наляво и четвъртият ред се измества с три места наляво</a:t>
            </a:r>
            <a:r>
              <a:rPr lang="en-US" dirty="0" smtClean="0"/>
              <a:t>. </a:t>
            </a:r>
            <a:r>
              <a:rPr lang="bg-BG" dirty="0" smtClean="0"/>
              <a:t>Всички измествания са циклични – например на втория ред първият байт става четвърти. </a:t>
            </a:r>
          </a:p>
          <a:p>
            <a:r>
              <a:rPr lang="bg-BG" b="1" dirty="0" smtClean="0"/>
              <a:t>Етап</a:t>
            </a:r>
            <a:r>
              <a:rPr lang="en-US" b="1" dirty="0" smtClean="0"/>
              <a:t> 4</a:t>
            </a:r>
            <a:r>
              <a:rPr lang="bg-BG" b="1" dirty="0" smtClean="0"/>
              <a:t>:</a:t>
            </a:r>
            <a:r>
              <a:rPr lang="en-US" b="1" dirty="0" smtClean="0"/>
              <a:t> </a:t>
            </a:r>
            <a:r>
              <a:rPr lang="bg-BG" b="1" dirty="0" smtClean="0"/>
              <a:t>Смесване на колони (</a:t>
            </a:r>
            <a:r>
              <a:rPr lang="en-US" b="1" dirty="0" err="1" smtClean="0"/>
              <a:t>MixColumn</a:t>
            </a:r>
            <a:r>
              <a:rPr lang="bg-BG" b="1" dirty="0" smtClean="0"/>
              <a:t>) </a:t>
            </a:r>
            <a:r>
              <a:rPr lang="bg-BG" dirty="0" smtClean="0"/>
              <a:t>- </a:t>
            </a:r>
            <a:r>
              <a:rPr lang="en-US" dirty="0" smtClean="0"/>
              <a:t> </a:t>
            </a:r>
            <a:r>
              <a:rPr lang="bg-BG" dirty="0" smtClean="0"/>
              <a:t>Прилага се необратима трансформация към четирите байта във всяка колона</a:t>
            </a:r>
            <a:r>
              <a:rPr lang="en-US" dirty="0" smtClean="0"/>
              <a:t>. (</a:t>
            </a:r>
            <a:r>
              <a:rPr lang="bg-BG" dirty="0" smtClean="0"/>
              <a:t>Това е линейна трансформация</a:t>
            </a:r>
            <a:r>
              <a:rPr lang="bg-BG" dirty="0"/>
              <a:t> </a:t>
            </a:r>
            <a:r>
              <a:rPr lang="bg-BG" dirty="0" smtClean="0"/>
              <a:t>– матрично умножение</a:t>
            </a:r>
            <a:r>
              <a:rPr lang="en-US" dirty="0" smtClean="0"/>
              <a:t>.) </a:t>
            </a:r>
            <a:r>
              <a:rPr lang="bg-BG" dirty="0" smtClean="0"/>
              <a:t>Трансформацията се характеризира със свойството: ако два входа се различават с </a:t>
            </a:r>
            <a:r>
              <a:rPr lang="en-US" dirty="0" smtClean="0"/>
              <a:t>b </a:t>
            </a:r>
            <a:r>
              <a:rPr lang="en-US" dirty="0"/>
              <a:t>&gt; 0 </a:t>
            </a:r>
            <a:r>
              <a:rPr lang="bg-BG" dirty="0" smtClean="0"/>
              <a:t>байта</a:t>
            </a:r>
            <a:r>
              <a:rPr lang="en-US" dirty="0" smtClean="0"/>
              <a:t>, </a:t>
            </a:r>
            <a:r>
              <a:rPr lang="bg-BG" dirty="0" smtClean="0"/>
              <a:t>тогава тази трансформация поражда два изхода, различаващи се с най-малко </a:t>
            </a:r>
            <a:r>
              <a:rPr lang="en-US" dirty="0" smtClean="0"/>
              <a:t>5 </a:t>
            </a:r>
            <a:r>
              <a:rPr lang="en-US" dirty="0"/>
              <a:t>− b </a:t>
            </a:r>
            <a:r>
              <a:rPr lang="bg-BG" dirty="0" smtClean="0"/>
              <a:t>байта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6" y="1274070"/>
            <a:ext cx="3514725" cy="5076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5824" y="6481756"/>
            <a:ext cx="75956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https://en.wikipedia.org/wiki/Advanced_Encryption_Standard</a:t>
            </a:r>
          </a:p>
        </p:txBody>
      </p:sp>
    </p:spTree>
    <p:extLst>
      <p:ext uri="{BB962C8B-B14F-4D97-AF65-F5344CB8AC3E}">
        <p14:creationId xmlns:p14="http://schemas.microsoft.com/office/powerpoint/2010/main" val="1387966694"/>
      </p:ext>
    </p:extLst>
  </p:cSld>
  <p:clrMapOvr>
    <a:masterClrMapping/>
  </p:clrMapOvr>
  <p:transition spd="slow"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6944" y="2194560"/>
            <a:ext cx="6239256" cy="4024125"/>
          </a:xfrm>
        </p:spPr>
        <p:txBody>
          <a:bodyPr/>
          <a:lstStyle/>
          <a:p>
            <a:r>
              <a:rPr lang="bg-BG" b="1" dirty="0"/>
              <a:t>Етап</a:t>
            </a:r>
            <a:r>
              <a:rPr lang="en-US" b="1" dirty="0"/>
              <a:t> 1</a:t>
            </a:r>
            <a:r>
              <a:rPr lang="bg-BG" b="1" dirty="0"/>
              <a:t>: Добавяне ключ на цикъла</a:t>
            </a:r>
            <a:r>
              <a:rPr lang="en-US" b="1" dirty="0"/>
              <a:t> </a:t>
            </a:r>
            <a:r>
              <a:rPr lang="bg-BG" b="1" dirty="0"/>
              <a:t>(</a:t>
            </a:r>
            <a:r>
              <a:rPr lang="en-US" b="1" dirty="0"/>
              <a:t>Add</a:t>
            </a:r>
            <a:r>
              <a:rPr lang="bg-BG" b="1" dirty="0"/>
              <a:t> </a:t>
            </a:r>
            <a:r>
              <a:rPr lang="en-US" b="1" dirty="0"/>
              <a:t>Round</a:t>
            </a:r>
            <a:r>
              <a:rPr lang="bg-BG" b="1" dirty="0"/>
              <a:t> </a:t>
            </a:r>
            <a:r>
              <a:rPr lang="en-US" b="1" dirty="0"/>
              <a:t>Key</a:t>
            </a:r>
            <a:r>
              <a:rPr lang="bg-BG" b="1" dirty="0"/>
              <a:t>) </a:t>
            </a:r>
            <a:r>
              <a:rPr lang="bg-BG" dirty="0"/>
              <a:t>-</a:t>
            </a:r>
            <a:r>
              <a:rPr lang="en-US" dirty="0"/>
              <a:t> </a:t>
            </a:r>
            <a:r>
              <a:rPr lang="bg-BG" dirty="0"/>
              <a:t>Във всеки цикъл се генерира </a:t>
            </a:r>
            <a:r>
              <a:rPr lang="en-US" dirty="0"/>
              <a:t>128-</a:t>
            </a:r>
            <a:r>
              <a:rPr lang="bg-BG" dirty="0"/>
              <a:t>битов</a:t>
            </a:r>
            <a:r>
              <a:rPr lang="en-US" dirty="0"/>
              <a:t> </a:t>
            </a:r>
            <a:r>
              <a:rPr lang="bg-BG" dirty="0" err="1"/>
              <a:t>подключ</a:t>
            </a:r>
            <a:r>
              <a:rPr lang="bg-BG" dirty="0"/>
              <a:t> от основния и той се разглежда като масив </a:t>
            </a:r>
            <a:r>
              <a:rPr lang="en-US" dirty="0"/>
              <a:t>4-</a:t>
            </a:r>
            <a:r>
              <a:rPr lang="bg-BG" dirty="0"/>
              <a:t>по</a:t>
            </a:r>
            <a:r>
              <a:rPr lang="en-US" dirty="0"/>
              <a:t>-4 </a:t>
            </a:r>
            <a:r>
              <a:rPr lang="bg-BG" dirty="0"/>
              <a:t>бита</a:t>
            </a:r>
            <a:r>
              <a:rPr lang="en-US" dirty="0"/>
              <a:t>. </a:t>
            </a:r>
            <a:r>
              <a:rPr lang="bg-BG" dirty="0"/>
              <a:t>Масивът на състоянието се обновява чрез </a:t>
            </a:r>
            <a:r>
              <a:rPr lang="en-US" dirty="0"/>
              <a:t>XOR</a:t>
            </a:r>
            <a:r>
              <a:rPr lang="bg-BG" dirty="0"/>
              <a:t> с </a:t>
            </a:r>
            <a:r>
              <a:rPr lang="bg-BG" dirty="0" err="1"/>
              <a:t>подключа</a:t>
            </a:r>
            <a:r>
              <a:rPr lang="en-US" dirty="0"/>
              <a:t>. </a:t>
            </a:r>
            <a:endParaRPr lang="bg-BG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65" b="2648"/>
          <a:stretch/>
        </p:blipFill>
        <p:spPr>
          <a:xfrm>
            <a:off x="384048" y="2411159"/>
            <a:ext cx="4518469" cy="349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44433"/>
      </p:ext>
    </p:extLst>
  </p:cSld>
  <p:clrMapOvr>
    <a:masterClrMapping/>
  </p:clrMapOvr>
  <p:transition spd="slow">
    <p:randomBar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2512" y="2194560"/>
            <a:ext cx="5123688" cy="4024125"/>
          </a:xfrm>
        </p:spPr>
        <p:txBody>
          <a:bodyPr/>
          <a:lstStyle/>
          <a:p>
            <a:r>
              <a:rPr lang="bg-BG" b="1" dirty="0"/>
              <a:t>Етап</a:t>
            </a:r>
            <a:r>
              <a:rPr lang="en-US" b="1" dirty="0"/>
              <a:t> 2</a:t>
            </a:r>
            <a:r>
              <a:rPr lang="bg-BG" b="1" dirty="0"/>
              <a:t>: Замяна на един байт с друг байт</a:t>
            </a:r>
            <a:r>
              <a:rPr lang="en-US" b="1" dirty="0"/>
              <a:t> </a:t>
            </a:r>
            <a:r>
              <a:rPr lang="bg-BG" dirty="0"/>
              <a:t>(</a:t>
            </a:r>
            <a:r>
              <a:rPr lang="en-US" dirty="0" err="1"/>
              <a:t>SubBytes</a:t>
            </a:r>
            <a:r>
              <a:rPr lang="bg-BG" dirty="0"/>
              <a:t>) –</a:t>
            </a:r>
            <a:r>
              <a:rPr lang="en-US" dirty="0"/>
              <a:t> </a:t>
            </a:r>
            <a:r>
              <a:rPr lang="bg-BG" dirty="0"/>
              <a:t>Всеки байт от масива на състоянието се заменя от друг байт съгласно фиксирана таблица</a:t>
            </a:r>
            <a:r>
              <a:rPr lang="en-US" dirty="0"/>
              <a:t> S (S-</a:t>
            </a:r>
            <a:r>
              <a:rPr lang="bg-BG" dirty="0"/>
              <a:t>кутия</a:t>
            </a:r>
            <a:r>
              <a:rPr lang="en-US" dirty="0"/>
              <a:t>). </a:t>
            </a:r>
            <a:endParaRPr lang="bg-BG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001"/>
          <a:stretch/>
        </p:blipFill>
        <p:spPr>
          <a:xfrm>
            <a:off x="658939" y="2880360"/>
            <a:ext cx="5860733" cy="295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21405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063" y="2194560"/>
            <a:ext cx="6652307" cy="4024125"/>
          </a:xfrm>
        </p:spPr>
        <p:txBody>
          <a:bodyPr>
            <a:normAutofit lnSpcReduction="10000"/>
          </a:bodyPr>
          <a:lstStyle/>
          <a:p>
            <a:r>
              <a:rPr lang="bg-BG" b="1" dirty="0"/>
              <a:t>Етап</a:t>
            </a:r>
            <a:r>
              <a:rPr lang="en-US" b="1" dirty="0"/>
              <a:t> 3</a:t>
            </a:r>
            <a:r>
              <a:rPr lang="bg-BG" b="1" dirty="0"/>
              <a:t>: Изместване на редове</a:t>
            </a:r>
            <a:r>
              <a:rPr lang="en-US" b="1" dirty="0"/>
              <a:t> </a:t>
            </a:r>
            <a:r>
              <a:rPr lang="bg-BG" b="1" dirty="0"/>
              <a:t>(</a:t>
            </a:r>
            <a:r>
              <a:rPr lang="en-US" b="1" dirty="0" err="1"/>
              <a:t>ShiftRows</a:t>
            </a:r>
            <a:r>
              <a:rPr lang="bg-BG" b="1" dirty="0"/>
              <a:t>) </a:t>
            </a:r>
            <a:r>
              <a:rPr lang="bg-BG" dirty="0"/>
              <a:t>- </a:t>
            </a:r>
            <a:r>
              <a:rPr lang="en-US" dirty="0"/>
              <a:t> </a:t>
            </a:r>
            <a:r>
              <a:rPr lang="bg-BG" dirty="0"/>
              <a:t>Байтовете във всеки ред на масива на състоянието са </a:t>
            </a:r>
            <a:r>
              <a:rPr lang="bg-BG" u="sng" dirty="0"/>
              <a:t>изместени наляво </a:t>
            </a:r>
            <a:r>
              <a:rPr lang="bg-BG" dirty="0"/>
              <a:t>по начина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bg-BG" dirty="0" smtClean="0"/>
              <a:t>първият </a:t>
            </a:r>
            <a:r>
              <a:rPr lang="bg-BG" dirty="0"/>
              <a:t>ред на масива не се </a:t>
            </a:r>
            <a:r>
              <a:rPr lang="bg-BG" dirty="0" smtClean="0"/>
              <a:t>променя,</a:t>
            </a:r>
            <a:endParaRPr lang="en-US" dirty="0" smtClean="0"/>
          </a:p>
          <a:p>
            <a:pPr lvl="1"/>
            <a:r>
              <a:rPr lang="bg-BG" dirty="0" smtClean="0"/>
              <a:t>вторият </a:t>
            </a:r>
            <a:r>
              <a:rPr lang="bg-BG" dirty="0"/>
              <a:t>ред се измества с едно място наляво, </a:t>
            </a:r>
            <a:endParaRPr lang="en-US" dirty="0" smtClean="0"/>
          </a:p>
          <a:p>
            <a:pPr lvl="1"/>
            <a:r>
              <a:rPr lang="bg-BG" dirty="0" smtClean="0"/>
              <a:t>третият </a:t>
            </a:r>
            <a:r>
              <a:rPr lang="bg-BG" dirty="0"/>
              <a:t>ред се измества с две места </a:t>
            </a:r>
            <a:r>
              <a:rPr lang="bg-BG" dirty="0" smtClean="0"/>
              <a:t>наляво</a:t>
            </a:r>
            <a:r>
              <a:rPr lang="en-US" dirty="0"/>
              <a:t>,</a:t>
            </a:r>
            <a:r>
              <a:rPr lang="bg-BG" dirty="0" smtClean="0"/>
              <a:t> </a:t>
            </a:r>
            <a:endParaRPr lang="en-US" dirty="0" smtClean="0"/>
          </a:p>
          <a:p>
            <a:pPr lvl="1"/>
            <a:r>
              <a:rPr lang="bg-BG" dirty="0" smtClean="0"/>
              <a:t>четвъртият </a:t>
            </a:r>
            <a:r>
              <a:rPr lang="bg-BG" dirty="0"/>
              <a:t>ред се измества с три места наляво</a:t>
            </a:r>
            <a:r>
              <a:rPr lang="en-US" dirty="0"/>
              <a:t>. </a:t>
            </a:r>
            <a:endParaRPr lang="en-US" dirty="0" smtClean="0"/>
          </a:p>
          <a:p>
            <a:r>
              <a:rPr lang="bg-BG" dirty="0" smtClean="0"/>
              <a:t>Всички </a:t>
            </a:r>
            <a:r>
              <a:rPr lang="bg-BG" dirty="0"/>
              <a:t>измествания са циклични – например на втория ред първият байт става четвърти.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" y="3093720"/>
            <a:ext cx="45339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44306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0408" y="2194560"/>
            <a:ext cx="5955792" cy="4024125"/>
          </a:xfrm>
        </p:spPr>
        <p:txBody>
          <a:bodyPr>
            <a:normAutofit lnSpcReduction="10000"/>
          </a:bodyPr>
          <a:lstStyle/>
          <a:p>
            <a:r>
              <a:rPr lang="bg-BG" b="1" dirty="0"/>
              <a:t>Етап</a:t>
            </a:r>
            <a:r>
              <a:rPr lang="en-US" b="1" dirty="0"/>
              <a:t> 4</a:t>
            </a:r>
            <a:r>
              <a:rPr lang="bg-BG" b="1" dirty="0"/>
              <a:t>:</a:t>
            </a:r>
            <a:r>
              <a:rPr lang="en-US" b="1" dirty="0"/>
              <a:t> </a:t>
            </a:r>
            <a:r>
              <a:rPr lang="bg-BG" b="1" dirty="0"/>
              <a:t>Смесване на колони (</a:t>
            </a:r>
            <a:r>
              <a:rPr lang="en-US" b="1" dirty="0" err="1"/>
              <a:t>MixColumn</a:t>
            </a:r>
            <a:r>
              <a:rPr lang="bg-BG" b="1" dirty="0"/>
              <a:t>) </a:t>
            </a:r>
            <a:r>
              <a:rPr lang="bg-BG" dirty="0"/>
              <a:t>- </a:t>
            </a:r>
            <a:r>
              <a:rPr lang="en-US" dirty="0"/>
              <a:t> </a:t>
            </a:r>
            <a:r>
              <a:rPr lang="bg-BG" dirty="0"/>
              <a:t>Прилага се </a:t>
            </a:r>
            <a:r>
              <a:rPr lang="bg-BG" u="sng" dirty="0"/>
              <a:t>необратима трансформация </a:t>
            </a:r>
            <a:r>
              <a:rPr lang="bg-BG" dirty="0"/>
              <a:t>към четирите байта във всяка колона</a:t>
            </a:r>
            <a:r>
              <a:rPr lang="en-US" dirty="0"/>
              <a:t>. (</a:t>
            </a:r>
            <a:r>
              <a:rPr lang="bg-BG" dirty="0"/>
              <a:t>Това е линейна трансформация – матрично умножение</a:t>
            </a:r>
            <a:r>
              <a:rPr lang="en-US" dirty="0" smtClean="0"/>
              <a:t>.)</a:t>
            </a:r>
            <a:endParaRPr lang="bg-BG" dirty="0" smtClean="0"/>
          </a:p>
          <a:p>
            <a:r>
              <a:rPr lang="bg-BG" dirty="0" smtClean="0"/>
              <a:t>Използва се специална математическа функция, чийто вход са 4-те байта в един стълб </a:t>
            </a:r>
            <a:r>
              <a:rPr lang="en-US" b="1" dirty="0" err="1" smtClean="0"/>
              <a:t>a</a:t>
            </a:r>
            <a:r>
              <a:rPr lang="en-US" b="1" baseline="-25000" dirty="0" err="1" smtClean="0"/>
              <a:t>ij</a:t>
            </a:r>
            <a:r>
              <a:rPr lang="bg-BG" b="1" dirty="0" smtClean="0"/>
              <a:t> </a:t>
            </a:r>
            <a:r>
              <a:rPr lang="bg-BG" dirty="0" smtClean="0"/>
              <a:t>и се получава изходен резултат нови 4 байта в стълба </a:t>
            </a:r>
            <a:r>
              <a:rPr lang="en-US" b="1" dirty="0" err="1" smtClean="0"/>
              <a:t>b</a:t>
            </a:r>
            <a:r>
              <a:rPr lang="en-US" b="1" baseline="-25000" dirty="0" err="1" smtClean="0"/>
              <a:t>ij</a:t>
            </a:r>
            <a:r>
              <a:rPr lang="en-US" dirty="0" smtClean="0"/>
              <a:t>. </a:t>
            </a:r>
          </a:p>
          <a:p>
            <a:r>
              <a:rPr lang="bg-BG" dirty="0" smtClean="0"/>
              <a:t>Резултатът е нов масив (матрица), състоящ се от 16 нови байта.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039"/>
          <a:stretch/>
        </p:blipFill>
        <p:spPr>
          <a:xfrm>
            <a:off x="750761" y="2859024"/>
            <a:ext cx="455276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27566"/>
      </p:ext>
    </p:extLst>
  </p:cSld>
  <p:clrMapOvr>
    <a:masterClrMapping/>
  </p:clrMapOvr>
  <p:transition spd="slow"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Декриптиране на </a:t>
            </a:r>
            <a:r>
              <a:rPr lang="en-US" b="1" dirty="0" smtClean="0"/>
              <a:t>AES</a:t>
            </a:r>
            <a:r>
              <a:rPr lang="bg-BG" b="1" dirty="0" smtClean="0"/>
              <a:t> </a:t>
            </a:r>
            <a:r>
              <a:rPr lang="bg-BG" dirty="0" smtClean="0"/>
              <a:t>– Извършва се </a:t>
            </a:r>
            <a:r>
              <a:rPr lang="bg-BG" b="1" u="sng" dirty="0" smtClean="0"/>
              <a:t>криптиране в обратен ред</a:t>
            </a:r>
            <a:r>
              <a:rPr lang="bg-BG" dirty="0" smtClean="0"/>
              <a:t>:</a:t>
            </a:r>
          </a:p>
          <a:p>
            <a:r>
              <a:rPr lang="bg-BG" dirty="0" smtClean="0"/>
              <a:t>Всеки цикъл се състои от 4 процедури, извършвани в следния ред: добавяне на ключ, преобразуване на стълбове, изместване на редове и заместване на байтове;</a:t>
            </a:r>
          </a:p>
          <a:p>
            <a:r>
              <a:rPr lang="bg-BG" dirty="0" smtClean="0"/>
              <a:t>Във всяка процедура се извършва операция, обратна на тази при </a:t>
            </a:r>
            <a:r>
              <a:rPr lang="bg-BG" dirty="0"/>
              <a:t>к</a:t>
            </a:r>
            <a:r>
              <a:rPr lang="bg-BG" dirty="0" smtClean="0"/>
              <a:t>риптиране: например, добавянето на ключ включва </a:t>
            </a:r>
            <a:r>
              <a:rPr lang="en-US" dirty="0" smtClean="0"/>
              <a:t>XOR </a:t>
            </a:r>
            <a:r>
              <a:rPr lang="bg-BG" dirty="0" smtClean="0"/>
              <a:t>на криптирания текст със съответния цикличен ключ, докато за преобразуването на стълбове се прилага обратната функция, използвана при криптиране;</a:t>
            </a:r>
          </a:p>
          <a:p>
            <a:r>
              <a:rPr lang="bg-BG" dirty="0" smtClean="0"/>
              <a:t>Ключовете, използвани при криптиране за всеки отделен цикъл, се прилагат в обратен ред при декриптиране.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22911"/>
      </p:ext>
    </p:extLst>
  </p:cSld>
  <p:clrMapOvr>
    <a:masterClrMapping/>
  </p:clrMapOvr>
  <p:transition spd="slow"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50789"/>
          </a:xfrm>
        </p:spPr>
        <p:txBody>
          <a:bodyPr>
            <a:normAutofit lnSpcReduction="10000"/>
          </a:bodyPr>
          <a:lstStyle/>
          <a:p>
            <a:r>
              <a:rPr lang="bg-BG" b="1" dirty="0" smtClean="0"/>
              <a:t>Сигурност на </a:t>
            </a:r>
            <a:r>
              <a:rPr lang="en-US" b="1" dirty="0" smtClean="0"/>
              <a:t>AES</a:t>
            </a:r>
            <a:r>
              <a:rPr lang="en-US" dirty="0" smtClean="0"/>
              <a:t>:</a:t>
            </a:r>
          </a:p>
          <a:p>
            <a:r>
              <a:rPr lang="bg-BG" dirty="0" smtClean="0"/>
              <a:t>Понастоящем, има широко приложение както в софтуер, така и за защита на хардуер, включително и в </a:t>
            </a:r>
            <a:r>
              <a:rPr lang="en-US" dirty="0" smtClean="0"/>
              <a:t>RFID (</a:t>
            </a:r>
            <a:r>
              <a:rPr lang="en-US" dirty="0"/>
              <a:t>Radio Frequency </a:t>
            </a:r>
            <a:r>
              <a:rPr lang="en-US" dirty="0" smtClean="0"/>
              <a:t>Identification-</a:t>
            </a:r>
            <a:r>
              <a:rPr lang="bg-BG" dirty="0" smtClean="0"/>
              <a:t>баркод и четец</a:t>
            </a:r>
            <a:r>
              <a:rPr lang="en-US" dirty="0" smtClean="0"/>
              <a:t>) </a:t>
            </a:r>
            <a:r>
              <a:rPr lang="bg-BG" dirty="0" smtClean="0"/>
              <a:t>среди.</a:t>
            </a:r>
          </a:p>
          <a:p>
            <a:r>
              <a:rPr lang="bg-BG" b="1" dirty="0" smtClean="0"/>
              <a:t>Досега </a:t>
            </a:r>
            <a:r>
              <a:rPr lang="en-US" b="1" dirty="0" smtClean="0"/>
              <a:t>AES </a:t>
            </a:r>
            <a:r>
              <a:rPr lang="bg-BG" b="1" dirty="0" smtClean="0"/>
              <a:t>се счита за неразбиваем</a:t>
            </a:r>
            <a:r>
              <a:rPr lang="bg-BG" dirty="0" smtClean="0"/>
              <a:t>.</a:t>
            </a:r>
          </a:p>
          <a:p>
            <a:r>
              <a:rPr lang="bg-BG" dirty="0" smtClean="0"/>
              <a:t>През 2003 г. американското правителство анонсира, че </a:t>
            </a:r>
            <a:r>
              <a:rPr lang="en-US" dirty="0" smtClean="0"/>
              <a:t>AES</a:t>
            </a:r>
            <a:r>
              <a:rPr lang="bg-BG" dirty="0" smtClean="0"/>
              <a:t> може да се използва за криптиране на класифицирана информация.</a:t>
            </a:r>
          </a:p>
          <a:p>
            <a:r>
              <a:rPr lang="bg-BG" dirty="0" smtClean="0"/>
              <a:t>За разлика от </a:t>
            </a:r>
            <a:r>
              <a:rPr lang="en-US" dirty="0" smtClean="0"/>
              <a:t>DES</a:t>
            </a:r>
            <a:r>
              <a:rPr lang="bg-BG" dirty="0" smtClean="0"/>
              <a:t>, </a:t>
            </a:r>
            <a:r>
              <a:rPr lang="en-US" b="1" dirty="0" smtClean="0"/>
              <a:t>AES</a:t>
            </a:r>
            <a:r>
              <a:rPr lang="bg-BG" b="1" dirty="0" smtClean="0"/>
              <a:t> разполага с гъвкавост относно дължината на ключа</a:t>
            </a:r>
            <a:r>
              <a:rPr lang="bg-BG" dirty="0" smtClean="0"/>
              <a:t>, което позволява да се реагира при напредък в </a:t>
            </a:r>
            <a:r>
              <a:rPr lang="bg-BG" b="1" dirty="0" smtClean="0"/>
              <a:t>методите за атака чрез изчерпателно търсене на ключове</a:t>
            </a:r>
            <a:r>
              <a:rPr lang="bg-BG" dirty="0" smtClean="0"/>
              <a:t>.</a:t>
            </a:r>
          </a:p>
          <a:p>
            <a:r>
              <a:rPr lang="bg-BG" b="1" dirty="0" smtClean="0"/>
              <a:t>Срещу </a:t>
            </a:r>
            <a:r>
              <a:rPr lang="en-US" b="1" dirty="0" smtClean="0"/>
              <a:t>AES </a:t>
            </a:r>
            <a:r>
              <a:rPr lang="bg-BG" b="1" dirty="0" smtClean="0"/>
              <a:t>е проведена атаката </a:t>
            </a:r>
            <a:r>
              <a:rPr lang="en-US" b="1" dirty="0" smtClean="0"/>
              <a:t>side-channel </a:t>
            </a:r>
            <a:r>
              <a:rPr lang="bg-BG" dirty="0" smtClean="0"/>
              <a:t>(страничен канал) – например през 2016 г. </a:t>
            </a:r>
            <a:r>
              <a:rPr lang="en-US" dirty="0" err="1" smtClean="0"/>
              <a:t>Ashokkumar</a:t>
            </a:r>
            <a:r>
              <a:rPr lang="en-US" dirty="0" smtClean="0"/>
              <a:t>, Prakash </a:t>
            </a:r>
            <a:r>
              <a:rPr lang="bg-BG" dirty="0" smtClean="0"/>
              <a:t>и </a:t>
            </a:r>
            <a:r>
              <a:rPr lang="en-US" dirty="0" smtClean="0"/>
              <a:t>Menezes </a:t>
            </a:r>
            <a:r>
              <a:rPr lang="bg-BG" dirty="0" smtClean="0"/>
              <a:t>представят ефективна атака от тип </a:t>
            </a:r>
            <a:r>
              <a:rPr lang="en-US" dirty="0" smtClean="0"/>
              <a:t>side-channel</a:t>
            </a:r>
            <a:r>
              <a:rPr lang="bg-BG" dirty="0" smtClean="0"/>
              <a:t>, която може да възстанови 128-бита </a:t>
            </a:r>
            <a:r>
              <a:rPr lang="en-US" dirty="0" smtClean="0"/>
              <a:t>AES </a:t>
            </a:r>
            <a:r>
              <a:rPr lang="bg-BG" dirty="0" smtClean="0"/>
              <a:t>ключ само от 6-7 блока от двойките явен текст/криптограма.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59046"/>
      </p:ext>
    </p:extLst>
  </p:cSld>
  <p:clrMapOvr>
    <a:masterClrMapping/>
  </p:clrMapOvr>
  <p:transition spd="slow">
    <p:randomBar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u="sng" dirty="0" smtClean="0"/>
              <a:t>AES-256 </a:t>
            </a:r>
            <a:r>
              <a:rPr lang="ru-RU" u="sng" dirty="0"/>
              <a:t>се счита за квантово </a:t>
            </a:r>
            <a:r>
              <a:rPr lang="ru-RU" u="sng" dirty="0" smtClean="0"/>
              <a:t>устойчив</a:t>
            </a:r>
            <a:r>
              <a:rPr lang="en-US" u="sng" dirty="0" smtClean="0"/>
              <a:t> (</a:t>
            </a:r>
            <a:r>
              <a:rPr lang="bg-BG" u="sng" dirty="0" smtClean="0"/>
              <a:t>но се счита за потенциално уязвим</a:t>
            </a:r>
            <a:r>
              <a:rPr lang="en-US" u="sng" dirty="0" smtClean="0"/>
              <a:t>)</a:t>
            </a:r>
            <a:r>
              <a:rPr lang="ru-RU" dirty="0" smtClean="0"/>
              <a:t>, </a:t>
            </a:r>
            <a:r>
              <a:rPr lang="ru-RU" dirty="0"/>
              <a:t>тъй като има подобна квантова устойчивост на устойчивостта на AES-128 срещу традиционни, неквантови атаки при 128 бита сигурност. </a:t>
            </a:r>
            <a:endParaRPr lang="en-US" dirty="0" smtClean="0"/>
          </a:p>
          <a:p>
            <a:r>
              <a:rPr lang="ru-RU" b="1" u="sng" dirty="0" smtClean="0"/>
              <a:t>AES-192</a:t>
            </a:r>
            <a:r>
              <a:rPr lang="ru-RU" u="sng" dirty="0" smtClean="0"/>
              <a:t> </a:t>
            </a:r>
            <a:r>
              <a:rPr lang="ru-RU" u="sng" dirty="0"/>
              <a:t>и </a:t>
            </a:r>
            <a:r>
              <a:rPr lang="ru-RU" b="1" u="sng" dirty="0"/>
              <a:t>AES-128</a:t>
            </a:r>
            <a:r>
              <a:rPr lang="ru-RU" u="sng" dirty="0"/>
              <a:t> не се считат за квантово устойчиви </a:t>
            </a:r>
            <a:r>
              <a:rPr lang="ru-RU" dirty="0"/>
              <a:t>поради по-малките </a:t>
            </a:r>
            <a:r>
              <a:rPr lang="ru-RU" dirty="0" smtClean="0"/>
              <a:t>размери </a:t>
            </a:r>
            <a:r>
              <a:rPr lang="ru-RU" dirty="0"/>
              <a:t>на ключовете. </a:t>
            </a:r>
            <a:endParaRPr lang="en-US" dirty="0" smtClean="0"/>
          </a:p>
          <a:p>
            <a:r>
              <a:rPr lang="ru-RU" dirty="0" smtClean="0"/>
              <a:t>AES-192 </a:t>
            </a:r>
            <a:r>
              <a:rPr lang="ru-RU" dirty="0"/>
              <a:t>има сила от 96 бита срещу квантови атаки, а AES-128 има 64 бита сила срещу квантови атаки, което ги прави </a:t>
            </a:r>
            <a:r>
              <a:rPr lang="ru-RU" dirty="0" smtClean="0"/>
              <a:t>несигурни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Extended AES-512</a:t>
            </a:r>
            <a:r>
              <a:rPr lang="en-US" dirty="0" smtClean="0"/>
              <a:t> – </a:t>
            </a:r>
            <a:r>
              <a:rPr lang="bg-BG" dirty="0" smtClean="0"/>
              <a:t>Рядко се използва на практика</a:t>
            </a:r>
            <a:endParaRPr lang="en-US" dirty="0"/>
          </a:p>
          <a:p>
            <a:r>
              <a:rPr lang="en-US" b="1" dirty="0" smtClean="0"/>
              <a:t>AES-256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/>
              <a:t>Crystals-</a:t>
            </a:r>
            <a:r>
              <a:rPr lang="en-US" b="1" dirty="0" err="1" smtClean="0"/>
              <a:t>Kyber</a:t>
            </a:r>
            <a:r>
              <a:rPr lang="en-US" dirty="0" smtClean="0"/>
              <a:t> - </a:t>
            </a:r>
            <a:r>
              <a:rPr lang="ru-RU" dirty="0"/>
              <a:t>Докато AES-256 понастоящем осигурява високо ниво на сигурност и се прилага широко, CRYSTALS-Kyber представлява надеждна </a:t>
            </a:r>
            <a:r>
              <a:rPr lang="ru-RU" dirty="0" smtClean="0"/>
              <a:t>бъдещ</a:t>
            </a:r>
            <a:r>
              <a:rPr lang="en-US" dirty="0" smtClean="0"/>
              <a:t>a</a:t>
            </a:r>
            <a:r>
              <a:rPr lang="ru-RU" dirty="0" smtClean="0"/>
              <a:t> </a:t>
            </a:r>
            <a:r>
              <a:rPr lang="ru-RU" dirty="0"/>
              <a:t>опция, специално проектирана да отговори на предизвикателствата, породени от квантовите изчисления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53252"/>
      </p:ext>
    </p:extLst>
  </p:cSld>
  <p:clrMapOvr>
    <a:masterClrMapping/>
  </p:clrMapOvr>
  <p:transition spd="slow">
    <p:randomBar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(Advanced Encryption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Имплементация на </a:t>
            </a:r>
            <a:r>
              <a:rPr lang="en-US" b="1" dirty="0" smtClean="0"/>
              <a:t>AES</a:t>
            </a:r>
            <a:endParaRPr lang="bg-BG" b="1" dirty="0" smtClean="0"/>
          </a:p>
          <a:p>
            <a:r>
              <a:rPr lang="bg-BG" dirty="0" smtClean="0"/>
              <a:t>1. </a:t>
            </a:r>
            <a:r>
              <a:rPr lang="bg-BG" b="1" dirty="0" smtClean="0"/>
              <a:t>Библиотеки</a:t>
            </a:r>
            <a:r>
              <a:rPr lang="bg-BG" dirty="0" smtClean="0"/>
              <a:t> – </a:t>
            </a:r>
            <a:r>
              <a:rPr lang="en-US" dirty="0" err="1" smtClean="0"/>
              <a:t>Actionscript</a:t>
            </a:r>
            <a:r>
              <a:rPr lang="en-US" dirty="0" smtClean="0"/>
              <a:t> 3, C/ASM library, C++ library, C#/.NET library. Delphi, Java, JavaScript, Lisp, Python, Ruby</a:t>
            </a:r>
            <a:r>
              <a:rPr lang="bg-BG" dirty="0" smtClean="0"/>
              <a:t>;</a:t>
            </a:r>
            <a:endParaRPr lang="en-US" dirty="0" smtClean="0"/>
          </a:p>
          <a:p>
            <a:r>
              <a:rPr lang="bg-BG" dirty="0" smtClean="0"/>
              <a:t>2. </a:t>
            </a:r>
            <a:r>
              <a:rPr lang="bg-BG" b="1" dirty="0" smtClean="0"/>
              <a:t>Приложения</a:t>
            </a:r>
            <a:r>
              <a:rPr lang="bg-BG" dirty="0" smtClean="0"/>
              <a:t> – софтуер за архивиране и компресиране – </a:t>
            </a:r>
            <a:r>
              <a:rPr lang="en-US" dirty="0" err="1" smtClean="0"/>
              <a:t>EinZip</a:t>
            </a:r>
            <a:r>
              <a:rPr lang="en-US" dirty="0" smtClean="0"/>
              <a:t>, RAR, PKZIP; </a:t>
            </a:r>
            <a:r>
              <a:rPr lang="bg-BG" dirty="0" smtClean="0"/>
              <a:t>за криптиране на диск – </a:t>
            </a:r>
            <a:r>
              <a:rPr lang="en-US" dirty="0" err="1" smtClean="0"/>
              <a:t>DiskCryptor</a:t>
            </a:r>
            <a:r>
              <a:rPr lang="bg-BG" dirty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TrueCrypt</a:t>
            </a:r>
            <a:r>
              <a:rPr lang="en-US" dirty="0" smtClean="0"/>
              <a:t>; </a:t>
            </a:r>
            <a:r>
              <a:rPr lang="bg-BG" dirty="0" smtClean="0"/>
              <a:t>за защита на комуникации в локални мрежи, </a:t>
            </a:r>
            <a:r>
              <a:rPr lang="bg-BG" dirty="0" smtClean="0"/>
              <a:t>други </a:t>
            </a:r>
            <a:r>
              <a:rPr lang="bg-BG" dirty="0" smtClean="0"/>
              <a:t>– </a:t>
            </a:r>
            <a:r>
              <a:rPr lang="en-US" dirty="0" smtClean="0"/>
              <a:t>GPG, </a:t>
            </a:r>
            <a:r>
              <a:rPr lang="en-US" dirty="0" err="1" smtClean="0"/>
              <a:t>IPSec</a:t>
            </a:r>
            <a:r>
              <a:rPr lang="en-US" dirty="0" smtClean="0"/>
              <a:t>, </a:t>
            </a:r>
            <a:r>
              <a:rPr lang="en-US" dirty="0" err="1" smtClean="0"/>
              <a:t>OpenSSl</a:t>
            </a:r>
            <a:r>
              <a:rPr lang="en-US" dirty="0" smtClean="0"/>
              <a:t> </a:t>
            </a:r>
            <a:r>
              <a:rPr lang="bg-BG" dirty="0" smtClean="0"/>
              <a:t>и др.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9910"/>
      </p:ext>
    </p:extLst>
  </p:cSld>
  <p:clrMapOvr>
    <a:masterClrMapping/>
  </p:clrMapOvr>
  <p:transition spd="slow">
    <p:randomBar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Сравнение </a:t>
            </a:r>
            <a:r>
              <a:rPr lang="bg-BG" smtClean="0"/>
              <a:t>на симетричните </a:t>
            </a:r>
            <a:r>
              <a:rPr lang="bg-BG" dirty="0" smtClean="0"/>
              <a:t>алгоритми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50" y="1924050"/>
            <a:ext cx="8524875" cy="4933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97696" y="3401568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P. </a:t>
            </a:r>
            <a:r>
              <a:rPr lang="en-US" sz="1200" dirty="0" err="1"/>
              <a:t>Princy</a:t>
            </a:r>
            <a:r>
              <a:rPr lang="en-US" sz="1200" dirty="0"/>
              <a:t> / International Journal of Computer Science &amp; Engineering Technology (IJCSET</a:t>
            </a:r>
            <a:r>
              <a:rPr lang="en-US" sz="1200" dirty="0" smtClean="0"/>
              <a:t>)</a:t>
            </a:r>
            <a:r>
              <a:rPr lang="bg-BG" sz="1200" dirty="0" smtClean="0"/>
              <a:t>, </a:t>
            </a:r>
            <a:r>
              <a:rPr lang="en-US" sz="1200" dirty="0"/>
              <a:t>A COMPARISON OF SYMMETRIC KEY ALGORITHMS DES, AES, BLOWFISH, RC4, RC6: A SURVEY</a:t>
            </a:r>
          </a:p>
        </p:txBody>
      </p:sp>
    </p:spTree>
    <p:extLst>
      <p:ext uri="{BB962C8B-B14F-4D97-AF65-F5344CB8AC3E}">
        <p14:creationId xmlns:p14="http://schemas.microsoft.com/office/powerpoint/2010/main" val="3009982875"/>
      </p:ext>
    </p:extLst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24" y="406422"/>
            <a:ext cx="8610600" cy="1293028"/>
          </a:xfrm>
        </p:spPr>
        <p:txBody>
          <a:bodyPr/>
          <a:lstStyle/>
          <a:p>
            <a:r>
              <a:rPr lang="bg-BG" dirty="0" smtClean="0"/>
              <a:t>Бъдеще на симетричните алгоритми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6848856" cy="4024125"/>
          </a:xfrm>
        </p:spPr>
        <p:txBody>
          <a:bodyPr>
            <a:normAutofit fontScale="85000" lnSpcReduction="10000"/>
          </a:bodyPr>
          <a:lstStyle/>
          <a:p>
            <a:r>
              <a:rPr lang="bg-BG" dirty="0" smtClean="0"/>
              <a:t>Понастоящем </a:t>
            </a:r>
            <a:r>
              <a:rPr lang="en-US" dirty="0" smtClean="0"/>
              <a:t>AES </a:t>
            </a:r>
            <a:r>
              <a:rPr lang="bg-BG" dirty="0" smtClean="0"/>
              <a:t>е неразбиваем и в бъдеще също е малко вероятно.</a:t>
            </a:r>
          </a:p>
          <a:p>
            <a:r>
              <a:rPr lang="bg-BG" dirty="0" smtClean="0"/>
              <a:t>Разбиването може да се свърже със създаване на </a:t>
            </a:r>
            <a:r>
              <a:rPr lang="bg-BG" b="1" dirty="0" smtClean="0"/>
              <a:t>квантов компютър</a:t>
            </a:r>
            <a:r>
              <a:rPr lang="bg-BG" dirty="0" smtClean="0"/>
              <a:t>, който извършва паралелни изчисления и решава бързо задачите</a:t>
            </a:r>
            <a:r>
              <a:rPr lang="en-US" dirty="0" smtClean="0"/>
              <a:t>.</a:t>
            </a:r>
            <a:endParaRPr lang="bg-BG" dirty="0" smtClean="0"/>
          </a:p>
          <a:p>
            <a:r>
              <a:rPr lang="bg-BG" dirty="0" smtClean="0"/>
              <a:t>В момента има създадени квантови компютри, но все още няма съобщения за разбиване на </a:t>
            </a:r>
            <a:r>
              <a:rPr lang="en-US" dirty="0" smtClean="0"/>
              <a:t>AES</a:t>
            </a:r>
            <a:r>
              <a:rPr lang="bg-BG" dirty="0" smtClean="0"/>
              <a:t>.</a:t>
            </a:r>
          </a:p>
          <a:p>
            <a:r>
              <a:rPr lang="bg-BG" dirty="0" smtClean="0"/>
              <a:t>Чрез квантов компютър бързо ще се извърши търсене на ключ до изчерпване на възможностите, което време е </a:t>
            </a:r>
            <a:r>
              <a:rPr lang="bg-BG" u="sng" dirty="0" smtClean="0"/>
              <a:t>квадратен корен от времето, необходимо на класическия компютър.</a:t>
            </a:r>
          </a:p>
          <a:p>
            <a:r>
              <a:rPr lang="bg-BG" dirty="0" smtClean="0"/>
              <a:t>В резултат на това, пространството на ключовете ще трябва да има </a:t>
            </a:r>
            <a:r>
              <a:rPr lang="bg-BG" u="sng" dirty="0" smtClean="0"/>
              <a:t>размер на квадрат от досегашния</a:t>
            </a:r>
            <a:r>
              <a:rPr lang="bg-BG" dirty="0" smtClean="0"/>
              <a:t>, за да се запази нивото на сигурност.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215" y="1929099"/>
            <a:ext cx="4057691" cy="45550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7368" y="6448334"/>
            <a:ext cx="11298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https://www.popsci.com/technology/in-photos-journey-to-the-center-of-a-quantum-computer/</a:t>
            </a:r>
          </a:p>
        </p:txBody>
      </p:sp>
    </p:spTree>
    <p:extLst>
      <p:ext uri="{BB962C8B-B14F-4D97-AF65-F5344CB8AC3E}">
        <p14:creationId xmlns:p14="http://schemas.microsoft.com/office/powerpoint/2010/main" val="2277823636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3494</TotalTime>
  <Words>3747</Words>
  <Application>Microsoft Office PowerPoint</Application>
  <PresentationFormat>Widescreen</PresentationFormat>
  <Paragraphs>230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Century Gothic</vt:lpstr>
      <vt:lpstr>Vapor Trail</vt:lpstr>
      <vt:lpstr>Симетрична криптография  Блокови алгоритми</vt:lpstr>
      <vt:lpstr>Модел на блоков алгоритъм</vt:lpstr>
      <vt:lpstr>Свойства на блоковите алгоритми</vt:lpstr>
      <vt:lpstr>Субституционно-пермутационни мрежи</vt:lpstr>
      <vt:lpstr>Субституционно-пермутационни мрежи</vt:lpstr>
      <vt:lpstr>Субституционно-пермутационни мрежи</vt:lpstr>
      <vt:lpstr>Субституционно-пермутационни мрежи</vt:lpstr>
      <vt:lpstr>Субституционно-пермутационни мрежи</vt:lpstr>
      <vt:lpstr>Субституционно-пермутационни мрежи</vt:lpstr>
      <vt:lpstr>Субституционно-пермутационни мрежи</vt:lpstr>
      <vt:lpstr>Мрежи на Фейстел (Feistel)</vt:lpstr>
      <vt:lpstr>Мрежи на Фейстел (Feistel)</vt:lpstr>
      <vt:lpstr>PowerPoint Presentation</vt:lpstr>
      <vt:lpstr>Мрежи на Фейстел (Feistel)</vt:lpstr>
      <vt:lpstr>Мрежи на Фейстел (Feistel)</vt:lpstr>
      <vt:lpstr>Алгоритъм DES (Data Encryption Standard) </vt:lpstr>
      <vt:lpstr>Алгоритъм DES (Data Encryption Standard)</vt:lpstr>
      <vt:lpstr>Алгоритъм DES (Data Encryption Standard)</vt:lpstr>
      <vt:lpstr>Алгоритъм DES (Data Encryption Standard)</vt:lpstr>
      <vt:lpstr>Алгоритъм DES (Data Encryption Standard)</vt:lpstr>
      <vt:lpstr>Алгоритъм DES (Data Encryption Standard)</vt:lpstr>
      <vt:lpstr>Triple-DES (3DES)</vt:lpstr>
      <vt:lpstr>Triple-DES (3DES)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AES (Advanced Encryption Standard)</vt:lpstr>
      <vt:lpstr>Сравнение на симетричните алгоритми</vt:lpstr>
      <vt:lpstr>Бъдеще на симетричните алгоритми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класическата и съвременната криптография</dc:title>
  <dc:creator>Malinka Ivanova</dc:creator>
  <cp:lastModifiedBy>Malinka Ivanova</cp:lastModifiedBy>
  <cp:revision>317</cp:revision>
  <dcterms:created xsi:type="dcterms:W3CDTF">2022-09-25T16:18:08Z</dcterms:created>
  <dcterms:modified xsi:type="dcterms:W3CDTF">2025-10-15T10:37:52Z</dcterms:modified>
</cp:coreProperties>
</file>