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69" r:id="rId6"/>
    <p:sldId id="259" r:id="rId7"/>
    <p:sldId id="267" r:id="rId8"/>
    <p:sldId id="260" r:id="rId9"/>
    <p:sldId id="261" r:id="rId10"/>
    <p:sldId id="262" r:id="rId11"/>
    <p:sldId id="266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6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2213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966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0643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8142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7868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094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948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7687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587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5754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7D21644-314C-4402-B832-F7EB894531B8}" type="datetimeFigureOut">
              <a:rPr lang="bg-BG" smtClean="0"/>
              <a:t>9.10.2025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37368A2-E76B-47BD-989F-57E403F3585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282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/hook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youtube.com/watch?v=V9i3cGD-mts" TargetMode="External"/><Relationship Id="rId7" Type="http://schemas.openxmlformats.org/officeDocument/2006/relationships/hyperlink" Target="https://react.dev/reference/react/useReducer" TargetMode="External"/><Relationship Id="rId2" Type="http://schemas.openxmlformats.org/officeDocument/2006/relationships/hyperlink" Target="https://react.dev/learn/state-a-components-memor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reference/react/useState" TargetMode="External"/><Relationship Id="rId5" Type="http://schemas.openxmlformats.org/officeDocument/2006/relationships/hyperlink" Target="https://www.youtube.com/watch?v=rgp_iCVS8ys" TargetMode="External"/><Relationship Id="rId4" Type="http://schemas.openxmlformats.org/officeDocument/2006/relationships/hyperlink" Target="https://react.dev/learn/extracting-state-logic-into-a-reducer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/useEffect" TargetMode="External"/><Relationship Id="rId2" Type="http://schemas.openxmlformats.org/officeDocument/2006/relationships/hyperlink" Target="https://www.youtube.com/watch?v=-4XpG5_Lj_o&amp;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/useRef" TargetMode="External"/><Relationship Id="rId2" Type="http://schemas.openxmlformats.org/officeDocument/2006/relationships/hyperlink" Target="https://www.youtube.com/watch?v=42BkpGe8ox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learn/react-compiler" TargetMode="External"/><Relationship Id="rId2" Type="http://schemas.openxmlformats.org/officeDocument/2006/relationships/hyperlink" Target="https://www.youtube.com/watch?v=MxIPQZ64x0I&amp;li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react.dev/reference/react/useCallback" TargetMode="External"/><Relationship Id="rId4" Type="http://schemas.openxmlformats.org/officeDocument/2006/relationships/hyperlink" Target="https://react.dev/reference/react/useMemo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/useEffec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react.dev/learn/reusing-logic-with-custom-hook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092C-E923-3FBB-000F-7AE4D15D1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hooks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B7BFD-7423-7304-A07F-5AF8932C0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6225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1276520-5755-BDB5-545E-2C33AFB59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816" y="1326453"/>
            <a:ext cx="11414523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Въведение </a:t>
            </a:r>
            <a:endParaRPr kumimoji="0" lang="en-US" altLang="bg-BG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Hooks са</a:t>
            </a:r>
            <a:r>
              <a:rPr kumimoji="0" lang="en-US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функции, които започват с 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…, които позволяват на функционални компоненти да ползват състояние (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странични ефекти 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bg-BG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  <a:endParaRPr kumimoji="0" lang="en-US" altLang="bg-B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 </a:t>
            </a:r>
            <a:r>
              <a:rPr lang="ru-RU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позволяват да използваме различни 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ru-RU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ru-RU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наши </a:t>
            </a:r>
            <a:r>
              <a:rPr lang="ru-RU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</a:t>
            </a:r>
            <a:endParaRPr kumimoji="0" lang="bg-BG" altLang="bg-B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Дадени са, за да заменят класовите компоненти за повечето нужди (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state, lifecycle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аботят само във функционални компоненти или в custom hooks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bg-BG" altLang="bg-BG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endParaRPr kumimoji="0" lang="bg-BG" altLang="bg-BG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Можем да викаме hooks само </a:t>
            </a:r>
            <a:r>
              <a:rPr lang="bg-BG" altLang="bg-BG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върха</a:t>
            </a:r>
            <a:r>
              <a:rPr lang="bg-BG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функционалния компонент или custom hook, не вътре в условия, цикли и др. </a:t>
            </a:r>
            <a:endParaRPr lang="en-US" altLang="bg-BG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Можем да викаме hooks само в React компоненти или други Hooks (не във външни функции)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Можем да си направим </a:t>
            </a:r>
            <a:r>
              <a:rPr lang="en-US" altLang="bg-BG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hook</a:t>
            </a:r>
            <a:endParaRPr kumimoji="0" lang="bg-BG" alt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bg-BG" altLang="bg-BG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bg-BG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bg-BG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bg-BG" altLang="bg-BG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https://react.dev/reference/react/hooks</a:t>
            </a:r>
            <a:endParaRPr lang="en-US" altLang="bg-B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bg-B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bg-BG" altLang="bg-B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bg-BG" altLang="bg-B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52F85349-BCDD-931E-0872-AC63DEEAE403}"/>
              </a:ext>
            </a:extLst>
          </p:cNvPr>
          <p:cNvSpPr txBox="1">
            <a:spLocks/>
          </p:cNvSpPr>
          <p:nvPr/>
        </p:nvSpPr>
        <p:spPr bwMode="black">
          <a:xfrm>
            <a:off x="3641649" y="648228"/>
            <a:ext cx="4742446" cy="52065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са </a:t>
            </a:r>
            <a:r>
              <a:rPr lang="en-US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hooks?</a:t>
            </a:r>
            <a:endParaRPr lang="bg-BG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37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D2EA-8860-9E41-7584-4FB49B32C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726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Hooks 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позволява на компонента да „запомни“ информация,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пр. 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отребителски инпут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декларира променлива на състоянието, която можете да актуализираме директно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https://www.youtube.com/watch?v=V9i3cGD-mts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useReducer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декларира променлива на състоянието с логиката за актуализиране вътре в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reducer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функция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 да управляваш състояние (state) подобно 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по-подредено, когато логиката е по-сложна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https://www.youtube.com/watch?v=rgp_iCVS8ys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https://react.dev/reference/react/useState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https://react.dev/reference/react/useReducer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3ED17CC-6C47-C699-4E3D-513A9DE74414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5DD233-D442-82B9-EB97-35DFF63D88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2917" y="3429000"/>
            <a:ext cx="5800319" cy="33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2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ABE41EC-04F9-4164-2D37-9ECDFE056AEE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51257F-5723-2E72-B5E6-1F5D4C8E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20072"/>
              </p:ext>
            </p:extLst>
          </p:nvPr>
        </p:nvGraphicFramePr>
        <p:xfrm>
          <a:off x="1117599" y="1893359"/>
          <a:ext cx="9855201" cy="3071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1">
                  <a:extLst>
                    <a:ext uri="{9D8B030D-6E8A-4147-A177-3AD203B41FA5}">
                      <a16:colId xmlns:a16="http://schemas.microsoft.com/office/drawing/2014/main" val="254954533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902905110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340915925"/>
                    </a:ext>
                  </a:extLst>
                </a:gridCol>
              </a:tblGrid>
              <a:tr h="476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useState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useReducer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82971"/>
                  </a:ext>
                </a:extLst>
              </a:tr>
              <a:tr h="476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Сложност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По-сложна логика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85986"/>
                  </a:ext>
                </a:extLst>
              </a:tr>
              <a:tr h="476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Обновяване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setState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dispatch({ type: "ACTION" })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509999"/>
                  </a:ext>
                </a:extLst>
              </a:tr>
              <a:tr h="8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Подходящ 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Форми, броячи,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toggle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По-големи компоненти, много действия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939083"/>
                  </a:ext>
                </a:extLst>
              </a:tr>
              <a:tr h="8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Синтаксис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по-интуитивен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по-структуриран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902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83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51CD48-64FD-DF4C-4017-D31A060D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75" y="591669"/>
            <a:ext cx="7893050" cy="567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2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E099742-EB11-839E-7D77-39ECAE9FF6F3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9E62D7-6B16-2C17-AB70-856AC944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Hooks 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Ефектите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позволяват на компонента да се свързва и синхронизира с външни системи. Това включва работа с мрежа, DOM на браузъра, анимации,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създаване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effects”  -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които искаме да се случат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като последици от нещо друго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https://www.youtube.com/watch?v=-4XpG5_Lj_o&amp;t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https://react.dev/reference/react/useEffect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54AE65-5E88-9F37-6D32-1E38755C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916" y="2614300"/>
            <a:ext cx="4600373" cy="419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1669A39-35FF-2B39-2D22-508C41AF3F38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C3C95-C744-466C-3962-DAB33AA7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Жизнен цикъл на компонентите и useEffect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 използва за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Таймери, анимации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Подписки към събития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localStorage / </a:t>
            </a:r>
            <a:r>
              <a:rPr lang="en-US" altLang="bg-B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sessionStorage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6BFDC8-4861-95B3-BB86-7E268BC42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36197"/>
              </p:ext>
            </p:extLst>
          </p:nvPr>
        </p:nvGraphicFramePr>
        <p:xfrm>
          <a:off x="112968" y="2996452"/>
          <a:ext cx="6694232" cy="1169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640">
                  <a:extLst>
                    <a:ext uri="{9D8B030D-6E8A-4147-A177-3AD203B41FA5}">
                      <a16:colId xmlns:a16="http://schemas.microsoft.com/office/drawing/2014/main" val="3253607350"/>
                    </a:ext>
                  </a:extLst>
                </a:gridCol>
                <a:gridCol w="2329160">
                  <a:extLst>
                    <a:ext uri="{9D8B030D-6E8A-4147-A177-3AD203B41FA5}">
                      <a16:colId xmlns:a16="http://schemas.microsoft.com/office/drawing/2014/main" val="2521347977"/>
                    </a:ext>
                  </a:extLst>
                </a:gridCol>
                <a:gridCol w="2941432">
                  <a:extLst>
                    <a:ext uri="{9D8B030D-6E8A-4147-A177-3AD203B41FA5}">
                      <a16:colId xmlns:a16="http://schemas.microsoft.com/office/drawing/2014/main" val="2377046508"/>
                    </a:ext>
                  </a:extLst>
                </a:gridCol>
              </a:tblGrid>
              <a:tr h="584574">
                <a:tc>
                  <a:txBody>
                    <a:bodyPr/>
                    <a:lstStyle/>
                    <a:p>
                      <a:r>
                        <a:rPr lang="en-US" dirty="0"/>
                        <a:t>Mount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Unmount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452980"/>
                  </a:ext>
                </a:extLst>
              </a:tr>
              <a:tr h="584574">
                <a:tc>
                  <a:txBody>
                    <a:bodyPr/>
                    <a:lstStyle/>
                    <a:p>
                      <a:r>
                        <a:rPr lang="en-US" dirty="0"/>
                        <a:t>setup()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cleanup() =&gt; setup()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cleanup()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60081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FF48E8F-24B5-C714-4C56-3FCBC4526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133" y="1292316"/>
            <a:ext cx="5070209" cy="512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9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A1AB8D3-7B59-0616-C8F0-0E3C5C8DC8A0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20E418-2D99-8542-FAD5-F8E07DB1B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Hooks </a:t>
            </a:r>
          </a:p>
          <a:p>
            <a:pPr marL="0" indent="0"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Референциите (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refs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позволяват на компонента да съхранява информация, която не се използва за рендиране,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пр.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идентификатор на време за изчакване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разлика от състоянието (state), актуализирането на референция (ref) не рендира повторно компонента. Референциите са „бягство“ от парадигмата на React. Те са полезни, когато трябва да работи</a:t>
            </a: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със системи, различни от React, като например вградените API на браузъра.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useRef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ok, който позволява да </a:t>
            </a: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реферираме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към стойност, която не е необходима за рендиране.</a:t>
            </a: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https://www.youtube.com/watch?v=42BkpGe8oxg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https://react.dev/reference/react/useRef</a:t>
            </a:r>
            <a:endParaRPr lang="bg-BG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AAADA8-49E4-A504-5C76-7910537E3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987" y="3571777"/>
            <a:ext cx="4628231" cy="324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6232478-8868-4636-45C1-11107C7A728E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04DADD-48E3-7A0C-FE43-6BD4BD38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9" y="1131405"/>
            <a:ext cx="6560881" cy="55551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Hooks 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Често срещан начин за оптимизиране на производителността при повторно рендериране е да се пропусне ненужна работа.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ожем да кажете на React да използва повторно кеширано изчисление или да пропусне повторно рендериране, ако данните не са се променили от предишното рендериране.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useMemo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позволява да кешира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резултата от скъпо изчисление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https://www.youtube.com/watch?v=vpE9I_eqHdM&amp;list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useCallback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позволява да кешираме дефиниция на функция, преди да я предадем на оптимизиран компонент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https://www.youtube.com/watch?v=MxIPQZ64x0I&amp;list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 </a:t>
            </a:r>
            <a:r>
              <a:rPr lang="en-US" dirty="0">
                <a:hlinkClick r:id="rId3"/>
              </a:rPr>
              <a:t>React Compiler</a:t>
            </a:r>
            <a:r>
              <a:rPr lang="en-US" dirty="0"/>
              <a:t> </a:t>
            </a:r>
            <a:r>
              <a:rPr lang="ru-RU" dirty="0"/>
              <a:t>автоматично запомня стойности и функции, намалявайки необходимостта от ръчно използване на </a:t>
            </a:r>
            <a:r>
              <a:rPr lang="en-US" b="1" dirty="0" err="1"/>
              <a:t>useMemo</a:t>
            </a:r>
            <a:r>
              <a:rPr lang="en-US" dirty="0"/>
              <a:t>/</a:t>
            </a:r>
            <a:r>
              <a:rPr lang="en-US" b="1" dirty="0" err="1"/>
              <a:t>useCallback</a:t>
            </a:r>
            <a:r>
              <a:rPr lang="ru-RU" dirty="0"/>
              <a:t>. Може</a:t>
            </a:r>
            <a:r>
              <a:rPr lang="bg-BG" dirty="0"/>
              <a:t>м</a:t>
            </a:r>
            <a:r>
              <a:rPr lang="ru-RU" dirty="0"/>
              <a:t> да използва</a:t>
            </a:r>
            <a:r>
              <a:rPr lang="bg-BG" dirty="0"/>
              <a:t>м</a:t>
            </a:r>
            <a:r>
              <a:rPr lang="ru-RU" dirty="0"/>
              <a:t>е компилатора, за да обработвате запомнянето автоматично.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https://react.dev/reference/react/useMemo</a:t>
            </a:r>
            <a:endParaRPr lang="bg-BG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https://react.dev/reference/react/useCallback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8F198B-9845-26DD-3E33-60D3CE8BD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850" y="1391202"/>
            <a:ext cx="5421826" cy="50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9778ED3-DA14-E6B2-0806-AB40244E23A0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F8221E-3D8F-6CE8-0693-00F0EDC0A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hooks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Контекстът позволява на компонента да получава информация от отдалечени родители, без да я предава като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пр.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Компонентът от най-високо ниво на вашето приложение може да предаде текущата тема на потребителския интерфейс на всички компоненти отдолу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useLayoutEffect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задейства се преди браузърът да прерисува екрана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useInsertionEffect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задейства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преди React да направи промени в DOM.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могат да вмъкват динамичен CSS.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useTransition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позволява да маркира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преход на състояние като неблокиращ и да позволи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други актуализации да го прекъсват</a:t>
            </a:r>
          </a:p>
          <a:p>
            <a:r>
              <a:rPr lang="en-US" b="1" dirty="0" err="1"/>
              <a:t>useDeferredValue</a:t>
            </a:r>
            <a:r>
              <a:rPr lang="bg-BG" dirty="0"/>
              <a:t> -</a:t>
            </a:r>
            <a:r>
              <a:rPr lang="en-US" dirty="0"/>
              <a:t> </a:t>
            </a:r>
            <a:r>
              <a:rPr lang="ru-RU" dirty="0"/>
              <a:t>позволява да отложим актуализирането на некритична част от потребителския интерфейс и да позволим на други части да се актуализират първо.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https://react.dev/reference/react/useEffect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70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38CBD44-3610-6D62-EE63-6B98A1283F4D}"/>
              </a:ext>
            </a:extLst>
          </p:cNvPr>
          <p:cNvSpPr txBox="1">
            <a:spLocks/>
          </p:cNvSpPr>
          <p:nvPr/>
        </p:nvSpPr>
        <p:spPr bwMode="black">
          <a:xfrm>
            <a:off x="3013897" y="545917"/>
            <a:ext cx="6164206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React Hooks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DB2B70-1A77-DE3C-4DF9-DDE8959B4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/>
              <a:t>Извиквай </a:t>
            </a:r>
            <a:r>
              <a:rPr lang="en-US" dirty="0"/>
              <a:t>Hooks </a:t>
            </a:r>
            <a:r>
              <a:rPr lang="bg-BG" dirty="0"/>
              <a:t>само на върха на функцията.</a:t>
            </a:r>
          </a:p>
          <a:p>
            <a:pPr lvl="1"/>
            <a:r>
              <a:rPr lang="bg-BG" dirty="0"/>
              <a:t>Винаги в </a:t>
            </a:r>
            <a:r>
              <a:rPr lang="en-US" dirty="0"/>
              <a:t>root </a:t>
            </a:r>
            <a:r>
              <a:rPr lang="bg-BG" dirty="0"/>
              <a:t>ниво на компонента.</a:t>
            </a:r>
          </a:p>
          <a:p>
            <a:pPr lvl="1"/>
            <a:r>
              <a:rPr lang="bg-BG" dirty="0"/>
              <a:t>Не ги викай вътре в </a:t>
            </a:r>
            <a:r>
              <a:rPr lang="en-US" b="1" dirty="0"/>
              <a:t>if</a:t>
            </a:r>
            <a:r>
              <a:rPr lang="en-US" dirty="0"/>
              <a:t>, </a:t>
            </a:r>
            <a:r>
              <a:rPr lang="en-US" b="1" dirty="0"/>
              <a:t>for</a:t>
            </a:r>
            <a:r>
              <a:rPr lang="en-US" dirty="0"/>
              <a:t>, </a:t>
            </a:r>
            <a:r>
              <a:rPr lang="bg-BG" dirty="0"/>
              <a:t>или </a:t>
            </a:r>
            <a:r>
              <a:rPr lang="en-US" b="1" dirty="0"/>
              <a:t>function</a:t>
            </a:r>
            <a:r>
              <a:rPr lang="en-US" dirty="0"/>
              <a:t>.</a:t>
            </a:r>
            <a:endParaRPr lang="bg-BG" dirty="0"/>
          </a:p>
          <a:p>
            <a:r>
              <a:rPr lang="en-US" dirty="0"/>
              <a:t>Hooks </a:t>
            </a:r>
            <a:r>
              <a:rPr lang="bg-BG" dirty="0"/>
              <a:t>се извикват само в </a:t>
            </a:r>
            <a:r>
              <a:rPr lang="en-US" dirty="0"/>
              <a:t>React </a:t>
            </a:r>
            <a:r>
              <a:rPr lang="bg-BG" dirty="0"/>
              <a:t>компоненти или други </a:t>
            </a:r>
            <a:r>
              <a:rPr lang="en-US" dirty="0"/>
              <a:t>custom hooks.</a:t>
            </a:r>
            <a:endParaRPr lang="bg-BG" dirty="0"/>
          </a:p>
          <a:p>
            <a:pPr lvl="1"/>
            <a:r>
              <a:rPr lang="bg-BG" dirty="0"/>
              <a:t>Не ги викаме в обикновени </a:t>
            </a:r>
            <a:r>
              <a:rPr lang="en-US" dirty="0"/>
              <a:t>JS </a:t>
            </a:r>
            <a:r>
              <a:rPr lang="bg-BG" dirty="0"/>
              <a:t>функции.</a:t>
            </a:r>
            <a:br>
              <a:rPr lang="bg-BG" dirty="0"/>
            </a:br>
            <a:endParaRPr lang="bg-BG" dirty="0"/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4568FB-354D-8237-A256-1ABEF076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4810"/>
            <a:ext cx="5775059" cy="37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6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0C88B9B-ADC0-FCD2-72C7-4F074F5C8221}"/>
              </a:ext>
            </a:extLst>
          </p:cNvPr>
          <p:cNvSpPr txBox="1">
            <a:spLocks/>
          </p:cNvSpPr>
          <p:nvPr/>
        </p:nvSpPr>
        <p:spPr bwMode="black">
          <a:xfrm>
            <a:off x="3862798" y="628467"/>
            <a:ext cx="4466403" cy="45858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Hooks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9B065A-83B7-D224-4D93-F3801F86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8" y="1131405"/>
            <a:ext cx="11510441" cy="5555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hooks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Можем да комбинираме логика от няколко hooks и да я екстрахираме в собствен </a:t>
            </a:r>
            <a:r>
              <a:rPr lang="en-US" altLang="bg-BG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bg-BG" altLang="bg-BG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Името винаги започва с </a:t>
            </a:r>
            <a:r>
              <a:rPr lang="en-US" altLang="bg-BG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endParaRPr lang="bg-BG" altLang="bg-BG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bg-BG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useRegister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bg-BG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useLogin</a:t>
            </a:r>
            <a:r>
              <a:rPr lang="en-US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bg-BG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useLogout</a:t>
            </a:r>
            <a:r>
              <a:rPr lang="en-US" altLang="bg-BG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др.</a:t>
            </a:r>
            <a:endParaRPr lang="en-US" altLang="bg-BG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Ползи: по-чист и повторно използваем код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https://react.dev/learn/reusing-logic-with-custom-hooks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Unlocking the Power of React Hooks: A Guide to Custom Hooks | by Arslan  Shahab | Medium">
            <a:extLst>
              <a:ext uri="{FF2B5EF4-FFF2-40B4-BE49-F238E27FC236}">
                <a16:creationId xmlns:a16="http://schemas.microsoft.com/office/drawing/2014/main" id="{7D6CFD1A-5B4D-C1CE-56FD-51D0DED3C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50" y="2265072"/>
            <a:ext cx="5703888" cy="380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09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FDE778-16D2-8BB8-F429-D56130ED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50"/>
            <a:ext cx="7803181" cy="6445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888166-0EC8-7625-CC05-D21B1736F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517" y="0"/>
            <a:ext cx="4359483" cy="692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9926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692</TotalTime>
  <Words>966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Corbel</vt:lpstr>
      <vt:lpstr>Gill Sans MT</vt:lpstr>
      <vt:lpstr>Times New Roman</vt:lpstr>
      <vt:lpstr>Parcel</vt:lpstr>
      <vt:lpstr>React hooks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 Ganev</dc:creator>
  <cp:lastModifiedBy>Vasil Ganev</cp:lastModifiedBy>
  <cp:revision>77</cp:revision>
  <dcterms:created xsi:type="dcterms:W3CDTF">2025-10-04T14:03:51Z</dcterms:created>
  <dcterms:modified xsi:type="dcterms:W3CDTF">2025-10-09T06:42:12Z</dcterms:modified>
</cp:coreProperties>
</file>