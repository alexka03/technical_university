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64" r:id="rId6"/>
    <p:sldId id="259" r:id="rId7"/>
    <p:sldId id="261" r:id="rId8"/>
    <p:sldId id="262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65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25.10.2025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119708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25.10.2025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37246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25.10.2025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12971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25.10.2025 г.</a:t>
            </a:fld>
            <a:endParaRPr lang="bg-BG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0727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25.10.2025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78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25.10.2025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19066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25.10.2025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980514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25.10.2025 г.</a:t>
            </a:fld>
            <a:endParaRPr lang="bg-BG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bg-BG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29048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8659B422-2137-4A34-AAD1-A5D37D6ADDBE}" type="datetimeFigureOut">
              <a:rPr lang="bg-BG" smtClean="0"/>
              <a:t>25.10.2025 г.</a:t>
            </a:fld>
            <a:endParaRPr lang="bg-BG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bg-BG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186855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25.10.2025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83628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9B422-2137-4A34-AAD1-A5D37D6ADDBE}" type="datetimeFigureOut">
              <a:rPr lang="bg-BG" smtClean="0"/>
              <a:t>25.10.2025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461431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8659B422-2137-4A34-AAD1-A5D37D6ADDBE}" type="datetimeFigureOut">
              <a:rPr lang="bg-BG" smtClean="0"/>
              <a:t>25.10.2025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4F7D24FA-89B6-4986-91A7-0FCE78098A6D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36262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mui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906B4-19C9-6E15-8693-631A50F78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2725" y="2606040"/>
            <a:ext cx="4146550" cy="1645920"/>
          </a:xfrm>
        </p:spPr>
        <p:txBody>
          <a:bodyPr/>
          <a:lstStyle/>
          <a:p>
            <a:r>
              <a:rPr lang="en-US" dirty="0"/>
              <a:t>Material </a:t>
            </a:r>
            <a:r>
              <a:rPr lang="en-US" dirty="0" err="1"/>
              <a:t>ui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190673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89866-6D7B-CBDE-441B-C238A2E8C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295" y="964692"/>
            <a:ext cx="3066937" cy="1188720"/>
          </a:xfrm>
        </p:spPr>
        <p:txBody>
          <a:bodyPr>
            <a:normAutofit/>
          </a:bodyPr>
          <a:lstStyle/>
          <a:p>
            <a:r>
              <a:rPr lang="bg-BG" dirty="0"/>
              <a:t>Какво е </a:t>
            </a:r>
            <a:r>
              <a:rPr lang="en-US" dirty="0"/>
              <a:t>UI </a:t>
            </a:r>
            <a:r>
              <a:rPr lang="bg-BG" dirty="0"/>
              <a:t>библиотека</a:t>
            </a:r>
            <a:r>
              <a:rPr lang="en-US" dirty="0"/>
              <a:t>?</a:t>
            </a:r>
            <a:endParaRPr lang="bg-BG" dirty="0">
              <a:latin typeface="Corbel (Body)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256865-E73C-83E8-5C65-D185E32F72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6478" y="2638044"/>
            <a:ext cx="4521324" cy="30912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bg-BG" altLang="bg-BG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Сбор от готови компоненти за потребителски интерфейс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bg-BG" altLang="bg-BG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Спестява време и усилия при създаване на UI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bg-BG" altLang="bg-BG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Гарантира консистентен дизайн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bg-BG" altLang="bg-BG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Примери: </a:t>
            </a:r>
            <a:r>
              <a:rPr kumimoji="0" lang="bg-BG" altLang="bg-BG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Material UI</a:t>
            </a:r>
            <a:r>
              <a:rPr kumimoji="0" lang="bg-BG" altLang="bg-BG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bg-BG" altLang="bg-BG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Ant Design</a:t>
            </a:r>
            <a:r>
              <a:rPr kumimoji="0" lang="bg-BG" altLang="bg-BG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bg-BG" altLang="bg-BG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Chakra UI</a:t>
            </a:r>
            <a:r>
              <a:rPr kumimoji="0" lang="bg-BG" altLang="bg-BG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bg-BG" altLang="bg-BG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Bootstrap</a:t>
            </a:r>
            <a:r>
              <a:rPr kumimoji="0" lang="bg-BG" altLang="bg-BG" sz="17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bg-BG" altLang="bg-BG" sz="17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Tailwind UI</a:t>
            </a:r>
            <a:endParaRPr kumimoji="0" lang="bg-BG" altLang="bg-BG" sz="17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6515FC82-3453-4CBE-8895-4CCFF33952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94182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C5FD847B-65C0-4027-8DFC-70CB42451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802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53702A43-C9E7-4025-55CE-74ED5AA1B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7848" y="2044700"/>
            <a:ext cx="6669540" cy="481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198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1FEA3-CAE0-003A-44EF-84E39853C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2677" y="964692"/>
            <a:ext cx="3066937" cy="1188720"/>
          </a:xfrm>
        </p:spPr>
        <p:txBody>
          <a:bodyPr>
            <a:normAutofit/>
          </a:bodyPr>
          <a:lstStyle/>
          <a:p>
            <a:r>
              <a:rPr lang="pt-BR"/>
              <a:t>Какво е Material UI?</a:t>
            </a:r>
            <a:endParaRPr lang="pt-BR" dirty="0"/>
          </a:p>
        </p:txBody>
      </p:sp>
      <p:sp>
        <p:nvSpPr>
          <p:cNvPr id="2062" name="Rectangle 2061">
            <a:extLst>
              <a:ext uri="{FF2B5EF4-FFF2-40B4-BE49-F238E27FC236}">
                <a16:creationId xmlns:a16="http://schemas.microsoft.com/office/drawing/2014/main" id="{A99FE660-E3DF-47E7-962D-66C6F6CE0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4795" y="964692"/>
            <a:ext cx="6885432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38C29FEE-8E8F-43D5-AD23-EB4060B4D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8415" y="1128683"/>
            <a:ext cx="6558192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441E42B-003B-2230-3D2E-09AAAE68D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143979" y="1557116"/>
            <a:ext cx="6227064" cy="3751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E9976-2503-2E16-958C-59C86DB85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47" y="2638044"/>
            <a:ext cx="4184649" cy="326320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bg-BG" sz="1400" dirty="0"/>
              <a:t>Най-популярната </a:t>
            </a:r>
            <a:r>
              <a:rPr lang="en-US" sz="1400" dirty="0"/>
              <a:t>React UI </a:t>
            </a:r>
            <a:r>
              <a:rPr lang="bg-BG" sz="1400" dirty="0"/>
              <a:t>библиотека</a:t>
            </a:r>
          </a:p>
          <a:p>
            <a:pPr>
              <a:lnSpc>
                <a:spcPct val="90000"/>
              </a:lnSpc>
            </a:pPr>
            <a:r>
              <a:rPr lang="bg-BG" sz="1400" dirty="0"/>
              <a:t>Базирана на </a:t>
            </a:r>
            <a:r>
              <a:rPr lang="en-US" sz="1400" dirty="0"/>
              <a:t>Google Material Design</a:t>
            </a:r>
          </a:p>
          <a:p>
            <a:pPr>
              <a:lnSpc>
                <a:spcPct val="90000"/>
              </a:lnSpc>
            </a:pPr>
            <a:r>
              <a:rPr lang="bg-BG" sz="1400" dirty="0"/>
              <a:t>Съдържа готови компоненти и теми</a:t>
            </a:r>
          </a:p>
          <a:p>
            <a:pPr>
              <a:lnSpc>
                <a:spcPct val="90000"/>
              </a:lnSpc>
            </a:pPr>
            <a:r>
              <a:rPr lang="bg-BG" sz="1400" dirty="0"/>
              <a:t>Напълно </a:t>
            </a:r>
            <a:r>
              <a:rPr lang="en-US" sz="1400" dirty="0"/>
              <a:t>customizable </a:t>
            </a:r>
            <a:r>
              <a:rPr lang="bg-BG" sz="1400" dirty="0"/>
              <a:t>чрез </a:t>
            </a:r>
            <a:r>
              <a:rPr lang="en-US" sz="1400" dirty="0" err="1"/>
              <a:t>ThemeProvider</a:t>
            </a:r>
            <a:endParaRPr lang="en-US" sz="1400" dirty="0"/>
          </a:p>
          <a:p>
            <a:pPr>
              <a:lnSpc>
                <a:spcPct val="90000"/>
              </a:lnSpc>
            </a:pPr>
            <a:r>
              <a:rPr lang="bg-BG" sz="1400" dirty="0"/>
              <a:t>Има силно </a:t>
            </a:r>
            <a:r>
              <a:rPr lang="en-US" sz="1400" dirty="0"/>
              <a:t>community </a:t>
            </a:r>
            <a:r>
              <a:rPr lang="bg-BG" sz="1400" dirty="0"/>
              <a:t>и добра документация</a:t>
            </a:r>
          </a:p>
        </p:txBody>
      </p:sp>
    </p:spTree>
    <p:extLst>
      <p:ext uri="{BB962C8B-B14F-4D97-AF65-F5344CB8AC3E}">
        <p14:creationId xmlns:p14="http://schemas.microsoft.com/office/powerpoint/2010/main" val="4181704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E917FF-61D5-4DC9-A1EF-B4B902F9A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660688B-11BC-86EB-FC83-3A063EE10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2732" cy="2286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F3D7A4D-9A81-5EAB-0C66-4C6E15007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3" y="3365807"/>
            <a:ext cx="7618925" cy="25871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9721EEC-FA38-AEC4-6098-FEBDFDFF4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7627" y="3653549"/>
            <a:ext cx="4184057" cy="183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564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91D06A9-2AA3-162B-142D-EDDB6C79EB8E}"/>
              </a:ext>
            </a:extLst>
          </p:cNvPr>
          <p:cNvSpPr txBox="1">
            <a:spLocks/>
          </p:cNvSpPr>
          <p:nvPr/>
        </p:nvSpPr>
        <p:spPr bwMode="black">
          <a:xfrm>
            <a:off x="-139718" y="2073470"/>
            <a:ext cx="4933734" cy="2711059"/>
          </a:xfrm>
          <a:prstGeom prst="ellipse">
            <a:avLst/>
          </a:prstGeom>
        </p:spPr>
        <p:txBody>
          <a:bodyPr vert="horz" lIns="274320" tIns="182880" rIns="274320" bIns="182880" rtlCol="0" anchor="ctr" anchorCtr="1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endParaRPr lang="en-US" sz="3200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CFC6C8D-D8BD-0C1A-D30C-0D7B69DDA2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1307823"/>
              </p:ext>
            </p:extLst>
          </p:nvPr>
        </p:nvGraphicFramePr>
        <p:xfrm>
          <a:off x="5294376" y="1077461"/>
          <a:ext cx="6257545" cy="4388374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2285273">
                  <a:extLst>
                    <a:ext uri="{9D8B030D-6E8A-4147-A177-3AD203B41FA5}">
                      <a16:colId xmlns:a16="http://schemas.microsoft.com/office/drawing/2014/main" val="2327071391"/>
                    </a:ext>
                  </a:extLst>
                </a:gridCol>
                <a:gridCol w="3972272">
                  <a:extLst>
                    <a:ext uri="{9D8B030D-6E8A-4147-A177-3AD203B41FA5}">
                      <a16:colId xmlns:a16="http://schemas.microsoft.com/office/drawing/2014/main" val="196545643"/>
                    </a:ext>
                  </a:extLst>
                </a:gridCol>
              </a:tblGrid>
              <a:tr h="549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 b="0" cap="none" spc="0">
                          <a:solidFill>
                            <a:schemeClr val="bg1"/>
                          </a:solidFill>
                        </a:rPr>
                        <a:t>Категория</a:t>
                      </a:r>
                    </a:p>
                  </a:txBody>
                  <a:tcPr marL="150923" marR="92215" marT="116094" marB="11609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 b="0" cap="none" spc="0">
                          <a:solidFill>
                            <a:schemeClr val="bg1"/>
                          </a:solidFill>
                        </a:rPr>
                        <a:t>Примери</a:t>
                      </a:r>
                    </a:p>
                  </a:txBody>
                  <a:tcPr marL="150923" marR="92215" marT="116094" marB="11609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351517"/>
                  </a:ext>
                </a:extLst>
              </a:tr>
              <a:tr h="549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 b="1" cap="none" spc="0">
                          <a:solidFill>
                            <a:schemeClr val="tx1"/>
                          </a:solidFill>
                        </a:rPr>
                        <a:t>Навигация</a:t>
                      </a:r>
                      <a:endParaRPr lang="bg-BG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0923" marR="92215" marT="116094" marB="11609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 err="1">
                          <a:solidFill>
                            <a:schemeClr val="tx1"/>
                          </a:solidFill>
                        </a:rPr>
                        <a:t>AppBar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, Toolbar, Drawer</a:t>
                      </a:r>
                    </a:p>
                  </a:txBody>
                  <a:tcPr marL="150923" marR="92215" marT="116094" marB="11609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3718074"/>
                  </a:ext>
                </a:extLst>
              </a:tr>
              <a:tr h="820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 b="1" cap="none" spc="0">
                          <a:solidFill>
                            <a:schemeClr val="tx1"/>
                          </a:solidFill>
                        </a:rPr>
                        <a:t>Въвеждане на данни</a:t>
                      </a:r>
                      <a:endParaRPr lang="bg-BG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0923" marR="92215" marT="116094" marB="11609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 err="1">
                          <a:solidFill>
                            <a:schemeClr val="tx1"/>
                          </a:solidFill>
                        </a:rPr>
                        <a:t>TextField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, Checkbox, Radio, Select, Switch</a:t>
                      </a:r>
                    </a:p>
                  </a:txBody>
                  <a:tcPr marL="150923" marR="92215" marT="116094" marB="11609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0160602"/>
                  </a:ext>
                </a:extLst>
              </a:tr>
              <a:tr h="549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 b="1" cap="none" spc="0">
                          <a:solidFill>
                            <a:schemeClr val="tx1"/>
                          </a:solidFill>
                        </a:rPr>
                        <a:t>Бутони</a:t>
                      </a:r>
                      <a:endParaRPr lang="bg-BG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0923" marR="92215" marT="116094" marB="11609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Button, </a:t>
                      </a:r>
                      <a:r>
                        <a:rPr lang="en-US" sz="1800" cap="none" spc="0" err="1">
                          <a:solidFill>
                            <a:schemeClr val="tx1"/>
                          </a:solidFill>
                        </a:rPr>
                        <a:t>IconButton</a:t>
                      </a: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, Fab</a:t>
                      </a:r>
                    </a:p>
                  </a:txBody>
                  <a:tcPr marL="150923" marR="92215" marT="116094" marB="11609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6421683"/>
                  </a:ext>
                </a:extLst>
              </a:tr>
              <a:tr h="549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 b="1" cap="none" spc="0">
                          <a:solidFill>
                            <a:schemeClr val="tx1"/>
                          </a:solidFill>
                        </a:rPr>
                        <a:t>Контейнери</a:t>
                      </a:r>
                      <a:endParaRPr lang="bg-BG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0923" marR="92215" marT="116094" marB="11609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Box, Paper, Card, Grid, Stack</a:t>
                      </a:r>
                    </a:p>
                  </a:txBody>
                  <a:tcPr marL="150923" marR="92215" marT="116094" marB="11609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4489910"/>
                  </a:ext>
                </a:extLst>
              </a:tr>
              <a:tr h="8204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 b="1" cap="none" spc="0">
                          <a:solidFill>
                            <a:schemeClr val="tx1"/>
                          </a:solidFill>
                        </a:rPr>
                        <a:t>Информационни</a:t>
                      </a:r>
                      <a:endParaRPr lang="bg-BG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0923" marR="92215" marT="116094" marB="116094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Typography, Avatar, Tooltip, Chip, </a:t>
                      </a:r>
                      <a:r>
                        <a:rPr lang="en-US" sz="1800" cap="none" spc="0" err="1">
                          <a:solidFill>
                            <a:schemeClr val="tx1"/>
                          </a:solidFill>
                        </a:rPr>
                        <a:t>Snackbar</a:t>
                      </a:r>
                      <a:endParaRPr lang="en-US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0923" marR="92215" marT="116094" marB="11609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56249"/>
                  </a:ext>
                </a:extLst>
              </a:tr>
              <a:tr h="5495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800" b="1" cap="none" spc="0">
                          <a:solidFill>
                            <a:schemeClr val="tx1"/>
                          </a:solidFill>
                        </a:rPr>
                        <a:t>Диалози</a:t>
                      </a:r>
                      <a:endParaRPr lang="bg-BG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0923" marR="92215" marT="116094" marB="11609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Dialog, Modal, Popover</a:t>
                      </a:r>
                    </a:p>
                  </a:txBody>
                  <a:tcPr marL="150923" marR="92215" marT="116094" marB="11609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287530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2ABE85A8-A766-407D-3CE7-88DEA0C8C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162" y="2681102"/>
            <a:ext cx="3363974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</a:pPr>
            <a:r>
              <a:rPr lang="en-US" b="1" dirty="0" err="1">
                <a:solidFill>
                  <a:schemeClr val="bg1"/>
                </a:solidFill>
              </a:rPr>
              <a:t>Основни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компоненти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6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9F26AF7-9AC1-49A4-8F89-2C63E1C0A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4918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1250FE5-22F0-97A4-E578-8F005C8C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Примерен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B26B4B-F2A8-9BF6-D0D9-F3FBF7A2F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280"/>
            <a:ext cx="6327849" cy="28410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B66827-F8DB-A4BC-394F-8984D656B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125" y="1512556"/>
            <a:ext cx="6787489" cy="118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822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5041AB2-A9B4-4D3F-B120-38E7860A8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334" y="804334"/>
            <a:ext cx="10583332" cy="5249332"/>
          </a:xfrm>
          <a:prstGeom prst="rect">
            <a:avLst/>
          </a:prstGeom>
          <a:solidFill>
            <a:srgbClr val="FFFFFF"/>
          </a:solidFill>
          <a:ln w="190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94847F-E142-5E58-95DD-417BECF053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236" y="1175139"/>
            <a:ext cx="9939528" cy="450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508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376B1A-E41F-35E5-0A1F-EA63F7A10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Предимства/Недостатъци на MUI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1F0BE9-EF38-600F-A8C2-F8FCD238F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497591"/>
              </p:ext>
            </p:extLst>
          </p:nvPr>
        </p:nvGraphicFramePr>
        <p:xfrm>
          <a:off x="635267" y="820488"/>
          <a:ext cx="10921466" cy="2940492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5427450">
                  <a:extLst>
                    <a:ext uri="{9D8B030D-6E8A-4147-A177-3AD203B41FA5}">
                      <a16:colId xmlns:a16="http://schemas.microsoft.com/office/drawing/2014/main" val="1244254109"/>
                    </a:ext>
                  </a:extLst>
                </a:gridCol>
                <a:gridCol w="5494016">
                  <a:extLst>
                    <a:ext uri="{9D8B030D-6E8A-4147-A177-3AD203B41FA5}">
                      <a16:colId xmlns:a16="http://schemas.microsoft.com/office/drawing/2014/main" val="175701113"/>
                    </a:ext>
                  </a:extLst>
                </a:gridCol>
              </a:tblGrid>
              <a:tr h="569127">
                <a:tc>
                  <a:txBody>
                    <a:bodyPr/>
                    <a:lstStyle/>
                    <a:p>
                      <a:r>
                        <a:rPr lang="bg-BG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Предимства</a:t>
                      </a:r>
                    </a:p>
                  </a:txBody>
                  <a:tcPr marL="222315" marR="133389" marT="133389" marB="13338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bg-BG" sz="18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Недостатъци</a:t>
                      </a:r>
                    </a:p>
                  </a:txBody>
                  <a:tcPr marL="222315" marR="133389" marT="133389" marB="13338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8F9A9D">
                          <a:alpha val="60000"/>
                        </a:srgb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3262195"/>
                  </a:ext>
                </a:extLst>
              </a:tr>
              <a:tr h="4742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Бърз старт и лесна употреба</a:t>
                      </a:r>
                      <a:endParaRPr lang="en-US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22315" marR="115604" marT="115604" marB="1156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Размер на пакета (bundle size)</a:t>
                      </a:r>
                      <a:endParaRPr lang="bg-BG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22315" marR="115604" marT="115604" marB="1156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741024"/>
                  </a:ext>
                </a:extLst>
              </a:tr>
              <a:tr h="4742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Добър дизайн по подразбиране</a:t>
                      </a:r>
                      <a:endParaRPr lang="en-US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22315" marR="115604" marT="115604" marB="1156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Може да е по-труден за напълно custom дизайн</a:t>
                      </a:r>
                      <a:endParaRPr lang="bg-BG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22315" marR="115604" marT="115604" marB="1156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0510729"/>
                  </a:ext>
                </a:extLst>
              </a:tr>
              <a:tr h="4742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Динамична темизация</a:t>
                      </a:r>
                      <a:endParaRPr lang="en-US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22315" marR="115604" marT="115604" marB="1156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Използва emotion (CSS-in-JS), което не всеки предпочита</a:t>
                      </a:r>
                      <a:endParaRPr lang="bg-BG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22315" marR="115604" marT="115604" marB="1156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035047"/>
                  </a:ext>
                </a:extLst>
              </a:tr>
              <a:tr h="474273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Голямо community</a:t>
                      </a:r>
                      <a:endParaRPr lang="bg-BG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22315" marR="115604" marT="115604" marB="1156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22315" marR="115604" marT="115604" marB="1156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481819"/>
                  </a:ext>
                </a:extLst>
              </a:tr>
              <a:tr h="4742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Добра документация</a:t>
                      </a:r>
                      <a:endParaRPr lang="bg-BG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22315" marR="115604" marT="115604" marB="1156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bg-BG" sz="14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22315" marR="115604" marT="115604" marB="11560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722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56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19501C6-F015-4273-AF88-E0F6C8538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677DB7-5829-45BD-9754-5EC484CC4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367F5E-FA2A-8F70-22A9-ED30E11D2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404872"/>
            <a:ext cx="3044950" cy="162779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/>
              <a:t>Други UI библиотеки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8AE7E27-1F76-4D7D-A3C1-5DB56F3A96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1971814"/>
              </p:ext>
            </p:extLst>
          </p:nvPr>
        </p:nvGraphicFramePr>
        <p:xfrm>
          <a:off x="4847435" y="1140896"/>
          <a:ext cx="7151426" cy="4155743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253128">
                  <a:extLst>
                    <a:ext uri="{9D8B030D-6E8A-4147-A177-3AD203B41FA5}">
                      <a16:colId xmlns:a16="http://schemas.microsoft.com/office/drawing/2014/main" val="657761644"/>
                    </a:ext>
                  </a:extLst>
                </a:gridCol>
                <a:gridCol w="2481100">
                  <a:extLst>
                    <a:ext uri="{9D8B030D-6E8A-4147-A177-3AD203B41FA5}">
                      <a16:colId xmlns:a16="http://schemas.microsoft.com/office/drawing/2014/main" val="2249882353"/>
                    </a:ext>
                  </a:extLst>
                </a:gridCol>
                <a:gridCol w="2417198">
                  <a:extLst>
                    <a:ext uri="{9D8B030D-6E8A-4147-A177-3AD203B41FA5}">
                      <a16:colId xmlns:a16="http://schemas.microsoft.com/office/drawing/2014/main" val="1849794196"/>
                    </a:ext>
                  </a:extLst>
                </a:gridCol>
              </a:tblGrid>
              <a:tr h="6149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500" b="1" cap="none" spc="0">
                          <a:solidFill>
                            <a:srgbClr val="FFFFFF"/>
                          </a:solidFill>
                        </a:rPr>
                        <a:t>Библиотека</a:t>
                      </a:r>
                    </a:p>
                  </a:txBody>
                  <a:tcPr marL="217612" marR="130567" marT="130567" marB="130567" anchor="b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500" b="1" cap="none" spc="0" dirty="0">
                          <a:solidFill>
                            <a:srgbClr val="FFFFFF"/>
                          </a:solidFill>
                        </a:rPr>
                        <a:t>Предимства</a:t>
                      </a:r>
                    </a:p>
                  </a:txBody>
                  <a:tcPr marL="217612" marR="130567" marT="130567" marB="13056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500" b="1" cap="none" spc="0">
                          <a:solidFill>
                            <a:srgbClr val="FFFFFF"/>
                          </a:solidFill>
                        </a:rPr>
                        <a:t>Особености</a:t>
                      </a:r>
                    </a:p>
                  </a:txBody>
                  <a:tcPr marL="217612" marR="130567" marT="130567" marB="130567" anchor="b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861452"/>
                  </a:ext>
                </a:extLst>
              </a:tr>
              <a:tr h="88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Chakra UI</a:t>
                      </a:r>
                      <a:endParaRPr lang="en-US" sz="15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17612" marR="130567" marT="130567" marB="130567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5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Лекота и лесна стилизация</a:t>
                      </a:r>
                    </a:p>
                  </a:txBody>
                  <a:tcPr marL="217612" marR="130567" marT="130567" marB="1305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5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Отлична за бързи прототипи</a:t>
                      </a:r>
                    </a:p>
                  </a:txBody>
                  <a:tcPr marL="217612" marR="130567" marT="130567" marB="1305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700913"/>
                  </a:ext>
                </a:extLst>
              </a:tr>
              <a:tr h="88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Ant Design</a:t>
                      </a:r>
                      <a:endParaRPr lang="en-US" sz="15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17612" marR="130567" marT="130567" marB="130567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5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Елегантен корпоративен стил</a:t>
                      </a:r>
                    </a:p>
                  </a:txBody>
                  <a:tcPr marL="217612" marR="130567" marT="130567" marB="1305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5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Силен в </a:t>
                      </a:r>
                      <a:r>
                        <a:rPr lang="en-US" sz="15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enterprise apps</a:t>
                      </a:r>
                    </a:p>
                  </a:txBody>
                  <a:tcPr marL="217612" marR="130567" marT="130567" marB="1305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1165499"/>
                  </a:ext>
                </a:extLst>
              </a:tr>
              <a:tr h="88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cap="none" spc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Mantine</a:t>
                      </a:r>
                      <a:endParaRPr lang="en-US" sz="1500" cap="none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17612" marR="130567" marT="130567" marB="130567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5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Много богата функционалност</a:t>
                      </a:r>
                    </a:p>
                  </a:txBody>
                  <a:tcPr marL="217612" marR="130567" marT="130567" marB="1305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5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Добра поддръжка на </a:t>
                      </a:r>
                      <a:r>
                        <a:rPr lang="en-US" sz="15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hooks</a:t>
                      </a:r>
                    </a:p>
                  </a:txBody>
                  <a:tcPr marL="217612" marR="130567" marT="130567" marB="1305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175929"/>
                  </a:ext>
                </a:extLst>
              </a:tr>
              <a:tr h="88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Bootstrap / React-Bootstrap</a:t>
                      </a:r>
                      <a:endParaRPr lang="en-US" sz="15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17612" marR="130567" marT="130567" marB="130567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5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Класическа и позната</a:t>
                      </a:r>
                    </a:p>
                  </a:txBody>
                  <a:tcPr marL="217612" marR="130567" marT="130567" marB="1305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bg-BG" sz="15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По-„старомоден“ вид</a:t>
                      </a:r>
                    </a:p>
                  </a:txBody>
                  <a:tcPr marL="217612" marR="130567" marT="130567" marB="130567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119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746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43643-4A48-350E-9B6C-0482EC01D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https://mui.com/</a:t>
            </a:r>
            <a:endParaRPr lang="en-US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28900466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1285</TotalTime>
  <Words>221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Corbel</vt:lpstr>
      <vt:lpstr>Corbel (Body)</vt:lpstr>
      <vt:lpstr>Gill Sans MT</vt:lpstr>
      <vt:lpstr>Parcel</vt:lpstr>
      <vt:lpstr>Material ui</vt:lpstr>
      <vt:lpstr>Какво е UI библиотека?</vt:lpstr>
      <vt:lpstr>Какво е Material UI?</vt:lpstr>
      <vt:lpstr>PowerPoint Presentation</vt:lpstr>
      <vt:lpstr>Основни компоненти</vt:lpstr>
      <vt:lpstr>Примерен Layout</vt:lpstr>
      <vt:lpstr>PowerPoint Presentation</vt:lpstr>
      <vt:lpstr>Предимства/Недостатъци на MUI</vt:lpstr>
      <vt:lpstr>Други UI библиотеки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Vasil Ganev</dc:creator>
  <cp:lastModifiedBy>Vasil Ganev</cp:lastModifiedBy>
  <cp:revision>30</cp:revision>
  <dcterms:created xsi:type="dcterms:W3CDTF">2025-10-18T06:45:25Z</dcterms:created>
  <dcterms:modified xsi:type="dcterms:W3CDTF">2025-10-26T08:40:54Z</dcterms:modified>
</cp:coreProperties>
</file>