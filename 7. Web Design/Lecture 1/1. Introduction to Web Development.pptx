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13" r:id="rId1"/>
  </p:sldMasterIdLst>
  <p:notesMasterIdLst>
    <p:notesMasterId r:id="rId17"/>
  </p:notesMasterIdLst>
  <p:sldIdLst>
    <p:sldId id="277" r:id="rId2"/>
    <p:sldId id="278" r:id="rId3"/>
    <p:sldId id="258" r:id="rId4"/>
    <p:sldId id="259" r:id="rId5"/>
    <p:sldId id="262" r:id="rId6"/>
    <p:sldId id="264" r:id="rId7"/>
    <p:sldId id="266" r:id="rId8"/>
    <p:sldId id="270" r:id="rId9"/>
    <p:sldId id="271" r:id="rId10"/>
    <p:sldId id="273" r:id="rId11"/>
    <p:sldId id="279" r:id="rId12"/>
    <p:sldId id="280" r:id="rId13"/>
    <p:sldId id="281" r:id="rId14"/>
    <p:sldId id="282" r:id="rId15"/>
    <p:sldId id="276" r:id="rId16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0" d="100"/>
          <a:sy n="200" d="100"/>
        </p:scale>
        <p:origin x="654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967BDD-A943-417F-9C1A-8B3B149E712E}" type="datetimeFigureOut">
              <a:rPr lang="bg-BG" smtClean="0"/>
              <a:t>2.10.2025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83783-A5ED-44F5-98BE-802AFE568A0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86788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83783-A5ED-44F5-98BE-802AFE568A09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51497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47370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0235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54337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5918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56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290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0247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bg-BG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602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6990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0561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586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743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the-difference-between-arrow-functions-and-normal-functions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mitripavlutin.com/differences-between-arrow-and-regular-functions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hyperlink" Target="https://developer.mozilla.org/en-US/W3School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visualstudio.com/downloa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1489-A013-8BCD-7C56-2522FC4F30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Въведение в уеб разработката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2C274-94D7-9F13-0999-A5E13440C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5071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D2AC-1919-57C5-D89D-3C4D8AA8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CD14C23-717C-714F-3295-5E72579446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64290" y="344294"/>
            <a:ext cx="5215419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обхваща курса</a:t>
            </a:r>
            <a:endParaRPr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CDCE8-CEB5-35A6-3177-4F3A3B1161E9}"/>
              </a:ext>
            </a:extLst>
          </p:cNvPr>
          <p:cNvSpPr txBox="1"/>
          <p:nvPr/>
        </p:nvSpPr>
        <p:spPr>
          <a:xfrm>
            <a:off x="209548" y="1276350"/>
            <a:ext cx="8724901" cy="341632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Fundamentals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защо се използва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синтаксис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Компоненти и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управление на състояние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Hooks: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Събития и рендериране (условно, списъци)</a:t>
            </a:r>
          </a:p>
          <a:p>
            <a:endParaRPr 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 DOM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Създаване на страници и навигация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Динамични маршрути и параметри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компоненти и вложени маршрути</a:t>
            </a:r>
            <a:b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Fetching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чрез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на данни с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Query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Loading, error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състояния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Кеширане и оптимизация</a:t>
            </a:r>
            <a:b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3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Party </a:t>
            </a: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Използване на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UI / Untitled UI React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Имплементиране на готови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компоненти (бутон, навигация, таблици)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външни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Ninjas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dummy data</a:t>
            </a:r>
          </a:p>
        </p:txBody>
      </p:sp>
    </p:spTree>
    <p:extLst>
      <p:ext uri="{BB962C8B-B14F-4D97-AF65-F5344CB8AC3E}">
        <p14:creationId xmlns:p14="http://schemas.microsoft.com/office/powerpoint/2010/main" val="26368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4290" y="344294"/>
            <a:ext cx="5215419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уеб разработката?</a:t>
            </a:r>
            <a:endParaRPr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294" y="1581150"/>
            <a:ext cx="5181600" cy="26032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1100" dirty="0">
              <a:latin typeface="Arial"/>
              <a:cs typeface="Arial"/>
            </a:endParaRPr>
          </a:p>
          <a:p>
            <a:pPr marL="124460">
              <a:lnSpc>
                <a:spcPct val="100000"/>
              </a:lnSpc>
              <a:tabLst>
                <a:tab pos="469265" algn="l"/>
              </a:tabLst>
            </a:pP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910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ru-RU"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Частта от сайтове, насочена към потребителя (HTML, CSS, JavaScript)</a:t>
            </a:r>
          </a:p>
          <a:p>
            <a:pPr marL="295910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ru-RU"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Фокусира се върху дизайна и взаимодействието с потребителя</a:t>
            </a:r>
            <a:endParaRPr lang="en-US" sz="1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4460">
              <a:lnSpc>
                <a:spcPct val="100000"/>
              </a:lnSpc>
              <a:spcBef>
                <a:spcPts val="195"/>
              </a:spcBef>
              <a:tabLst>
                <a:tab pos="469265" algn="l"/>
              </a:tabLst>
            </a:pPr>
            <a:endParaRPr lang="en-US" sz="1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4460">
              <a:lnSpc>
                <a:spcPct val="100000"/>
              </a:lnSpc>
              <a:spcBef>
                <a:spcPts val="195"/>
              </a:spcBef>
              <a:tabLst>
                <a:tab pos="469265" algn="l"/>
              </a:tabLst>
            </a:pP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910" indent="-171450">
              <a:lnSpc>
                <a:spcPct val="10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bg-BG"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Сървърна л</a:t>
            </a:r>
            <a:r>
              <a:rPr lang="ru-RU"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огика и бази данни (Node.js, .NET Core, Java)</a:t>
            </a:r>
          </a:p>
          <a:p>
            <a:pPr marL="295910" indent="-171450">
              <a:lnSpc>
                <a:spcPct val="10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ru-RU"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съхранението на данни, заявките към сървъра и API</a:t>
            </a:r>
            <a:r>
              <a:rPr lang="en-US"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4460">
              <a:lnSpc>
                <a:spcPct val="100000"/>
              </a:lnSpc>
              <a:spcBef>
                <a:spcPts val="200"/>
              </a:spcBef>
              <a:tabLst>
                <a:tab pos="469265" algn="l"/>
              </a:tabLst>
            </a:pPr>
            <a:endParaRPr lang="en-US" sz="1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4460">
              <a:lnSpc>
                <a:spcPct val="100000"/>
              </a:lnSpc>
              <a:spcBef>
                <a:spcPts val="200"/>
              </a:spcBef>
              <a:tabLst>
                <a:tab pos="469265" algn="l"/>
              </a:tabLst>
            </a:pP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91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Комбинира разработка на frontend и backend</a:t>
            </a:r>
          </a:p>
          <a:p>
            <a:pPr marL="29591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разработчиците управляват всички аспекти на структурата         на уебсайта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2B6F1F-4431-52C0-92C6-AFEFB5EDE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783" y="1835667"/>
            <a:ext cx="4099217" cy="234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B96805-DC44-6CE5-4E57-B19F8D48546C}"/>
              </a:ext>
            </a:extLst>
          </p:cNvPr>
          <p:cNvSpPr txBox="1"/>
          <p:nvPr/>
        </p:nvSpPr>
        <p:spPr>
          <a:xfrm>
            <a:off x="112294" y="1123547"/>
            <a:ext cx="807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Уеб разработката е процес на създаване и поддържане на уебсайтове и уеб приложения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61950"/>
            <a:ext cx="6475230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 и уеб архитектурата</a:t>
            </a:r>
            <a:endParaRPr sz="2400" b="1" spc="-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" y="1595115"/>
            <a:ext cx="510540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работи </a:t>
            </a:r>
            <a:r>
              <a:rPr lang="bg-B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интернетът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bg-BG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Клиенти: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Устройства (компютри, телефони), които заявяват уеб страници.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Сървъри: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Устройства които съхраняват и предоставят уеб страници.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(Domain Name System)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Превежда домейн имената в IP адреси.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HTTP/HTTPS: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Протоколи за пренос на данни между клиенти и сървъри.</a:t>
            </a: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Базова архитектура: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Заявка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(request)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Клиентът изпраща заявка за уеб страница през браузъра.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Отговор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(response)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Сървърът обработва заявката и връща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1473832"/>
            <a:ext cx="3886200" cy="2409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EF9F9AC-4CDF-54B0-290E-2A0C0D87F84A}"/>
              </a:ext>
            </a:extLst>
          </p:cNvPr>
          <p:cNvSpPr txBox="1"/>
          <p:nvPr/>
        </p:nvSpPr>
        <p:spPr>
          <a:xfrm>
            <a:off x="152400" y="1047750"/>
            <a:ext cx="871392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ъстои от елементи, дефинирани чрез тагове (напр.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&lt;a&gt;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Таговете структурират уебстраницата в различни секции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e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статичен  - няма взаимодействие или стилизиране (те се правят чрез CSS и JavaScript)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bg-BG" sz="1600" b="1" dirty="0"/>
              <a:t>Базова структура на </a:t>
            </a:r>
            <a:r>
              <a:rPr lang="en-US" sz="1600" b="1" dirty="0"/>
              <a:t>HTML</a:t>
            </a:r>
          </a:p>
          <a:p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казва на браузъра, че документът е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html&gt;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коренът на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head&gt;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 метаданни, заглавие и връзки към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CSS/JS.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body&gt;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 видимото съдържание на уебстраницата.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AFE53EC8-EAED-3716-586B-90725F3ECEC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7588" y="1809750"/>
            <a:ext cx="4117574" cy="2362200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FACBECD5-1FCA-D40E-C785-1AB3CBEDEB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7647" y="340456"/>
            <a:ext cx="3503430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Основи на HTML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object 5">
            <a:extLst>
              <a:ext uri="{FF2B5EF4-FFF2-40B4-BE49-F238E27FC236}">
                <a16:creationId xmlns:a16="http://schemas.microsoft.com/office/drawing/2014/main" id="{3F38A150-AA64-D384-E61C-8D7F642589D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0204" y="17511"/>
            <a:ext cx="613795" cy="954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7C8CC131-56ED-A195-8859-A5D33D4095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5336" y="209550"/>
            <a:ext cx="7353328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 тагове и семантичен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8346C-4CBF-B64D-C1F8-0A3130F69DB9}"/>
              </a:ext>
            </a:extLst>
          </p:cNvPr>
          <p:cNvSpPr txBox="1"/>
          <p:nvPr/>
        </p:nvSpPr>
        <p:spPr>
          <a:xfrm>
            <a:off x="0" y="599886"/>
            <a:ext cx="5105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 HTML тагове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&lt;h6&gt;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определят основни и подзаглавия.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използва се за обикновен текст.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&lt;a&gt;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създава хипервръзки към други страници или сайтове.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&lt;span&gt;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inline container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стгилизирантте на част от текста.</a:t>
            </a:r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&lt;img&gt;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показва изображения на страницата.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&lt;div&gt; -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блоков контейнер, използван за групиране на елементи и структуриране на уебстраницата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&lt;input&gt;</a:t>
            </a:r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Списъци: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Неномериран списък: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&lt;ul&gt;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за списък с булети.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Номериран списък: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&lt;ol&gt;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за номериран списък.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Семантичен HTML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Семантичният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зползва смислови тагове, които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описват съдържанието. Това подобрява достъпността,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 и четимостта на кода.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Ползи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По-лесно индексиране от търсачки.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Подобрена достъпност за екранни четци.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По-добра четимост за разработчици.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70DDE5A-6F0E-62EB-20DB-A42564AB5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252" y="1885950"/>
            <a:ext cx="5387748" cy="281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399" y="913636"/>
            <a:ext cx="6852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(Cascading Style Sheets)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използва за стил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изиране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оформление на уебстраници, като контролира визията и усещането на уебсайта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399" y="1428750"/>
            <a:ext cx="5486400" cy="3521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Синтаксис: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Selector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{color: blue;} -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променя цвета на заглавието на син.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Начини за добавяне на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към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HTML: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стил директно в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таг.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&lt;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head&gt;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секцията чрез &lt;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style&gt;.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чрез външен </a:t>
            </a: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стилове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font-family, font-size, color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контролират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външния вид на текста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шрифта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background-color, background-image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задават цвят или изображение за фон.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Оформление:</a:t>
            </a:r>
            <a:endParaRPr 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вътрешно отстояние.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външно отстояние.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контролира начина, по който елементите се подреждат.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1952" y="12700"/>
            <a:ext cx="612048" cy="863519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D69791C4-105D-FB00-7388-AB9863EC6E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7647" y="340456"/>
            <a:ext cx="3503430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Основи на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E8755D16-53E8-5A5E-8A33-2ACE6ED2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(Cascading Style Sheets)</a:t>
            </a:r>
            <a:r>
              <a:rPr kumimoji="0" lang="bg-BG" altLang="bg-B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се използва за стил и оформление на уебстраници.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bg-BG" altLang="bg-B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object 5">
            <a:extLst>
              <a:ext uri="{FF2B5EF4-FFF2-40B4-BE49-F238E27FC236}">
                <a16:creationId xmlns:a16="http://schemas.microsoft.com/office/drawing/2014/main" id="{DB9F4AA5-3A85-0C34-2BCB-5F30A754973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4641" y="1901823"/>
            <a:ext cx="3914721" cy="1982983"/>
          </a:xfrm>
          <a:prstGeom prst="rect">
            <a:avLst/>
          </a:prstGeom>
        </p:spPr>
      </p:pic>
      <p:sp>
        <p:nvSpPr>
          <p:cNvPr id="16" name="object 2">
            <a:extLst>
              <a:ext uri="{FF2B5EF4-FFF2-40B4-BE49-F238E27FC236}">
                <a16:creationId xmlns:a16="http://schemas.microsoft.com/office/drawing/2014/main" id="{C95677FD-F8EB-6E19-5E79-80CDDB591C3B}"/>
              </a:ext>
            </a:extLst>
          </p:cNvPr>
          <p:cNvSpPr txBox="1">
            <a:spLocks/>
          </p:cNvSpPr>
          <p:nvPr/>
        </p:nvSpPr>
        <p:spPr bwMode="black">
          <a:xfrm>
            <a:off x="6136285" y="1521184"/>
            <a:ext cx="2051435" cy="236988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wrap="square" lIns="0" tIns="15240" rIns="0" bIns="0" rtlCol="0" anchor="ctr">
            <a:sp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box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2400" y="914399"/>
            <a:ext cx="8378275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програмен език, който позволява добавяне на интерактивност към уебсайтове.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Защо JavaScript?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Позволява създаване на динамично съдържание – форми, изскачащи прозорци, анимации.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 се за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интерактивност от страна на клиента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 браузъра).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Основен език за съвременно уеб разработване.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бутон, който извежда съобщение при натискане.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Декларация на променливи –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 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399" cy="914399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E0CC0EDB-6289-FA6B-6336-83481BEB3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7261" y="283305"/>
            <a:ext cx="4889477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Основи на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DE04A6-DDC0-A1B4-1EDA-7492F52C0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37026"/>
              </p:ext>
            </p:extLst>
          </p:nvPr>
        </p:nvGraphicFramePr>
        <p:xfrm>
          <a:off x="76200" y="3105150"/>
          <a:ext cx="8839200" cy="1797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6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849">
                <a:tc>
                  <a:txBody>
                    <a:bodyPr/>
                    <a:lstStyle/>
                    <a:p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Обхват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(Scope)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Hoisting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Може ли да се презапише?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314">
                <a:tc>
                  <a:txBody>
                    <a:bodyPr/>
                    <a:lstStyle/>
                    <a:p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Функционален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Издига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стойността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undefined)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15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Издига се (но не може да се използва преди декларация)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822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Издига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може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използва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преди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декларация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стойността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е </a:t>
                      </a:r>
                      <a:r>
                        <a:rPr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фиксирана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4CF3DD-858C-4CDD-FCDC-73740CBF780E}"/>
              </a:ext>
            </a:extLst>
          </p:cNvPr>
          <p:cNvSpPr txBox="1"/>
          <p:nvPr/>
        </p:nvSpPr>
        <p:spPr>
          <a:xfrm>
            <a:off x="69898" y="264795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Hoisting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поведение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което всички декларации се преместват в началото на текущия обхват (в началото на текущия скрипт или текущата функция).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Тук let и const също с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“hoisted”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 те остават във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времева мъртва зона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(TDZ), докато не се достигне редът, който ги инициализира.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425A4-8AFA-356E-31A6-B2863ECFA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525651"/>
            <a:ext cx="2009775" cy="151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253D51-85DA-3CB4-C5A6-45E1539E3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634" y="3574665"/>
            <a:ext cx="4495800" cy="596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F0A857-CB6E-6E69-75FA-4FDFE80B0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634" y="4305470"/>
            <a:ext cx="4469445" cy="5965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25C3CD-CA30-63B1-2268-60D76B42CF88}"/>
              </a:ext>
            </a:extLst>
          </p:cNvPr>
          <p:cNvSpPr txBox="1"/>
          <p:nvPr/>
        </p:nvSpPr>
        <p:spPr>
          <a:xfrm>
            <a:off x="0" y="39747"/>
            <a:ext cx="868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Обхват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(Scope)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текущият контекст на изпълнение, в който стойностите и изразите са „видими“ или могат да бъдат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реферирани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Ако дадена променлива или израз не е в текущия обхват, той няма да бъде достъпен за използване. JavaScript има следните видове обхвати: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Глобален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(Global scope)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Обхватът по подразбиране за целия код, изпълняван в режим на скрипт.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Обхват на функция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(Function scope)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Обхватът, създаден с функция.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Блоков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scope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Обхватът за код, изпълняван в режим на </a:t>
            </a: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82B702-558F-B992-0788-EE82379C5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04" y="1389669"/>
            <a:ext cx="2768856" cy="10269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545493-809E-BB38-A959-FD122F1D1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6643" y="1357919"/>
            <a:ext cx="2550714" cy="10269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2CDB0E-E831-D040-82A1-CE7E87E885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987" y="1357919"/>
            <a:ext cx="2068267" cy="10270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EAD107BE-3A42-56B4-D506-8F2B8FF886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7179" y="361950"/>
            <a:ext cx="3549638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Типове данни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FF8A6A-50FD-7BB2-4BCF-438123A73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944708"/>
              </p:ext>
            </p:extLst>
          </p:nvPr>
        </p:nvGraphicFramePr>
        <p:xfrm>
          <a:off x="1752598" y="1123950"/>
          <a:ext cx="5638801" cy="360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dirty="0" err="1"/>
                        <a:t>Тип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Описание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Текст, ограден в кавички (напр. "Hello")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Числа</a:t>
                      </a:r>
                      <a:r>
                        <a:rPr dirty="0"/>
                        <a:t> – </a:t>
                      </a:r>
                      <a:r>
                        <a:rPr dirty="0" err="1"/>
                        <a:t>цели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или</a:t>
                      </a:r>
                      <a:r>
                        <a:rPr dirty="0"/>
                        <a:t> с</a:t>
                      </a:r>
                      <a:r>
                        <a:rPr lang="bg-BG" dirty="0"/>
                        <a:t>ъс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запетая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напр</a:t>
                      </a:r>
                      <a:r>
                        <a:rPr dirty="0"/>
                        <a:t>. 42, 3.14)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3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Boolean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ru-RU" sz="13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Логически стойности: true или false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135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BigInt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ru-RU" sz="13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Много големи цели числа с произволна дължина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dirty="0"/>
                        <a:t>Object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Колекция от двойки ключ-стойност данни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72701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Представя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липса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на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стойност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dirty="0"/>
                        <a:t>Undefined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Декларирана, но неизползвана променлива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Уникален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идентификатор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гарантирано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различен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DC48B59-23C6-C918-B761-6F41D8554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5390" y="361950"/>
            <a:ext cx="4213220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Масиви и Обекти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C95E4-8450-85A4-D539-5D058EBB7E98}"/>
              </a:ext>
            </a:extLst>
          </p:cNvPr>
          <p:cNvSpPr txBox="1"/>
          <p:nvPr/>
        </p:nvSpPr>
        <p:spPr>
          <a:xfrm>
            <a:off x="152400" y="914661"/>
            <a:ext cx="8610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Масиви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200" dirty="0"/>
              <a:t>подредени списъци от стойности.</a:t>
            </a:r>
            <a:r>
              <a:rPr lang="en-US" sz="1200" dirty="0"/>
              <a:t> </a:t>
            </a:r>
            <a:r>
              <a:rPr lang="ru-RU" sz="1200" dirty="0"/>
              <a:t>Индексите започват от </a:t>
            </a:r>
            <a:r>
              <a:rPr lang="en-US" sz="1200" dirty="0"/>
              <a:t>0</a:t>
            </a:r>
            <a:r>
              <a:rPr lang="ru-RU" sz="1200" dirty="0"/>
              <a:t>.</a:t>
            </a:r>
            <a:endParaRPr lang="en-US" sz="1200" dirty="0"/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 за работа с масиви: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push()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добавя елемент в края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премахва последния елемент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връща броя на елементите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Всички методи -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https://developer.mozilla.org/en-US/docs/Web/JavaScript/Reference/Global_Objects/Array#instance_methods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Обекти - </a:t>
            </a:r>
            <a:r>
              <a:rPr lang="bg-BG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колекции от </a:t>
            </a:r>
            <a:r>
              <a:rPr lang="bg-BG" altLang="bg-BG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ключ–стойност</a:t>
            </a:r>
            <a:r>
              <a:rPr lang="bg-BG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двойки</a:t>
            </a:r>
            <a:r>
              <a:rPr lang="en-US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key-value pairs</a:t>
            </a:r>
            <a:r>
              <a:rPr lang="en-US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bg-BG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Всеки ключ (property) има име и стойност.</a:t>
            </a:r>
            <a:r>
              <a:rPr lang="en-US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Ползват се к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огато искаме да опишем едно нещо с много характеристики (напр. човек, кола, продукт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bg-BG" alt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bg-BG" altLang="bg-BG" sz="1200" dirty="0">
              <a:latin typeface="Arial" panose="020B0604020202020204" pitchFamily="34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930C9C-49AE-61A1-191F-401A55DC7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520" y="1047750"/>
            <a:ext cx="2650180" cy="921802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36B034CF-C5F1-352B-6366-7ABAA8CCF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71515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637946-E8A4-F095-C143-2C5F24273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06" y="2999029"/>
            <a:ext cx="222885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4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1344F26-835C-9AD7-B1F9-EEBD776482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5390" y="153695"/>
            <a:ext cx="4213220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Масиви от Обекти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03B6C-F45F-E1BC-54F8-215AD5840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90550"/>
            <a:ext cx="6705600" cy="44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0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C32F116-4160-D6C4-5E80-035113D6A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495" y="361950"/>
            <a:ext cx="6069010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vs arrow function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2171D5-732F-DE4F-3D58-7C7F5BB31D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57550"/>
            <a:ext cx="4465246" cy="1303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C8486331-6D67-C87D-A63B-99BC4E8F2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803851"/>
            <a:ext cx="7848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Обикновена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(regular) </a:t>
            </a:r>
            <a:r>
              <a:rPr 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bg-BG" altLang="bg-BG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 да се извиква </a:t>
            </a:r>
            <a:r>
              <a:rPr kumimoji="0" lang="bg-BG" altLang="bg-BG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преди декларацията</a:t>
            </a: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(ако е function declaration → hoisting).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Подходяща, когато трябва да се използва </a:t>
            </a:r>
            <a:r>
              <a:rPr kumimoji="0" lang="bg-BG" altLang="bg-BG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напр. в обекти или класове.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Има собствено this (контекстът зависи от това как е извикана функцията).</a:t>
            </a:r>
            <a:endParaRPr kumimoji="0" lang="en-US" altLang="bg-BG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bg-B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bg-BG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Arrow</a:t>
            </a:r>
            <a:r>
              <a:rPr lang="bg-BG" alt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функция</a:t>
            </a:r>
            <a:r>
              <a:rPr lang="en-US" alt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bg-B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bg-BG" altLang="bg-B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Няма собствено this</a:t>
            </a:r>
            <a:r>
              <a:rPr lang="bg-BG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взема го от обкръжаващия контекст (</a:t>
            </a:r>
            <a:r>
              <a:rPr lang="bg-BG" altLang="bg-BG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this</a:t>
            </a:r>
            <a:r>
              <a:rPr lang="bg-BG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bg-BG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По-кратък синтаксис.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bg-BG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може да се извиква преди декларацията (няма hoisting като function declaration).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bg-BG" alt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може да се използва като конструктор (не поддържа new).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bg-BG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bg-B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bg-BG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bg-B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bg-BG" sz="1200" b="1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bg-BG" sz="1200" b="1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bg-BG" sz="1200" b="1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bg-BG" sz="1200" b="1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bg-BG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https://www.freecodecamp.org/news/the-difference-between-arrow-functions-and-normal-functions/</a:t>
            </a:r>
            <a:endParaRPr lang="en-US" altLang="bg-B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bg-BG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https://dmitripavlutin.com/differences-between-arrow-and-regular-functions/</a:t>
            </a:r>
            <a:endParaRPr lang="en-US" altLang="bg-B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bg-BG" altLang="bg-BG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457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128D181-5749-2C3F-E498-11F435D1D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304800"/>
            <a:ext cx="87915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88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143000" y="1631749"/>
            <a:ext cx="6858000" cy="1880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spcBef>
                <a:spcPts val="100"/>
              </a:spcBef>
              <a:buNone/>
            </a:pPr>
            <a:r>
              <a:rPr lang="bg-BG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Учебни ресурси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28295">
              <a:tabLst>
                <a:tab pos="469265" algn="l"/>
              </a:tabLst>
            </a:pP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MDN</a:t>
            </a:r>
            <a:r>
              <a:rPr sz="12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2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2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https://developer.mozilla.org/en-US/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W3Schools</a:t>
            </a:r>
            <a:endParaRPr lang="bg-BG" sz="1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8295">
              <a:tabLst>
                <a:tab pos="469265" algn="l"/>
              </a:tabLst>
            </a:pPr>
            <a:r>
              <a:rPr lang="en-US"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 -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https://www.w3schools.com/</a:t>
            </a:r>
            <a:endParaRPr sz="1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5"/>
              </a:spcBef>
              <a:buNone/>
            </a:pPr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Инструменти за разработка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5"/>
              </a:spcBef>
              <a:buNone/>
            </a:pPr>
            <a:endParaRPr lang="en-US" sz="1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5"/>
              </a:spcBef>
            </a:pPr>
            <a:r>
              <a:rPr lang="en-US"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-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https://code.visualstudio.com/download</a:t>
            </a:r>
            <a:endParaRPr lang="en-US" sz="1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5"/>
              </a:spcBef>
            </a:pPr>
            <a:r>
              <a:rPr lang="en-US"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lang="en-US" sz="12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DevTools</a:t>
            </a:r>
            <a:r>
              <a:rPr lang="en-US"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F12 </a:t>
            </a:r>
            <a:r>
              <a:rPr lang="bg-BG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браузъра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bg-BG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sz="1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Ctrl+Shift+C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8A34280A-81E8-263C-CB09-2ED443AE77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2961" y="361950"/>
            <a:ext cx="5118077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Ресурси и инструменти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568</TotalTime>
  <Words>1362</Words>
  <Application>Microsoft Office PowerPoint</Application>
  <PresentationFormat>On-screen Show (16:9)</PresentationFormat>
  <Paragraphs>224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Corbel</vt:lpstr>
      <vt:lpstr>Gill Sans MT</vt:lpstr>
      <vt:lpstr>Times New Roman</vt:lpstr>
      <vt:lpstr>Parcel</vt:lpstr>
      <vt:lpstr>Въведение в уеб разработката</vt:lpstr>
      <vt:lpstr>Какво обхваща курса</vt:lpstr>
      <vt:lpstr>Какво е уеб разработката?</vt:lpstr>
      <vt:lpstr>Интернет и уеб архитектурата</vt:lpstr>
      <vt:lpstr>Основи на HTML</vt:lpstr>
      <vt:lpstr>Основни тагове и семантичен html</vt:lpstr>
      <vt:lpstr>Основи на CSS</vt:lpstr>
      <vt:lpstr>Основи на Javascript</vt:lpstr>
      <vt:lpstr>PowerPoint Presentation</vt:lpstr>
      <vt:lpstr>Типове данни</vt:lpstr>
      <vt:lpstr>Масиви и Обекти </vt:lpstr>
      <vt:lpstr>Масиви от Обекти </vt:lpstr>
      <vt:lpstr>Regular vs arrow function</vt:lpstr>
      <vt:lpstr>PowerPoint Presentation</vt:lpstr>
      <vt:lpstr>Ресурси и инструменти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 to Web Development.</dc:title>
  <cp:lastModifiedBy>Vasil Ganev</cp:lastModifiedBy>
  <cp:revision>97</cp:revision>
  <dcterms:created xsi:type="dcterms:W3CDTF">2025-09-22T11:35:27Z</dcterms:created>
  <dcterms:modified xsi:type="dcterms:W3CDTF">2025-10-02T06:00:14Z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2025-09-22T00:00:00Z</vt:filetime>
  </property>
</Properties>
</file>