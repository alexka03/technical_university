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70" r:id="rId6"/>
    <p:sldId id="259" r:id="rId7"/>
    <p:sldId id="277" r:id="rId8"/>
    <p:sldId id="263" r:id="rId9"/>
    <p:sldId id="264" r:id="rId10"/>
    <p:sldId id="265" r:id="rId11"/>
    <p:sldId id="266" r:id="rId12"/>
    <p:sldId id="267" r:id="rId13"/>
    <p:sldId id="276" r:id="rId14"/>
  </p:sldIdLst>
  <p:sldSz cx="9144000" cy="5143500" type="screen16x9"/>
  <p:notesSz cx="6858000" cy="9144000"/>
  <p:embeddedFontLst>
    <p:embeddedFont>
      <p:font typeface="Gill Sans MT" panose="020B0502020104020203" pitchFamily="34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0" d="100"/>
          <a:sy n="200" d="100"/>
        </p:scale>
        <p:origin x="65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181e194f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181e194f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181e194f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181e194f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c181e194f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c181e194f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c181e194f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c181e194f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c181e194f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c181e194f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c181e194f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c181e194f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c181e194f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c181e194f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c181e194f5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c181e194f5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9496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3576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55450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63210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2302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775596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7848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2623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71197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22883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20917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420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595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what-is-the-virtual-dom-in-reac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eecodecamp.org/news/what-is-the-virtual-dom-in-react/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andsonreact.com/docs/component-architectur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Xrgddey8jcA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" TargetMode="External"/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ite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701404" y="2509838"/>
            <a:ext cx="3741187" cy="5465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Въведение в </a:t>
            </a:r>
            <a:r>
              <a:rPr lang="en-US" sz="2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React</a:t>
            </a:r>
            <a:endParaRPr sz="2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2586" y="499413"/>
            <a:ext cx="1818825" cy="18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-83587" y="1233438"/>
            <a:ext cx="9175200" cy="19574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50000"/>
              </a:lnSpc>
              <a:buFont typeface="Roboto"/>
              <a:buChar char="-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React е Javascript 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библиотека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, която се фокусира върху декларативен синтаксис и виртуализация на DOM.</a:t>
            </a:r>
          </a:p>
          <a:p>
            <a:pPr lvl="0">
              <a:lnSpc>
                <a:spcPct val="150000"/>
              </a:lnSpc>
              <a:buFont typeface="Roboto"/>
              <a:buChar char="-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React e </a:t>
            </a:r>
            <a:r>
              <a:rPr lang="en-US" b="1" dirty="0">
                <a:latin typeface="Roboto"/>
                <a:ea typeface="Roboto"/>
                <a:cs typeface="Roboto"/>
                <a:sym typeface="Roboto"/>
              </a:rPr>
              <a:t>open-source 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библиотека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, разработвана от Meta и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open-source community-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то</a:t>
            </a:r>
            <a:endParaRPr lang="ru-RU" dirty="0"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50000"/>
              </a:lnSpc>
              <a:buFont typeface="Roboto"/>
              <a:buChar char="-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Тя предоставя декларативен и ефикасен начин за създаване на интерактивни UI компоненти. </a:t>
            </a:r>
          </a:p>
          <a:p>
            <a:pPr lvl="0">
              <a:lnSpc>
                <a:spcPct val="150000"/>
              </a:lnSpc>
              <a:buFont typeface="Roboto"/>
              <a:buChar char="-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Позволява лесно изграждане на по-многократно използваеми и поддържаеми UI компоненти.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F9CF4A4-446D-90A3-0FC7-B2D9868BE12F}"/>
              </a:ext>
            </a:extLst>
          </p:cNvPr>
          <p:cNvSpPr txBox="1">
            <a:spLocks/>
          </p:cNvSpPr>
          <p:nvPr/>
        </p:nvSpPr>
        <p:spPr bwMode="black">
          <a:xfrm>
            <a:off x="2666758" y="315719"/>
            <a:ext cx="3674509" cy="39754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bg-BG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Какво е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react?</a:t>
            </a:r>
            <a:endParaRPr lang="bg-BG" sz="2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0" y="757380"/>
            <a:ext cx="7827413" cy="4070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Virtual DOM</a:t>
            </a:r>
            <a:endParaRPr lang="en-US" sz="1800" b="1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285750" indent="-285750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Виртуалният DOM е in-memory представяне на реалните DOM елементи. </a:t>
            </a: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285750" indent="-285750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Вместо да взаимодейства директно с реалния DOM, което може да бъде бавно и скъпо по отношение на производителността, React създава виртуално представяне на компонентите на потребителския интерфейс. </a:t>
            </a: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285750" indent="-285750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Това виртуално представяне е лек JavaScript обект, който отразява структурата на реалния DOM.</a:t>
            </a: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285750" indent="-285750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285750" indent="-285750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  <a:hlinkClick r:id="rId3"/>
            </a:endParaRPr>
          </a:p>
          <a:p>
            <a:pPr marL="285750" indent="-285750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  <a:hlinkClick r:id="rId3"/>
            </a:endParaRPr>
          </a:p>
          <a:p>
            <a:pPr marL="285750" indent="-285750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  <a:hlinkClick r:id="rId3"/>
            </a:endParaRPr>
          </a:p>
          <a:p>
            <a:pPr marL="285750" indent="-285750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  <a:hlinkClick r:id="rId3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5D14F48-FCE4-A4F0-397D-BA2B012757B3}"/>
              </a:ext>
            </a:extLst>
          </p:cNvPr>
          <p:cNvSpPr txBox="1">
            <a:spLocks/>
          </p:cNvSpPr>
          <p:nvPr/>
        </p:nvSpPr>
        <p:spPr bwMode="black">
          <a:xfrm>
            <a:off x="2666758" y="315719"/>
            <a:ext cx="3674509" cy="39754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bg-BG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Защо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react?</a:t>
            </a:r>
            <a:endParaRPr lang="bg-BG" sz="2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FEFF4-952F-B37C-5071-D9C06E2A0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825" y="2929973"/>
            <a:ext cx="4324350" cy="2162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B0B28-8098-9B31-4280-A115C3374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38162"/>
            <a:ext cx="8832300" cy="4124376"/>
          </a:xfrm>
        </p:spPr>
        <p:txBody>
          <a:bodyPr>
            <a:normAutofit/>
          </a:bodyPr>
          <a:lstStyle/>
          <a:p>
            <a:pPr fontAlgn="base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Стъпка 1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Първоначално рендериране: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когато приложението стартира, целият потребителски интерфейс е представен като виртуален DOM. React елементите се създават и рендерират във виртуалната структура.</a:t>
            </a:r>
          </a:p>
          <a:p>
            <a:pPr fontAlgn="base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Стъпка 2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Промени в състоянието и свойствата: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когато състоянията и свойствата се променят в приложението, React рендерира засегнатите компоненти във виртуалния DOM. Тези промени не влияят незабавно на реалния DOM.</a:t>
            </a:r>
          </a:p>
          <a:p>
            <a:pPr fontAlgn="base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Стъпка 3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Сравнение с помощта на Diff алгоритъм: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 това React използва diffing алгоритъм, за да сравни текущата версия на виртуалния DOM с предишната версия. Този процес идентифицира разликите (или „diffs“) между двете версии.</a:t>
            </a:r>
          </a:p>
          <a:p>
            <a:pPr fontAlgn="base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Стъпка 4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Процес на съгласуване: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определя най-ефективния начин за актуализиране на реалния DOM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спрямо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идентифицираните разлики. Променят се само частите от реалния DOM, които трябва да бъдат актуализирани, вместо да се рендерира целият потребителски интерфейс. Това селективно актуализиране е бързо и ефективно.</a:t>
            </a:r>
          </a:p>
          <a:p>
            <a:pPr fontAlgn="base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Стъпка 5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Актуализиране до реалния DOM: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накрая React прилага необходимите промени към реалния DOM. Това може да включва добавяне, премахване или актуализиране на елементи въз основа на разликите, открити в стъпка 3.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fontAlgn="base">
              <a:buNone/>
            </a:pP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  <a:hlinkClick r:id="rId2"/>
              </a:rPr>
              <a:t>https://www.freecodecamp.org/news/what-is-the-virtual-dom-in-react/</a:t>
            </a: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fontAlgn="base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bg-BG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2A449064-DA38-F039-126F-BD4C4C71D8AB}"/>
              </a:ext>
            </a:extLst>
          </p:cNvPr>
          <p:cNvSpPr txBox="1">
            <a:spLocks/>
          </p:cNvSpPr>
          <p:nvPr/>
        </p:nvSpPr>
        <p:spPr bwMode="black">
          <a:xfrm>
            <a:off x="1572816" y="372869"/>
            <a:ext cx="5998367" cy="39754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bg-BG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работи виртуалният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DOM?</a:t>
            </a:r>
            <a:endParaRPr lang="bg-BG" sz="2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533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F62B9D-3546-CAB1-41DD-EB0D1E193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821" y="97631"/>
            <a:ext cx="2519102" cy="4948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4E5D01-8E65-427B-E052-EF55545DF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6" y="161925"/>
            <a:ext cx="3691370" cy="20454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7AACAA-EBB7-A75D-820F-C7BD0477E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648" y="161925"/>
            <a:ext cx="26289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06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5475" y="995312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lvl="0" indent="0">
              <a:lnSpc>
                <a:spcPct val="150000"/>
              </a:lnSpc>
              <a:buNone/>
            </a:pPr>
            <a:r>
              <a:rPr lang="ru-RU" sz="1800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Компонентно-базирана архитектура</a:t>
            </a:r>
          </a:p>
          <a:p>
            <a:pPr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React следва компонентно-базирана архитектура, където потребителските интерфейси са разделени на компоненти за многократна употреба.</a:t>
            </a:r>
          </a:p>
          <a:p>
            <a:pPr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Традиционната уеб разработка често включва комбинация от HTML, CSS и JavaScript, което води до тясно свързан код.</a:t>
            </a:r>
          </a:p>
          <a:p>
            <a:pPr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Компонентно-базираният подход на React насърчава модулността, възможността за многократна употреба и по-лесната поддръжка на кода.</a:t>
            </a: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lvl="0">
              <a:lnSpc>
                <a:spcPct val="150000"/>
              </a:lnSpc>
              <a:buFont typeface="Roboto"/>
              <a:buChar char="-"/>
            </a:pP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lvl="0">
              <a:lnSpc>
                <a:spcPct val="150000"/>
              </a:lnSpc>
              <a:buFont typeface="Roboto"/>
              <a:buChar char="-"/>
            </a:pPr>
            <a:endParaRPr lang="en-US"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114300" lvl="0" indent="0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  <a:hlinkClick r:id="rId3"/>
              </a:rPr>
              <a:t>https://react.dev/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F17D3CA-7078-067E-D9D4-97FE3A0FEED5}"/>
              </a:ext>
            </a:extLst>
          </p:cNvPr>
          <p:cNvSpPr txBox="1">
            <a:spLocks/>
          </p:cNvSpPr>
          <p:nvPr/>
        </p:nvSpPr>
        <p:spPr bwMode="black">
          <a:xfrm>
            <a:off x="2666758" y="315719"/>
            <a:ext cx="3674509" cy="39754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bg-BG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Защо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react?</a:t>
            </a:r>
            <a:endParaRPr lang="bg-BG" sz="2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468280-4ACA-9524-3269-D7DEFB5CF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738" y="3342942"/>
            <a:ext cx="6229349" cy="17529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E0220-F6F6-459F-A275-C1148B4DA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657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компонентът е JavaScript функция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клас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който връща JSX (JavaScript XML) представяне на потребителския интерфейс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Той капсулира логиката и състоянието на потребителския интерфейс, което го прави многократно използваем и модулен.</a:t>
            </a:r>
          </a:p>
          <a:p>
            <a:pPr marL="11430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поддържа два начина за деклариране на компонент: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Функционални компоненти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Класови компоненти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се препоръчва използването им в нови версии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121497E-BBE8-9E93-B850-A97B7E405842}"/>
              </a:ext>
            </a:extLst>
          </p:cNvPr>
          <p:cNvSpPr txBox="1">
            <a:spLocks/>
          </p:cNvSpPr>
          <p:nvPr/>
        </p:nvSpPr>
        <p:spPr bwMode="black">
          <a:xfrm>
            <a:off x="1685804" y="375852"/>
            <a:ext cx="5772392" cy="39754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bg-BG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Какво е компонент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React?</a:t>
            </a:r>
            <a:endParaRPr lang="bg-BG" sz="2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9C6F10-FC0D-9D7E-5667-F671B8C6F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764" y="2970118"/>
            <a:ext cx="4271962" cy="15534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758999-A55C-593E-EBD5-79BE0357D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3" y="2876551"/>
            <a:ext cx="2035244" cy="179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52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en" sz="1400" b="1" dirty="0">
                <a:latin typeface="Roboto"/>
                <a:ea typeface="Roboto"/>
                <a:cs typeface="Roboto"/>
                <a:sym typeface="Roboto"/>
              </a:rPr>
              <a:t>Props</a:t>
            </a:r>
            <a:endParaRPr sz="1400" b="1" dirty="0"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ct val="115000"/>
              </a:lnSpc>
              <a:buFont typeface="Roboto"/>
              <a:buChar char="-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Props позволяват предаването на данни от родителски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b="1" dirty="0">
                <a:latin typeface="Roboto"/>
                <a:ea typeface="Roboto"/>
                <a:cs typeface="Roboto"/>
                <a:sym typeface="Roboto"/>
              </a:rPr>
              <a:t>parent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компоненти към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неговите наследници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b="1" dirty="0">
                <a:latin typeface="Roboto"/>
                <a:ea typeface="Roboto"/>
                <a:cs typeface="Roboto"/>
                <a:sym typeface="Roboto"/>
              </a:rPr>
              <a:t>child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. </a:t>
            </a: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ct val="115000"/>
              </a:lnSpc>
              <a:buFont typeface="Roboto"/>
              <a:buChar char="-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Props са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read-only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и не трябва да се променят в рамките на компонента.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en" sz="1400" b="1" dirty="0">
                <a:latin typeface="Roboto"/>
                <a:ea typeface="Roboto"/>
                <a:cs typeface="Roboto"/>
                <a:sym typeface="Roboto"/>
              </a:rPr>
              <a:t>State</a:t>
            </a:r>
            <a:endParaRPr sz="1400" b="1" dirty="0"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ct val="115000"/>
              </a:lnSpc>
              <a:buFont typeface="Roboto"/>
              <a:buChar char="-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Състоянието представлява променливите данни в даден компонент.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en" sz="1400" b="1" dirty="0">
                <a:latin typeface="Roboto"/>
                <a:ea typeface="Roboto"/>
                <a:cs typeface="Roboto"/>
                <a:sym typeface="Roboto"/>
              </a:rPr>
              <a:t>Styling</a:t>
            </a:r>
            <a:endParaRPr sz="1400" b="1" dirty="0"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ct val="115000"/>
              </a:lnSpc>
              <a:buFont typeface="Roboto"/>
              <a:buChar char="-"/>
            </a:pP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Стилизирането може да се прилага към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React 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компоненти, използвайки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CSS 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класове, вградени стилове или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CSS-in-JS 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библиотеки.</a:t>
            </a:r>
          </a:p>
          <a:p>
            <a:pPr lvl="1">
              <a:lnSpc>
                <a:spcPct val="115000"/>
              </a:lnSpc>
              <a:buFont typeface="Roboto"/>
              <a:buChar char="-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CSS 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класове могат да се добавят, използвайки атрибута </a:t>
            </a:r>
            <a:r>
              <a:rPr lang="en-US" b="1" dirty="0" err="1">
                <a:latin typeface="Roboto"/>
                <a:ea typeface="Roboto"/>
                <a:cs typeface="Roboto"/>
                <a:sym typeface="Roboto"/>
              </a:rPr>
              <a:t>className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в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JSX.</a:t>
            </a:r>
          </a:p>
          <a:p>
            <a:pPr lvl="1">
              <a:lnSpc>
                <a:spcPct val="115000"/>
              </a:lnSpc>
              <a:buFont typeface="Roboto"/>
              <a:buChar char="-"/>
            </a:pP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Вградените стилове могат да се прилагат, използвайки атрибута </a:t>
            </a:r>
            <a:r>
              <a:rPr lang="en-US" b="1" dirty="0">
                <a:latin typeface="Roboto"/>
                <a:ea typeface="Roboto"/>
                <a:cs typeface="Roboto"/>
                <a:sym typeface="Roboto"/>
              </a:rPr>
              <a:t>style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в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JSX.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F4E86520-A3C6-458A-A0E5-EC9243D91465}"/>
              </a:ext>
            </a:extLst>
          </p:cNvPr>
          <p:cNvSpPr txBox="1">
            <a:spLocks/>
          </p:cNvSpPr>
          <p:nvPr/>
        </p:nvSpPr>
        <p:spPr bwMode="black">
          <a:xfrm>
            <a:off x="1509652" y="375852"/>
            <a:ext cx="6124696" cy="39754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bg-BG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на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bg-BG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компонент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-197312" y="1100088"/>
            <a:ext cx="600756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25450" indent="-285750">
              <a:lnSpc>
                <a:spcPct val="150000"/>
              </a:lnSpc>
              <a:buSzPts val="1400"/>
            </a:pP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JSX (JavaScript XML) </a:t>
            </a:r>
            <a:r>
              <a:rPr lang="bg-BG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е разширение на синтаксиса за </a:t>
            </a: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JavaScript, </a:t>
            </a:r>
            <a:r>
              <a:rPr lang="bg-BG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използвано в </a:t>
            </a: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React.</a:t>
            </a:r>
          </a:p>
          <a:p>
            <a:pPr marL="425450" indent="-285750">
              <a:lnSpc>
                <a:spcPct val="150000"/>
              </a:lnSpc>
              <a:buSzPts val="1400"/>
            </a:pP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JSX </a:t>
            </a:r>
            <a:r>
              <a:rPr lang="bg-BG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позволява да пишем </a:t>
            </a: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HTML-</a:t>
            </a:r>
            <a:r>
              <a:rPr lang="bg-BG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подобен код в </a:t>
            </a: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JavaScript, </a:t>
            </a:r>
            <a:r>
              <a:rPr lang="bg-BG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което улеснява създаването и манипулирането на потребителския интерфейс.</a:t>
            </a:r>
          </a:p>
          <a:p>
            <a:pPr marL="425450" indent="-285750">
              <a:lnSpc>
                <a:spcPct val="150000"/>
              </a:lnSpc>
              <a:buSzPts val="1400"/>
            </a:pP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JSX </a:t>
            </a:r>
            <a:r>
              <a:rPr lang="bg-BG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позволява вграждането на </a:t>
            </a: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JavaScript </a:t>
            </a:r>
            <a:r>
              <a:rPr lang="bg-BG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изрази в къдрави скоби {}.</a:t>
            </a:r>
          </a:p>
          <a:p>
            <a:pPr marL="425450" indent="-285750">
              <a:lnSpc>
                <a:spcPct val="150000"/>
              </a:lnSpc>
              <a:buSzPts val="1400"/>
            </a:pP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JSX </a:t>
            </a:r>
            <a:r>
              <a:rPr lang="bg-BG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трябва да бъде компилиран в обикновен </a:t>
            </a:r>
            <a:r>
              <a:rPr lang="en-US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JavaScript, </a:t>
            </a:r>
            <a:r>
              <a:rPr lang="bg-BG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за да бъде разбран от браузъра.</a:t>
            </a:r>
            <a:endParaRPr sz="14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389" y="529635"/>
            <a:ext cx="4405314" cy="4528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9FDD1FBA-18A3-214D-4C2C-19F921B706AE}"/>
              </a:ext>
            </a:extLst>
          </p:cNvPr>
          <p:cNvSpPr txBox="1">
            <a:spLocks/>
          </p:cNvSpPr>
          <p:nvPr/>
        </p:nvSpPr>
        <p:spPr bwMode="black">
          <a:xfrm>
            <a:off x="2831276" y="330863"/>
            <a:ext cx="3481448" cy="39754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bg-BG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Какво е </a:t>
            </a:r>
            <a:r>
              <a:rPr lang="en-US" sz="2400" b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bg-BG" sz="2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-182395" y="108103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indent="0">
              <a:lnSpc>
                <a:spcPct val="150000"/>
              </a:lnSpc>
              <a:buSzPts val="1600"/>
              <a:buNone/>
            </a:pPr>
            <a:r>
              <a:rPr lang="ru-RU" sz="14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React компонентите имат жизнен цикъл, състоящ се от различни фази и методи, които се изпълняват в определени моменти.</a:t>
            </a:r>
          </a:p>
          <a:p>
            <a:pPr lvl="1" indent="-330200">
              <a:lnSpc>
                <a:spcPct val="150000"/>
              </a:lnSpc>
              <a:buSzPts val="1600"/>
              <a:buFont typeface="Roboto"/>
              <a:buChar char="-"/>
            </a:pP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Фазата на монтиране</a:t>
            </a: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(</a:t>
            </a:r>
            <a:r>
              <a:rPr lang="en-US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Mounting phase)</a:t>
            </a: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е, когато нов компонент се създава и </a:t>
            </a:r>
            <a:r>
              <a:rPr lang="bg-BG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слага</a:t>
            </a: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в DOM.</a:t>
            </a:r>
          </a:p>
          <a:p>
            <a:pPr lvl="1" indent="-330200">
              <a:lnSpc>
                <a:spcPct val="150000"/>
              </a:lnSpc>
              <a:buSzPts val="1600"/>
              <a:buFont typeface="Roboto"/>
              <a:buChar char="-"/>
            </a:pP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Фазата на актуализиране</a:t>
            </a: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(</a:t>
            </a:r>
            <a:r>
              <a:rPr lang="en-US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Updating phase</a:t>
            </a: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)</a:t>
            </a: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е, когато компонентът се актуализира или ререндира. Тази реакция се задейства, когато свойствата (</a:t>
            </a:r>
            <a:r>
              <a:rPr lang="ru-RU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props</a:t>
            </a: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) се актуализират или когато състоянието</a:t>
            </a: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(</a:t>
            </a:r>
            <a:r>
              <a:rPr lang="en-US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state</a:t>
            </a: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)</a:t>
            </a: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се актуализира.</a:t>
            </a:r>
          </a:p>
          <a:p>
            <a:pPr lvl="1" indent="-330200">
              <a:lnSpc>
                <a:spcPct val="150000"/>
              </a:lnSpc>
              <a:buSzPts val="1600"/>
              <a:buFont typeface="Roboto"/>
              <a:buChar char="-"/>
            </a:pP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Последната фаза в жизнения цикъл на компонента е фазата на демонтиране</a:t>
            </a: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(</a:t>
            </a:r>
            <a:r>
              <a:rPr lang="en-US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Unmounting phase</a:t>
            </a: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)</a:t>
            </a: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, когато компонентът се премахва от DOM.</a:t>
            </a:r>
            <a:endParaRPr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2700" y="2648201"/>
            <a:ext cx="3742949" cy="24952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8ED5A3F-A31D-02CA-233C-C026BCB9340E}"/>
              </a:ext>
            </a:extLst>
          </p:cNvPr>
          <p:cNvSpPr txBox="1">
            <a:spLocks/>
          </p:cNvSpPr>
          <p:nvPr/>
        </p:nvSpPr>
        <p:spPr bwMode="black">
          <a:xfrm>
            <a:off x="1966913" y="330863"/>
            <a:ext cx="4345811" cy="39754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life cycle</a:t>
            </a:r>
            <a:endParaRPr lang="bg-BG" sz="2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78336" y="1162000"/>
            <a:ext cx="890850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en" sz="1400" b="1" dirty="0">
                <a:latin typeface="Roboto"/>
                <a:ea typeface="Roboto"/>
                <a:cs typeface="Roboto"/>
                <a:sym typeface="Roboto"/>
              </a:rPr>
              <a:t>componentDidMount()</a:t>
            </a:r>
            <a:endParaRPr sz="1400" b="1" dirty="0"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ct val="150000"/>
              </a:lnSpc>
              <a:buFont typeface="Roboto"/>
              <a:buChar char="-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Т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а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зи функция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(hook)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се извиква след като компонентът е рендериран за първи път в DOM.</a:t>
            </a: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596900" lvl="1" indent="0">
              <a:lnSpc>
                <a:spcPct val="150000"/>
              </a:lnSpc>
              <a:buNone/>
            </a:pPr>
            <a:r>
              <a:rPr lang="en" sz="1400" b="1" dirty="0">
                <a:latin typeface="Roboto"/>
                <a:ea typeface="Roboto"/>
                <a:cs typeface="Roboto"/>
                <a:sym typeface="Roboto"/>
              </a:rPr>
              <a:t>componentDidUpdate(prevProps, prevState)</a:t>
            </a:r>
            <a:endParaRPr sz="1400" b="1" dirty="0"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ct val="150000"/>
              </a:lnSpc>
              <a:buFont typeface="Roboto"/>
              <a:buChar char="-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Т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а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зи функция се извиква след като компонентът бъде актуализиран и рендериран отново в отговор на промени в props или state.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en" sz="1400" b="1" dirty="0">
                <a:latin typeface="Roboto"/>
                <a:ea typeface="Roboto"/>
                <a:cs typeface="Roboto"/>
                <a:sym typeface="Roboto"/>
              </a:rPr>
              <a:t>componentWillUnmount()</a:t>
            </a:r>
            <a:endParaRPr sz="1400" b="1" dirty="0"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ct val="150000"/>
              </a:lnSpc>
              <a:buFont typeface="Roboto"/>
              <a:buChar char="-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Т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а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зи функция се извиква точно преди компонентът да бъде демонтиран и премахнат от DOM.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en" sz="1400" b="1" dirty="0">
                <a:latin typeface="Roboto"/>
                <a:ea typeface="Roboto"/>
                <a:cs typeface="Roboto"/>
                <a:sym typeface="Roboto"/>
              </a:rPr>
              <a:t>shouldComponentUpdate(nextProps, nextState)</a:t>
            </a:r>
            <a:endParaRPr sz="1400" b="1" dirty="0"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ct val="150000"/>
              </a:lnSpc>
              <a:buFont typeface="Roboto"/>
              <a:buChar char="-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Т</a:t>
            </a:r>
            <a:r>
              <a:rPr lang="bg-BG" dirty="0">
                <a:latin typeface="Roboto"/>
                <a:ea typeface="Roboto"/>
                <a:cs typeface="Roboto"/>
                <a:sym typeface="Roboto"/>
              </a:rPr>
              <a:t>а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зи функция се извиква преди повторното рендериране на компонент и ви позволява да контролирате дали трябва да се извърши повторното рендериране.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ADBA1E54-6D32-5B71-8551-FB9A63615DE4}"/>
              </a:ext>
            </a:extLst>
          </p:cNvPr>
          <p:cNvSpPr txBox="1">
            <a:spLocks/>
          </p:cNvSpPr>
          <p:nvPr/>
        </p:nvSpPr>
        <p:spPr bwMode="black">
          <a:xfrm>
            <a:off x="1966913" y="330863"/>
            <a:ext cx="4345811" cy="39754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spcFirstLastPara="1" vert="horz" wrap="square" lIns="0" tIns="15240" rIns="0" bIns="0" rtlCol="0" anchor="t" anchorCtr="0">
            <a:sp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 kern="1200" cap="all" spc="15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life cycle</a:t>
            </a:r>
            <a:endParaRPr lang="bg-BG" sz="24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62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-US" sz="12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Dependencies:</a:t>
            </a:r>
            <a:endParaRPr sz="12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" sz="12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NodeJS</a:t>
            </a:r>
            <a:endParaRPr sz="12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Vite</a:t>
            </a:r>
            <a:endParaRPr sz="12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bg-BG" sz="12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Инсталация чрез </a:t>
            </a:r>
            <a:r>
              <a:rPr lang="en" sz="12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Vite</a:t>
            </a:r>
            <a:endParaRPr sz="120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-US" b="1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npm</a:t>
            </a:r>
            <a:r>
              <a:rPr lang="en-US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create </a:t>
            </a:r>
            <a:r>
              <a:rPr lang="en-US" b="1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vite@latest</a:t>
            </a:r>
            <a:r>
              <a:rPr lang="en-US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bg-BG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– създава </a:t>
            </a: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“boiler plate” </a:t>
            </a:r>
            <a:r>
              <a:rPr lang="bg-BG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чрез </a:t>
            </a: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Vite</a:t>
            </a:r>
            <a:endParaRPr sz="1200" b="1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-US" sz="1200" b="1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npm</a:t>
            </a:r>
            <a:r>
              <a:rPr lang="en-US" sz="1200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i</a:t>
            </a:r>
            <a:r>
              <a:rPr lang="en-US" sz="1200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US" sz="12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– </a:t>
            </a:r>
            <a:r>
              <a:rPr lang="bg-BG" sz="12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инсталира нужните депендънсита</a:t>
            </a:r>
            <a:r>
              <a:rPr lang="en-US" sz="12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-US" sz="1200" b="1" dirty="0" err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npm</a:t>
            </a:r>
            <a:r>
              <a:rPr lang="en-US" sz="1200" b="1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run dev </a:t>
            </a:r>
            <a:r>
              <a:rPr lang="en-US" sz="12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– </a:t>
            </a:r>
            <a:r>
              <a:rPr lang="bg-BG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стартира дев сървъра</a:t>
            </a:r>
            <a:endParaRPr sz="1200" b="1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endParaRPr lang="en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  <a:hlinkClick r:id="rId3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  <a:hlinkClick r:id="rId3"/>
              </a:rPr>
              <a:t>https://www.youtube.com/shorts/Xrgddey8jcA</a:t>
            </a:r>
            <a:endParaRPr lang="en-US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B52088B-8532-25A8-C4CA-AD96434365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3759" y="428625"/>
            <a:ext cx="7456481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Създаване на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38137" y="1374574"/>
            <a:ext cx="2909888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spcBef>
                <a:spcPts val="100"/>
              </a:spcBef>
              <a:buNone/>
            </a:pPr>
            <a:r>
              <a:rPr lang="bg-BG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Учебни ресурси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28295">
              <a:tabLst>
                <a:tab pos="469265" algn="l"/>
              </a:tabLs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2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https://react.dev/</a:t>
            </a:r>
            <a:endParaRPr lang="en-US" sz="1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8295">
              <a:tabLst>
                <a:tab pos="469265" algn="l"/>
              </a:tabLst>
            </a:pPr>
            <a:r>
              <a:rPr lang="en-US"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 -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https://nodejs.org/en</a:t>
            </a:r>
            <a:endParaRPr lang="en-US" sz="1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8295">
              <a:tabLst>
                <a:tab pos="469265" algn="l"/>
              </a:tabLst>
            </a:pPr>
            <a:r>
              <a:rPr lang="en-US"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https://vite.dev/</a:t>
            </a:r>
            <a:endParaRPr lang="en-US" sz="1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8A34280A-81E8-263C-CB09-2ED443AE77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2961" y="361950"/>
            <a:ext cx="5118077" cy="3477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bg-B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Ресурси и инструменти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116</TotalTime>
  <Words>907</Words>
  <Application>Microsoft Office PowerPoint</Application>
  <PresentationFormat>On-screen Show (16:9)</PresentationFormat>
  <Paragraphs>79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Roboto</vt:lpstr>
      <vt:lpstr>Arial</vt:lpstr>
      <vt:lpstr>Gill Sans MT</vt:lpstr>
      <vt:lpstr>Parcel</vt:lpstr>
      <vt:lpstr>Въведение в React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Създаване на react приложение</vt:lpstr>
      <vt:lpstr>Ресурси и инструменти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Vasil Ganev</cp:lastModifiedBy>
  <cp:revision>48</cp:revision>
  <dcterms:modified xsi:type="dcterms:W3CDTF">2025-10-02T15:25:27Z</dcterms:modified>
</cp:coreProperties>
</file>